
<file path=[Content_Types].xml><?xml version="1.0" encoding="utf-8"?>
<Types xmlns="http://schemas.openxmlformats.org/package/2006/content-types">
  <Default Extension="bin" ContentType="application/vnd.openxmlformats-officedocument.oleObject"/>
  <Default Extension="emf" ContentType="image/x-emf"/>
  <Default Extension="gif" ContentType="image/gif"/>
  <Default Extension="jpeg" ContentType="image/jpeg"/>
  <Default Extension="png" ContentType="image/png"/>
  <Default Extension="rels" ContentType="application/vnd.openxmlformats-package.relationships+xml"/>
  <Default Extension="vml" ContentType="application/vnd.openxmlformats-officedocument.vmlDrawi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5"/>
  </p:notesMasterIdLst>
  <p:sldIdLst>
    <p:sldId id="256" r:id="rId2"/>
    <p:sldId id="688" r:id="rId3"/>
    <p:sldId id="684" r:id="rId4"/>
    <p:sldId id="685" r:id="rId5"/>
    <p:sldId id="689" r:id="rId6"/>
    <p:sldId id="303" r:id="rId7"/>
    <p:sldId id="304" r:id="rId8"/>
    <p:sldId id="305" r:id="rId9"/>
    <p:sldId id="690" r:id="rId10"/>
    <p:sldId id="691" r:id="rId11"/>
    <p:sldId id="307" r:id="rId12"/>
    <p:sldId id="272" r:id="rId13"/>
    <p:sldId id="693" r:id="rId14"/>
    <p:sldId id="308" r:id="rId15"/>
    <p:sldId id="309" r:id="rId16"/>
    <p:sldId id="694" r:id="rId17"/>
    <p:sldId id="273" r:id="rId18"/>
    <p:sldId id="274" r:id="rId19"/>
    <p:sldId id="275" r:id="rId20"/>
    <p:sldId id="257" r:id="rId21"/>
    <p:sldId id="301" r:id="rId22"/>
    <p:sldId id="302" r:id="rId23"/>
    <p:sldId id="288" r:id="rId24"/>
    <p:sldId id="297" r:id="rId25"/>
    <p:sldId id="531" r:id="rId26"/>
    <p:sldId id="537" r:id="rId27"/>
    <p:sldId id="289" r:id="rId28"/>
    <p:sldId id="538" r:id="rId29"/>
    <p:sldId id="540" r:id="rId30"/>
    <p:sldId id="298" r:id="rId31"/>
    <p:sldId id="541" r:id="rId32"/>
    <p:sldId id="542" r:id="rId33"/>
    <p:sldId id="269" r:id="rId34"/>
    <p:sldId id="270" r:id="rId35"/>
    <p:sldId id="285" r:id="rId36"/>
    <p:sldId id="299" r:id="rId37"/>
    <p:sldId id="300" r:id="rId38"/>
    <p:sldId id="291" r:id="rId39"/>
    <p:sldId id="404" r:id="rId40"/>
    <p:sldId id="405" r:id="rId41"/>
    <p:sldId id="411" r:id="rId42"/>
    <p:sldId id="407" r:id="rId43"/>
    <p:sldId id="408" r:id="rId44"/>
    <p:sldId id="409" r:id="rId45"/>
    <p:sldId id="410" r:id="rId46"/>
    <p:sldId id="412" r:id="rId47"/>
    <p:sldId id="413" r:id="rId48"/>
    <p:sldId id="415" r:id="rId49"/>
    <p:sldId id="417" r:id="rId50"/>
    <p:sldId id="442" r:id="rId51"/>
    <p:sldId id="443" r:id="rId52"/>
    <p:sldId id="418" r:id="rId53"/>
    <p:sldId id="695" r:id="rId54"/>
    <p:sldId id="424" r:id="rId55"/>
    <p:sldId id="423" r:id="rId56"/>
    <p:sldId id="696" r:id="rId57"/>
    <p:sldId id="421" r:id="rId58"/>
    <p:sldId id="420" r:id="rId59"/>
    <p:sldId id="697" r:id="rId60"/>
    <p:sldId id="429" r:id="rId61"/>
    <p:sldId id="430" r:id="rId62"/>
    <p:sldId id="313" r:id="rId63"/>
    <p:sldId id="312" r:id="rId64"/>
    <p:sldId id="315" r:id="rId65"/>
    <p:sldId id="267" r:id="rId66"/>
    <p:sldId id="268" r:id="rId67"/>
    <p:sldId id="316" r:id="rId68"/>
    <p:sldId id="271" r:id="rId69"/>
    <p:sldId id="698" r:id="rId70"/>
    <p:sldId id="699" r:id="rId71"/>
    <p:sldId id="700" r:id="rId72"/>
    <p:sldId id="701" r:id="rId73"/>
    <p:sldId id="702" r:id="rId74"/>
    <p:sldId id="319" r:id="rId75"/>
    <p:sldId id="703" r:id="rId76"/>
    <p:sldId id="280" r:id="rId77"/>
    <p:sldId id="704" r:id="rId78"/>
    <p:sldId id="320" r:id="rId79"/>
    <p:sldId id="296" r:id="rId80"/>
    <p:sldId id="321" r:id="rId81"/>
    <p:sldId id="705" r:id="rId82"/>
    <p:sldId id="324" r:id="rId83"/>
    <p:sldId id="335" r:id="rId84"/>
    <p:sldId id="336" r:id="rId85"/>
    <p:sldId id="337" r:id="rId86"/>
    <p:sldId id="686" r:id="rId87"/>
    <p:sldId id="687" r:id="rId88"/>
    <p:sldId id="624" r:id="rId89"/>
    <p:sldId id="551" r:id="rId90"/>
    <p:sldId id="550" r:id="rId91"/>
    <p:sldId id="434" r:id="rId92"/>
    <p:sldId id="435" r:id="rId93"/>
    <p:sldId id="436" r:id="rId94"/>
    <p:sldId id="552" r:id="rId95"/>
    <p:sldId id="438" r:id="rId96"/>
    <p:sldId id="439" r:id="rId97"/>
    <p:sldId id="440" r:id="rId98"/>
    <p:sldId id="441" r:id="rId99"/>
    <p:sldId id="553" r:id="rId100"/>
    <p:sldId id="554" r:id="rId101"/>
    <p:sldId id="555" r:id="rId102"/>
    <p:sldId id="556" r:id="rId103"/>
    <p:sldId id="557" r:id="rId104"/>
    <p:sldId id="558" r:id="rId105"/>
    <p:sldId id="559" r:id="rId106"/>
    <p:sldId id="450" r:id="rId107"/>
    <p:sldId id="457" r:id="rId108"/>
    <p:sldId id="460" r:id="rId109"/>
    <p:sldId id="560" r:id="rId110"/>
    <p:sldId id="662" r:id="rId111"/>
    <p:sldId id="669" r:id="rId112"/>
    <p:sldId id="667" r:id="rId113"/>
    <p:sldId id="670" r:id="rId114"/>
    <p:sldId id="671" r:id="rId115"/>
    <p:sldId id="663" r:id="rId116"/>
    <p:sldId id="574" r:id="rId117"/>
    <p:sldId id="575" r:id="rId118"/>
    <p:sldId id="576" r:id="rId119"/>
    <p:sldId id="577" r:id="rId120"/>
    <p:sldId id="578" r:id="rId121"/>
    <p:sldId id="587" r:id="rId122"/>
    <p:sldId id="589" r:id="rId123"/>
    <p:sldId id="581" r:id="rId124"/>
  </p:sldIdLst>
  <p:sldSz cx="9144000" cy="6858000" type="screen4x3"/>
  <p:notesSz cx="6858000" cy="9144000"/>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00">
          <p15:clr>
            <a:srgbClr val="A4A3A4"/>
          </p15:clr>
        </p15:guide>
        <p15:guide id="2" pos="291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2970" autoAdjust="0"/>
    <p:restoredTop sz="94660" autoAdjust="0"/>
  </p:normalViewPr>
  <p:slideViewPr>
    <p:cSldViewPr>
      <p:cViewPr varScale="1">
        <p:scale>
          <a:sx n="106" d="100"/>
          <a:sy n="106" d="100"/>
        </p:scale>
        <p:origin x="200" y="640"/>
      </p:cViewPr>
      <p:guideLst>
        <p:guide orient="horz" pos="2100"/>
        <p:guide pos="2914"/>
      </p:guideLst>
    </p:cSldViewPr>
  </p:slideViewPr>
  <p:notesTextViewPr>
    <p:cViewPr>
      <p:scale>
        <a:sx n="100" d="100"/>
        <a:sy n="100" d="100"/>
      </p:scale>
      <p:origin x="0" y="0"/>
    </p:cViewPr>
  </p:notesTextViewPr>
  <p:gridSpacing cx="72005" cy="72005"/>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theme" Target="theme/theme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tableStyles" Target="tableStyle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3.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6.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a16="http://schemas.microsoft.com/office/drawing/2014/main" id="{74F8235B-8EE3-9049-A08B-D41B52F73355}"/>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noProof="1">
                <a:latin typeface="Arial" panose="020B0604020202020204" pitchFamily="34" charset="0"/>
                <a:ea typeface="宋体" panose="02010600030101010101" pitchFamily="2" charset="-122"/>
              </a:defRPr>
            </a:lvl1pPr>
          </a:lstStyle>
          <a:p>
            <a:pPr>
              <a:defRPr/>
            </a:pPr>
            <a:endParaRPr lang="zh-CN" altLang="en-US"/>
          </a:p>
        </p:txBody>
      </p:sp>
      <p:sp>
        <p:nvSpPr>
          <p:cNvPr id="3" name="日期占位符 2">
            <a:extLst>
              <a:ext uri="{FF2B5EF4-FFF2-40B4-BE49-F238E27FC236}">
                <a16:creationId xmlns:a16="http://schemas.microsoft.com/office/drawing/2014/main" id="{32AE5A0F-1D7C-1046-ADF4-B695867690A7}"/>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noProof="1">
                <a:latin typeface="Arial" panose="020B0604020202020204" pitchFamily="34" charset="0"/>
                <a:ea typeface="宋体" panose="02010600030101010101" pitchFamily="2" charset="-122"/>
              </a:defRPr>
            </a:lvl1pPr>
          </a:lstStyle>
          <a:p>
            <a:pPr>
              <a:defRPr/>
            </a:pPr>
            <a:fld id="{EEB1A6D3-59E3-4576-9009-CD2460AFDCAF}" type="datetimeFigureOut">
              <a:rPr lang="zh-CN" altLang="en-US"/>
              <a:pPr>
                <a:defRPr/>
              </a:pPr>
              <a:t>2025/10/28</a:t>
            </a:fld>
            <a:endParaRPr lang="zh-CN" altLang="en-US"/>
          </a:p>
        </p:txBody>
      </p:sp>
      <p:sp>
        <p:nvSpPr>
          <p:cNvPr id="7172" name="幻灯片图像占位符 3">
            <a:extLst>
              <a:ext uri="{FF2B5EF4-FFF2-40B4-BE49-F238E27FC236}">
                <a16:creationId xmlns:a16="http://schemas.microsoft.com/office/drawing/2014/main" id="{3CB21618-43F7-424E-827F-185AA99F8DA9}"/>
              </a:ext>
            </a:extLst>
          </p:cNvPr>
          <p:cNvSpPr>
            <a:spLocks noGrp="1" noRot="1" noChangeAspect="1" noChangeArrowheads="1"/>
          </p:cNvSpPr>
          <p:nvPr>
            <p:ph type="sldImg" idx="4294967295"/>
          </p:nvPr>
        </p:nvSpPr>
        <p:spPr bwMode="auto">
          <a:xfrm>
            <a:off x="1143000" y="685800"/>
            <a:ext cx="4572000" cy="34290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7173" name="备注占位符 4">
            <a:extLst>
              <a:ext uri="{FF2B5EF4-FFF2-40B4-BE49-F238E27FC236}">
                <a16:creationId xmlns:a16="http://schemas.microsoft.com/office/drawing/2014/main" id="{BB539F66-74FC-6F46-A94B-DBD2F0F89FE8}"/>
              </a:ext>
            </a:extLst>
          </p:cNvPr>
          <p:cNvSpPr>
            <a:spLocks noGrp="1" noChangeArrowheads="1"/>
          </p:cNvSpPr>
          <p:nvPr>
            <p:ph type="body" sz="quarter" idx="4294967295"/>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a:extLst>
              <a:ext uri="{FF2B5EF4-FFF2-40B4-BE49-F238E27FC236}">
                <a16:creationId xmlns:a16="http://schemas.microsoft.com/office/drawing/2014/main" id="{DEA779A2-FEB9-A54B-AB02-67BC88EEBA6E}"/>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noProof="1">
                <a:latin typeface="Arial" panose="020B0604020202020204" pitchFamily="34" charset="0"/>
                <a:ea typeface="宋体" panose="02010600030101010101" pitchFamily="2" charset="-122"/>
              </a:defRPr>
            </a:lvl1pPr>
          </a:lstStyle>
          <a:p>
            <a:pPr>
              <a:defRPr/>
            </a:pPr>
            <a:endParaRPr lang="zh-CN" altLang="en-US"/>
          </a:p>
        </p:txBody>
      </p:sp>
      <p:sp>
        <p:nvSpPr>
          <p:cNvPr id="7" name="灯片编号占位符 6">
            <a:extLst>
              <a:ext uri="{FF2B5EF4-FFF2-40B4-BE49-F238E27FC236}">
                <a16:creationId xmlns:a16="http://schemas.microsoft.com/office/drawing/2014/main" id="{D903A046-AB5C-2945-9072-DCDE73C06D28}"/>
              </a:ext>
            </a:extLst>
          </p:cNvPr>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noProof="1">
                <a:latin typeface="Arial" panose="020B0604020202020204" pitchFamily="34" charset="0"/>
                <a:ea typeface="宋体" panose="02010600030101010101" pitchFamily="2" charset="-122"/>
              </a:defRPr>
            </a:lvl1pPr>
          </a:lstStyle>
          <a:p>
            <a:pPr>
              <a:defRPr/>
            </a:pPr>
            <a:fld id="{739A296E-92AF-9044-ACCC-C7B0FFB03135}"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幻灯片图像占位符 1">
            <a:extLst>
              <a:ext uri="{FF2B5EF4-FFF2-40B4-BE49-F238E27FC236}">
                <a16:creationId xmlns:a16="http://schemas.microsoft.com/office/drawing/2014/main" id="{ABB5E003-2797-0A44-A0F6-591FC0E42E8D}"/>
              </a:ext>
            </a:extLst>
          </p:cNvPr>
          <p:cNvSpPr>
            <a:spLocks noGrp="1" noRot="1" noChangeAspect="1" noChangeArrowheads="1" noTextEdit="1"/>
          </p:cNvSpPr>
          <p:nvPr>
            <p:ph type="sldImg"/>
          </p:nvPr>
        </p:nvSpPr>
        <p:spPr>
          <a:ln/>
        </p:spPr>
      </p:sp>
      <p:sp>
        <p:nvSpPr>
          <p:cNvPr id="22531" name="备注占位符 2">
            <a:extLst>
              <a:ext uri="{FF2B5EF4-FFF2-40B4-BE49-F238E27FC236}">
                <a16:creationId xmlns:a16="http://schemas.microsoft.com/office/drawing/2014/main" id="{93690C6B-18A2-8B47-9CA2-EB0EE75F097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zh-CN"/>
              <a:t>P1</a:t>
            </a:r>
            <a:r>
              <a:rPr lang="zh-CN" altLang="en-US"/>
              <a:t>：吃饭没位置</a:t>
            </a:r>
            <a:r>
              <a:rPr lang="en-US" altLang="zh-CN"/>
              <a:t>-&gt;</a:t>
            </a:r>
            <a:r>
              <a:rPr lang="zh-CN" altLang="en-US"/>
              <a:t>排队</a:t>
            </a:r>
            <a:r>
              <a:rPr lang="en-US" altLang="zh-CN"/>
              <a:t>-&gt;</a:t>
            </a:r>
            <a:r>
              <a:rPr lang="zh-CN" altLang="en-US"/>
              <a:t>等待叫号</a:t>
            </a:r>
            <a:r>
              <a:rPr lang="en-US" altLang="zh-CN"/>
              <a:t>-&gt;</a:t>
            </a:r>
            <a:r>
              <a:rPr lang="zh-CN" altLang="en-US"/>
              <a:t>吃饭；</a:t>
            </a:r>
            <a:r>
              <a:rPr lang="en-US" altLang="zh-CN"/>
              <a:t>P2</a:t>
            </a:r>
            <a:r>
              <a:rPr lang="zh-CN" altLang="en-US"/>
              <a:t>：客人走释放座位</a:t>
            </a:r>
            <a:r>
              <a:rPr lang="en-US" altLang="zh-CN"/>
              <a:t>-&gt;</a:t>
            </a:r>
            <a:r>
              <a:rPr lang="zh-CN" altLang="en-US"/>
              <a:t>叫号。如果错过叫号，则永远等待</a:t>
            </a:r>
          </a:p>
        </p:txBody>
      </p:sp>
      <p:sp>
        <p:nvSpPr>
          <p:cNvPr id="4" name="灯片编号占位符 3">
            <a:extLst>
              <a:ext uri="{FF2B5EF4-FFF2-40B4-BE49-F238E27FC236}">
                <a16:creationId xmlns:a16="http://schemas.microsoft.com/office/drawing/2014/main" id="{71B1EC3C-54E3-934A-B634-44869BD68782}"/>
              </a:ext>
            </a:extLst>
          </p:cNvPr>
          <p:cNvSpPr>
            <a:spLocks noGrp="1"/>
          </p:cNvSpPr>
          <p:nvPr>
            <p:ph type="sldNum" sz="quarter" idx="5"/>
          </p:nvPr>
        </p:nvSpPr>
        <p:spPr/>
        <p:txBody>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fld id="{8AE56F31-AFFB-5542-8237-E64353769510}" type="slidenum">
              <a:rPr lang="en-US" altLang="zh-CN">
                <a:latin typeface="Calibri" panose="020F0502020204030204" pitchFamily="34" charset="0"/>
                <a:ea typeface="宋体" panose="02010600030101010101" pitchFamily="2" charset="-122"/>
              </a:rPr>
              <a:pPr/>
              <a:t>19</a:t>
            </a:fld>
            <a:endParaRPr lang="en-US" altLang="zh-CN">
              <a:latin typeface="Calibri" panose="020F0502020204030204" pitchFamily="34" charset="0"/>
              <a:ea typeface="宋体" panose="02010600030101010101" pitchFamily="2" charset="-122"/>
            </a:endParaRPr>
          </a:p>
        </p:txBody>
      </p:sp>
    </p:spTree>
    <p:extLst>
      <p:ext uri="{BB962C8B-B14F-4D97-AF65-F5344CB8AC3E}">
        <p14:creationId xmlns:p14="http://schemas.microsoft.com/office/powerpoint/2010/main" val="15197351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幻灯片图像占位符 1">
            <a:extLst>
              <a:ext uri="{FF2B5EF4-FFF2-40B4-BE49-F238E27FC236}">
                <a16:creationId xmlns:a16="http://schemas.microsoft.com/office/drawing/2014/main" id="{BD75D6CC-26D8-1642-AD78-116618251236}"/>
              </a:ext>
            </a:extLst>
          </p:cNvPr>
          <p:cNvSpPr>
            <a:spLocks noGrp="1" noRot="1" noChangeAspect="1" noChangeArrowheads="1" noTextEdit="1"/>
          </p:cNvSpPr>
          <p:nvPr>
            <p:ph type="sldImg" idx="4294967295"/>
          </p:nvPr>
        </p:nvSpPr>
        <p:spPr>
          <a:ln/>
        </p:spPr>
      </p:sp>
      <p:sp>
        <p:nvSpPr>
          <p:cNvPr id="40962" name="备注占位符 2">
            <a:extLst>
              <a:ext uri="{FF2B5EF4-FFF2-40B4-BE49-F238E27FC236}">
                <a16:creationId xmlns:a16="http://schemas.microsoft.com/office/drawing/2014/main" id="{E05BCBBB-3A86-EC4F-A6CE-B705645B79EA}"/>
              </a:ext>
            </a:extLst>
          </p:cNvPr>
          <p:cNvSpPr>
            <a:spLocks noGrp="1" noChangeArrowheads="1"/>
          </p:cNvSpPr>
          <p:nvPr>
            <p:ph type="body" idx="4294967295"/>
          </p:nvPr>
        </p:nvSpPr>
        <p:spPr/>
        <p:txBody>
          <a:bodyPr>
            <a:prstTxWarp prst="textNoShape">
              <a:avLst/>
            </a:prstTxWarp>
          </a:bodyPr>
          <a:lstStyle/>
          <a:p>
            <a:endParaRPr lang="zh-CN" altLang="en-US">
              <a:ea typeface="宋体" panose="02010600030101010101" pitchFamily="2" charset="-122"/>
            </a:endParaRPr>
          </a:p>
        </p:txBody>
      </p:sp>
      <p:sp>
        <p:nvSpPr>
          <p:cNvPr id="40963" name="灯片编号占位符 3">
            <a:extLst>
              <a:ext uri="{FF2B5EF4-FFF2-40B4-BE49-F238E27FC236}">
                <a16:creationId xmlns:a16="http://schemas.microsoft.com/office/drawing/2014/main" id="{0A7F16A0-AC71-9D4C-B187-86A3728549E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fld id="{A4F66D21-D54B-5849-851F-95966DB680D2}" type="slidenum">
              <a:rPr altLang="en-US" smtClean="0"/>
              <a:pPr/>
              <a:t>51</a:t>
            </a:fld>
            <a:endParaRPr lang="en-US" altLang="en-US"/>
          </a:p>
        </p:txBody>
      </p:sp>
    </p:spTree>
    <p:extLst>
      <p:ext uri="{BB962C8B-B14F-4D97-AF65-F5344CB8AC3E}">
        <p14:creationId xmlns:p14="http://schemas.microsoft.com/office/powerpoint/2010/main" val="20065048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日期占位符 3">
            <a:extLst>
              <a:ext uri="{FF2B5EF4-FFF2-40B4-BE49-F238E27FC236}">
                <a16:creationId xmlns:a16="http://schemas.microsoft.com/office/drawing/2014/main" id="{98AD9B7E-FB59-5E45-966A-B20E79AC2286}"/>
              </a:ext>
            </a:extLst>
          </p:cNvPr>
          <p:cNvSpPr>
            <a:spLocks noGrp="1"/>
          </p:cNvSpPr>
          <p:nvPr>
            <p:ph type="dt" sz="half" idx="10"/>
          </p:nvPr>
        </p:nvSpPr>
        <p:spPr/>
        <p:txBody>
          <a:bodyPr/>
          <a:lstStyle>
            <a:lvl1pPr>
              <a:defRPr/>
            </a:lvl1pPr>
          </a:lstStyle>
          <a:p>
            <a:pPr>
              <a:defRPr/>
            </a:pPr>
            <a:fld id="{31D8CE83-E13F-4F6B-8C71-89EEF2C6DF3E}" type="datetime1">
              <a:rPr lang="zh-CN" altLang="en-US"/>
              <a:pPr>
                <a:defRPr/>
              </a:pPr>
              <a:t>2025/10/28</a:t>
            </a:fld>
            <a:endParaRPr lang="zh-CN"/>
          </a:p>
        </p:txBody>
      </p:sp>
      <p:sp>
        <p:nvSpPr>
          <p:cNvPr id="3" name="页脚占位符 4">
            <a:extLst>
              <a:ext uri="{FF2B5EF4-FFF2-40B4-BE49-F238E27FC236}">
                <a16:creationId xmlns:a16="http://schemas.microsoft.com/office/drawing/2014/main" id="{67485ED0-2696-7242-BBAA-A3066C6BB366}"/>
              </a:ext>
            </a:extLst>
          </p:cNvPr>
          <p:cNvSpPr>
            <a:spLocks noGrp="1"/>
          </p:cNvSpPr>
          <p:nvPr>
            <p:ph type="ftr" sz="quarter" idx="11"/>
          </p:nvPr>
        </p:nvSpPr>
        <p:spPr/>
        <p:txBody>
          <a:bodyPr/>
          <a:lstStyle>
            <a:lvl1pPr>
              <a:defRPr/>
            </a:lvl1pPr>
          </a:lstStyle>
          <a:p>
            <a:pPr>
              <a:defRPr/>
            </a:pPr>
            <a:endParaRPr lang="zh-CN"/>
          </a:p>
        </p:txBody>
      </p:sp>
      <p:sp>
        <p:nvSpPr>
          <p:cNvPr id="4" name="灯片编号占位符 3">
            <a:extLst>
              <a:ext uri="{FF2B5EF4-FFF2-40B4-BE49-F238E27FC236}">
                <a16:creationId xmlns:a16="http://schemas.microsoft.com/office/drawing/2014/main" id="{AEAEBDBB-94F7-DF4A-9B95-71DEB2AAE084}"/>
              </a:ext>
            </a:extLst>
          </p:cNvPr>
          <p:cNvSpPr>
            <a:spLocks noGrp="1"/>
          </p:cNvSpPr>
          <p:nvPr>
            <p:ph type="sldNum" sz="quarter" idx="12"/>
          </p:nvPr>
        </p:nvSpPr>
        <p:spPr>
          <a:xfrm>
            <a:off x="6999288" y="6381750"/>
            <a:ext cx="2133600" cy="365125"/>
          </a:xfrm>
          <a:prstGeom prst="rect">
            <a:avLst/>
          </a:prstGeom>
        </p:spPr>
        <p:txBody>
          <a:bodyPr/>
          <a:lstStyle>
            <a:lvl1pPr>
              <a:defRPr/>
            </a:lvl1pPr>
          </a:lstStyle>
          <a:p>
            <a:r>
              <a:rPr lang="zh-CN" altLang="en-US"/>
              <a:t>黄铝文  信息工程学院</a:t>
            </a:r>
            <a:fld id="{FB493919-D68B-814B-9A2A-8650A98C9C60}" type="slidenum">
              <a:rPr lang="en-US" altLang="zh-CN"/>
              <a:pPr/>
              <a:t>‹#›</a:t>
            </a:fld>
            <a:endParaRPr lang="zh-CN" altLang="en-US">
              <a:latin typeface="Arial" panose="020B0604020202020204" pitchFamily="34" charset="0"/>
            </a:endParaRPr>
          </a:p>
        </p:txBody>
      </p:sp>
    </p:spTree>
    <p:extLst>
      <p:ext uri="{BB962C8B-B14F-4D97-AF65-F5344CB8AC3E}">
        <p14:creationId xmlns:p14="http://schemas.microsoft.com/office/powerpoint/2010/main" val="24549837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pic>
        <p:nvPicPr>
          <p:cNvPr id="4" name="图片 7">
            <a:extLst>
              <a:ext uri="{FF2B5EF4-FFF2-40B4-BE49-F238E27FC236}">
                <a16:creationId xmlns:a16="http://schemas.microsoft.com/office/drawing/2014/main" id="{0B8078C1-FC78-3348-93A4-AA94B8961D05}"/>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411288" y="863600"/>
            <a:ext cx="7739062" cy="44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p:nvPr>
        </p:nvSpPr>
        <p:spPr/>
        <p:txBody>
          <a:bodyPr/>
          <a:lstStyle>
            <a:lvl1pPr>
              <a:defRPr sz="3400">
                <a:latin typeface="黑体" panose="02010609060101010101" pitchFamily="49" charset="-122"/>
                <a:ea typeface="黑体" panose="02010609060101010101" pitchFamily="49" charset="-122"/>
              </a:defRPr>
            </a:lvl1pPr>
          </a:lstStyle>
          <a:p>
            <a:r>
              <a:rPr lang="zh-CN" altLang="en-US" noProof="1"/>
              <a:t>单击此处编辑母版标题样式</a:t>
            </a:r>
          </a:p>
        </p:txBody>
      </p:sp>
      <p:sp>
        <p:nvSpPr>
          <p:cNvPr id="3" name="内容占位符 2"/>
          <p:cNvSpPr>
            <a:spLocks noGrp="1"/>
          </p:cNvSpPr>
          <p:nvPr>
            <p:ph idx="1"/>
          </p:nvPr>
        </p:nvSpPr>
        <p:spPr/>
        <p:txBody>
          <a:bodyPr/>
          <a:lstStyle>
            <a:lvl1pPr>
              <a:defRPr>
                <a:latin typeface="黑体" panose="02010609060101010101" pitchFamily="49" charset="-122"/>
                <a:ea typeface="黑体" panose="02010609060101010101" pitchFamily="49" charset="-122"/>
              </a:defRPr>
            </a:lvl1pPr>
            <a:lvl2pPr>
              <a:defRPr>
                <a:latin typeface="黑体" panose="02010609060101010101" pitchFamily="49" charset="-122"/>
                <a:ea typeface="黑体" panose="02010609060101010101" pitchFamily="49" charset="-122"/>
              </a:defRPr>
            </a:lvl2pPr>
            <a:lvl3pPr>
              <a:defRPr>
                <a:latin typeface="黑体" panose="02010609060101010101" pitchFamily="49" charset="-122"/>
                <a:ea typeface="黑体" panose="02010609060101010101" pitchFamily="49" charset="-122"/>
              </a:defRPr>
            </a:lvl3pPr>
            <a:lvl4pPr>
              <a:defRPr>
                <a:latin typeface="黑体" panose="02010609060101010101" pitchFamily="49" charset="-122"/>
                <a:ea typeface="黑体" panose="02010609060101010101" pitchFamily="49" charset="-122"/>
              </a:defRPr>
            </a:lvl4pPr>
            <a:lvl5pPr>
              <a:defRPr>
                <a:latin typeface="黑体" panose="02010609060101010101" pitchFamily="49" charset="-122"/>
                <a:ea typeface="黑体" panose="02010609060101010101" pitchFamily="49" charset="-122"/>
              </a:defRPr>
            </a:lvl5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a:extLst>
              <a:ext uri="{FF2B5EF4-FFF2-40B4-BE49-F238E27FC236}">
                <a16:creationId xmlns:a16="http://schemas.microsoft.com/office/drawing/2014/main" id="{9E477473-4530-DD46-B2AD-0FD60C757B5E}"/>
              </a:ext>
            </a:extLst>
          </p:cNvPr>
          <p:cNvSpPr>
            <a:spLocks noGrp="1" noChangeArrowheads="1"/>
          </p:cNvSpPr>
          <p:nvPr>
            <p:ph type="dt" sz="half" idx="10"/>
          </p:nvPr>
        </p:nvSpPr>
        <p:spPr/>
        <p:txBody>
          <a:bodyPr/>
          <a:lstStyle>
            <a:lvl1pPr>
              <a:defRPr/>
            </a:lvl1pPr>
          </a:lstStyle>
          <a:p>
            <a:pPr>
              <a:defRPr/>
            </a:pPr>
            <a:fld id="{017ECEA7-1262-41CF-BCA4-71F36BF3663E}" type="datetime1">
              <a:rPr lang="zh-CN" altLang="en-US"/>
              <a:pPr>
                <a:defRPr/>
              </a:pPr>
              <a:t>2025/10/28</a:t>
            </a:fld>
            <a:endParaRPr lang="zh-CN"/>
          </a:p>
        </p:txBody>
      </p:sp>
      <p:sp>
        <p:nvSpPr>
          <p:cNvPr id="6" name="页脚占位符 4">
            <a:extLst>
              <a:ext uri="{FF2B5EF4-FFF2-40B4-BE49-F238E27FC236}">
                <a16:creationId xmlns:a16="http://schemas.microsoft.com/office/drawing/2014/main" id="{3AA6CAC0-5814-7144-86AA-59100DEE1288}"/>
              </a:ext>
            </a:extLst>
          </p:cNvPr>
          <p:cNvSpPr>
            <a:spLocks noGrp="1" noChangeArrowheads="1"/>
          </p:cNvSpPr>
          <p:nvPr>
            <p:ph type="ftr" sz="quarter" idx="11"/>
          </p:nvPr>
        </p:nvSpPr>
        <p:spPr/>
        <p:txBody>
          <a:bodyPr/>
          <a:lstStyle>
            <a:lvl1pPr>
              <a:defRPr/>
            </a:lvl1pPr>
          </a:lstStyle>
          <a:p>
            <a:pPr>
              <a:defRPr/>
            </a:pPr>
            <a:endParaRPr lang="zh-CN"/>
          </a:p>
        </p:txBody>
      </p:sp>
      <p:sp>
        <p:nvSpPr>
          <p:cNvPr id="7" name="灯片编号占位符 5">
            <a:extLst>
              <a:ext uri="{FF2B5EF4-FFF2-40B4-BE49-F238E27FC236}">
                <a16:creationId xmlns:a16="http://schemas.microsoft.com/office/drawing/2014/main" id="{D938D3CB-12C9-F444-ABE4-00775DA42DE7}"/>
              </a:ext>
            </a:extLst>
          </p:cNvPr>
          <p:cNvSpPr>
            <a:spLocks noGrp="1" noChangeArrowheads="1"/>
          </p:cNvSpPr>
          <p:nvPr>
            <p:ph type="sldNum" sz="quarter" idx="12"/>
          </p:nvPr>
        </p:nvSpPr>
        <p:spPr>
          <a:xfrm>
            <a:off x="6999288" y="6381750"/>
            <a:ext cx="2133600" cy="365125"/>
          </a:xfrm>
          <a:prstGeom prst="rect">
            <a:avLst/>
          </a:prstGeom>
        </p:spPr>
        <p:txBody>
          <a:bodyPr/>
          <a:lstStyle>
            <a:lvl1pPr>
              <a:defRPr>
                <a:solidFill>
                  <a:srgbClr val="632523"/>
                </a:solidFill>
              </a:defRPr>
            </a:lvl1pPr>
          </a:lstStyle>
          <a:p>
            <a:r>
              <a:rPr lang="zh-CN" altLang="en-US"/>
              <a:t>黄铝文  信息工程学院      第</a:t>
            </a:r>
            <a:fld id="{810474B2-7A58-F844-A99E-26832D0F12FE}" type="slidenum">
              <a:rPr lang="en-US" altLang="zh-CN"/>
              <a:pPr/>
              <a:t>‹#›</a:t>
            </a:fld>
            <a:r>
              <a:rPr lang="zh-CN" altLang="en-US"/>
              <a:t>页</a:t>
            </a:r>
            <a:endParaRPr lang="zh-CN" altLang="en-US">
              <a:latin typeface="Arial" panose="020B0604020202020204" pitchFamily="34" charset="0"/>
            </a:endParaRPr>
          </a:p>
        </p:txBody>
      </p:sp>
    </p:spTree>
    <p:extLst>
      <p:ext uri="{BB962C8B-B14F-4D97-AF65-F5344CB8AC3E}">
        <p14:creationId xmlns:p14="http://schemas.microsoft.com/office/powerpoint/2010/main" val="168087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内容占位符 2"/>
          <p:cNvSpPr>
            <a:spLocks noGrp="1"/>
          </p:cNvSpPr>
          <p:nvPr>
            <p:ph sz="half" idx="1"/>
          </p:nvPr>
        </p:nvSpPr>
        <p:spPr>
          <a:xfrm>
            <a:off x="714375" y="1285875"/>
            <a:ext cx="3930650" cy="4786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内容占位符 3"/>
          <p:cNvSpPr>
            <a:spLocks noGrp="1"/>
          </p:cNvSpPr>
          <p:nvPr>
            <p:ph sz="half" idx="2"/>
          </p:nvPr>
        </p:nvSpPr>
        <p:spPr>
          <a:xfrm>
            <a:off x="4797425" y="1285875"/>
            <a:ext cx="3932238" cy="47863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5" name="日期占位符 3">
            <a:extLst>
              <a:ext uri="{FF2B5EF4-FFF2-40B4-BE49-F238E27FC236}">
                <a16:creationId xmlns:a16="http://schemas.microsoft.com/office/drawing/2014/main" id="{07191E9A-35C4-444D-A9E0-85AE96F7B09D}"/>
              </a:ext>
            </a:extLst>
          </p:cNvPr>
          <p:cNvSpPr>
            <a:spLocks noGrp="1" noChangeArrowheads="1"/>
          </p:cNvSpPr>
          <p:nvPr>
            <p:ph type="dt" sz="half" idx="10"/>
          </p:nvPr>
        </p:nvSpPr>
        <p:spPr/>
        <p:txBody>
          <a:bodyPr/>
          <a:lstStyle>
            <a:lvl1pPr>
              <a:defRPr/>
            </a:lvl1pPr>
          </a:lstStyle>
          <a:p>
            <a:pPr>
              <a:defRPr/>
            </a:pPr>
            <a:fld id="{47E2BABB-B83D-41C2-AC33-3958799B9048}" type="datetime1">
              <a:rPr lang="zh-CN" altLang="en-US"/>
              <a:pPr>
                <a:defRPr/>
              </a:pPr>
              <a:t>2025/10/28</a:t>
            </a:fld>
            <a:endParaRPr lang="zh-CN"/>
          </a:p>
        </p:txBody>
      </p:sp>
      <p:sp>
        <p:nvSpPr>
          <p:cNvPr id="6" name="页脚占位符 4">
            <a:extLst>
              <a:ext uri="{FF2B5EF4-FFF2-40B4-BE49-F238E27FC236}">
                <a16:creationId xmlns:a16="http://schemas.microsoft.com/office/drawing/2014/main" id="{A8F05F02-387A-4D42-BF1B-19671A9501E5}"/>
              </a:ext>
            </a:extLst>
          </p:cNvPr>
          <p:cNvSpPr>
            <a:spLocks noGrp="1" noChangeArrowheads="1"/>
          </p:cNvSpPr>
          <p:nvPr>
            <p:ph type="ftr" sz="quarter" idx="11"/>
          </p:nvPr>
        </p:nvSpPr>
        <p:spPr/>
        <p:txBody>
          <a:bodyPr/>
          <a:lstStyle>
            <a:lvl1pPr>
              <a:defRPr/>
            </a:lvl1pPr>
          </a:lstStyle>
          <a:p>
            <a:pPr>
              <a:defRPr/>
            </a:pPr>
            <a:endParaRPr lang="zh-CN"/>
          </a:p>
        </p:txBody>
      </p:sp>
      <p:sp>
        <p:nvSpPr>
          <p:cNvPr id="7" name="灯片编号占位符 5">
            <a:extLst>
              <a:ext uri="{FF2B5EF4-FFF2-40B4-BE49-F238E27FC236}">
                <a16:creationId xmlns:a16="http://schemas.microsoft.com/office/drawing/2014/main" id="{6256EACD-1E5F-C042-987C-3D7200B7D1B1}"/>
              </a:ext>
            </a:extLst>
          </p:cNvPr>
          <p:cNvSpPr>
            <a:spLocks noGrp="1" noChangeArrowheads="1"/>
          </p:cNvSpPr>
          <p:nvPr>
            <p:ph type="sldNum" sz="quarter" idx="12"/>
          </p:nvPr>
        </p:nvSpPr>
        <p:spPr>
          <a:xfrm>
            <a:off x="6999288" y="6381750"/>
            <a:ext cx="2133600" cy="365125"/>
          </a:xfrm>
          <a:prstGeom prst="rect">
            <a:avLst/>
          </a:prstGeom>
        </p:spPr>
        <p:txBody>
          <a:bodyPr/>
          <a:lstStyle>
            <a:lvl1pPr>
              <a:defRPr noProof="1">
                <a:cs typeface="Times New Roman" panose="02020603050405020304" pitchFamily="18" charset="0"/>
              </a:defRPr>
            </a:lvl1pPr>
          </a:lstStyle>
          <a:p>
            <a:pPr>
              <a:defRPr/>
            </a:pPr>
            <a:fld id="{4D3B3115-192D-2C4B-84C5-BAF6B7D881D3}" type="slidenum">
              <a:rPr lang="en-US" altLang="zh-CN"/>
              <a:pPr>
                <a:defRPr/>
              </a:pPr>
              <a:t>‹#›</a:t>
            </a:fld>
            <a:endParaRPr lang="zh-CN">
              <a:cs typeface="+mn-cs"/>
            </a:endParaRPr>
          </a:p>
        </p:txBody>
      </p:sp>
    </p:spTree>
    <p:extLst>
      <p:ext uri="{BB962C8B-B14F-4D97-AF65-F5344CB8AC3E}">
        <p14:creationId xmlns:p14="http://schemas.microsoft.com/office/powerpoint/2010/main" val="42388377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p>
          <a:p>
            <a:pPr lvl="1"/>
            <a:r>
              <a:rPr lang="zh-CN" altLang="en-US" noProof="1"/>
              <a:t>第二级</a:t>
            </a:r>
          </a:p>
          <a:p>
            <a:pPr lvl="2"/>
            <a:r>
              <a:rPr lang="zh-CN" altLang="en-US" noProof="1"/>
              <a:t>第三级</a:t>
            </a:r>
          </a:p>
          <a:p>
            <a:pPr lvl="3"/>
            <a:r>
              <a:rPr lang="zh-CN" altLang="en-US" noProof="1"/>
              <a:t>第四级</a:t>
            </a:r>
          </a:p>
          <a:p>
            <a:pPr lvl="4"/>
            <a:r>
              <a:rPr lang="zh-CN" altLang="en-US" noProof="1"/>
              <a:t>第五级</a:t>
            </a:r>
          </a:p>
        </p:txBody>
      </p:sp>
      <p:sp>
        <p:nvSpPr>
          <p:cNvPr id="4" name="日期占位符 3">
            <a:extLst>
              <a:ext uri="{FF2B5EF4-FFF2-40B4-BE49-F238E27FC236}">
                <a16:creationId xmlns:a16="http://schemas.microsoft.com/office/drawing/2014/main" id="{1BD879A9-114E-AC4E-98A5-C8733AA3CBE9}"/>
              </a:ext>
            </a:extLst>
          </p:cNvPr>
          <p:cNvSpPr>
            <a:spLocks noGrp="1" noChangeArrowheads="1"/>
          </p:cNvSpPr>
          <p:nvPr>
            <p:ph type="dt" sz="half" idx="10"/>
          </p:nvPr>
        </p:nvSpPr>
        <p:spPr/>
        <p:txBody>
          <a:bodyPr/>
          <a:lstStyle>
            <a:lvl1pPr>
              <a:defRPr/>
            </a:lvl1pPr>
          </a:lstStyle>
          <a:p>
            <a:pPr>
              <a:defRPr/>
            </a:pPr>
            <a:fld id="{45ACAB7D-89A5-42FC-93E7-3A717ECA6DC7}" type="datetime1">
              <a:rPr lang="zh-CN" altLang="en-US"/>
              <a:pPr>
                <a:defRPr/>
              </a:pPr>
              <a:t>2025/10/28</a:t>
            </a:fld>
            <a:endParaRPr lang="zh-CN"/>
          </a:p>
        </p:txBody>
      </p:sp>
      <p:sp>
        <p:nvSpPr>
          <p:cNvPr id="5" name="页脚占位符 4">
            <a:extLst>
              <a:ext uri="{FF2B5EF4-FFF2-40B4-BE49-F238E27FC236}">
                <a16:creationId xmlns:a16="http://schemas.microsoft.com/office/drawing/2014/main" id="{40E22DE0-D594-3349-A726-C2F5C58D7F92}"/>
              </a:ext>
            </a:extLst>
          </p:cNvPr>
          <p:cNvSpPr>
            <a:spLocks noGrp="1" noChangeArrowheads="1"/>
          </p:cNvSpPr>
          <p:nvPr>
            <p:ph type="ftr" sz="quarter" idx="11"/>
          </p:nvPr>
        </p:nvSpPr>
        <p:spPr/>
        <p:txBody>
          <a:bodyPr/>
          <a:lstStyle>
            <a:lvl1pPr>
              <a:defRPr/>
            </a:lvl1pPr>
          </a:lstStyle>
          <a:p>
            <a:pPr>
              <a:defRPr/>
            </a:pPr>
            <a:endParaRPr lang="zh-CN"/>
          </a:p>
        </p:txBody>
      </p:sp>
      <p:sp>
        <p:nvSpPr>
          <p:cNvPr id="6" name="灯片编号占位符 5">
            <a:extLst>
              <a:ext uri="{FF2B5EF4-FFF2-40B4-BE49-F238E27FC236}">
                <a16:creationId xmlns:a16="http://schemas.microsoft.com/office/drawing/2014/main" id="{A9224B09-C915-F542-A56D-EBD2934EA96A}"/>
              </a:ext>
            </a:extLst>
          </p:cNvPr>
          <p:cNvSpPr>
            <a:spLocks noGrp="1" noChangeArrowheads="1"/>
          </p:cNvSpPr>
          <p:nvPr>
            <p:ph type="sldNum" sz="quarter" idx="12"/>
          </p:nvPr>
        </p:nvSpPr>
        <p:spPr>
          <a:xfrm>
            <a:off x="6999288" y="6381750"/>
            <a:ext cx="2133600" cy="365125"/>
          </a:xfrm>
          <a:prstGeom prst="rect">
            <a:avLst/>
          </a:prstGeom>
        </p:spPr>
        <p:txBody>
          <a:bodyPr/>
          <a:lstStyle>
            <a:lvl1pPr>
              <a:defRPr noProof="1">
                <a:cs typeface="Times New Roman" panose="02020603050405020304" pitchFamily="18" charset="0"/>
              </a:defRPr>
            </a:lvl1pPr>
          </a:lstStyle>
          <a:p>
            <a:pPr>
              <a:defRPr/>
            </a:pPr>
            <a:fld id="{BCD19D97-6671-EA4E-9390-337506A7DF53}" type="slidenum">
              <a:rPr lang="en-US" altLang="zh-CN"/>
              <a:pPr>
                <a:defRPr/>
              </a:pPr>
              <a:t>‹#›</a:t>
            </a:fld>
            <a:endParaRPr lang="zh-CN">
              <a:cs typeface="+mn-cs"/>
            </a:endParaRPr>
          </a:p>
        </p:txBody>
      </p:sp>
    </p:spTree>
    <p:extLst>
      <p:ext uri="{BB962C8B-B14F-4D97-AF65-F5344CB8AC3E}">
        <p14:creationId xmlns:p14="http://schemas.microsoft.com/office/powerpoint/2010/main" val="5167095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74840A1A-AE90-7A43-814A-0774F9B8AFE8}"/>
              </a:ext>
            </a:extLst>
          </p:cNvPr>
          <p:cNvSpPr>
            <a:spLocks noGrp="1"/>
          </p:cNvSpPr>
          <p:nvPr>
            <p:ph type="dt" sz="half" idx="10"/>
          </p:nvPr>
        </p:nvSpPr>
        <p:spPr/>
        <p:txBody>
          <a:bodyPr/>
          <a:lstStyle>
            <a:lvl1pPr>
              <a:defRPr dirty="0"/>
            </a:lvl1pPr>
          </a:lstStyle>
          <a:p>
            <a:endParaRPr lang="en-US" altLang="x-none"/>
          </a:p>
        </p:txBody>
      </p:sp>
      <p:sp>
        <p:nvSpPr>
          <p:cNvPr id="3" name="页脚占位符 2">
            <a:extLst>
              <a:ext uri="{FF2B5EF4-FFF2-40B4-BE49-F238E27FC236}">
                <a16:creationId xmlns:a16="http://schemas.microsoft.com/office/drawing/2014/main" id="{A386586D-29B5-D04C-B789-4578C838196C}"/>
              </a:ext>
            </a:extLst>
          </p:cNvPr>
          <p:cNvSpPr>
            <a:spLocks noGrp="1"/>
          </p:cNvSpPr>
          <p:nvPr>
            <p:ph type="ftr" sz="quarter" idx="11"/>
          </p:nvPr>
        </p:nvSpPr>
        <p:spPr/>
        <p:txBody>
          <a:bodyPr/>
          <a:lstStyle>
            <a:lvl1pPr>
              <a:defRPr dirty="0"/>
            </a:lvl1pPr>
          </a:lstStyle>
          <a:p>
            <a:endParaRPr lang="en-US" altLang="x-none"/>
          </a:p>
        </p:txBody>
      </p:sp>
      <p:sp>
        <p:nvSpPr>
          <p:cNvPr id="4" name="灯片编号占位符 3">
            <a:extLst>
              <a:ext uri="{FF2B5EF4-FFF2-40B4-BE49-F238E27FC236}">
                <a16:creationId xmlns:a16="http://schemas.microsoft.com/office/drawing/2014/main" id="{8E15621C-E248-184F-8494-491C42915580}"/>
              </a:ext>
            </a:extLst>
          </p:cNvPr>
          <p:cNvSpPr>
            <a:spLocks noGrp="1"/>
          </p:cNvSpPr>
          <p:nvPr>
            <p:ph type="sldNum" sz="quarter" idx="12"/>
          </p:nvPr>
        </p:nvSpPr>
        <p:spPr>
          <a:xfrm>
            <a:off x="6999288" y="6381750"/>
            <a:ext cx="2133600" cy="365125"/>
          </a:xfrm>
          <a:prstGeom prst="rect">
            <a:avLst/>
          </a:prstGeom>
        </p:spPr>
        <p:txBody>
          <a:bodyPr/>
          <a:lstStyle>
            <a:lvl1pPr>
              <a:defRPr noProof="1" dirty="0">
                <a:cs typeface="Times New Roman" panose="02020603050405020304" pitchFamily="18" charset="0"/>
              </a:defRPr>
            </a:lvl1pPr>
          </a:lstStyle>
          <a:p>
            <a:fld id="{B9B35CC7-A77C-1345-A2BB-ABBE8439F781}" type="slidenum">
              <a:rPr lang="en-US" altLang="x-none"/>
              <a:pPr/>
              <a:t>‹#›</a:t>
            </a:fld>
            <a:endParaRPr lang="en-US" altLang="x-none">
              <a:cs typeface="+mn-cs"/>
            </a:endParaRPr>
          </a:p>
        </p:txBody>
      </p:sp>
    </p:spTree>
    <p:extLst>
      <p:ext uri="{BB962C8B-B14F-4D97-AF65-F5344CB8AC3E}">
        <p14:creationId xmlns:p14="http://schemas.microsoft.com/office/powerpoint/2010/main" val="21250528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p>
        </p:txBody>
      </p:sp>
      <p:sp>
        <p:nvSpPr>
          <p:cNvPr id="3" name="Rectangle 5">
            <a:extLst>
              <a:ext uri="{FF2B5EF4-FFF2-40B4-BE49-F238E27FC236}">
                <a16:creationId xmlns:a16="http://schemas.microsoft.com/office/drawing/2014/main" id="{CC609BEC-5F20-3C48-9D9F-B4491005E423}"/>
              </a:ext>
            </a:extLst>
          </p:cNvPr>
          <p:cNvSpPr>
            <a:spLocks noGrp="1" noChangeArrowheads="1"/>
          </p:cNvSpPr>
          <p:nvPr>
            <p:ph type="ftr" sz="quarter" idx="10"/>
          </p:nvPr>
        </p:nvSpPr>
        <p:spPr>
          <a:ln/>
        </p:spPr>
        <p:txBody>
          <a:bodyPr/>
          <a:lstStyle>
            <a:lvl1pPr>
              <a:defRPr/>
            </a:lvl1pPr>
          </a:lstStyle>
          <a:p>
            <a:fld id="{EBA42467-76FE-ED49-B0F8-C848259A8AA1}" type="slidenum">
              <a:rPr lang="zh-CN" altLang="en-US"/>
              <a:pPr/>
              <a:t>‹#›</a:t>
            </a:fld>
            <a:endParaRPr lang="zh-CN" altLang="en-US"/>
          </a:p>
        </p:txBody>
      </p:sp>
      <p:sp>
        <p:nvSpPr>
          <p:cNvPr id="4" name="Rectangle 6">
            <a:extLst>
              <a:ext uri="{FF2B5EF4-FFF2-40B4-BE49-F238E27FC236}">
                <a16:creationId xmlns:a16="http://schemas.microsoft.com/office/drawing/2014/main" id="{1B67ACAD-2FFC-A949-BD15-B1B0B8A9BDEF}"/>
              </a:ext>
            </a:extLst>
          </p:cNvPr>
          <p:cNvSpPr>
            <a:spLocks noGrp="1" noChangeArrowheads="1"/>
          </p:cNvSpPr>
          <p:nvPr>
            <p:ph type="sldNum" sz="quarter" idx="11"/>
          </p:nvPr>
        </p:nvSpPr>
        <p:spPr>
          <a:ln/>
        </p:spPr>
        <p:txBody>
          <a:bodyPr/>
          <a:lstStyle>
            <a:lvl1pPr>
              <a:defRPr/>
            </a:lvl1pPr>
          </a:lstStyle>
          <a:p>
            <a:fld id="{ED8F02DF-CC76-1F42-84F4-8EB622C0B740}" type="slidenum">
              <a:rPr lang="zh-CN" altLang="en-US"/>
              <a:pPr/>
              <a:t>‹#›</a:t>
            </a:fld>
            <a:endParaRPr lang="zh-CN" altLang="en-US"/>
          </a:p>
        </p:txBody>
      </p:sp>
    </p:spTree>
    <p:extLst>
      <p:ext uri="{BB962C8B-B14F-4D97-AF65-F5344CB8AC3E}">
        <p14:creationId xmlns:p14="http://schemas.microsoft.com/office/powerpoint/2010/main" val="40359214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8"/>
          <a:srcRect/>
          <a:stretch>
            <a:fillRect/>
          </a:stretch>
        </a:blip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a16="http://schemas.microsoft.com/office/drawing/2014/main" id="{70F2BAA0-6054-9C49-8277-73EAD3FC73FE}"/>
              </a:ext>
            </a:extLst>
          </p:cNvPr>
          <p:cNvSpPr>
            <a:spLocks noGrp="1" noChangeArrowheads="1"/>
          </p:cNvSpPr>
          <p:nvPr>
            <p:ph type="title" idx="4294967295"/>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t>单击此处编辑母版标题样式</a:t>
            </a:r>
          </a:p>
        </p:txBody>
      </p:sp>
      <p:sp>
        <p:nvSpPr>
          <p:cNvPr id="1027" name="文本占位符 2">
            <a:extLst>
              <a:ext uri="{FF2B5EF4-FFF2-40B4-BE49-F238E27FC236}">
                <a16:creationId xmlns:a16="http://schemas.microsoft.com/office/drawing/2014/main" id="{B1D41DEA-A289-B748-A47E-3356BBAED9F8}"/>
              </a:ext>
            </a:extLst>
          </p:cNvPr>
          <p:cNvSpPr>
            <a:spLocks noGrp="1" noChangeArrowheads="1"/>
          </p:cNvSpPr>
          <p:nvPr>
            <p:ph type="body" idx="4294967295"/>
          </p:nvPr>
        </p:nvSpPr>
        <p:spPr bwMode="auto">
          <a:xfrm>
            <a:off x="714375" y="1214438"/>
            <a:ext cx="8015288" cy="500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t>单击此处编辑母版文本样式</a:t>
            </a:r>
          </a:p>
          <a:p>
            <a:pPr lvl="1"/>
            <a:r>
              <a:rPr lang="zh-CN" altLang="zh-CN"/>
              <a:t>第二级</a:t>
            </a:r>
          </a:p>
          <a:p>
            <a:pPr lvl="2"/>
            <a:r>
              <a:rPr lang="zh-CN" altLang="zh-CN"/>
              <a:t>第三级</a:t>
            </a:r>
          </a:p>
          <a:p>
            <a:pPr lvl="3"/>
            <a:r>
              <a:rPr lang="zh-CN" altLang="zh-CN"/>
              <a:t>第四级</a:t>
            </a:r>
          </a:p>
          <a:p>
            <a:pPr lvl="4"/>
            <a:r>
              <a:rPr lang="zh-CN" altLang="zh-CN"/>
              <a:t>第五级</a:t>
            </a:r>
          </a:p>
        </p:txBody>
      </p:sp>
      <p:sp>
        <p:nvSpPr>
          <p:cNvPr id="2052" name="日期占位符 3">
            <a:extLst>
              <a:ext uri="{FF2B5EF4-FFF2-40B4-BE49-F238E27FC236}">
                <a16:creationId xmlns:a16="http://schemas.microsoft.com/office/drawing/2014/main" id="{BBC7E0ED-CEFB-DF4E-B1C5-EC80C9C19B9F}"/>
              </a:ext>
            </a:extLst>
          </p:cNvPr>
          <p:cNvSpPr>
            <a:spLocks noGrp="1" noChangeArrowheads="1"/>
          </p:cNvSpPr>
          <p:nvPr>
            <p:ph type="dt" sz="half" idx="2"/>
          </p:nvPr>
        </p:nvSpPr>
        <p:spPr bwMode="auto">
          <a:xfrm>
            <a:off x="457200" y="6356350"/>
            <a:ext cx="2133600" cy="365125"/>
          </a:xfrm>
          <a:prstGeom prst="rect">
            <a:avLst/>
          </a:prstGeom>
          <a:noFill/>
          <a:ln w="9525">
            <a:noFill/>
            <a:miter lim="800000"/>
          </a:ln>
        </p:spPr>
        <p:txBody>
          <a:bodyPr vert="horz" wrap="square" lIns="91440" tIns="45720" rIns="91440" bIns="45720" numCol="1" anchor="ctr" anchorCtr="0" compatLnSpc="1"/>
          <a:lstStyle>
            <a:lvl1pPr>
              <a:defRPr sz="1200" noProof="1">
                <a:solidFill>
                  <a:srgbClr val="898989"/>
                </a:solidFill>
                <a:latin typeface="+mn-lt"/>
                <a:ea typeface="宋体" panose="02010600030101010101" pitchFamily="2" charset="-122"/>
              </a:defRPr>
            </a:lvl1pPr>
          </a:lstStyle>
          <a:p>
            <a:pPr>
              <a:defRPr/>
            </a:pPr>
            <a:fld id="{CD6B00DA-9A03-46A6-BBA2-71D0C7E9CFCB}" type="datetime1">
              <a:rPr lang="zh-CN" altLang="en-US"/>
              <a:pPr>
                <a:defRPr/>
              </a:pPr>
              <a:t>2025/10/28</a:t>
            </a:fld>
            <a:endParaRPr lang="zh-CN"/>
          </a:p>
        </p:txBody>
      </p:sp>
      <p:sp>
        <p:nvSpPr>
          <p:cNvPr id="2053" name="页脚占位符 4">
            <a:extLst>
              <a:ext uri="{FF2B5EF4-FFF2-40B4-BE49-F238E27FC236}">
                <a16:creationId xmlns:a16="http://schemas.microsoft.com/office/drawing/2014/main" id="{D4E59B6A-E229-6A47-AA0E-FCA942084C90}"/>
              </a:ext>
            </a:extLst>
          </p:cNvPr>
          <p:cNvSpPr>
            <a:spLocks noGrp="1" noChangeArrowheads="1"/>
          </p:cNvSpPr>
          <p:nvPr>
            <p:ph type="ftr" sz="quarter" idx="3"/>
          </p:nvPr>
        </p:nvSpPr>
        <p:spPr bwMode="auto">
          <a:xfrm>
            <a:off x="3124200" y="6356350"/>
            <a:ext cx="2895600" cy="365125"/>
          </a:xfrm>
          <a:prstGeom prst="rect">
            <a:avLst/>
          </a:prstGeom>
          <a:noFill/>
          <a:ln w="9525">
            <a:noFill/>
            <a:miter lim="800000"/>
          </a:ln>
        </p:spPr>
        <p:txBody>
          <a:bodyPr vert="horz" wrap="square" lIns="91440" tIns="45720" rIns="91440" bIns="45720" numCol="1" anchor="ctr" anchorCtr="0" compatLnSpc="1"/>
          <a:lstStyle>
            <a:lvl1pPr algn="ctr">
              <a:defRPr sz="1200" noProof="1">
                <a:solidFill>
                  <a:srgbClr val="898989"/>
                </a:solidFill>
                <a:latin typeface="+mn-lt"/>
                <a:ea typeface="宋体" panose="02010600030101010101" pitchFamily="2" charset="-122"/>
              </a:defRPr>
            </a:lvl1pPr>
          </a:lstStyle>
          <a:p>
            <a:pPr>
              <a:defRPr/>
            </a:pPr>
            <a:endParaRPr lang="zh-CN"/>
          </a:p>
        </p:txBody>
      </p:sp>
    </p:spTree>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rtl="0" eaLnBrk="0" fontAlgn="base" hangingPunct="0">
        <a:spcBef>
          <a:spcPct val="0"/>
        </a:spcBef>
        <a:spcAft>
          <a:spcPct val="0"/>
        </a:spcAft>
        <a:defRPr sz="3400">
          <a:solidFill>
            <a:schemeClr val="tx1"/>
          </a:solidFill>
          <a:latin typeface="黑体" panose="02010609060101010101" pitchFamily="49" charset="-122"/>
          <a:ea typeface="黑体" panose="02010609060101010101" pitchFamily="49" charset="-122"/>
          <a:cs typeface="+mj-cs"/>
        </a:defRPr>
      </a:lvl1pPr>
      <a:lvl2pPr algn="l" rtl="0" eaLnBrk="0" fontAlgn="base" hangingPunct="0">
        <a:spcBef>
          <a:spcPct val="0"/>
        </a:spcBef>
        <a:spcAft>
          <a:spcPct val="0"/>
        </a:spcAft>
        <a:defRPr sz="3400">
          <a:solidFill>
            <a:schemeClr val="tx1"/>
          </a:solidFill>
          <a:latin typeface="黑体" panose="02010609060101010101" pitchFamily="49" charset="-122"/>
          <a:ea typeface="黑体" panose="02010609060101010101" pitchFamily="49" charset="-122"/>
        </a:defRPr>
      </a:lvl2pPr>
      <a:lvl3pPr algn="l" rtl="0" eaLnBrk="0" fontAlgn="base" hangingPunct="0">
        <a:spcBef>
          <a:spcPct val="0"/>
        </a:spcBef>
        <a:spcAft>
          <a:spcPct val="0"/>
        </a:spcAft>
        <a:defRPr sz="3400">
          <a:solidFill>
            <a:schemeClr val="tx1"/>
          </a:solidFill>
          <a:latin typeface="黑体" panose="02010609060101010101" pitchFamily="49" charset="-122"/>
          <a:ea typeface="黑体" panose="02010609060101010101" pitchFamily="49" charset="-122"/>
        </a:defRPr>
      </a:lvl3pPr>
      <a:lvl4pPr algn="l" rtl="0" eaLnBrk="0" fontAlgn="base" hangingPunct="0">
        <a:spcBef>
          <a:spcPct val="0"/>
        </a:spcBef>
        <a:spcAft>
          <a:spcPct val="0"/>
        </a:spcAft>
        <a:defRPr sz="3400">
          <a:solidFill>
            <a:schemeClr val="tx1"/>
          </a:solidFill>
          <a:latin typeface="黑体" panose="02010609060101010101" pitchFamily="49" charset="-122"/>
          <a:ea typeface="黑体" panose="02010609060101010101" pitchFamily="49" charset="-122"/>
        </a:defRPr>
      </a:lvl4pPr>
      <a:lvl5pPr algn="l" rtl="0" eaLnBrk="0" fontAlgn="base" hangingPunct="0">
        <a:spcBef>
          <a:spcPct val="0"/>
        </a:spcBef>
        <a:spcAft>
          <a:spcPct val="0"/>
        </a:spcAft>
        <a:defRPr sz="3400">
          <a:solidFill>
            <a:schemeClr val="tx1"/>
          </a:solidFill>
          <a:latin typeface="黑体" panose="02010609060101010101" pitchFamily="49" charset="-122"/>
          <a:ea typeface="黑体" panose="02010609060101010101" pitchFamily="49" charset="-122"/>
        </a:defRPr>
      </a:lvl5pPr>
      <a:lvl6pPr marL="457200" algn="l" rtl="0" fontAlgn="base">
        <a:spcBef>
          <a:spcPct val="0"/>
        </a:spcBef>
        <a:spcAft>
          <a:spcPct val="0"/>
        </a:spcAft>
        <a:defRPr sz="3600">
          <a:solidFill>
            <a:schemeClr val="tx1"/>
          </a:solidFill>
          <a:latin typeface="Calibri" panose="020F0502020204030204" pitchFamily="34" charset="0"/>
          <a:ea typeface="宋体" panose="02010600030101010101" pitchFamily="2" charset="-122"/>
        </a:defRPr>
      </a:lvl6pPr>
      <a:lvl7pPr marL="914400" algn="l" rtl="0" fontAlgn="base">
        <a:spcBef>
          <a:spcPct val="0"/>
        </a:spcBef>
        <a:spcAft>
          <a:spcPct val="0"/>
        </a:spcAft>
        <a:defRPr sz="3600">
          <a:solidFill>
            <a:schemeClr val="tx1"/>
          </a:solidFill>
          <a:latin typeface="Calibri" panose="020F0502020204030204" pitchFamily="34" charset="0"/>
          <a:ea typeface="宋体" panose="02010600030101010101" pitchFamily="2" charset="-122"/>
        </a:defRPr>
      </a:lvl7pPr>
      <a:lvl8pPr marL="1371600" algn="l" rtl="0" fontAlgn="base">
        <a:spcBef>
          <a:spcPct val="0"/>
        </a:spcBef>
        <a:spcAft>
          <a:spcPct val="0"/>
        </a:spcAft>
        <a:defRPr sz="3600">
          <a:solidFill>
            <a:schemeClr val="tx1"/>
          </a:solidFill>
          <a:latin typeface="Calibri" panose="020F0502020204030204" pitchFamily="34" charset="0"/>
          <a:ea typeface="宋体" panose="02010600030101010101" pitchFamily="2" charset="-122"/>
        </a:defRPr>
      </a:lvl8pPr>
      <a:lvl9pPr marL="1828800" algn="l" rtl="0" fontAlgn="base">
        <a:spcBef>
          <a:spcPct val="0"/>
        </a:spcBef>
        <a:spcAft>
          <a:spcPct val="0"/>
        </a:spcAft>
        <a:defRPr sz="36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2800">
          <a:solidFill>
            <a:schemeClr val="tx1"/>
          </a:solidFill>
          <a:latin typeface="黑体" panose="02010609060101010101" pitchFamily="49" charset="-122"/>
          <a:ea typeface="黑体" panose="02010609060101010101" pitchFamily="49" charset="-122"/>
          <a:cs typeface="+mn-cs"/>
        </a:defRPr>
      </a:lvl1pPr>
      <a:lvl2pPr marL="742950" indent="-285750" algn="l" rtl="0" eaLnBrk="0" fontAlgn="base" hangingPunct="0">
        <a:spcBef>
          <a:spcPct val="20000"/>
        </a:spcBef>
        <a:spcAft>
          <a:spcPct val="0"/>
        </a:spcAft>
        <a:buFont typeface="Arial" panose="020B0604020202020204" pitchFamily="34" charset="0"/>
        <a:buChar char="–"/>
        <a:defRPr sz="2400">
          <a:solidFill>
            <a:schemeClr val="tx1"/>
          </a:solidFill>
          <a:latin typeface="黑体" panose="02010609060101010101" pitchFamily="49" charset="-122"/>
          <a:ea typeface="黑体" panose="02010609060101010101" pitchFamily="49" charset="-122"/>
        </a:defRPr>
      </a:lvl2pPr>
      <a:lvl3pPr marL="11430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黑体" panose="02010609060101010101" pitchFamily="49" charset="-122"/>
          <a:ea typeface="黑体" panose="02010609060101010101" pitchFamily="49" charset="-122"/>
        </a:defRPr>
      </a:lvl4pPr>
      <a:lvl5pPr marL="2057400" indent="-228600" algn="l" rtl="0" eaLnBrk="0" fontAlgn="base" hangingPunct="0">
        <a:spcBef>
          <a:spcPct val="20000"/>
        </a:spcBef>
        <a:spcAft>
          <a:spcPct val="0"/>
        </a:spcAft>
        <a:buFont typeface="Arial" panose="020B0604020202020204" pitchFamily="34" charset="0"/>
        <a:buChar char="»"/>
        <a:defRPr sz="1600">
          <a:solidFill>
            <a:schemeClr val="tx1"/>
          </a:solidFill>
          <a:latin typeface="黑体" panose="02010609060101010101" pitchFamily="49" charset="-122"/>
          <a:ea typeface="黑体" panose="02010609060101010101" pitchFamily="49" charset="-122"/>
        </a:defRPr>
      </a:lvl5pPr>
      <a:lvl6pPr marL="25146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6pPr>
      <a:lvl7pPr marL="29718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7pPr>
      <a:lvl8pPr marL="34290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8pPr>
      <a:lvl9pPr marL="3886200" indent="-228600" algn="l" rtl="0" fontAlgn="base">
        <a:spcBef>
          <a:spcPct val="20000"/>
        </a:spcBef>
        <a:spcAft>
          <a:spcPct val="0"/>
        </a:spcAft>
        <a:buFont typeface="Arial" panose="020B0604020202020204" pitchFamily="34" charset="0"/>
        <a:buChar char="»"/>
        <a:defRPr sz="16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4" Type="http://schemas.openxmlformats.org/officeDocument/2006/relationships/image" Target="../media/image9.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3.emf"/><Relationship Id="rId4" Type="http://schemas.openxmlformats.org/officeDocument/2006/relationships/oleObject" Target="../embeddings/oleObject1.bin"/></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14.emf"/></Relationships>
</file>

<file path=ppt/slides/_rels/slide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5.emf"/><Relationship Id="rId4" Type="http://schemas.openxmlformats.org/officeDocument/2006/relationships/oleObject" Target="../embeddings/oleObject3.bin"/></Relationships>
</file>

<file path=ppt/slides/_rels/slide51.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6.emf"/><Relationship Id="rId5" Type="http://schemas.openxmlformats.org/officeDocument/2006/relationships/oleObject" Target="../embeddings/oleObject4.bin"/><Relationship Id="rId4" Type="http://schemas.openxmlformats.org/officeDocument/2006/relationships/image" Target="../media/image12.png"/></Relationships>
</file>

<file path=ppt/slides/_rels/slide52.xml.rels><?xml version="1.0" encoding="UTF-8" standalone="yes"?>
<Relationships xmlns="http://schemas.openxmlformats.org/package/2006/relationships"><Relationship Id="rId3" Type="http://schemas.openxmlformats.org/officeDocument/2006/relationships/image" Target="../media/image17.gif"/><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17.gif"/><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86.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hyperlink" Target="http://baike.baidu.com/item/%E7%A8%8B%E5%BA%8F%E5%91%98/62748" TargetMode="Externa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标题 1">
            <a:extLst>
              <a:ext uri="{FF2B5EF4-FFF2-40B4-BE49-F238E27FC236}">
                <a16:creationId xmlns:a16="http://schemas.microsoft.com/office/drawing/2014/main" id="{CB6E6A7D-6A75-C84A-A6FD-03FCD3E85A33}"/>
              </a:ext>
            </a:extLst>
          </p:cNvPr>
          <p:cNvSpPr>
            <a:spLocks noGrp="1"/>
          </p:cNvSpPr>
          <p:nvPr>
            <p:ph type="ctrTitle" idx="4294967295"/>
          </p:nvPr>
        </p:nvSpPr>
        <p:spPr>
          <a:xfrm>
            <a:off x="251700" y="2420930"/>
            <a:ext cx="8450262" cy="1152525"/>
          </a:xfrm>
        </p:spPr>
        <p:txBody>
          <a:bodyPr/>
          <a:lstStyle/>
          <a:p>
            <a:pPr algn="ctr" eaLnBrk="1" hangingPunct="1"/>
            <a:r>
              <a:rPr lang="zh-TW" altLang="en-US" sz="4400" b="1" dirty="0">
                <a:solidFill>
                  <a:srgbClr val="0000FF"/>
                </a:solidFill>
                <a:latin typeface="微软雅黑" panose="020B0503020204020204" pitchFamily="34" charset="-122"/>
                <a:ea typeface="微软雅黑" panose="020B0503020204020204" pitchFamily="34" charset="-122"/>
                <a:sym typeface="宋体" panose="02010600030101010101" pitchFamily="2" charset="-122"/>
              </a:rPr>
              <a:t>第六章</a:t>
            </a:r>
            <a:r>
              <a:rPr lang="zh-CN" altLang="en-US" sz="4400" b="1" dirty="0">
                <a:solidFill>
                  <a:srgbClr val="0000FF"/>
                </a:solidFill>
                <a:latin typeface="微软雅黑" panose="020B0503020204020204" pitchFamily="34" charset="-122"/>
                <a:ea typeface="微软雅黑" panose="020B0503020204020204" pitchFamily="34" charset="-122"/>
                <a:sym typeface="宋体" panose="02010600030101010101" pitchFamily="2" charset="-122"/>
              </a:rPr>
              <a:t> 并行编程技术</a:t>
            </a:r>
            <a:endParaRPr lang="zh-CN" altLang="en-US" sz="4400" b="1" dirty="0">
              <a:solidFill>
                <a:srgbClr val="0000FF"/>
              </a:solidFill>
              <a:latin typeface="微软雅黑" panose="020B0503020204020204" pitchFamily="34" charset="-122"/>
              <a:ea typeface="微软雅黑" panose="020B0503020204020204" pitchFamily="34" charset="-122"/>
            </a:endParaRPr>
          </a:p>
        </p:txBody>
      </p:sp>
    </p:spTree>
  </p:cSld>
  <p:clrMapOvr>
    <a:masterClrMapping/>
  </p:clrMapOvr>
  <p:transition advTm="19843"/>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AutoShape 52">
            <a:extLst>
              <a:ext uri="{FF2B5EF4-FFF2-40B4-BE49-F238E27FC236}">
                <a16:creationId xmlns:a16="http://schemas.microsoft.com/office/drawing/2014/main" id="{C8D914C1-3681-9D45-8C16-43B78E448A05}"/>
              </a:ext>
            </a:extLst>
          </p:cNvPr>
          <p:cNvSpPr>
            <a:spLocks noChangeArrowheads="1"/>
          </p:cNvSpPr>
          <p:nvPr/>
        </p:nvSpPr>
        <p:spPr bwMode="auto">
          <a:xfrm>
            <a:off x="3282950" y="5210175"/>
            <a:ext cx="4419600" cy="508000"/>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2000" b="1">
                <a:latin typeface="黑体" panose="02010609060101010101" pitchFamily="49" charset="-122"/>
                <a:ea typeface="黑体" panose="02010609060101010101" pitchFamily="49" charset="-122"/>
              </a:rPr>
              <a:t>六、</a:t>
            </a:r>
            <a:r>
              <a:rPr lang="en-US" altLang="zh-CN" sz="2000" b="1">
                <a:latin typeface="黑体" panose="02010609060101010101" pitchFamily="49" charset="-122"/>
                <a:ea typeface="黑体" panose="02010609060101010101" pitchFamily="49" charset="-122"/>
              </a:rPr>
              <a:t>CPU/GPU/TPU</a:t>
            </a:r>
            <a:r>
              <a:rPr lang="zh-CN" altLang="en-US" sz="2000" b="1">
                <a:latin typeface="黑体" panose="02010609060101010101" pitchFamily="49" charset="-122"/>
                <a:ea typeface="黑体" panose="02010609060101010101" pitchFamily="49" charset="-122"/>
              </a:rPr>
              <a:t>概述</a:t>
            </a:r>
            <a:endParaRPr lang="en-US" altLang="zh-CN" sz="2000" b="1">
              <a:latin typeface="黑体" panose="02010609060101010101" pitchFamily="49" charset="-122"/>
              <a:ea typeface="黑体" panose="02010609060101010101" pitchFamily="49" charset="-122"/>
            </a:endParaRPr>
          </a:p>
        </p:txBody>
      </p:sp>
      <p:sp>
        <p:nvSpPr>
          <p:cNvPr id="9218" name="AutoShape 52">
            <a:extLst>
              <a:ext uri="{FF2B5EF4-FFF2-40B4-BE49-F238E27FC236}">
                <a16:creationId xmlns:a16="http://schemas.microsoft.com/office/drawing/2014/main" id="{F60B67D1-F278-7743-A879-E8F55DA802AE}"/>
              </a:ext>
            </a:extLst>
          </p:cNvPr>
          <p:cNvSpPr>
            <a:spLocks noChangeArrowheads="1"/>
          </p:cNvSpPr>
          <p:nvPr/>
        </p:nvSpPr>
        <p:spPr bwMode="auto">
          <a:xfrm>
            <a:off x="3322638" y="947738"/>
            <a:ext cx="4419600" cy="508000"/>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2000" b="1">
                <a:latin typeface="黑体" panose="02010609060101010101" pitchFamily="49" charset="-122"/>
                <a:ea typeface="黑体" panose="02010609060101010101" pitchFamily="49" charset="-122"/>
              </a:rPr>
              <a:t>一、并行编程基础知识</a:t>
            </a:r>
            <a:endParaRPr lang="en-US" altLang="zh-CN" sz="2000" b="1">
              <a:latin typeface="黑体" panose="02010609060101010101" pitchFamily="49" charset="-122"/>
              <a:ea typeface="黑体" panose="02010609060101010101" pitchFamily="49" charset="-122"/>
            </a:endParaRPr>
          </a:p>
        </p:txBody>
      </p:sp>
      <p:sp>
        <p:nvSpPr>
          <p:cNvPr id="9219" name="AutoShape 48">
            <a:extLst>
              <a:ext uri="{FF2B5EF4-FFF2-40B4-BE49-F238E27FC236}">
                <a16:creationId xmlns:a16="http://schemas.microsoft.com/office/drawing/2014/main" id="{DA2C0D1B-D72D-364B-8DE2-EF29A1AF0BF6}"/>
              </a:ext>
            </a:extLst>
          </p:cNvPr>
          <p:cNvSpPr>
            <a:spLocks noChangeArrowheads="1"/>
          </p:cNvSpPr>
          <p:nvPr/>
        </p:nvSpPr>
        <p:spPr bwMode="auto">
          <a:xfrm>
            <a:off x="4127500" y="4394200"/>
            <a:ext cx="4419600" cy="508000"/>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000" b="1">
                <a:latin typeface="黑体" panose="02010609060101010101" pitchFamily="49" charset="-122"/>
                <a:ea typeface="黑体" panose="02010609060101010101" pitchFamily="49" charset="-122"/>
              </a:rPr>
              <a:t>五、行计算优化</a:t>
            </a:r>
            <a:endParaRPr lang="en-US" altLang="zh-CN" sz="2000" b="1">
              <a:latin typeface="黑体" panose="02010609060101010101" pitchFamily="49" charset="-122"/>
              <a:ea typeface="黑体" panose="02010609060101010101" pitchFamily="49" charset="-122"/>
            </a:endParaRPr>
          </a:p>
        </p:txBody>
      </p:sp>
      <p:sp>
        <p:nvSpPr>
          <p:cNvPr id="9220" name="AutoShape 49">
            <a:extLst>
              <a:ext uri="{FF2B5EF4-FFF2-40B4-BE49-F238E27FC236}">
                <a16:creationId xmlns:a16="http://schemas.microsoft.com/office/drawing/2014/main" id="{3CBB5C41-8061-9143-8983-522FDD18BCD9}"/>
              </a:ext>
            </a:extLst>
          </p:cNvPr>
          <p:cNvSpPr>
            <a:spLocks noChangeArrowheads="1"/>
          </p:cNvSpPr>
          <p:nvPr/>
        </p:nvSpPr>
        <p:spPr bwMode="auto">
          <a:xfrm>
            <a:off x="4437063" y="3521075"/>
            <a:ext cx="4419600" cy="508000"/>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2000" b="1">
                <a:latin typeface="黑体" panose="02010609060101010101" pitchFamily="49" charset="-122"/>
                <a:ea typeface="黑体" panose="02010609060101010101" pitchFamily="49" charset="-122"/>
              </a:rPr>
              <a:t>四、</a:t>
            </a:r>
            <a:r>
              <a:rPr lang="en-US" altLang="zh-CN" sz="2000" b="1">
                <a:latin typeface="黑体" panose="02010609060101010101" pitchFamily="49" charset="-122"/>
                <a:ea typeface="黑体" panose="02010609060101010101" pitchFamily="49" charset="-122"/>
              </a:rPr>
              <a:t>Python</a:t>
            </a:r>
            <a:r>
              <a:rPr lang="zh-CN" altLang="zh-CN" sz="2000" b="1">
                <a:latin typeface="黑体" panose="02010609060101010101" pitchFamily="49" charset="-122"/>
                <a:ea typeface="黑体" panose="02010609060101010101" pitchFamily="49" charset="-122"/>
              </a:rPr>
              <a:t>并发编程方式</a:t>
            </a:r>
          </a:p>
        </p:txBody>
      </p:sp>
      <p:sp>
        <p:nvSpPr>
          <p:cNvPr id="9221" name="AutoShape 50">
            <a:extLst>
              <a:ext uri="{FF2B5EF4-FFF2-40B4-BE49-F238E27FC236}">
                <a16:creationId xmlns:a16="http://schemas.microsoft.com/office/drawing/2014/main" id="{1C69EEEF-AC50-B646-B408-A373C9B4413E}"/>
              </a:ext>
            </a:extLst>
          </p:cNvPr>
          <p:cNvSpPr>
            <a:spLocks noChangeArrowheads="1"/>
          </p:cNvSpPr>
          <p:nvPr/>
        </p:nvSpPr>
        <p:spPr bwMode="auto">
          <a:xfrm>
            <a:off x="4411663" y="2646363"/>
            <a:ext cx="4419600" cy="508000"/>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2000" b="1">
                <a:latin typeface="黑体" panose="02010609060101010101" pitchFamily="49" charset="-122"/>
                <a:ea typeface="黑体" panose="02010609060101010101" pitchFamily="49" charset="-122"/>
              </a:rPr>
              <a:t>三、</a:t>
            </a:r>
            <a:r>
              <a:rPr lang="en-US" altLang="zh-CN" sz="2000" b="1">
                <a:latin typeface="黑体" panose="02010609060101010101" pitchFamily="49" charset="-122"/>
                <a:ea typeface="黑体" panose="02010609060101010101" pitchFamily="49" charset="-122"/>
              </a:rPr>
              <a:t>MPI</a:t>
            </a:r>
            <a:r>
              <a:rPr lang="zh-CN" altLang="en-US" sz="2000" b="1">
                <a:latin typeface="黑体" panose="02010609060101010101" pitchFamily="49" charset="-122"/>
                <a:ea typeface="黑体" panose="02010609060101010101" pitchFamily="49" charset="-122"/>
              </a:rPr>
              <a:t>程序分析及编程入门</a:t>
            </a:r>
            <a:endParaRPr lang="en-US" altLang="zh-CN" sz="2000" b="1">
              <a:latin typeface="黑体" panose="02010609060101010101" pitchFamily="49" charset="-122"/>
              <a:ea typeface="黑体" panose="02010609060101010101" pitchFamily="49" charset="-122"/>
            </a:endParaRPr>
          </a:p>
        </p:txBody>
      </p:sp>
      <p:sp>
        <p:nvSpPr>
          <p:cNvPr id="9222" name="AutoShape 51">
            <a:extLst>
              <a:ext uri="{FF2B5EF4-FFF2-40B4-BE49-F238E27FC236}">
                <a16:creationId xmlns:a16="http://schemas.microsoft.com/office/drawing/2014/main" id="{65048E39-9B54-664E-8ECB-BCCE9BB9A79B}"/>
              </a:ext>
            </a:extLst>
          </p:cNvPr>
          <p:cNvSpPr>
            <a:spLocks noChangeArrowheads="1"/>
          </p:cNvSpPr>
          <p:nvPr/>
        </p:nvSpPr>
        <p:spPr bwMode="auto">
          <a:xfrm>
            <a:off x="4116388" y="1768475"/>
            <a:ext cx="4419600" cy="508000"/>
          </a:xfrm>
          <a:prstGeom prst="roundRect">
            <a:avLst>
              <a:gd name="adj" fmla="val 50000"/>
            </a:avLst>
          </a:prstGeom>
          <a:noFill/>
          <a:ln w="28575">
            <a:solidFill>
              <a:schemeClr val="bg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2000" b="1">
                <a:latin typeface="黑体" panose="02010609060101010101" pitchFamily="49" charset="-122"/>
                <a:ea typeface="黑体" panose="02010609060101010101" pitchFamily="49" charset="-122"/>
              </a:rPr>
              <a:t>二、</a:t>
            </a:r>
            <a:r>
              <a:rPr lang="en-US" altLang="zh-CN" sz="2000" b="1">
                <a:latin typeface="黑体" panose="02010609060101010101" pitchFamily="49" charset="-122"/>
                <a:ea typeface="黑体" panose="02010609060101010101" pitchFamily="49" charset="-122"/>
              </a:rPr>
              <a:t>MPI</a:t>
            </a:r>
            <a:r>
              <a:rPr lang="zh-CN" altLang="en-US" sz="2000" b="1">
                <a:latin typeface="黑体" panose="02010609060101010101" pitchFamily="49" charset="-122"/>
                <a:ea typeface="黑体" panose="02010609060101010101" pitchFamily="49" charset="-122"/>
              </a:rPr>
              <a:t>编程实例演示</a:t>
            </a:r>
            <a:endParaRPr lang="en-US" altLang="zh-CN" sz="2000" b="1">
              <a:latin typeface="黑体" panose="02010609060101010101" pitchFamily="49" charset="-122"/>
              <a:ea typeface="黑体" panose="02010609060101010101" pitchFamily="49" charset="-122"/>
            </a:endParaRPr>
          </a:p>
        </p:txBody>
      </p:sp>
      <p:sp>
        <p:nvSpPr>
          <p:cNvPr id="42" name="AutoShape 46">
            <a:extLst>
              <a:ext uri="{FF2B5EF4-FFF2-40B4-BE49-F238E27FC236}">
                <a16:creationId xmlns:a16="http://schemas.microsoft.com/office/drawing/2014/main" id="{7F41522F-003B-A548-8562-5FA5ACBD043D}"/>
              </a:ext>
            </a:extLst>
          </p:cNvPr>
          <p:cNvSpPr>
            <a:spLocks noChangeArrowheads="1"/>
          </p:cNvSpPr>
          <p:nvPr/>
        </p:nvSpPr>
        <p:spPr bwMode="ltGray">
          <a:xfrm rot="5400000">
            <a:off x="-423863" y="935038"/>
            <a:ext cx="4824413" cy="4770438"/>
          </a:xfrm>
          <a:custGeom>
            <a:avLst/>
            <a:gdLst>
              <a:gd name="G0" fmla="+- 10478 0 0"/>
              <a:gd name="G1" fmla="+- -11739500 0 0"/>
              <a:gd name="G2" fmla="+- 0 0 -11739500"/>
              <a:gd name="T0" fmla="*/ 0 256 1"/>
              <a:gd name="T1" fmla="*/ 180 256 1"/>
              <a:gd name="G3" fmla="+- -11739500 T0 T1"/>
              <a:gd name="T2" fmla="*/ 0 256 1"/>
              <a:gd name="T3" fmla="*/ 90 256 1"/>
              <a:gd name="G4" fmla="+- -11739500 T2 T3"/>
              <a:gd name="G5" fmla="*/ G4 2 1"/>
              <a:gd name="T4" fmla="*/ 90 256 1"/>
              <a:gd name="T5" fmla="*/ 0 256 1"/>
              <a:gd name="G6" fmla="+- -11739500 T4 T5"/>
              <a:gd name="G7" fmla="*/ G6 2 1"/>
              <a:gd name="G8" fmla="abs -11739500"/>
              <a:gd name="T6" fmla="*/ 0 256 1"/>
              <a:gd name="T7" fmla="*/ 90 256 1"/>
              <a:gd name="G9" fmla="+- G8 T6 T7"/>
              <a:gd name="G10" fmla="?: G9 G7 G5"/>
              <a:gd name="T8" fmla="*/ 0 256 1"/>
              <a:gd name="T9" fmla="*/ 360 256 1"/>
              <a:gd name="G11" fmla="+- G10 T8 T9"/>
              <a:gd name="G12" fmla="?: G10 G11 G10"/>
              <a:gd name="T10" fmla="*/ 0 256 1"/>
              <a:gd name="T11" fmla="*/ 360 256 1"/>
              <a:gd name="G13" fmla="+- G12 T10 T11"/>
              <a:gd name="G14" fmla="?: G12 G13 G12"/>
              <a:gd name="G15" fmla="+- 0 0 G14"/>
              <a:gd name="G16" fmla="+- 10800 0 0"/>
              <a:gd name="G17" fmla="+- 10800 0 10478"/>
              <a:gd name="G18" fmla="*/ 10478 1 2"/>
              <a:gd name="G19" fmla="+- G18 5400 0"/>
              <a:gd name="G20" fmla="cos G19 -11739500"/>
              <a:gd name="G21" fmla="sin G19 -11739500"/>
              <a:gd name="G22" fmla="+- G20 10800 0"/>
              <a:gd name="G23" fmla="+- G21 10800 0"/>
              <a:gd name="G24" fmla="+- 10800 0 G20"/>
              <a:gd name="G25" fmla="+- 10478 10800 0"/>
              <a:gd name="G26" fmla="?: G9 G17 G25"/>
              <a:gd name="G27" fmla="?: G9 0 21600"/>
              <a:gd name="G28" fmla="cos 10800 -11739500"/>
              <a:gd name="G29" fmla="sin 10800 -11739500"/>
              <a:gd name="G30" fmla="sin 10478 -11739500"/>
              <a:gd name="G31" fmla="+- G28 10800 0"/>
              <a:gd name="G32" fmla="+- G29 10800 0"/>
              <a:gd name="G33" fmla="+- G30 10800 0"/>
              <a:gd name="G34" fmla="?: G4 0 G31"/>
              <a:gd name="G35" fmla="?: -11739500 G34 0"/>
              <a:gd name="G36" fmla="?: G6 G35 G31"/>
              <a:gd name="G37" fmla="+- 21600 0 G36"/>
              <a:gd name="G38" fmla="?: G4 0 G33"/>
              <a:gd name="G39" fmla="?: -11739500 G38 G32"/>
              <a:gd name="G40" fmla="?: G6 G39 0"/>
              <a:gd name="G41" fmla="?: G4 G32 21600"/>
              <a:gd name="G42" fmla="?: G6 G41 G33"/>
              <a:gd name="T12" fmla="*/ 10800 w 21600"/>
              <a:gd name="T13" fmla="*/ 0 h 21600"/>
              <a:gd name="T14" fmla="*/ 162 w 21600"/>
              <a:gd name="T15" fmla="*/ 10638 h 21600"/>
              <a:gd name="T16" fmla="*/ 10800 w 21600"/>
              <a:gd name="T17" fmla="*/ 322 h 21600"/>
              <a:gd name="T18" fmla="*/ 21438 w 21600"/>
              <a:gd name="T19" fmla="*/ 10638 h 21600"/>
              <a:gd name="T20" fmla="*/ G36 w 21600"/>
              <a:gd name="T21" fmla="*/ G40 h 21600"/>
              <a:gd name="T22" fmla="*/ G37 w 21600"/>
              <a:gd name="T23" fmla="*/ G42 h 21600"/>
            </a:gdLst>
            <a:ahLst/>
            <a:cxnLst>
              <a:cxn ang="0">
                <a:pos x="T12" y="T13"/>
              </a:cxn>
              <a:cxn ang="0">
                <a:pos x="T14" y="T15"/>
              </a:cxn>
              <a:cxn ang="0">
                <a:pos x="T16" y="T17"/>
              </a:cxn>
              <a:cxn ang="0">
                <a:pos x="T18" y="T19"/>
              </a:cxn>
            </a:cxnLst>
            <a:rect l="T20" t="T21" r="T22" b="T23"/>
            <a:pathLst>
              <a:path w="21600" h="21600">
                <a:moveTo>
                  <a:pt x="323" y="10641"/>
                </a:moveTo>
                <a:cubicBezTo>
                  <a:pt x="410" y="4916"/>
                  <a:pt x="5075" y="321"/>
                  <a:pt x="10800" y="322"/>
                </a:cubicBezTo>
                <a:cubicBezTo>
                  <a:pt x="16524" y="322"/>
                  <a:pt x="21189" y="4916"/>
                  <a:pt x="21276" y="10641"/>
                </a:cubicBezTo>
                <a:lnTo>
                  <a:pt x="21598" y="10636"/>
                </a:lnTo>
                <a:cubicBezTo>
                  <a:pt x="21509" y="4736"/>
                  <a:pt x="16700" y="-1"/>
                  <a:pt x="10799" y="0"/>
                </a:cubicBezTo>
                <a:cubicBezTo>
                  <a:pt x="4899" y="0"/>
                  <a:pt x="90" y="4736"/>
                  <a:pt x="1" y="10636"/>
                </a:cubicBezTo>
                <a:close/>
              </a:path>
            </a:pathLst>
          </a:custGeom>
          <a:gradFill rotWithShape="1">
            <a:gsLst>
              <a:gs pos="34000">
                <a:schemeClr val="tx2">
                  <a:lumMod val="60000"/>
                  <a:lumOff val="40000"/>
                </a:schemeClr>
              </a:gs>
              <a:gs pos="1000">
                <a:schemeClr val="tx2">
                  <a:lumMod val="20000"/>
                  <a:lumOff val="80000"/>
                </a:schemeClr>
              </a:gs>
              <a:gs pos="72000">
                <a:srgbClr val="0000FF"/>
              </a:gs>
              <a:gs pos="100000">
                <a:srgbClr val="7030A0"/>
              </a:gs>
            </a:gsLst>
            <a:lin ang="0" scaled="1"/>
          </a:gradFill>
          <a:ln>
            <a:noFill/>
          </a:ln>
          <a:effectLst>
            <a:outerShdw blurRad="50800" dist="38100" dir="2700000" algn="tl" rotWithShape="0">
              <a:prstClr val="black">
                <a:alpha val="40000"/>
              </a:prstClr>
            </a:outerShdw>
          </a:effectLst>
        </p:spPr>
        <p:txBody>
          <a:bodyPr wrap="none" anchor="ctr"/>
          <a:ls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a:lstStyle>
          <a:p>
            <a:pPr>
              <a:defRPr/>
            </a:pPr>
            <a:endParaRPr lang="zh-CN" altLang="en-US" noProof="1">
              <a:latin typeface="Times New Roman" panose="02020603050405020304" pitchFamily="18" charset="0"/>
              <a:cs typeface="Times New Roman" panose="02020603050405020304" pitchFamily="18" charset="0"/>
            </a:endParaRPr>
          </a:p>
        </p:txBody>
      </p:sp>
      <p:sp>
        <p:nvSpPr>
          <p:cNvPr id="9224" name="AutoShape 47">
            <a:extLst>
              <a:ext uri="{FF2B5EF4-FFF2-40B4-BE49-F238E27FC236}">
                <a16:creationId xmlns:a16="http://schemas.microsoft.com/office/drawing/2014/main" id="{BB5219D4-3885-294E-9E91-E868A2F96A5F}"/>
              </a:ext>
            </a:extLst>
          </p:cNvPr>
          <p:cNvSpPr>
            <a:spLocks noChangeArrowheads="1"/>
          </p:cNvSpPr>
          <p:nvPr/>
        </p:nvSpPr>
        <p:spPr bwMode="auto">
          <a:xfrm rot="5400000" flipH="1">
            <a:off x="-15874" y="1371600"/>
            <a:ext cx="4032250" cy="3927475"/>
          </a:xfrm>
          <a:custGeom>
            <a:avLst/>
            <a:gdLst>
              <a:gd name="T0" fmla="*/ 10744 w 21600"/>
              <a:gd name="T1" fmla="*/ 10800 h 21600"/>
              <a:gd name="T2" fmla="*/ 10800 w 21600"/>
              <a:gd name="T3" fmla="*/ 10744 h 21600"/>
              <a:gd name="T4" fmla="*/ 10856 w 21600"/>
              <a:gd name="T5" fmla="*/ 10799 h 21600"/>
              <a:gd name="T6" fmla="*/ 21600 w 21600"/>
              <a:gd name="T7" fmla="*/ 10800 h 21600"/>
              <a:gd name="T8" fmla="*/ 10800 w 21600"/>
              <a:gd name="T9" fmla="*/ 0 h 21600"/>
              <a:gd name="T10" fmla="*/ 0 w 21600"/>
              <a:gd name="T11" fmla="*/ 10800 h 21600"/>
            </a:gdLst>
            <a:ahLst/>
            <a:cxnLst>
              <a:cxn ang="0">
                <a:pos x="T0" y="T1"/>
              </a:cxn>
              <a:cxn ang="0">
                <a:pos x="T2" y="T3"/>
              </a:cxn>
              <a:cxn ang="0">
                <a:pos x="T4" y="T5"/>
              </a:cxn>
              <a:cxn ang="0">
                <a:pos x="T6" y="T7"/>
              </a:cxn>
              <a:cxn ang="0">
                <a:pos x="T8" y="T9"/>
              </a:cxn>
              <a:cxn ang="0">
                <a:pos x="T10" y="T11"/>
              </a:cxn>
            </a:cxnLst>
            <a:rect l="0" t="0" r="r" b="b"/>
            <a:pathLst>
              <a:path w="21600" h="21600">
                <a:moveTo>
                  <a:pt x="10744" y="10800"/>
                </a:moveTo>
                <a:cubicBezTo>
                  <a:pt x="10744" y="10769"/>
                  <a:pt x="10769" y="10744"/>
                  <a:pt x="10800" y="10744"/>
                </a:cubicBezTo>
                <a:cubicBezTo>
                  <a:pt x="10830" y="10743"/>
                  <a:pt x="10855" y="10769"/>
                  <a:pt x="10856" y="10799"/>
                </a:cubicBezTo>
                <a:lnTo>
                  <a:pt x="21600" y="10800"/>
                </a:lnTo>
                <a:cubicBezTo>
                  <a:pt x="21600" y="4835"/>
                  <a:pt x="16764" y="0"/>
                  <a:pt x="10800" y="0"/>
                </a:cubicBezTo>
                <a:cubicBezTo>
                  <a:pt x="4835" y="0"/>
                  <a:pt x="0" y="4835"/>
                  <a:pt x="0" y="10800"/>
                </a:cubicBezTo>
                <a:close/>
              </a:path>
            </a:pathLst>
          </a:custGeom>
          <a:gradFill rotWithShape="1">
            <a:gsLst>
              <a:gs pos="0">
                <a:srgbClr val="8EB4E3"/>
              </a:gs>
              <a:gs pos="100000">
                <a:srgbClr val="FFFFFF">
                  <a:alpha val="48000"/>
                </a:srgbClr>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9225" name="Oval 54">
            <a:extLst>
              <a:ext uri="{FF2B5EF4-FFF2-40B4-BE49-F238E27FC236}">
                <a16:creationId xmlns:a16="http://schemas.microsoft.com/office/drawing/2014/main" id="{E90E983D-C945-304A-A524-1E6BD8334C8C}"/>
              </a:ext>
            </a:extLst>
          </p:cNvPr>
          <p:cNvSpPr>
            <a:spLocks noChangeArrowheads="1"/>
          </p:cNvSpPr>
          <p:nvPr/>
        </p:nvSpPr>
        <p:spPr bwMode="auto">
          <a:xfrm>
            <a:off x="2982913" y="1058863"/>
            <a:ext cx="381000" cy="381000"/>
          </a:xfrm>
          <a:prstGeom prst="ellipse">
            <a:avLst/>
          </a:prstGeom>
          <a:gradFill rotWithShape="1">
            <a:gsLst>
              <a:gs pos="0">
                <a:srgbClr val="0000FF"/>
              </a:gs>
              <a:gs pos="50000">
                <a:srgbClr val="FFFFFF"/>
              </a:gs>
              <a:gs pos="100000">
                <a:srgbClr val="0000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latin typeface="Times New Roman" panose="02020603050405020304" pitchFamily="18" charset="0"/>
            </a:endParaRPr>
          </a:p>
        </p:txBody>
      </p:sp>
      <p:sp>
        <p:nvSpPr>
          <p:cNvPr id="9226" name="Oval 61">
            <a:extLst>
              <a:ext uri="{FF2B5EF4-FFF2-40B4-BE49-F238E27FC236}">
                <a16:creationId xmlns:a16="http://schemas.microsoft.com/office/drawing/2014/main" id="{30EC5BA5-979B-2946-9DF7-D8BC63FD9944}"/>
              </a:ext>
            </a:extLst>
          </p:cNvPr>
          <p:cNvSpPr>
            <a:spLocks noChangeArrowheads="1"/>
          </p:cNvSpPr>
          <p:nvPr/>
        </p:nvSpPr>
        <p:spPr bwMode="auto">
          <a:xfrm>
            <a:off x="3811588" y="1874838"/>
            <a:ext cx="381000" cy="381000"/>
          </a:xfrm>
          <a:prstGeom prst="ellipse">
            <a:avLst/>
          </a:prstGeom>
          <a:gradFill rotWithShape="1">
            <a:gsLst>
              <a:gs pos="0">
                <a:srgbClr val="0000FF"/>
              </a:gs>
              <a:gs pos="50000">
                <a:srgbClr val="FFFFFF"/>
              </a:gs>
              <a:gs pos="100000">
                <a:srgbClr val="0000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latin typeface="Times New Roman" panose="02020603050405020304" pitchFamily="18" charset="0"/>
            </a:endParaRPr>
          </a:p>
        </p:txBody>
      </p:sp>
      <p:sp>
        <p:nvSpPr>
          <p:cNvPr id="9227" name="Oval 68">
            <a:extLst>
              <a:ext uri="{FF2B5EF4-FFF2-40B4-BE49-F238E27FC236}">
                <a16:creationId xmlns:a16="http://schemas.microsoft.com/office/drawing/2014/main" id="{E68EDB11-5CE0-5B4A-89C8-DC3E17C7C6DE}"/>
              </a:ext>
            </a:extLst>
          </p:cNvPr>
          <p:cNvSpPr>
            <a:spLocks noChangeArrowheads="1"/>
          </p:cNvSpPr>
          <p:nvPr/>
        </p:nvSpPr>
        <p:spPr bwMode="auto">
          <a:xfrm>
            <a:off x="4106863" y="2722563"/>
            <a:ext cx="381000" cy="381000"/>
          </a:xfrm>
          <a:prstGeom prst="ellipse">
            <a:avLst/>
          </a:prstGeom>
          <a:gradFill rotWithShape="1">
            <a:gsLst>
              <a:gs pos="0">
                <a:srgbClr val="0000FF"/>
              </a:gs>
              <a:gs pos="50000">
                <a:srgbClr val="FFFFFF"/>
              </a:gs>
              <a:gs pos="100000">
                <a:srgbClr val="0000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latin typeface="Times New Roman" panose="02020603050405020304" pitchFamily="18" charset="0"/>
            </a:endParaRPr>
          </a:p>
        </p:txBody>
      </p:sp>
      <p:sp>
        <p:nvSpPr>
          <p:cNvPr id="9228" name="Oval 75">
            <a:extLst>
              <a:ext uri="{FF2B5EF4-FFF2-40B4-BE49-F238E27FC236}">
                <a16:creationId xmlns:a16="http://schemas.microsoft.com/office/drawing/2014/main" id="{4245608E-56AE-F24B-95FD-65685AEB8BA7}"/>
              </a:ext>
            </a:extLst>
          </p:cNvPr>
          <p:cNvSpPr>
            <a:spLocks noChangeArrowheads="1"/>
          </p:cNvSpPr>
          <p:nvPr/>
        </p:nvSpPr>
        <p:spPr bwMode="auto">
          <a:xfrm>
            <a:off x="4100513" y="3622675"/>
            <a:ext cx="381000" cy="381000"/>
          </a:xfrm>
          <a:prstGeom prst="ellipse">
            <a:avLst/>
          </a:prstGeom>
          <a:gradFill rotWithShape="1">
            <a:gsLst>
              <a:gs pos="0">
                <a:srgbClr val="0000FF"/>
              </a:gs>
              <a:gs pos="50000">
                <a:srgbClr val="FFFFFF"/>
              </a:gs>
              <a:gs pos="100000">
                <a:srgbClr val="0000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latin typeface="Times New Roman" panose="02020603050405020304" pitchFamily="18" charset="0"/>
            </a:endParaRPr>
          </a:p>
        </p:txBody>
      </p:sp>
      <p:sp>
        <p:nvSpPr>
          <p:cNvPr id="9229" name="Oval 82">
            <a:extLst>
              <a:ext uri="{FF2B5EF4-FFF2-40B4-BE49-F238E27FC236}">
                <a16:creationId xmlns:a16="http://schemas.microsoft.com/office/drawing/2014/main" id="{F41622CA-784D-6F40-84E7-E7371BE66B77}"/>
              </a:ext>
            </a:extLst>
          </p:cNvPr>
          <p:cNvSpPr>
            <a:spLocks noChangeArrowheads="1"/>
          </p:cNvSpPr>
          <p:nvPr/>
        </p:nvSpPr>
        <p:spPr bwMode="auto">
          <a:xfrm>
            <a:off x="3806825" y="4421188"/>
            <a:ext cx="355600" cy="381000"/>
          </a:xfrm>
          <a:prstGeom prst="ellipse">
            <a:avLst/>
          </a:prstGeom>
          <a:gradFill rotWithShape="1">
            <a:gsLst>
              <a:gs pos="0">
                <a:srgbClr val="0000FF"/>
              </a:gs>
              <a:gs pos="50000">
                <a:srgbClr val="FFFFFF"/>
              </a:gs>
              <a:gs pos="100000">
                <a:srgbClr val="0000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latin typeface="Times New Roman" panose="02020603050405020304" pitchFamily="18" charset="0"/>
            </a:endParaRPr>
          </a:p>
        </p:txBody>
      </p:sp>
      <p:sp>
        <p:nvSpPr>
          <p:cNvPr id="9230" name="Oval 54">
            <a:extLst>
              <a:ext uri="{FF2B5EF4-FFF2-40B4-BE49-F238E27FC236}">
                <a16:creationId xmlns:a16="http://schemas.microsoft.com/office/drawing/2014/main" id="{42B7569A-553C-404C-95CC-A33FB7E2C3D8}"/>
              </a:ext>
            </a:extLst>
          </p:cNvPr>
          <p:cNvSpPr>
            <a:spLocks noChangeArrowheads="1"/>
          </p:cNvSpPr>
          <p:nvPr/>
        </p:nvSpPr>
        <p:spPr bwMode="auto">
          <a:xfrm>
            <a:off x="2944813" y="5233988"/>
            <a:ext cx="381000" cy="381000"/>
          </a:xfrm>
          <a:prstGeom prst="ellipse">
            <a:avLst/>
          </a:prstGeom>
          <a:gradFill rotWithShape="1">
            <a:gsLst>
              <a:gs pos="0">
                <a:srgbClr val="0000FF"/>
              </a:gs>
              <a:gs pos="50000">
                <a:srgbClr val="FFFFFF"/>
              </a:gs>
              <a:gs pos="100000">
                <a:srgbClr val="0000FF"/>
              </a:gs>
            </a:gsLst>
            <a:lin ang="540000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latin typeface="Times New Roman" panose="02020603050405020304" pitchFamily="18" charset="0"/>
            </a:endParaRPr>
          </a:p>
        </p:txBody>
      </p:sp>
      <p:sp>
        <p:nvSpPr>
          <p:cNvPr id="121" name="标题 1">
            <a:extLst>
              <a:ext uri="{FF2B5EF4-FFF2-40B4-BE49-F238E27FC236}">
                <a16:creationId xmlns:a16="http://schemas.microsoft.com/office/drawing/2014/main" id="{E8094B6E-6350-304D-97B9-EA57A86BD352}"/>
              </a:ext>
            </a:extLst>
          </p:cNvPr>
          <p:cNvSpPr>
            <a:spLocks noGrp="1"/>
          </p:cNvSpPr>
          <p:nvPr/>
        </p:nvSpPr>
        <p:spPr bwMode="auto">
          <a:xfrm>
            <a:off x="107950" y="2708275"/>
            <a:ext cx="3554413"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ea typeface="宋体" panose="02010600030101010101" pitchFamily="2" charset="-122"/>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宋体" panose="02010600030101010101" pitchFamily="2" charset="-122"/>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宋体" panose="02010600030101010101" pitchFamily="2" charset="-122"/>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宋体" panose="02010600030101010101" pitchFamily="2" charset="-122"/>
              </a:defRPr>
            </a:lvl9pPr>
          </a:lstStyle>
          <a:p>
            <a:pPr algn="ctr">
              <a:spcBef>
                <a:spcPct val="0"/>
              </a:spcBef>
              <a:buFontTx/>
              <a:buNone/>
              <a:defRPr/>
            </a:pPr>
            <a:r>
              <a:rPr lang="zh-CN" altLang="en-US" sz="4400" b="1" spc="300" noProof="1">
                <a:solidFill>
                  <a:srgbClr val="0000FF"/>
                </a:solidFill>
                <a:effectLst>
                  <a:outerShdw blurRad="38100" dist="38100" dir="2700000" algn="tl">
                    <a:srgbClr val="000000">
                      <a:alpha val="43137"/>
                    </a:srgbClr>
                  </a:outerShdw>
                </a:effectLst>
                <a:latin typeface="微软雅黑" panose="020B0503020204020204" pitchFamily="34" charset="-122"/>
                <a:ea typeface="微软雅黑" panose="020B0503020204020204" pitchFamily="34" charset="-122"/>
                <a:cs typeface="Times New Roman" panose="02020603050405020304" pitchFamily="18" charset="0"/>
              </a:rPr>
              <a:t>提 纲</a:t>
            </a:r>
          </a:p>
        </p:txBody>
      </p:sp>
    </p:spTree>
  </p:cSld>
  <p:clrMapOvr>
    <a:masterClrMapping/>
  </p:clrMapOvr>
  <p:transition advTm="6599"/>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标题 1">
            <a:extLst>
              <a:ext uri="{FF2B5EF4-FFF2-40B4-BE49-F238E27FC236}">
                <a16:creationId xmlns:a16="http://schemas.microsoft.com/office/drawing/2014/main" id="{45D3F27B-2232-714F-B507-04C3DEBEA528}"/>
              </a:ext>
            </a:extLst>
          </p:cNvPr>
          <p:cNvSpPr>
            <a:spLocks noGrp="1" noChangeArrowheads="1"/>
          </p:cNvSpPr>
          <p:nvPr>
            <p:ph type="title"/>
          </p:nvPr>
        </p:nvSpPr>
        <p:spPr/>
        <p:txBody>
          <a:bodyPr/>
          <a:lstStyle/>
          <a:p>
            <a:r>
              <a:rPr lang="zh-CN" altLang="en-US" b="1">
                <a:solidFill>
                  <a:srgbClr val="0000FF"/>
                </a:solidFill>
                <a:sym typeface="宋体" panose="02010600030101010101" pitchFamily="2" charset="-122"/>
              </a:rPr>
              <a:t>一、并行编程基础知识</a:t>
            </a:r>
            <a:endParaRPr lang="zh-CN" altLang="en-US"/>
          </a:p>
        </p:txBody>
      </p:sp>
      <p:sp>
        <p:nvSpPr>
          <p:cNvPr id="10242" name="内容占位符 2">
            <a:extLst>
              <a:ext uri="{FF2B5EF4-FFF2-40B4-BE49-F238E27FC236}">
                <a16:creationId xmlns:a16="http://schemas.microsoft.com/office/drawing/2014/main" id="{4793D6E0-33E3-3743-BD60-B2044DE4FAC6}"/>
              </a:ext>
            </a:extLst>
          </p:cNvPr>
          <p:cNvSpPr>
            <a:spLocks noGrp="1" noChangeArrowheads="1"/>
          </p:cNvSpPr>
          <p:nvPr>
            <p:ph idx="1"/>
          </p:nvPr>
        </p:nvSpPr>
        <p:spPr>
          <a:xfrm>
            <a:off x="671513" y="1831975"/>
            <a:ext cx="8015287" cy="3192463"/>
          </a:xfrm>
        </p:spPr>
        <p:txBody>
          <a:bodyPr/>
          <a:lstStyle/>
          <a:p>
            <a:pPr>
              <a:buClr>
                <a:srgbClr val="0000FF"/>
              </a:buClr>
              <a:buFont typeface="Wingdings" pitchFamily="2" charset="2"/>
              <a:buChar char="Ø"/>
            </a:pPr>
            <a:r>
              <a:rPr lang="zh-CN" altLang="en-US" sz="2400">
                <a:sym typeface="宋体" panose="02010600030101010101" pitchFamily="2" charset="-122"/>
              </a:rPr>
              <a:t>节点（</a:t>
            </a:r>
            <a:r>
              <a:rPr lang="en-US" altLang="zh-CN" sz="2400">
                <a:sym typeface="宋体" panose="02010600030101010101" pitchFamily="2" charset="-122"/>
              </a:rPr>
              <a:t>node</a:t>
            </a:r>
            <a:r>
              <a:rPr lang="zh-CN" altLang="en-US" sz="2400">
                <a:sym typeface="宋体" panose="02010600030101010101" pitchFamily="2" charset="-122"/>
              </a:rPr>
              <a:t>）：</a:t>
            </a:r>
            <a:endParaRPr lang="zh-CN" altLang="en-US" sz="2400"/>
          </a:p>
          <a:p>
            <a:pPr lvl="1"/>
            <a:r>
              <a:rPr lang="zh-CN" altLang="en-US">
                <a:sym typeface="宋体" panose="02010600030101010101" pitchFamily="2" charset="-122"/>
              </a:rPr>
              <a:t>每个节点由多个处理器构成，可以直接输入输出</a:t>
            </a:r>
            <a:endParaRPr lang="zh-CN" altLang="en-US"/>
          </a:p>
          <a:p>
            <a:pPr>
              <a:buClr>
                <a:srgbClr val="0000FF"/>
              </a:buClr>
              <a:buFont typeface="Wingdings" pitchFamily="2" charset="2"/>
              <a:buChar char="Ø"/>
            </a:pPr>
            <a:r>
              <a:rPr lang="zh-CN" altLang="en-US" sz="2400">
                <a:sym typeface="宋体" panose="02010600030101010101" pitchFamily="2" charset="-122"/>
              </a:rPr>
              <a:t>互联网络（</a:t>
            </a:r>
            <a:r>
              <a:rPr lang="en-US" altLang="zh-CN" sz="2400">
                <a:sym typeface="宋体" panose="02010600030101010101" pitchFamily="2" charset="-122"/>
              </a:rPr>
              <a:t>interconnect network</a:t>
            </a:r>
            <a:r>
              <a:rPr lang="zh-CN" altLang="en-US" sz="2400">
                <a:sym typeface="宋体" panose="02010600030101010101" pitchFamily="2" charset="-122"/>
              </a:rPr>
              <a:t>）：</a:t>
            </a:r>
            <a:endParaRPr lang="zh-CN" altLang="en-US" sz="2400"/>
          </a:p>
          <a:p>
            <a:pPr lvl="1"/>
            <a:r>
              <a:rPr lang="zh-CN" altLang="en-US">
                <a:sym typeface="宋体" panose="02010600030101010101" pitchFamily="2" charset="-122"/>
              </a:rPr>
              <a:t>所有节点通过互联网络相互连接通信。</a:t>
            </a:r>
            <a:endParaRPr lang="zh-CN" altLang="en-US"/>
          </a:p>
          <a:p>
            <a:pPr>
              <a:buClr>
                <a:srgbClr val="0000FF"/>
              </a:buClr>
              <a:buFont typeface="Wingdings" pitchFamily="2" charset="2"/>
              <a:buChar char="Ø"/>
            </a:pPr>
            <a:r>
              <a:rPr lang="zh-CN" altLang="en-US" sz="2400">
                <a:sym typeface="宋体" panose="02010600030101010101" pitchFamily="2" charset="-122"/>
              </a:rPr>
              <a:t>内存 （</a:t>
            </a:r>
            <a:r>
              <a:rPr lang="en-US" altLang="zh-CN" sz="2400">
                <a:sym typeface="宋体" panose="02010600030101010101" pitchFamily="2" charset="-122"/>
              </a:rPr>
              <a:t>memory</a:t>
            </a:r>
            <a:r>
              <a:rPr lang="zh-CN" altLang="en-US" sz="2400">
                <a:sym typeface="宋体" panose="02010600030101010101" pitchFamily="2" charset="-122"/>
              </a:rPr>
              <a:t>）：</a:t>
            </a:r>
            <a:endParaRPr lang="zh-CN" altLang="en-US" sz="2400"/>
          </a:p>
          <a:p>
            <a:pPr lvl="1"/>
            <a:r>
              <a:rPr lang="zh-CN" altLang="en-US">
                <a:sym typeface="宋体" panose="02010600030101010101" pitchFamily="2" charset="-122"/>
              </a:rPr>
              <a:t>内存由多个存储模块组成，这些模块或者与节点对称地分布在互联网络的两侧，或者位于各个节点的内部</a:t>
            </a:r>
            <a:endParaRPr lang="zh-CN" altLang="en-US"/>
          </a:p>
        </p:txBody>
      </p:sp>
      <p:sp>
        <p:nvSpPr>
          <p:cNvPr id="10243" name="Rectangle 2">
            <a:extLst>
              <a:ext uri="{FF2B5EF4-FFF2-40B4-BE49-F238E27FC236}">
                <a16:creationId xmlns:a16="http://schemas.microsoft.com/office/drawing/2014/main" id="{1F26799A-BC5B-2543-BB71-E7B2E8201B96}"/>
              </a:ext>
            </a:extLst>
          </p:cNvPr>
          <p:cNvSpPr txBox="1">
            <a:spLocks noChangeArrowheads="1"/>
          </p:cNvSpPr>
          <p:nvPr/>
        </p:nvSpPr>
        <p:spPr bwMode="auto">
          <a:xfrm>
            <a:off x="1214438" y="1084263"/>
            <a:ext cx="72580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2400" b="1">
                <a:solidFill>
                  <a:srgbClr val="0000FF"/>
                </a:solidFill>
                <a:latin typeface="黑体" panose="02010609060101010101" pitchFamily="49" charset="-122"/>
                <a:ea typeface="黑体" panose="02010609060101010101" pitchFamily="49" charset="-122"/>
              </a:rPr>
              <a:t>并行计算机组成部分</a:t>
            </a:r>
            <a:endParaRPr lang="en-US" altLang="zh-CN" sz="24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15303"/>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5" name="内容占位符 13315" descr="parallelArch1">
            <a:extLst>
              <a:ext uri="{FF2B5EF4-FFF2-40B4-BE49-F238E27FC236}">
                <a16:creationId xmlns:a16="http://schemas.microsoft.com/office/drawing/2014/main" id="{067BBC4E-1489-644D-BEDB-DDD351DCCD75}"/>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5062538" y="2244725"/>
            <a:ext cx="3624262" cy="2835275"/>
          </a:xfrm>
        </p:spPr>
      </p:pic>
      <p:pic>
        <p:nvPicPr>
          <p:cNvPr id="11266" name="文本占位符 14339" descr="parallelArch2">
            <a:extLst>
              <a:ext uri="{FF2B5EF4-FFF2-40B4-BE49-F238E27FC236}">
                <a16:creationId xmlns:a16="http://schemas.microsoft.com/office/drawing/2014/main" id="{EA4B465D-C283-9C4F-840B-327A4FE7C6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3863" y="2244725"/>
            <a:ext cx="4348162" cy="2774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67" name="矩形 14340">
            <a:extLst>
              <a:ext uri="{FF2B5EF4-FFF2-40B4-BE49-F238E27FC236}">
                <a16:creationId xmlns:a16="http://schemas.microsoft.com/office/drawing/2014/main" id="{BEBDD3BE-919F-B847-A3BF-AED1705FC3BB}"/>
              </a:ext>
            </a:extLst>
          </p:cNvPr>
          <p:cNvSpPr>
            <a:spLocks noChangeArrowheads="1"/>
          </p:cNvSpPr>
          <p:nvPr/>
        </p:nvSpPr>
        <p:spPr bwMode="auto">
          <a:xfrm>
            <a:off x="879475" y="5478463"/>
            <a:ext cx="3306763"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latin typeface="Times New Roman" panose="02020603050405020304" pitchFamily="18" charset="0"/>
                <a:ea typeface="幼圆" pitchFamily="49" charset="-122"/>
              </a:rPr>
              <a:t>内存模块位于节点内部 </a:t>
            </a:r>
          </a:p>
        </p:txBody>
      </p:sp>
      <p:sp>
        <p:nvSpPr>
          <p:cNvPr id="11268" name="Rectangle 2">
            <a:extLst>
              <a:ext uri="{FF2B5EF4-FFF2-40B4-BE49-F238E27FC236}">
                <a16:creationId xmlns:a16="http://schemas.microsoft.com/office/drawing/2014/main" id="{3A8DF8B7-8C7E-F54F-B9F7-AB28ADCF86D8}"/>
              </a:ext>
            </a:extLst>
          </p:cNvPr>
          <p:cNvSpPr txBox="1">
            <a:spLocks noChangeArrowheads="1"/>
          </p:cNvSpPr>
          <p:nvPr/>
        </p:nvSpPr>
        <p:spPr bwMode="auto">
          <a:xfrm>
            <a:off x="1214438" y="1084263"/>
            <a:ext cx="72580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2400" b="1">
                <a:solidFill>
                  <a:srgbClr val="0000FF"/>
                </a:solidFill>
                <a:latin typeface="黑体" panose="02010609060101010101" pitchFamily="49" charset="-122"/>
                <a:ea typeface="黑体" panose="02010609060101010101" pitchFamily="49" charset="-122"/>
              </a:rPr>
              <a:t>并行计算机体系结构</a:t>
            </a:r>
            <a:endParaRPr lang="en-US" altLang="zh-CN" sz="2400" b="1">
              <a:solidFill>
                <a:srgbClr val="0000FF"/>
              </a:solidFill>
              <a:latin typeface="黑体" panose="02010609060101010101" pitchFamily="49" charset="-122"/>
              <a:ea typeface="黑体" panose="02010609060101010101" pitchFamily="49" charset="-122"/>
            </a:endParaRPr>
          </a:p>
        </p:txBody>
      </p:sp>
      <p:sp>
        <p:nvSpPr>
          <p:cNvPr id="11269" name="矩形 13317">
            <a:extLst>
              <a:ext uri="{FF2B5EF4-FFF2-40B4-BE49-F238E27FC236}">
                <a16:creationId xmlns:a16="http://schemas.microsoft.com/office/drawing/2014/main" id="{2CB2D97B-9CDB-8E4C-8552-00C6122B820B}"/>
              </a:ext>
            </a:extLst>
          </p:cNvPr>
          <p:cNvSpPr>
            <a:spLocks noChangeArrowheads="1"/>
          </p:cNvSpPr>
          <p:nvPr/>
        </p:nvSpPr>
        <p:spPr bwMode="auto">
          <a:xfrm>
            <a:off x="5535613" y="5478463"/>
            <a:ext cx="2925762"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a:r>
              <a:rPr lang="zh-CN" altLang="en-US" sz="2400">
                <a:solidFill>
                  <a:srgbClr val="000000"/>
                </a:solidFill>
                <a:latin typeface="Times New Roman" panose="02020603050405020304" pitchFamily="18" charset="0"/>
              </a:rPr>
              <a:t>内存模块与节点分离</a:t>
            </a:r>
            <a:endParaRPr lang="zh-CN" altLang="en-US" sz="2400"/>
          </a:p>
        </p:txBody>
      </p:sp>
      <p:sp>
        <p:nvSpPr>
          <p:cNvPr id="11270" name="Rectangle 2">
            <a:extLst>
              <a:ext uri="{FF2B5EF4-FFF2-40B4-BE49-F238E27FC236}">
                <a16:creationId xmlns:a16="http://schemas.microsoft.com/office/drawing/2014/main" id="{BAE5E770-54FA-E04F-8B91-82676F9717A2}"/>
              </a:ext>
            </a:extLst>
          </p:cNvPr>
          <p:cNvSpPr>
            <a:spLocks noGrp="1" noChangeArrowheads="1"/>
          </p:cNvSpPr>
          <p:nvPr>
            <p:ph type="title"/>
          </p:nvPr>
        </p:nvSpPr>
        <p:spPr/>
        <p:txBody>
          <a:bodyPr/>
          <a:lstStyle/>
          <a:p>
            <a:r>
              <a:rPr lang="zh-CN" altLang="en-US" sz="3200" b="1">
                <a:solidFill>
                  <a:srgbClr val="0000FF"/>
                </a:solidFill>
                <a:sym typeface="宋体" panose="02010600030101010101" pitchFamily="2" charset="-122"/>
              </a:rPr>
              <a:t>一、并行编程基础知识</a:t>
            </a:r>
            <a:endParaRPr lang="en-US" altLang="zh-CN" sz="3200" b="1">
              <a:solidFill>
                <a:srgbClr val="0000FF"/>
              </a:solidFill>
            </a:endParaRPr>
          </a:p>
        </p:txBody>
      </p:sp>
    </p:spTree>
  </p:cSld>
  <p:clrMapOvr>
    <a:masterClrMapping/>
  </p:clrMapOvr>
  <p:transition advTm="35194"/>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2" name="Rectangle 2">
            <a:extLst>
              <a:ext uri="{FF2B5EF4-FFF2-40B4-BE49-F238E27FC236}">
                <a16:creationId xmlns:a16="http://schemas.microsoft.com/office/drawing/2014/main" id="{FF87CA8A-F416-F84C-90FA-B671E9AFC079}"/>
              </a:ext>
            </a:extLst>
          </p:cNvPr>
          <p:cNvSpPr>
            <a:spLocks noGrp="1" noChangeArrowheads="1"/>
          </p:cNvSpPr>
          <p:nvPr>
            <p:ph type="title" idx="4294967295"/>
          </p:nvPr>
        </p:nvSpPr>
        <p:spPr>
          <a:xfrm>
            <a:off x="2195513" y="115888"/>
            <a:ext cx="5327650" cy="576262"/>
          </a:xfrm>
        </p:spPr>
        <p:txBody>
          <a:bodyPr>
            <a:normAutofit fontScale="90000"/>
          </a:bodyPr>
          <a:lstStyle/>
          <a:p>
            <a:pPr eaLnBrk="1" hangingPunct="1"/>
            <a:r>
              <a:rPr lang="zh-CN" altLang="en-US" sz="3200" b="1" dirty="0">
                <a:latin typeface="Microsoft YaHei" panose="020B0503020204020204" pitchFamily="34" charset="-122"/>
                <a:ea typeface="Microsoft YaHei" panose="020B0503020204020204" pitchFamily="34" charset="-122"/>
              </a:rPr>
              <a:t>顺序程序设计</a:t>
            </a:r>
          </a:p>
        </p:txBody>
      </p:sp>
      <p:sp>
        <p:nvSpPr>
          <p:cNvPr id="43013" name="Rectangle 3">
            <a:extLst>
              <a:ext uri="{FF2B5EF4-FFF2-40B4-BE49-F238E27FC236}">
                <a16:creationId xmlns:a16="http://schemas.microsoft.com/office/drawing/2014/main" id="{73290ACA-8D40-0A42-AF1B-CB054D761292}"/>
              </a:ext>
            </a:extLst>
          </p:cNvPr>
          <p:cNvSpPr>
            <a:spLocks noGrp="1" noChangeArrowheads="1"/>
          </p:cNvSpPr>
          <p:nvPr>
            <p:ph type="body" idx="4294967295"/>
          </p:nvPr>
        </p:nvSpPr>
        <p:spPr>
          <a:xfrm>
            <a:off x="250825" y="692150"/>
            <a:ext cx="8569325" cy="5545138"/>
          </a:xfrm>
        </p:spPr>
        <p:txBody>
          <a:bodyPr/>
          <a:lstStyle/>
          <a:p>
            <a:pPr algn="just" eaLnBrk="1" hangingPunct="1">
              <a:lnSpc>
                <a:spcPct val="150000"/>
              </a:lnSpc>
              <a:spcBef>
                <a:spcPct val="30000"/>
              </a:spcBef>
            </a:pPr>
            <a:r>
              <a:rPr lang="zh-CN" altLang="en-US" sz="2800" dirty="0">
                <a:latin typeface="Microsoft YaHei" panose="020B0503020204020204" pitchFamily="34" charset="-122"/>
                <a:ea typeface="Microsoft YaHei" panose="020B0503020204020204" pitchFamily="34" charset="-122"/>
              </a:rPr>
              <a:t>程序执行的</a:t>
            </a:r>
            <a:r>
              <a:rPr lang="zh-CN" altLang="en-US" sz="2800" dirty="0">
                <a:solidFill>
                  <a:srgbClr val="FF9900"/>
                </a:solidFill>
                <a:latin typeface="Microsoft YaHei" panose="020B0503020204020204" pitchFamily="34" charset="-122"/>
                <a:ea typeface="Microsoft YaHei" panose="020B0503020204020204" pitchFamily="34" charset="-122"/>
              </a:rPr>
              <a:t>顺序性</a:t>
            </a:r>
            <a:r>
              <a:rPr lang="zh-CN" altLang="en-US" sz="2800" dirty="0">
                <a:latin typeface="Microsoft YaHei" panose="020B0503020204020204" pitchFamily="34" charset="-122"/>
                <a:ea typeface="Microsoft YaHei" panose="020B0503020204020204" pitchFamily="34" charset="-122"/>
              </a:rPr>
              <a:t>是指该程序在处理器上的执行是</a:t>
            </a:r>
            <a:r>
              <a:rPr lang="zh-CN" altLang="en-US" sz="2800" dirty="0">
                <a:solidFill>
                  <a:srgbClr val="FF9900"/>
                </a:solidFill>
                <a:latin typeface="Microsoft YaHei" panose="020B0503020204020204" pitchFamily="34" charset="-122"/>
                <a:ea typeface="Microsoft YaHei" panose="020B0503020204020204" pitchFamily="34" charset="-122"/>
              </a:rPr>
              <a:t>严格有序</a:t>
            </a:r>
            <a:r>
              <a:rPr lang="zh-CN" altLang="en-US" sz="2800" dirty="0">
                <a:latin typeface="Microsoft YaHei" panose="020B0503020204020204" pitchFamily="34" charset="-122"/>
                <a:ea typeface="Microsoft YaHei" panose="020B0503020204020204" pitchFamily="34" charset="-122"/>
              </a:rPr>
              <a:t>的，只有在前一个操作结束后，才能开始后继操作，这称为程序</a:t>
            </a:r>
            <a:r>
              <a:rPr lang="zh-CN" altLang="en-US" sz="2800" dirty="0">
                <a:solidFill>
                  <a:srgbClr val="FF9900"/>
                </a:solidFill>
                <a:latin typeface="Microsoft YaHei" panose="020B0503020204020204" pitchFamily="34" charset="-122"/>
                <a:ea typeface="Microsoft YaHei" panose="020B0503020204020204" pitchFamily="34" charset="-122"/>
              </a:rPr>
              <a:t>内部</a:t>
            </a:r>
            <a:r>
              <a:rPr lang="zh-CN" altLang="en-US" sz="2800" dirty="0">
                <a:latin typeface="Microsoft YaHei" panose="020B0503020204020204" pitchFamily="34" charset="-122"/>
                <a:ea typeface="Microsoft YaHei" panose="020B0503020204020204" pitchFamily="34" charset="-122"/>
              </a:rPr>
              <a:t>的顺序性；</a:t>
            </a:r>
          </a:p>
          <a:p>
            <a:pPr algn="just" eaLnBrk="1" hangingPunct="1">
              <a:lnSpc>
                <a:spcPct val="150000"/>
              </a:lnSpc>
              <a:spcBef>
                <a:spcPct val="30000"/>
              </a:spcBef>
            </a:pPr>
            <a:r>
              <a:rPr lang="zh-CN" altLang="en-US" sz="2800" dirty="0">
                <a:latin typeface="Microsoft YaHei" panose="020B0503020204020204" pitchFamily="34" charset="-122"/>
                <a:ea typeface="Microsoft YaHei" panose="020B0503020204020204" pitchFamily="34" charset="-122"/>
              </a:rPr>
              <a:t>如果完成一个任务需要若干不同的程序，则这些程序也按照调用次序</a:t>
            </a:r>
            <a:r>
              <a:rPr lang="zh-CN" altLang="en-US" sz="2800" dirty="0">
                <a:solidFill>
                  <a:srgbClr val="FF9900"/>
                </a:solidFill>
                <a:latin typeface="Microsoft YaHei" panose="020B0503020204020204" pitchFamily="34" charset="-122"/>
                <a:ea typeface="Microsoft YaHei" panose="020B0503020204020204" pitchFamily="34" charset="-122"/>
              </a:rPr>
              <a:t>严格有序</a:t>
            </a:r>
            <a:r>
              <a:rPr lang="zh-CN" altLang="en-US" sz="2800" dirty="0">
                <a:latin typeface="Microsoft YaHei" panose="020B0503020204020204" pitchFamily="34" charset="-122"/>
                <a:ea typeface="Microsoft YaHei" panose="020B0503020204020204" pitchFamily="34" charset="-122"/>
              </a:rPr>
              <a:t>执行，这称为程序</a:t>
            </a:r>
            <a:r>
              <a:rPr lang="zh-CN" altLang="en-US" sz="2800" dirty="0">
                <a:solidFill>
                  <a:srgbClr val="FF9900"/>
                </a:solidFill>
                <a:latin typeface="Microsoft YaHei" panose="020B0503020204020204" pitchFamily="34" charset="-122"/>
                <a:ea typeface="Microsoft YaHei" panose="020B0503020204020204" pitchFamily="34" charset="-122"/>
              </a:rPr>
              <a:t>外部</a:t>
            </a:r>
            <a:r>
              <a:rPr lang="zh-CN" altLang="en-US" sz="2800" dirty="0">
                <a:latin typeface="Microsoft YaHei" panose="020B0503020204020204" pitchFamily="34" charset="-122"/>
                <a:ea typeface="Microsoft YaHei" panose="020B0503020204020204" pitchFamily="34" charset="-122"/>
              </a:rPr>
              <a:t>的顺序性。</a:t>
            </a:r>
          </a:p>
          <a:p>
            <a:pPr algn="just" eaLnBrk="1" hangingPunct="1">
              <a:lnSpc>
                <a:spcPct val="150000"/>
              </a:lnSpc>
              <a:spcBef>
                <a:spcPct val="30000"/>
              </a:spcBef>
            </a:pPr>
            <a:r>
              <a:rPr lang="zh-CN" altLang="en-US" sz="2800" dirty="0">
                <a:solidFill>
                  <a:srgbClr val="FF9900"/>
                </a:solidFill>
                <a:latin typeface="Microsoft YaHei" panose="020B0503020204020204" pitchFamily="34" charset="-122"/>
                <a:ea typeface="Microsoft YaHei" panose="020B0503020204020204" pitchFamily="34" charset="-122"/>
              </a:rPr>
              <a:t>传统的程序设计方法是顺序程序设计</a:t>
            </a:r>
            <a:r>
              <a:rPr lang="zh-CN" altLang="en-US" sz="2800" dirty="0">
                <a:latin typeface="Microsoft YaHei" panose="020B0503020204020204" pitchFamily="34" charset="-122"/>
                <a:ea typeface="Microsoft YaHei" panose="020B0503020204020204" pitchFamily="34" charset="-122"/>
              </a:rPr>
              <a:t>，即把程序设计成顺序执行的指令序列，不同程序也按顺序执行。 </a:t>
            </a:r>
          </a:p>
        </p:txBody>
      </p:sp>
    </p:spTree>
    <p:extLst>
      <p:ext uri="{BB962C8B-B14F-4D97-AF65-F5344CB8AC3E}">
        <p14:creationId xmlns:p14="http://schemas.microsoft.com/office/powerpoint/2010/main" val="266980333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3012"/>
                                        </p:tgtEl>
                                        <p:attrNameLst>
                                          <p:attrName>style.visibility</p:attrName>
                                        </p:attrNameLst>
                                      </p:cBhvr>
                                      <p:to>
                                        <p:strVal val="visible"/>
                                      </p:to>
                                    </p:set>
                                    <p:animEffect transition="in" filter="blinds(horizontal)">
                                      <p:cBhvr>
                                        <p:cTn id="7" dur="500"/>
                                        <p:tgtEl>
                                          <p:spTgt spid="430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3013">
                                            <p:txEl>
                                              <p:pRg st="0" end="0"/>
                                            </p:txEl>
                                          </p:spTgt>
                                        </p:tgtEl>
                                        <p:attrNameLst>
                                          <p:attrName>style.visibility</p:attrName>
                                        </p:attrNameLst>
                                      </p:cBhvr>
                                      <p:to>
                                        <p:strVal val="visible"/>
                                      </p:to>
                                    </p:set>
                                    <p:animEffect transition="in" filter="blinds(horizontal)">
                                      <p:cBhvr>
                                        <p:cTn id="12" dur="500"/>
                                        <p:tgtEl>
                                          <p:spTgt spid="4301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3013">
                                            <p:txEl>
                                              <p:pRg st="1" end="1"/>
                                            </p:txEl>
                                          </p:spTgt>
                                        </p:tgtEl>
                                        <p:attrNameLst>
                                          <p:attrName>style.visibility</p:attrName>
                                        </p:attrNameLst>
                                      </p:cBhvr>
                                      <p:to>
                                        <p:strVal val="visible"/>
                                      </p:to>
                                    </p:set>
                                    <p:animEffect transition="in" filter="blinds(horizontal)">
                                      <p:cBhvr>
                                        <p:cTn id="17" dur="500"/>
                                        <p:tgtEl>
                                          <p:spTgt spid="4301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3013">
                                            <p:txEl>
                                              <p:pRg st="2" end="2"/>
                                            </p:txEl>
                                          </p:spTgt>
                                        </p:tgtEl>
                                        <p:attrNameLst>
                                          <p:attrName>style.visibility</p:attrName>
                                        </p:attrNameLst>
                                      </p:cBhvr>
                                      <p:to>
                                        <p:strVal val="visible"/>
                                      </p:to>
                                    </p:set>
                                    <p:animEffect transition="in" filter="blinds(horizontal)">
                                      <p:cBhvr>
                                        <p:cTn id="22" dur="500"/>
                                        <p:tgtEl>
                                          <p:spTgt spid="4301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012" grpId="0"/>
      <p:bldP spid="4301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1026">
            <a:extLst>
              <a:ext uri="{FF2B5EF4-FFF2-40B4-BE49-F238E27FC236}">
                <a16:creationId xmlns:a16="http://schemas.microsoft.com/office/drawing/2014/main" id="{943F116D-33C3-9E4D-92D2-0F2AE3DC82C1}"/>
              </a:ext>
            </a:extLst>
          </p:cNvPr>
          <p:cNvSpPr>
            <a:spLocks noGrp="1" noChangeArrowheads="1"/>
          </p:cNvSpPr>
          <p:nvPr>
            <p:ph type="title" idx="4294967295"/>
          </p:nvPr>
        </p:nvSpPr>
        <p:spPr>
          <a:xfrm>
            <a:off x="1066800" y="0"/>
            <a:ext cx="7620000" cy="1295400"/>
          </a:xfrm>
        </p:spPr>
        <p:txBody>
          <a:bodyPr/>
          <a:lstStyle/>
          <a:p>
            <a:pPr eaLnBrk="1" hangingPunct="1"/>
            <a:r>
              <a:rPr lang="zh-CN" altLang="en-US" sz="5400" dirty="0">
                <a:latin typeface="Microsoft YaHei" panose="020B0503020204020204" pitchFamily="34" charset="-122"/>
                <a:ea typeface="Microsoft YaHei" panose="020B0503020204020204" pitchFamily="34" charset="-122"/>
              </a:rPr>
              <a:t>顺序程序设计</a:t>
            </a:r>
            <a:r>
              <a:rPr lang="zh-CN" altLang="en-US" sz="4800" dirty="0">
                <a:latin typeface="Microsoft YaHei" panose="020B0503020204020204" pitchFamily="34" charset="-122"/>
                <a:ea typeface="Microsoft YaHei" panose="020B0503020204020204" pitchFamily="34" charset="-122"/>
              </a:rPr>
              <a:t>特点</a:t>
            </a:r>
          </a:p>
        </p:txBody>
      </p:sp>
      <p:sp>
        <p:nvSpPr>
          <p:cNvPr id="6147" name="Rectangle 1027">
            <a:extLst>
              <a:ext uri="{FF2B5EF4-FFF2-40B4-BE49-F238E27FC236}">
                <a16:creationId xmlns:a16="http://schemas.microsoft.com/office/drawing/2014/main" id="{0F51A7C9-9A2C-B946-881E-CE0DBAF9F8A8}"/>
              </a:ext>
            </a:extLst>
          </p:cNvPr>
          <p:cNvSpPr>
            <a:spLocks noGrp="1" noChangeArrowheads="1"/>
          </p:cNvSpPr>
          <p:nvPr>
            <p:ph type="body" idx="4294967295"/>
          </p:nvPr>
        </p:nvSpPr>
        <p:spPr>
          <a:xfrm>
            <a:off x="179388" y="1143000"/>
            <a:ext cx="8713787" cy="5181600"/>
          </a:xfrm>
        </p:spPr>
        <p:txBody>
          <a:bodyPr/>
          <a:lstStyle/>
          <a:p>
            <a:pPr lvl="1" algn="just" eaLnBrk="1" hangingPunct="1">
              <a:lnSpc>
                <a:spcPct val="98000"/>
              </a:lnSpc>
            </a:pPr>
            <a:r>
              <a:rPr lang="en-US" altLang="zh-CN" dirty="0">
                <a:latin typeface="Microsoft YaHei" panose="020B0503020204020204" pitchFamily="34" charset="-122"/>
                <a:ea typeface="Microsoft YaHei" panose="020B0503020204020204" pitchFamily="34" charset="-122"/>
              </a:rPr>
              <a:t> </a:t>
            </a:r>
            <a:r>
              <a:rPr lang="zh-CN" altLang="en-US" sz="3200" dirty="0">
                <a:solidFill>
                  <a:srgbClr val="FF9900"/>
                </a:solidFill>
                <a:latin typeface="Microsoft YaHei" panose="020B0503020204020204" pitchFamily="34" charset="-122"/>
                <a:ea typeface="Microsoft YaHei" panose="020B0503020204020204" pitchFamily="34" charset="-122"/>
              </a:rPr>
              <a:t>程序执行的顺序性</a:t>
            </a:r>
          </a:p>
          <a:p>
            <a:pPr lvl="1" algn="just" eaLnBrk="1" hangingPunct="1">
              <a:lnSpc>
                <a:spcPct val="98000"/>
              </a:lnSpc>
              <a:buFont typeface="Wingdings" pitchFamily="2" charset="2"/>
              <a:buNone/>
            </a:pPr>
            <a:r>
              <a:rPr lang="zh-CN" altLang="en-US" sz="3200" dirty="0">
                <a:latin typeface="Microsoft YaHei" panose="020B0503020204020204" pitchFamily="34" charset="-122"/>
                <a:ea typeface="Microsoft YaHei" panose="020B0503020204020204" pitchFamily="34" charset="-122"/>
              </a:rPr>
              <a:t>    按次序执行</a:t>
            </a:r>
          </a:p>
          <a:p>
            <a:pPr lvl="1" algn="just" eaLnBrk="1" hangingPunct="1">
              <a:lnSpc>
                <a:spcPct val="98000"/>
              </a:lnSpc>
            </a:pPr>
            <a:r>
              <a:rPr lang="zh-CN" altLang="en-US" sz="3200" dirty="0">
                <a:latin typeface="Microsoft YaHei" panose="020B0503020204020204" pitchFamily="34" charset="-122"/>
                <a:ea typeface="Microsoft YaHei" panose="020B0503020204020204" pitchFamily="34" charset="-122"/>
              </a:rPr>
              <a:t> </a:t>
            </a:r>
            <a:r>
              <a:rPr lang="zh-CN" altLang="en-US" sz="3200" dirty="0">
                <a:solidFill>
                  <a:srgbClr val="FF9900"/>
                </a:solidFill>
                <a:latin typeface="Microsoft YaHei" panose="020B0503020204020204" pitchFamily="34" charset="-122"/>
                <a:ea typeface="Microsoft YaHei" panose="020B0503020204020204" pitchFamily="34" charset="-122"/>
              </a:rPr>
              <a:t>程序环境的封闭性</a:t>
            </a:r>
          </a:p>
          <a:p>
            <a:pPr lvl="1" algn="just" eaLnBrk="1" hangingPunct="1">
              <a:lnSpc>
                <a:spcPct val="98000"/>
              </a:lnSpc>
              <a:buFont typeface="Wingdings" pitchFamily="2" charset="2"/>
              <a:buNone/>
            </a:pPr>
            <a:r>
              <a:rPr lang="zh-CN" altLang="en-US" sz="3200" dirty="0">
                <a:latin typeface="Microsoft YaHei" panose="020B0503020204020204" pitchFamily="34" charset="-122"/>
                <a:ea typeface="Microsoft YaHei" panose="020B0503020204020204" pitchFamily="34" charset="-122"/>
              </a:rPr>
              <a:t>    执行不受外界因素的影响</a:t>
            </a:r>
          </a:p>
          <a:p>
            <a:pPr lvl="1" algn="just" eaLnBrk="1" hangingPunct="1">
              <a:lnSpc>
                <a:spcPct val="98000"/>
              </a:lnSpc>
            </a:pPr>
            <a:r>
              <a:rPr lang="zh-CN" altLang="en-US" sz="3200" dirty="0">
                <a:latin typeface="Microsoft YaHei" panose="020B0503020204020204" pitchFamily="34" charset="-122"/>
                <a:ea typeface="Microsoft YaHei" panose="020B0503020204020204" pitchFamily="34" charset="-122"/>
              </a:rPr>
              <a:t> </a:t>
            </a:r>
            <a:r>
              <a:rPr lang="zh-CN" altLang="en-US" sz="3200" dirty="0">
                <a:solidFill>
                  <a:srgbClr val="FF9900"/>
                </a:solidFill>
                <a:latin typeface="Microsoft YaHei" panose="020B0503020204020204" pitchFamily="34" charset="-122"/>
                <a:ea typeface="Microsoft YaHei" panose="020B0503020204020204" pitchFamily="34" charset="-122"/>
              </a:rPr>
              <a:t>执行结果的确定性</a:t>
            </a:r>
          </a:p>
          <a:p>
            <a:pPr lvl="1" algn="just" eaLnBrk="1" hangingPunct="1">
              <a:lnSpc>
                <a:spcPct val="98000"/>
              </a:lnSpc>
              <a:buFont typeface="Wingdings" pitchFamily="2" charset="2"/>
              <a:buNone/>
            </a:pPr>
            <a:r>
              <a:rPr lang="zh-CN" altLang="en-US" sz="3200" dirty="0">
                <a:latin typeface="Microsoft YaHei" panose="020B0503020204020204" pitchFamily="34" charset="-122"/>
                <a:ea typeface="Microsoft YaHei" panose="020B0503020204020204" pitchFamily="34" charset="-122"/>
              </a:rPr>
              <a:t>    走走停停，但结果不受影响，与（执行）速度无关</a:t>
            </a:r>
          </a:p>
          <a:p>
            <a:pPr lvl="1" algn="just" eaLnBrk="1" hangingPunct="1">
              <a:lnSpc>
                <a:spcPct val="98000"/>
              </a:lnSpc>
            </a:pPr>
            <a:r>
              <a:rPr lang="zh-CN" altLang="en-US" sz="3200" dirty="0">
                <a:latin typeface="Microsoft YaHei" panose="020B0503020204020204" pitchFamily="34" charset="-122"/>
                <a:ea typeface="Microsoft YaHei" panose="020B0503020204020204" pitchFamily="34" charset="-122"/>
              </a:rPr>
              <a:t> </a:t>
            </a:r>
            <a:r>
              <a:rPr lang="zh-CN" altLang="en-US" sz="3200" dirty="0">
                <a:solidFill>
                  <a:srgbClr val="FF9900"/>
                </a:solidFill>
                <a:latin typeface="Microsoft YaHei" panose="020B0503020204020204" pitchFamily="34" charset="-122"/>
                <a:ea typeface="Microsoft YaHei" panose="020B0503020204020204" pitchFamily="34" charset="-122"/>
              </a:rPr>
              <a:t>计算过程的可再现性</a:t>
            </a:r>
          </a:p>
          <a:p>
            <a:pPr lvl="1" algn="just" eaLnBrk="1" hangingPunct="1">
              <a:lnSpc>
                <a:spcPct val="98000"/>
              </a:lnSpc>
              <a:buFont typeface="Wingdings" pitchFamily="2" charset="2"/>
              <a:buNone/>
            </a:pPr>
            <a:r>
              <a:rPr lang="zh-CN" altLang="en-US" sz="3200" dirty="0">
                <a:latin typeface="Microsoft YaHei" panose="020B0503020204020204" pitchFamily="34" charset="-122"/>
                <a:ea typeface="Microsoft YaHei" panose="020B0503020204020204" pitchFamily="34" charset="-122"/>
              </a:rPr>
              <a:t>     每次计算的结果都相同</a:t>
            </a:r>
            <a:endParaRPr lang="zh-CN" altLang="zh-CN" sz="32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86210511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146"/>
                                        </p:tgtEl>
                                        <p:attrNameLst>
                                          <p:attrName>style.visibility</p:attrName>
                                        </p:attrNameLst>
                                      </p:cBhvr>
                                      <p:to>
                                        <p:strVal val="visible"/>
                                      </p:to>
                                    </p:set>
                                    <p:animEffect transition="in" filter="blinds(horizontal)">
                                      <p:cBhvr>
                                        <p:cTn id="7" dur="500"/>
                                        <p:tgtEl>
                                          <p:spTgt spid="614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147">
                                            <p:txEl>
                                              <p:pRg st="0" end="0"/>
                                            </p:txEl>
                                          </p:spTgt>
                                        </p:tgtEl>
                                        <p:attrNameLst>
                                          <p:attrName>style.visibility</p:attrName>
                                        </p:attrNameLst>
                                      </p:cBhvr>
                                      <p:to>
                                        <p:strVal val="visible"/>
                                      </p:to>
                                    </p:set>
                                    <p:animEffect transition="in" filter="blinds(horizontal)">
                                      <p:cBhvr>
                                        <p:cTn id="12" dur="500"/>
                                        <p:tgtEl>
                                          <p:spTgt spid="614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6147">
                                            <p:txEl>
                                              <p:pRg st="1" end="1"/>
                                            </p:txEl>
                                          </p:spTgt>
                                        </p:tgtEl>
                                        <p:attrNameLst>
                                          <p:attrName>style.visibility</p:attrName>
                                        </p:attrNameLst>
                                      </p:cBhvr>
                                      <p:to>
                                        <p:strVal val="visible"/>
                                      </p:to>
                                    </p:set>
                                    <p:animEffect transition="in" filter="blinds(horizontal)">
                                      <p:cBhvr>
                                        <p:cTn id="17" dur="500"/>
                                        <p:tgtEl>
                                          <p:spTgt spid="614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6147">
                                            <p:txEl>
                                              <p:pRg st="2" end="2"/>
                                            </p:txEl>
                                          </p:spTgt>
                                        </p:tgtEl>
                                        <p:attrNameLst>
                                          <p:attrName>style.visibility</p:attrName>
                                        </p:attrNameLst>
                                      </p:cBhvr>
                                      <p:to>
                                        <p:strVal val="visible"/>
                                      </p:to>
                                    </p:set>
                                    <p:animEffect transition="in" filter="blinds(horizontal)">
                                      <p:cBhvr>
                                        <p:cTn id="22" dur="500"/>
                                        <p:tgtEl>
                                          <p:spTgt spid="6147">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147">
                                            <p:txEl>
                                              <p:pRg st="3" end="3"/>
                                            </p:txEl>
                                          </p:spTgt>
                                        </p:tgtEl>
                                        <p:attrNameLst>
                                          <p:attrName>style.visibility</p:attrName>
                                        </p:attrNameLst>
                                      </p:cBhvr>
                                      <p:to>
                                        <p:strVal val="visible"/>
                                      </p:to>
                                    </p:set>
                                    <p:animEffect transition="in" filter="blinds(horizontal)">
                                      <p:cBhvr>
                                        <p:cTn id="27" dur="500"/>
                                        <p:tgtEl>
                                          <p:spTgt spid="6147">
                                            <p:txEl>
                                              <p:pRg st="3" end="3"/>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 presetClass="entr" presetSubtype="4" fill="hold" nodeType="clickEffect">
                                  <p:stCondLst>
                                    <p:cond delay="0"/>
                                  </p:stCondLst>
                                  <p:childTnLst>
                                    <p:set>
                                      <p:cBhvr>
                                        <p:cTn id="31" dur="1" fill="hold">
                                          <p:stCondLst>
                                            <p:cond delay="0"/>
                                          </p:stCondLst>
                                        </p:cTn>
                                        <p:tgtEl>
                                          <p:spTgt spid="6147">
                                            <p:txEl>
                                              <p:pRg st="4" end="4"/>
                                            </p:txEl>
                                          </p:spTgt>
                                        </p:tgtEl>
                                        <p:attrNameLst>
                                          <p:attrName>style.visibility</p:attrName>
                                        </p:attrNameLst>
                                      </p:cBhvr>
                                      <p:to>
                                        <p:strVal val="visible"/>
                                      </p:to>
                                    </p:set>
                                    <p:anim calcmode="lin" valueType="num">
                                      <p:cBhvr additive="base">
                                        <p:cTn id="32" dur="500" fill="hold"/>
                                        <p:tgtEl>
                                          <p:spTgt spid="6147">
                                            <p:txEl>
                                              <p:pRg st="4" end="4"/>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614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2" presetClass="entr" presetSubtype="4" fill="hold" nodeType="clickEffect">
                                  <p:stCondLst>
                                    <p:cond delay="0"/>
                                  </p:stCondLst>
                                  <p:childTnLst>
                                    <p:set>
                                      <p:cBhvr>
                                        <p:cTn id="37" dur="1" fill="hold">
                                          <p:stCondLst>
                                            <p:cond delay="0"/>
                                          </p:stCondLst>
                                        </p:cTn>
                                        <p:tgtEl>
                                          <p:spTgt spid="6147">
                                            <p:txEl>
                                              <p:pRg st="5" end="5"/>
                                            </p:txEl>
                                          </p:spTgt>
                                        </p:tgtEl>
                                        <p:attrNameLst>
                                          <p:attrName>style.visibility</p:attrName>
                                        </p:attrNameLst>
                                      </p:cBhvr>
                                      <p:to>
                                        <p:strVal val="visible"/>
                                      </p:to>
                                    </p:set>
                                    <p:anim calcmode="lin" valueType="num">
                                      <p:cBhvr additive="base">
                                        <p:cTn id="38" dur="500" fill="hold"/>
                                        <p:tgtEl>
                                          <p:spTgt spid="6147">
                                            <p:txEl>
                                              <p:pRg st="5" end="5"/>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614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nodeType="clickEffect">
                                  <p:stCondLst>
                                    <p:cond delay="0"/>
                                  </p:stCondLst>
                                  <p:childTnLst>
                                    <p:set>
                                      <p:cBhvr>
                                        <p:cTn id="43" dur="1" fill="hold">
                                          <p:stCondLst>
                                            <p:cond delay="0"/>
                                          </p:stCondLst>
                                        </p:cTn>
                                        <p:tgtEl>
                                          <p:spTgt spid="6147">
                                            <p:txEl>
                                              <p:pRg st="6" end="6"/>
                                            </p:txEl>
                                          </p:spTgt>
                                        </p:tgtEl>
                                        <p:attrNameLst>
                                          <p:attrName>style.visibility</p:attrName>
                                        </p:attrNameLst>
                                      </p:cBhvr>
                                      <p:to>
                                        <p:strVal val="visible"/>
                                      </p:to>
                                    </p:set>
                                    <p:animEffect transition="in" filter="blinds(horizontal)">
                                      <p:cBhvr>
                                        <p:cTn id="44" dur="500"/>
                                        <p:tgtEl>
                                          <p:spTgt spid="6147">
                                            <p:txEl>
                                              <p:pRg st="6" end="6"/>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 presetClass="entr" presetSubtype="4" fill="hold" nodeType="clickEffect">
                                  <p:stCondLst>
                                    <p:cond delay="0"/>
                                  </p:stCondLst>
                                  <p:childTnLst>
                                    <p:set>
                                      <p:cBhvr>
                                        <p:cTn id="48" dur="1" fill="hold">
                                          <p:stCondLst>
                                            <p:cond delay="0"/>
                                          </p:stCondLst>
                                        </p:cTn>
                                        <p:tgtEl>
                                          <p:spTgt spid="6147">
                                            <p:txEl>
                                              <p:pRg st="7" end="7"/>
                                            </p:txEl>
                                          </p:spTgt>
                                        </p:tgtEl>
                                        <p:attrNameLst>
                                          <p:attrName>style.visibility</p:attrName>
                                        </p:attrNameLst>
                                      </p:cBhvr>
                                      <p:to>
                                        <p:strVal val="visible"/>
                                      </p:to>
                                    </p:set>
                                    <p:anim calcmode="lin" valueType="num">
                                      <p:cBhvr additive="base">
                                        <p:cTn id="49" dur="500" fill="hold"/>
                                        <p:tgtEl>
                                          <p:spTgt spid="6147">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6147">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Rectangle 3">
            <a:extLst>
              <a:ext uri="{FF2B5EF4-FFF2-40B4-BE49-F238E27FC236}">
                <a16:creationId xmlns:a16="http://schemas.microsoft.com/office/drawing/2014/main" id="{2EF8A595-33E4-5244-82FB-54922FB1E495}"/>
              </a:ext>
            </a:extLst>
          </p:cNvPr>
          <p:cNvSpPr>
            <a:spLocks noGrp="1" noChangeArrowheads="1"/>
          </p:cNvSpPr>
          <p:nvPr>
            <p:ph type="body" idx="4294967295"/>
          </p:nvPr>
        </p:nvSpPr>
        <p:spPr>
          <a:xfrm>
            <a:off x="323850" y="1628775"/>
            <a:ext cx="8496300" cy="2532063"/>
          </a:xfrm>
        </p:spPr>
        <p:txBody>
          <a:bodyPr/>
          <a:lstStyle/>
          <a:p>
            <a:pPr algn="just" eaLnBrk="1" hangingPunct="1">
              <a:lnSpc>
                <a:spcPct val="150000"/>
              </a:lnSpc>
              <a:spcBef>
                <a:spcPct val="50000"/>
              </a:spcBef>
            </a:pPr>
            <a:r>
              <a:rPr lang="zh-CN" altLang="en-US" sz="3200" dirty="0">
                <a:solidFill>
                  <a:srgbClr val="FF9900"/>
                </a:solidFill>
                <a:latin typeface="Microsoft YaHei" panose="020B0503020204020204" pitchFamily="34" charset="-122"/>
                <a:ea typeface="Microsoft YaHei" panose="020B0503020204020204" pitchFamily="34" charset="-122"/>
              </a:rPr>
              <a:t>编写和调试</a:t>
            </a:r>
            <a:r>
              <a:rPr lang="zh-CN" altLang="en-US" sz="3200" dirty="0">
                <a:latin typeface="Microsoft YaHei" panose="020B0503020204020204" pitchFamily="34" charset="-122"/>
                <a:ea typeface="Microsoft YaHei" panose="020B0503020204020204" pitchFamily="34" charset="-122"/>
              </a:rPr>
              <a:t>比较</a:t>
            </a:r>
            <a:r>
              <a:rPr lang="zh-CN" altLang="en-US" sz="3200" dirty="0">
                <a:solidFill>
                  <a:srgbClr val="FF9900"/>
                </a:solidFill>
                <a:latin typeface="Microsoft YaHei" panose="020B0503020204020204" pitchFamily="34" charset="-122"/>
                <a:ea typeface="Microsoft YaHei" panose="020B0503020204020204" pitchFamily="34" charset="-122"/>
              </a:rPr>
              <a:t>方便</a:t>
            </a:r>
            <a:r>
              <a:rPr lang="zh-CN" altLang="en-US" sz="3200" dirty="0">
                <a:latin typeface="Microsoft YaHei" panose="020B0503020204020204" pitchFamily="34" charset="-122"/>
                <a:ea typeface="Microsoft YaHei" panose="020B0503020204020204" pitchFamily="34" charset="-122"/>
              </a:rPr>
              <a:t>；</a:t>
            </a:r>
          </a:p>
          <a:p>
            <a:pPr algn="just" eaLnBrk="1" hangingPunct="1">
              <a:lnSpc>
                <a:spcPct val="150000"/>
              </a:lnSpc>
              <a:spcBef>
                <a:spcPct val="50000"/>
              </a:spcBef>
            </a:pPr>
            <a:r>
              <a:rPr lang="zh-CN" altLang="en-US" sz="3200" dirty="0">
                <a:latin typeface="Microsoft YaHei" panose="020B0503020204020204" pitchFamily="34" charset="-122"/>
                <a:ea typeface="Microsoft YaHei" panose="020B0503020204020204" pitchFamily="34" charset="-122"/>
              </a:rPr>
              <a:t>但</a:t>
            </a:r>
            <a:r>
              <a:rPr lang="zh-CN" altLang="en-US" sz="3200" dirty="0">
                <a:solidFill>
                  <a:srgbClr val="FF9900"/>
                </a:solidFill>
                <a:latin typeface="Microsoft YaHei" panose="020B0503020204020204" pitchFamily="34" charset="-122"/>
                <a:ea typeface="Microsoft YaHei" panose="020B0503020204020204" pitchFamily="34" charset="-122"/>
              </a:rPr>
              <a:t>效率不高</a:t>
            </a:r>
            <a:r>
              <a:rPr lang="zh-CN" altLang="en-US" sz="3200" dirty="0">
                <a:latin typeface="Microsoft YaHei" panose="020B0503020204020204" pitchFamily="34" charset="-122"/>
                <a:ea typeface="Microsoft YaHei" panose="020B0503020204020204" pitchFamily="34" charset="-122"/>
              </a:rPr>
              <a:t>。</a:t>
            </a:r>
          </a:p>
        </p:txBody>
      </p:sp>
      <p:sp>
        <p:nvSpPr>
          <p:cNvPr id="44038" name="Rectangle 4">
            <a:extLst>
              <a:ext uri="{FF2B5EF4-FFF2-40B4-BE49-F238E27FC236}">
                <a16:creationId xmlns:a16="http://schemas.microsoft.com/office/drawing/2014/main" id="{BF25A47E-D531-9247-9605-F9D50411ABA7}"/>
              </a:ext>
            </a:extLst>
          </p:cNvPr>
          <p:cNvSpPr>
            <a:spLocks noChangeArrowheads="1"/>
          </p:cNvSpPr>
          <p:nvPr/>
        </p:nvSpPr>
        <p:spPr bwMode="auto">
          <a:xfrm>
            <a:off x="1692275" y="404813"/>
            <a:ext cx="6048375"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kumimoji="1" lang="zh-CN" altLang="en-US" sz="4000">
                <a:latin typeface="Microsoft YaHei" panose="020B0503020204020204" pitchFamily="34" charset="-122"/>
                <a:ea typeface="Microsoft YaHei" panose="020B0503020204020204" pitchFamily="34" charset="-122"/>
              </a:rPr>
              <a:t>顺序程序设计的优缺点</a:t>
            </a:r>
          </a:p>
        </p:txBody>
      </p:sp>
      <p:sp>
        <p:nvSpPr>
          <p:cNvPr id="5" name="文本框 4">
            <a:extLst>
              <a:ext uri="{FF2B5EF4-FFF2-40B4-BE49-F238E27FC236}">
                <a16:creationId xmlns:a16="http://schemas.microsoft.com/office/drawing/2014/main" id="{3F37F08E-D793-E944-914E-1BC6F6FC26A5}"/>
              </a:ext>
            </a:extLst>
          </p:cNvPr>
          <p:cNvSpPr txBox="1">
            <a:spLocks noChangeArrowheads="1"/>
          </p:cNvSpPr>
          <p:nvPr/>
        </p:nvSpPr>
        <p:spPr bwMode="auto">
          <a:xfrm>
            <a:off x="2155825" y="3716338"/>
            <a:ext cx="51212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zh-CN" altLang="en-US" sz="3600">
                <a:solidFill>
                  <a:srgbClr val="FF0000"/>
                </a:solidFill>
                <a:latin typeface="Microsoft YaHei" panose="020B0503020204020204" pitchFamily="34" charset="-122"/>
                <a:ea typeface="Microsoft YaHei" panose="020B0503020204020204" pitchFamily="34" charset="-122"/>
              </a:rPr>
              <a:t>如何提高程序的效率？</a:t>
            </a:r>
          </a:p>
        </p:txBody>
      </p:sp>
      <p:sp>
        <p:nvSpPr>
          <p:cNvPr id="6" name="文本框 5">
            <a:extLst>
              <a:ext uri="{FF2B5EF4-FFF2-40B4-BE49-F238E27FC236}">
                <a16:creationId xmlns:a16="http://schemas.microsoft.com/office/drawing/2014/main" id="{BECC11D7-CFA0-7E41-B196-613FA83CB450}"/>
              </a:ext>
            </a:extLst>
          </p:cNvPr>
          <p:cNvSpPr txBox="1">
            <a:spLocks noChangeArrowheads="1"/>
          </p:cNvSpPr>
          <p:nvPr/>
        </p:nvSpPr>
        <p:spPr bwMode="auto">
          <a:xfrm>
            <a:off x="2011363" y="4508500"/>
            <a:ext cx="5121275"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zh-CN" altLang="en-US" sz="3600">
                <a:solidFill>
                  <a:srgbClr val="FF0000"/>
                </a:solidFill>
                <a:latin typeface="Microsoft YaHei" panose="020B0503020204020204" pitchFamily="34" charset="-122"/>
                <a:ea typeface="Microsoft YaHei" panose="020B0503020204020204" pitchFamily="34" charset="-122"/>
              </a:rPr>
              <a:t>程序并发执行</a:t>
            </a:r>
            <a:r>
              <a:rPr lang="en-US" altLang="zh-CN" sz="3600">
                <a:solidFill>
                  <a:srgbClr val="FF0000"/>
                </a:solidFill>
                <a:latin typeface="Microsoft YaHei" panose="020B0503020204020204" pitchFamily="34" charset="-122"/>
                <a:ea typeface="Microsoft YaHei" panose="020B0503020204020204" pitchFamily="34" charset="-122"/>
                <a:sym typeface="Wingdings" pitchFamily="2" charset="2"/>
              </a:rPr>
              <a:t></a:t>
            </a:r>
            <a:r>
              <a:rPr lang="zh-CN" altLang="en-US" sz="3600">
                <a:solidFill>
                  <a:srgbClr val="FF0000"/>
                </a:solidFill>
                <a:latin typeface="Microsoft YaHei" panose="020B0503020204020204" pitchFamily="34" charset="-122"/>
                <a:ea typeface="Microsoft YaHei" panose="020B0503020204020204" pitchFamily="34" charset="-122"/>
                <a:sym typeface="Wingdings" pitchFamily="2" charset="2"/>
              </a:rPr>
              <a:t>多进程</a:t>
            </a:r>
            <a:endParaRPr lang="zh-CN" altLang="en-US" sz="3600">
              <a:solidFill>
                <a:srgbClr val="FF00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90602607"/>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4038"/>
                                        </p:tgtEl>
                                        <p:attrNameLst>
                                          <p:attrName>style.visibility</p:attrName>
                                        </p:attrNameLst>
                                      </p:cBhvr>
                                      <p:to>
                                        <p:strVal val="visible"/>
                                      </p:to>
                                    </p:set>
                                    <p:animEffect transition="in" filter="blinds(horizontal)">
                                      <p:cBhvr>
                                        <p:cTn id="7" dur="500"/>
                                        <p:tgtEl>
                                          <p:spTgt spid="440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4037">
                                            <p:txEl>
                                              <p:pRg st="0" end="0"/>
                                            </p:txEl>
                                          </p:spTgt>
                                        </p:tgtEl>
                                        <p:attrNameLst>
                                          <p:attrName>style.visibility</p:attrName>
                                        </p:attrNameLst>
                                      </p:cBhvr>
                                      <p:to>
                                        <p:strVal val="visible"/>
                                      </p:to>
                                    </p:set>
                                    <p:animEffect transition="in" filter="blinds(horizontal)">
                                      <p:cBhvr>
                                        <p:cTn id="12" dur="500"/>
                                        <p:tgtEl>
                                          <p:spTgt spid="4403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4037">
                                            <p:txEl>
                                              <p:pRg st="1" end="1"/>
                                            </p:txEl>
                                          </p:spTgt>
                                        </p:tgtEl>
                                        <p:attrNameLst>
                                          <p:attrName>style.visibility</p:attrName>
                                        </p:attrNameLst>
                                      </p:cBhvr>
                                      <p:to>
                                        <p:strVal val="visible"/>
                                      </p:to>
                                    </p:set>
                                    <p:animEffect transition="in" filter="blinds(horizontal)">
                                      <p:cBhvr>
                                        <p:cTn id="17" dur="500"/>
                                        <p:tgtEl>
                                          <p:spTgt spid="44037">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wipe(left)">
                                      <p:cBhvr>
                                        <p:cTn id="2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7" grpId="0" build="p"/>
      <p:bldP spid="44038" grpId="0"/>
      <p:bldP spid="5" grpId="0"/>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51C3A45D-5B97-0C4B-90CD-FC3DC7B397DE}"/>
              </a:ext>
            </a:extLst>
          </p:cNvPr>
          <p:cNvSpPr>
            <a:spLocks noGrp="1" noChangeArrowheads="1"/>
          </p:cNvSpPr>
          <p:nvPr>
            <p:ph type="title" idx="4294967295"/>
          </p:nvPr>
        </p:nvSpPr>
        <p:spPr>
          <a:xfrm>
            <a:off x="914400" y="152400"/>
            <a:ext cx="7391400" cy="1143000"/>
          </a:xfrm>
        </p:spPr>
        <p:txBody>
          <a:bodyPr/>
          <a:lstStyle/>
          <a:p>
            <a:pPr eaLnBrk="1" hangingPunct="1"/>
            <a:r>
              <a:rPr lang="zh-CN" altLang="en-US" sz="4800" dirty="0">
                <a:latin typeface="Microsoft YaHei" panose="020B0503020204020204" pitchFamily="34" charset="-122"/>
                <a:ea typeface="Microsoft YaHei" panose="020B0503020204020204" pitchFamily="34" charset="-122"/>
              </a:rPr>
              <a:t>进程的并发性</a:t>
            </a:r>
            <a:endParaRPr lang="en-US" altLang="zh-CN" sz="4800" dirty="0">
              <a:latin typeface="Microsoft YaHei" panose="020B0503020204020204" pitchFamily="34" charset="-122"/>
              <a:ea typeface="Microsoft YaHei" panose="020B0503020204020204" pitchFamily="34" charset="-122"/>
            </a:endParaRPr>
          </a:p>
        </p:txBody>
      </p:sp>
      <p:sp>
        <p:nvSpPr>
          <p:cNvPr id="7171" name="Rectangle 3">
            <a:extLst>
              <a:ext uri="{FF2B5EF4-FFF2-40B4-BE49-F238E27FC236}">
                <a16:creationId xmlns:a16="http://schemas.microsoft.com/office/drawing/2014/main" id="{408B5F4C-7AB4-6D40-8698-735161CBE02F}"/>
              </a:ext>
            </a:extLst>
          </p:cNvPr>
          <p:cNvSpPr>
            <a:spLocks noGrp="1" noChangeArrowheads="1"/>
          </p:cNvSpPr>
          <p:nvPr>
            <p:ph type="body" idx="4294967295"/>
          </p:nvPr>
        </p:nvSpPr>
        <p:spPr>
          <a:xfrm>
            <a:off x="762000" y="990600"/>
            <a:ext cx="7772400" cy="5867400"/>
          </a:xfrm>
        </p:spPr>
        <p:txBody>
          <a:bodyPr/>
          <a:lstStyle/>
          <a:p>
            <a:pPr algn="just" eaLnBrk="1" fontAlgn="ctr" hangingPunct="1">
              <a:lnSpc>
                <a:spcPct val="120000"/>
              </a:lnSpc>
            </a:pPr>
            <a:r>
              <a:rPr lang="zh-CN" altLang="en-US" sz="2800" dirty="0">
                <a:latin typeface="Microsoft YaHei" panose="020B0503020204020204" pitchFamily="34" charset="-122"/>
                <a:ea typeface="Microsoft YaHei" panose="020B0503020204020204" pitchFamily="34" charset="-122"/>
              </a:rPr>
              <a:t>进程执行的并发性：一组进程的执行在时间上是</a:t>
            </a:r>
            <a:r>
              <a:rPr lang="zh-CN" altLang="en-US" sz="2800" dirty="0">
                <a:solidFill>
                  <a:srgbClr val="FF9900"/>
                </a:solidFill>
                <a:latin typeface="Microsoft YaHei" panose="020B0503020204020204" pitchFamily="34" charset="-122"/>
                <a:ea typeface="Microsoft YaHei" panose="020B0503020204020204" pitchFamily="34" charset="-122"/>
              </a:rPr>
              <a:t>重叠</a:t>
            </a:r>
            <a:r>
              <a:rPr lang="zh-CN" altLang="en-US" sz="2800" dirty="0">
                <a:latin typeface="Microsoft YaHei" panose="020B0503020204020204" pitchFamily="34" charset="-122"/>
                <a:ea typeface="Microsoft YaHei" panose="020B0503020204020204" pitchFamily="34" charset="-122"/>
              </a:rPr>
              <a:t>的。</a:t>
            </a:r>
          </a:p>
          <a:p>
            <a:pPr algn="just" eaLnBrk="1" fontAlgn="ctr" hangingPunct="1">
              <a:lnSpc>
                <a:spcPct val="120000"/>
              </a:lnSpc>
            </a:pPr>
            <a:r>
              <a:rPr lang="zh-CN" altLang="en-US" sz="2800" dirty="0">
                <a:latin typeface="Microsoft YaHei" panose="020B0503020204020204" pitchFamily="34" charset="-122"/>
                <a:ea typeface="Microsoft YaHei" panose="020B0503020204020204" pitchFamily="34" charset="-122"/>
              </a:rPr>
              <a:t>并发性举例：有两个进程</a:t>
            </a:r>
            <a:r>
              <a:rPr lang="en-US" altLang="zh-CN" sz="2800" dirty="0">
                <a:latin typeface="Microsoft YaHei" panose="020B0503020204020204" pitchFamily="34" charset="-122"/>
                <a:ea typeface="Microsoft YaHei" panose="020B0503020204020204" pitchFamily="34" charset="-122"/>
              </a:rPr>
              <a:t>A(a1</a:t>
            </a:r>
            <a:r>
              <a:rPr lang="zh-CN" altLang="en-US" sz="2800" dirty="0">
                <a:latin typeface="Microsoft YaHei" panose="020B0503020204020204" pitchFamily="34" charset="-122"/>
                <a:ea typeface="Microsoft YaHei" panose="020B0503020204020204" pitchFamily="34" charset="-122"/>
              </a:rPr>
              <a:t>、</a:t>
            </a:r>
            <a:r>
              <a:rPr lang="en-US" altLang="zh-CN" sz="2800" dirty="0">
                <a:latin typeface="Microsoft YaHei" panose="020B0503020204020204" pitchFamily="34" charset="-122"/>
                <a:ea typeface="Microsoft YaHei" panose="020B0503020204020204" pitchFamily="34" charset="-122"/>
              </a:rPr>
              <a:t>a2</a:t>
            </a:r>
            <a:r>
              <a:rPr lang="zh-CN" altLang="en-US" sz="2800" dirty="0">
                <a:latin typeface="Microsoft YaHei" panose="020B0503020204020204" pitchFamily="34" charset="-122"/>
                <a:ea typeface="Microsoft YaHei" panose="020B0503020204020204" pitchFamily="34" charset="-122"/>
              </a:rPr>
              <a:t>、</a:t>
            </a:r>
            <a:r>
              <a:rPr lang="en-US" altLang="zh-CN" sz="2800" dirty="0">
                <a:latin typeface="Microsoft YaHei" panose="020B0503020204020204" pitchFamily="34" charset="-122"/>
                <a:ea typeface="Microsoft YaHei" panose="020B0503020204020204" pitchFamily="34" charset="-122"/>
              </a:rPr>
              <a:t>a3)</a:t>
            </a:r>
            <a:r>
              <a:rPr lang="zh-CN" altLang="en-US" sz="2800" dirty="0">
                <a:latin typeface="Microsoft YaHei" panose="020B0503020204020204" pitchFamily="34" charset="-122"/>
                <a:ea typeface="Microsoft YaHei" panose="020B0503020204020204" pitchFamily="34" charset="-122"/>
              </a:rPr>
              <a:t>和</a:t>
            </a:r>
            <a:r>
              <a:rPr lang="en-US" altLang="zh-CN" sz="2800" dirty="0">
                <a:latin typeface="Microsoft YaHei" panose="020B0503020204020204" pitchFamily="34" charset="-122"/>
                <a:ea typeface="Microsoft YaHei" panose="020B0503020204020204" pitchFamily="34" charset="-122"/>
              </a:rPr>
              <a:t>B(b1</a:t>
            </a:r>
            <a:r>
              <a:rPr lang="zh-CN" altLang="en-US" sz="2800" dirty="0">
                <a:latin typeface="Microsoft YaHei" panose="020B0503020204020204" pitchFamily="34" charset="-122"/>
                <a:ea typeface="Microsoft YaHei" panose="020B0503020204020204" pitchFamily="34" charset="-122"/>
              </a:rPr>
              <a:t>、</a:t>
            </a:r>
            <a:r>
              <a:rPr lang="en-US" altLang="zh-CN" sz="2800" dirty="0">
                <a:latin typeface="Microsoft YaHei" panose="020B0503020204020204" pitchFamily="34" charset="-122"/>
                <a:ea typeface="Microsoft YaHei" panose="020B0503020204020204" pitchFamily="34" charset="-122"/>
              </a:rPr>
              <a:t>b2</a:t>
            </a:r>
            <a:r>
              <a:rPr lang="zh-CN" altLang="en-US" sz="2800" dirty="0">
                <a:latin typeface="Microsoft YaHei" panose="020B0503020204020204" pitchFamily="34" charset="-122"/>
                <a:ea typeface="Microsoft YaHei" panose="020B0503020204020204" pitchFamily="34" charset="-122"/>
              </a:rPr>
              <a:t>、</a:t>
            </a:r>
            <a:r>
              <a:rPr lang="en-US" altLang="zh-CN" sz="2800" dirty="0">
                <a:latin typeface="Microsoft YaHei" panose="020B0503020204020204" pitchFamily="34" charset="-122"/>
                <a:ea typeface="Microsoft YaHei" panose="020B0503020204020204" pitchFamily="34" charset="-122"/>
              </a:rPr>
              <a:t>b3)</a:t>
            </a:r>
            <a:r>
              <a:rPr lang="zh-CN" altLang="en-US" sz="2800" dirty="0">
                <a:latin typeface="Microsoft YaHei" panose="020B0503020204020204" pitchFamily="34" charset="-122"/>
                <a:ea typeface="Microsoft YaHei" panose="020B0503020204020204" pitchFamily="34" charset="-122"/>
              </a:rPr>
              <a:t>并发执行。 </a:t>
            </a:r>
          </a:p>
          <a:p>
            <a:pPr lvl="1" algn="just" eaLnBrk="1" fontAlgn="ctr" hangingPunct="1"/>
            <a:r>
              <a:rPr lang="zh-CN" altLang="en-US" sz="24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a1</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a2</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a3</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b1</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b2</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b3 </a:t>
            </a:r>
            <a:r>
              <a:rPr lang="zh-CN" altLang="en-US" sz="2400" dirty="0">
                <a:latin typeface="Microsoft YaHei" panose="020B0503020204020204" pitchFamily="34" charset="-122"/>
                <a:ea typeface="Microsoft YaHei" panose="020B0503020204020204" pitchFamily="34" charset="-122"/>
              </a:rPr>
              <a:t>顺序执行</a:t>
            </a:r>
          </a:p>
          <a:p>
            <a:pPr lvl="1" algn="just" eaLnBrk="1" fontAlgn="ctr" hangingPunct="1"/>
            <a:r>
              <a:rPr lang="zh-CN" altLang="en-US" sz="24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a1</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b1</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a2</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b2</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a3</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b3 </a:t>
            </a:r>
            <a:r>
              <a:rPr lang="zh-CN" altLang="en-US" sz="2400" dirty="0">
                <a:latin typeface="Microsoft YaHei" panose="020B0503020204020204" pitchFamily="34" charset="-122"/>
                <a:ea typeface="Microsoft YaHei" panose="020B0503020204020204" pitchFamily="34" charset="-122"/>
              </a:rPr>
              <a:t>并发执行</a:t>
            </a:r>
          </a:p>
          <a:p>
            <a:pPr algn="just" eaLnBrk="1" hangingPunct="1">
              <a:lnSpc>
                <a:spcPct val="120000"/>
              </a:lnSpc>
            </a:pPr>
            <a:r>
              <a:rPr lang="zh-CN" altLang="en-US" sz="2800" dirty="0">
                <a:latin typeface="Microsoft YaHei" panose="020B0503020204020204" pitchFamily="34" charset="-122"/>
                <a:ea typeface="Microsoft YaHei" panose="020B0503020204020204" pitchFamily="34" charset="-122"/>
              </a:rPr>
              <a:t>从</a:t>
            </a:r>
            <a:r>
              <a:rPr lang="zh-CN" altLang="en-US" sz="2800" dirty="0">
                <a:solidFill>
                  <a:srgbClr val="FF9900"/>
                </a:solidFill>
                <a:latin typeface="Microsoft YaHei" panose="020B0503020204020204" pitchFamily="34" charset="-122"/>
                <a:ea typeface="Microsoft YaHei" panose="020B0503020204020204" pitchFamily="34" charset="-122"/>
              </a:rPr>
              <a:t>宏观</a:t>
            </a:r>
            <a:r>
              <a:rPr lang="zh-CN" altLang="en-US" sz="2800" dirty="0">
                <a:latin typeface="Microsoft YaHei" panose="020B0503020204020204" pitchFamily="34" charset="-122"/>
                <a:ea typeface="Microsoft YaHei" panose="020B0503020204020204" pitchFamily="34" charset="-122"/>
              </a:rPr>
              <a:t>上看，并发性反映一个时间段中几个进程都在同一处理器上，处于运行还未运行结束状态。</a:t>
            </a:r>
          </a:p>
          <a:p>
            <a:pPr algn="just" eaLnBrk="1" hangingPunct="1">
              <a:lnSpc>
                <a:spcPct val="120000"/>
              </a:lnSpc>
            </a:pPr>
            <a:r>
              <a:rPr lang="zh-CN" altLang="en-US" sz="2800" dirty="0">
                <a:latin typeface="Microsoft YaHei" panose="020B0503020204020204" pitchFamily="34" charset="-122"/>
                <a:ea typeface="Microsoft YaHei" panose="020B0503020204020204" pitchFamily="34" charset="-122"/>
              </a:rPr>
              <a:t>从</a:t>
            </a:r>
            <a:r>
              <a:rPr lang="zh-CN" altLang="en-US" sz="2800" dirty="0">
                <a:solidFill>
                  <a:srgbClr val="FF9900"/>
                </a:solidFill>
                <a:latin typeface="Microsoft YaHei" panose="020B0503020204020204" pitchFamily="34" charset="-122"/>
                <a:ea typeface="Microsoft YaHei" panose="020B0503020204020204" pitchFamily="34" charset="-122"/>
              </a:rPr>
              <a:t>微观</a:t>
            </a:r>
            <a:r>
              <a:rPr lang="zh-CN" altLang="en-US" sz="2800" dirty="0">
                <a:latin typeface="Microsoft YaHei" panose="020B0503020204020204" pitchFamily="34" charset="-122"/>
                <a:ea typeface="Microsoft YaHei" panose="020B0503020204020204" pitchFamily="34" charset="-122"/>
              </a:rPr>
              <a:t>上看，任一时刻仅有一个进程在处理器上运行。</a:t>
            </a:r>
            <a:endParaRPr lang="en-US" altLang="zh-CN" sz="28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23479963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animEffect transition="in" filter="blinds(horizontal)">
                                      <p:cBhvr>
                                        <p:cTn id="7" dur="500"/>
                                        <p:tgtEl>
                                          <p:spTgt spid="717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71">
                                            <p:txEl>
                                              <p:pRg st="0" end="0"/>
                                            </p:txEl>
                                          </p:spTgt>
                                        </p:tgtEl>
                                        <p:attrNameLst>
                                          <p:attrName>style.visibility</p:attrName>
                                        </p:attrNameLst>
                                      </p:cBhvr>
                                      <p:to>
                                        <p:strVal val="visible"/>
                                      </p:to>
                                    </p:set>
                                    <p:animEffect transition="in" filter="blinds(horizontal)">
                                      <p:cBhvr>
                                        <p:cTn id="12" dur="500"/>
                                        <p:tgtEl>
                                          <p:spTgt spid="717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171">
                                            <p:txEl>
                                              <p:pRg st="1" end="1"/>
                                            </p:txEl>
                                          </p:spTgt>
                                        </p:tgtEl>
                                        <p:attrNameLst>
                                          <p:attrName>style.visibility</p:attrName>
                                        </p:attrNameLst>
                                      </p:cBhvr>
                                      <p:to>
                                        <p:strVal val="visible"/>
                                      </p:to>
                                    </p:set>
                                    <p:animEffect transition="in" filter="blinds(horizontal)">
                                      <p:cBhvr>
                                        <p:cTn id="17" dur="500"/>
                                        <p:tgtEl>
                                          <p:spTgt spid="7171">
                                            <p:txEl>
                                              <p:pRg st="1" end="1"/>
                                            </p:txEl>
                                          </p:spTgt>
                                        </p:tgtEl>
                                      </p:cBhvr>
                                    </p:animEffect>
                                  </p:childTnLst>
                                </p:cTn>
                              </p:par>
                              <p:par>
                                <p:cTn id="18" presetID="3" presetClass="entr" presetSubtype="10" fill="hold" nodeType="withEffect">
                                  <p:stCondLst>
                                    <p:cond delay="0"/>
                                  </p:stCondLst>
                                  <p:childTnLst>
                                    <p:set>
                                      <p:cBhvr>
                                        <p:cTn id="19" dur="1" fill="hold">
                                          <p:stCondLst>
                                            <p:cond delay="0"/>
                                          </p:stCondLst>
                                        </p:cTn>
                                        <p:tgtEl>
                                          <p:spTgt spid="7171">
                                            <p:txEl>
                                              <p:pRg st="2" end="2"/>
                                            </p:txEl>
                                          </p:spTgt>
                                        </p:tgtEl>
                                        <p:attrNameLst>
                                          <p:attrName>style.visibility</p:attrName>
                                        </p:attrNameLst>
                                      </p:cBhvr>
                                      <p:to>
                                        <p:strVal val="visible"/>
                                      </p:to>
                                    </p:set>
                                    <p:animEffect transition="in" filter="blinds(horizontal)">
                                      <p:cBhvr>
                                        <p:cTn id="20" dur="500"/>
                                        <p:tgtEl>
                                          <p:spTgt spid="7171">
                                            <p:txEl>
                                              <p:pRg st="2" end="2"/>
                                            </p:txEl>
                                          </p:spTgt>
                                        </p:tgtEl>
                                      </p:cBhvr>
                                    </p:animEffect>
                                  </p:childTnLst>
                                </p:cTn>
                              </p:par>
                              <p:par>
                                <p:cTn id="21" presetID="3" presetClass="entr" presetSubtype="10" fill="hold" nodeType="withEffect">
                                  <p:stCondLst>
                                    <p:cond delay="0"/>
                                  </p:stCondLst>
                                  <p:childTnLst>
                                    <p:set>
                                      <p:cBhvr>
                                        <p:cTn id="22" dur="1" fill="hold">
                                          <p:stCondLst>
                                            <p:cond delay="0"/>
                                          </p:stCondLst>
                                        </p:cTn>
                                        <p:tgtEl>
                                          <p:spTgt spid="7171">
                                            <p:txEl>
                                              <p:pRg st="3" end="3"/>
                                            </p:txEl>
                                          </p:spTgt>
                                        </p:tgtEl>
                                        <p:attrNameLst>
                                          <p:attrName>style.visibility</p:attrName>
                                        </p:attrNameLst>
                                      </p:cBhvr>
                                      <p:to>
                                        <p:strVal val="visible"/>
                                      </p:to>
                                    </p:set>
                                    <p:animEffect transition="in" filter="blinds(horizontal)">
                                      <p:cBhvr>
                                        <p:cTn id="23" dur="500"/>
                                        <p:tgtEl>
                                          <p:spTgt spid="7171">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7171">
                                            <p:txEl>
                                              <p:pRg st="4" end="4"/>
                                            </p:txEl>
                                          </p:spTgt>
                                        </p:tgtEl>
                                        <p:attrNameLst>
                                          <p:attrName>style.visibility</p:attrName>
                                        </p:attrNameLst>
                                      </p:cBhvr>
                                      <p:to>
                                        <p:strVal val="visible"/>
                                      </p:to>
                                    </p:set>
                                    <p:animEffect transition="in" filter="blinds(horizontal)">
                                      <p:cBhvr>
                                        <p:cTn id="28" dur="500"/>
                                        <p:tgtEl>
                                          <p:spTgt spid="7171">
                                            <p:txEl>
                                              <p:pRg st="4" end="4"/>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7171">
                                            <p:txEl>
                                              <p:pRg st="5" end="5"/>
                                            </p:txEl>
                                          </p:spTgt>
                                        </p:tgtEl>
                                        <p:attrNameLst>
                                          <p:attrName>style.visibility</p:attrName>
                                        </p:attrNameLst>
                                      </p:cBhvr>
                                      <p:to>
                                        <p:strVal val="visible"/>
                                      </p:to>
                                    </p:set>
                                    <p:animEffect transition="in" filter="blinds(horizontal)">
                                      <p:cBhvr>
                                        <p:cTn id="33" dur="500"/>
                                        <p:tgtEl>
                                          <p:spTgt spid="717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70" grpId="0"/>
      <p:bldP spid="7171"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B6562047-3C54-3C41-A776-C4EFCE6FAC24}"/>
              </a:ext>
            </a:extLst>
          </p:cNvPr>
          <p:cNvSpPr>
            <a:spLocks noGrp="1" noChangeArrowheads="1"/>
          </p:cNvSpPr>
          <p:nvPr>
            <p:ph type="title"/>
          </p:nvPr>
        </p:nvSpPr>
        <p:spPr>
          <a:xfrm>
            <a:off x="685800" y="341313"/>
            <a:ext cx="7772400" cy="1143000"/>
          </a:xfrm>
        </p:spPr>
        <p:txBody>
          <a:bodyPr>
            <a:normAutofit fontScale="90000"/>
          </a:bodyPr>
          <a:lstStyle/>
          <a:p>
            <a:pPr eaLnBrk="1" hangingPunct="1"/>
            <a:r>
              <a:rPr lang="zh-CN" altLang="en-US" sz="3600">
                <a:latin typeface="Microsoft YaHei" panose="020B0503020204020204" pitchFamily="34" charset="-122"/>
                <a:ea typeface="Microsoft YaHei" panose="020B0503020204020204" pitchFamily="34" charset="-122"/>
              </a:rPr>
              <a:t>进程的并发性（举例）</a:t>
            </a:r>
            <a:br>
              <a:rPr lang="en-US" altLang="zh-CN" sz="3600">
                <a:latin typeface="Microsoft YaHei" panose="020B0503020204020204" pitchFamily="34" charset="-122"/>
                <a:ea typeface="Microsoft YaHei" panose="020B0503020204020204" pitchFamily="34" charset="-122"/>
              </a:rPr>
            </a:br>
            <a:r>
              <a:rPr lang="zh-CN" altLang="en-US" sz="3600">
                <a:latin typeface="Microsoft YaHei" panose="020B0503020204020204" pitchFamily="34" charset="-122"/>
                <a:ea typeface="Microsoft YaHei" panose="020B0503020204020204" pitchFamily="34" charset="-122"/>
              </a:rPr>
              <a:t>程序并发 执行 </a:t>
            </a:r>
          </a:p>
        </p:txBody>
      </p:sp>
      <p:sp>
        <p:nvSpPr>
          <p:cNvPr id="11267" name="Rectangle 3">
            <a:extLst>
              <a:ext uri="{FF2B5EF4-FFF2-40B4-BE49-F238E27FC236}">
                <a16:creationId xmlns:a16="http://schemas.microsoft.com/office/drawing/2014/main" id="{4455B52B-A593-5B4E-B26C-79C53560A728}"/>
              </a:ext>
            </a:extLst>
          </p:cNvPr>
          <p:cNvSpPr>
            <a:spLocks noGrp="1" noChangeArrowheads="1"/>
          </p:cNvSpPr>
          <p:nvPr>
            <p:ph idx="1"/>
          </p:nvPr>
        </p:nvSpPr>
        <p:spPr>
          <a:xfrm>
            <a:off x="468313" y="1628775"/>
            <a:ext cx="8207375" cy="5040313"/>
          </a:xfrm>
        </p:spPr>
        <p:txBody>
          <a:bodyPr/>
          <a:lstStyle/>
          <a:p>
            <a:pPr eaLnBrk="1" hangingPunct="1"/>
            <a:r>
              <a:rPr lang="zh-CN" altLang="en-US" sz="3500" dirty="0">
                <a:latin typeface="Microsoft YaHei" panose="020B0503020204020204" pitchFamily="34" charset="-122"/>
                <a:ea typeface="Microsoft YaHei" panose="020B0503020204020204" pitchFamily="34" charset="-122"/>
              </a:rPr>
              <a:t>小</a:t>
            </a:r>
            <a:r>
              <a:rPr lang="zh-CN" altLang="zh-CN" sz="3500" dirty="0">
                <a:latin typeface="Microsoft YaHei" panose="020B0503020204020204" pitchFamily="34" charset="-122"/>
                <a:ea typeface="Microsoft YaHei" panose="020B0503020204020204" pitchFamily="34" charset="-122"/>
              </a:rPr>
              <a:t>程序 １：循环执行，“</a:t>
            </a:r>
            <a:r>
              <a:rPr lang="zh-CN" altLang="zh-CN" sz="3500" dirty="0">
                <a:solidFill>
                  <a:srgbClr val="FF0000"/>
                </a:solidFill>
                <a:latin typeface="Microsoft YaHei" panose="020B0503020204020204" pitchFamily="34" charset="-122"/>
                <a:ea typeface="Microsoft YaHei" panose="020B0503020204020204" pitchFamily="34" charset="-122"/>
              </a:rPr>
              <a:t>读入</a:t>
            </a:r>
            <a:r>
              <a:rPr lang="zh-CN" altLang="zh-CN" sz="3500" dirty="0">
                <a:latin typeface="Microsoft YaHei" panose="020B0503020204020204" pitchFamily="34" charset="-122"/>
                <a:ea typeface="Microsoft YaHei" panose="020B0503020204020204" pitchFamily="34" charset="-122"/>
              </a:rPr>
              <a:t>”数据块，将数据送入缓冲区 １；</a:t>
            </a:r>
          </a:p>
          <a:p>
            <a:pPr eaLnBrk="1" hangingPunct="1"/>
            <a:r>
              <a:rPr lang="zh-CN" altLang="en-US" sz="3500" dirty="0">
                <a:latin typeface="Microsoft YaHei" panose="020B0503020204020204" pitchFamily="34" charset="-122"/>
                <a:ea typeface="Microsoft YaHei" panose="020B0503020204020204" pitchFamily="34" charset="-122"/>
              </a:rPr>
              <a:t>小</a:t>
            </a:r>
            <a:r>
              <a:rPr lang="zh-CN" altLang="zh-CN" sz="3500" dirty="0">
                <a:latin typeface="Microsoft YaHei" panose="020B0503020204020204" pitchFamily="34" charset="-122"/>
                <a:ea typeface="Microsoft YaHei" panose="020B0503020204020204" pitchFamily="34" charset="-122"/>
              </a:rPr>
              <a:t>程序 ２：循环执行，“</a:t>
            </a:r>
            <a:r>
              <a:rPr lang="zh-CN" altLang="zh-CN" sz="3500" dirty="0">
                <a:solidFill>
                  <a:srgbClr val="FF0000"/>
                </a:solidFill>
                <a:latin typeface="Microsoft YaHei" panose="020B0503020204020204" pitchFamily="34" charset="-122"/>
                <a:ea typeface="Microsoft YaHei" panose="020B0503020204020204" pitchFamily="34" charset="-122"/>
              </a:rPr>
              <a:t>加工</a:t>
            </a:r>
            <a:r>
              <a:rPr lang="zh-CN" altLang="zh-CN" sz="3500" dirty="0">
                <a:latin typeface="Microsoft YaHei" panose="020B0503020204020204" pitchFamily="34" charset="-122"/>
                <a:ea typeface="Microsoft YaHei" panose="020B0503020204020204" pitchFamily="34" charset="-122"/>
              </a:rPr>
              <a:t>”缓冲区１中的数据，把计算结果送缓冲区 ２；</a:t>
            </a:r>
          </a:p>
          <a:p>
            <a:pPr eaLnBrk="1" hangingPunct="1"/>
            <a:r>
              <a:rPr lang="zh-CN" altLang="en-US" sz="3500" dirty="0">
                <a:latin typeface="Microsoft YaHei" panose="020B0503020204020204" pitchFamily="34" charset="-122"/>
                <a:ea typeface="Microsoft YaHei" panose="020B0503020204020204" pitchFamily="34" charset="-122"/>
              </a:rPr>
              <a:t>小</a:t>
            </a:r>
            <a:r>
              <a:rPr lang="zh-CN" altLang="zh-CN" sz="3500" dirty="0">
                <a:latin typeface="Microsoft YaHei" panose="020B0503020204020204" pitchFamily="34" charset="-122"/>
                <a:ea typeface="Microsoft YaHei" panose="020B0503020204020204" pitchFamily="34" charset="-122"/>
              </a:rPr>
              <a:t>程序 ３：循环执行，“</a:t>
            </a:r>
            <a:r>
              <a:rPr lang="zh-CN" altLang="zh-CN" sz="3500" dirty="0">
                <a:solidFill>
                  <a:srgbClr val="FF0000"/>
                </a:solidFill>
                <a:latin typeface="Microsoft YaHei" panose="020B0503020204020204" pitchFamily="34" charset="-122"/>
                <a:ea typeface="Microsoft YaHei" panose="020B0503020204020204" pitchFamily="34" charset="-122"/>
              </a:rPr>
              <a:t>输出</a:t>
            </a:r>
            <a:r>
              <a:rPr lang="zh-CN" altLang="zh-CN" sz="3500" dirty="0">
                <a:latin typeface="Microsoft YaHei" panose="020B0503020204020204" pitchFamily="34" charset="-122"/>
                <a:ea typeface="Microsoft YaHei" panose="020B0503020204020204" pitchFamily="34" charset="-122"/>
              </a:rPr>
              <a:t>”缓冲区 ２中的计算结果，让数据打印输出。</a:t>
            </a:r>
          </a:p>
          <a:p>
            <a:pPr eaLnBrk="1" hangingPunct="1"/>
            <a:endParaRPr lang="en-US" altLang="zh-CN" dirty="0">
              <a:latin typeface="Microsoft YaHei" panose="020B0503020204020204" pitchFamily="34" charset="-122"/>
              <a:ea typeface="Microsoft YaHei" panose="020B0503020204020204" pitchFamily="34" charset="-122"/>
            </a:endParaRPr>
          </a:p>
          <a:p>
            <a:pPr eaLnBrk="1" hangingPunct="1"/>
            <a:endParaRPr lang="en-US" altLang="zh-CN" dirty="0">
              <a:latin typeface="Microsoft YaHei" panose="020B0503020204020204" pitchFamily="34" charset="-122"/>
              <a:ea typeface="Microsoft YaHei" panose="020B0503020204020204" pitchFamily="34" charset="-122"/>
            </a:endParaRPr>
          </a:p>
          <a:p>
            <a:pPr eaLnBrk="1" hangingPunct="1"/>
            <a:endParaRPr lang="en-US" altLang="zh-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448524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1267">
                                            <p:txEl>
                                              <p:pRg st="0" end="0"/>
                                            </p:txEl>
                                          </p:spTgt>
                                        </p:tgtEl>
                                        <p:attrNameLst>
                                          <p:attrName>style.visibility</p:attrName>
                                        </p:attrNameLst>
                                      </p:cBhvr>
                                      <p:to>
                                        <p:strVal val="visible"/>
                                      </p:to>
                                    </p:set>
                                    <p:animEffect transition="in" filter="wipe(left)">
                                      <p:cBhvr>
                                        <p:cTn id="7" dur="500"/>
                                        <p:tgtEl>
                                          <p:spTgt spid="1126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1267">
                                            <p:txEl>
                                              <p:pRg st="1" end="1"/>
                                            </p:txEl>
                                          </p:spTgt>
                                        </p:tgtEl>
                                        <p:attrNameLst>
                                          <p:attrName>style.visibility</p:attrName>
                                        </p:attrNameLst>
                                      </p:cBhvr>
                                      <p:to>
                                        <p:strVal val="visible"/>
                                      </p:to>
                                    </p:set>
                                    <p:animEffect transition="in" filter="wipe(left)">
                                      <p:cBhvr>
                                        <p:cTn id="12" dur="500"/>
                                        <p:tgtEl>
                                          <p:spTgt spid="1126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1267">
                                            <p:txEl>
                                              <p:pRg st="2" end="2"/>
                                            </p:txEl>
                                          </p:spTgt>
                                        </p:tgtEl>
                                        <p:attrNameLst>
                                          <p:attrName>style.visibility</p:attrName>
                                        </p:attrNameLst>
                                      </p:cBhvr>
                                      <p:to>
                                        <p:strVal val="visible"/>
                                      </p:to>
                                    </p:set>
                                    <p:animEffect transition="in" filter="wipe(left)">
                                      <p:cBhvr>
                                        <p:cTn id="17" dur="500"/>
                                        <p:tgtEl>
                                          <p:spTgt spid="1126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7"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76C92ADF-E4F2-924C-BDF4-2E733158B8C2}"/>
              </a:ext>
            </a:extLst>
          </p:cNvPr>
          <p:cNvSpPr>
            <a:spLocks noGrp="1" noChangeArrowheads="1"/>
          </p:cNvSpPr>
          <p:nvPr>
            <p:ph type="title"/>
          </p:nvPr>
        </p:nvSpPr>
        <p:spPr>
          <a:xfrm>
            <a:off x="685800" y="341313"/>
            <a:ext cx="7772400" cy="1143000"/>
          </a:xfrm>
        </p:spPr>
        <p:txBody>
          <a:bodyPr>
            <a:normAutofit fontScale="90000"/>
          </a:bodyPr>
          <a:lstStyle/>
          <a:p>
            <a:pPr eaLnBrk="1" hangingPunct="1"/>
            <a:r>
              <a:rPr lang="zh-CN" altLang="en-US" sz="3600" dirty="0">
                <a:latin typeface="华文新魏" panose="02010800040101010101" pitchFamily="2" charset="-122"/>
                <a:ea typeface="华文新魏" panose="02010800040101010101" pitchFamily="2" charset="-122"/>
              </a:rPr>
              <a:t>进程的并发性（举例）</a:t>
            </a:r>
            <a:br>
              <a:rPr lang="en-US" altLang="zh-CN" sz="3600" dirty="0">
                <a:latin typeface="华文新魏" panose="02010800040101010101" pitchFamily="2" charset="-122"/>
                <a:ea typeface="华文新魏" panose="02010800040101010101" pitchFamily="2" charset="-122"/>
              </a:rPr>
            </a:br>
            <a:r>
              <a:rPr lang="zh-CN" altLang="en-US" sz="3600" dirty="0">
                <a:latin typeface="华文新魏" panose="02010800040101010101" pitchFamily="2" charset="-122"/>
                <a:ea typeface="华文新魏" panose="02010800040101010101" pitchFamily="2" charset="-122"/>
              </a:rPr>
              <a:t>观察程序并发 执行</a:t>
            </a:r>
            <a:r>
              <a:rPr lang="zh-CN" altLang="zh-CN" sz="3600" dirty="0">
                <a:latin typeface="华文新魏" panose="02010800040101010101" pitchFamily="2" charset="-122"/>
                <a:ea typeface="华文新魏" panose="02010800040101010101" pitchFamily="2" charset="-122"/>
              </a:rPr>
              <a:t>现象</a:t>
            </a:r>
            <a:endParaRPr lang="zh-CN" altLang="en-US" sz="3600" dirty="0">
              <a:latin typeface="华文新魏" panose="02010800040101010101" pitchFamily="2" charset="-122"/>
              <a:ea typeface="华文新魏" panose="02010800040101010101" pitchFamily="2" charset="-122"/>
            </a:endParaRPr>
          </a:p>
        </p:txBody>
      </p:sp>
      <p:sp>
        <p:nvSpPr>
          <p:cNvPr id="12291" name="Rectangle 3">
            <a:extLst>
              <a:ext uri="{FF2B5EF4-FFF2-40B4-BE49-F238E27FC236}">
                <a16:creationId xmlns:a16="http://schemas.microsoft.com/office/drawing/2014/main" id="{AD322FF8-55ED-6543-9A0F-C46F64B6A3A9}"/>
              </a:ext>
            </a:extLst>
          </p:cNvPr>
          <p:cNvSpPr>
            <a:spLocks noGrp="1" noChangeArrowheads="1"/>
          </p:cNvSpPr>
          <p:nvPr>
            <p:ph idx="1"/>
          </p:nvPr>
        </p:nvSpPr>
        <p:spPr>
          <a:xfrm>
            <a:off x="395288" y="1484313"/>
            <a:ext cx="8353425" cy="5040312"/>
          </a:xfrm>
        </p:spPr>
        <p:txBody>
          <a:bodyPr/>
          <a:lstStyle/>
          <a:p>
            <a:pPr eaLnBrk="1" hangingPunct="1"/>
            <a:r>
              <a:rPr lang="en-US" altLang="zh-CN" sz="3000" dirty="0">
                <a:latin typeface="华文新魏" panose="02010800040101010101" pitchFamily="2" charset="-122"/>
                <a:ea typeface="华文新魏" panose="02010800040101010101" pitchFamily="2" charset="-122"/>
              </a:rPr>
              <a:t>(1) </a:t>
            </a:r>
            <a:r>
              <a:rPr lang="zh-CN" altLang="en-US" sz="3000" dirty="0">
                <a:latin typeface="华文新魏" panose="02010800040101010101" pitchFamily="2" charset="-122"/>
                <a:ea typeface="华文新魏" panose="02010800040101010101" pitchFamily="2" charset="-122"/>
              </a:rPr>
              <a:t>小</a:t>
            </a:r>
            <a:r>
              <a:rPr lang="zh-CN" altLang="zh-CN" sz="3000" dirty="0">
                <a:latin typeface="华文新魏" panose="02010800040101010101" pitchFamily="2" charset="-122"/>
                <a:ea typeface="华文新魏" panose="02010800040101010101" pitchFamily="2" charset="-122"/>
              </a:rPr>
              <a:t>程序操作数据块有先后次序，按数据块序号从小到大处理。</a:t>
            </a:r>
            <a:endParaRPr lang="en-US" altLang="zh-CN" sz="3000" dirty="0">
              <a:latin typeface="华文新魏" panose="02010800040101010101" pitchFamily="2" charset="-122"/>
              <a:ea typeface="华文新魏" panose="02010800040101010101" pitchFamily="2" charset="-122"/>
            </a:endParaRPr>
          </a:p>
          <a:p>
            <a:pPr eaLnBrk="1" hangingPunct="1"/>
            <a:r>
              <a:rPr lang="en-US" altLang="zh-CN" sz="3000" dirty="0">
                <a:latin typeface="华文新魏" panose="02010800040101010101" pitchFamily="2" charset="-122"/>
                <a:ea typeface="华文新魏" panose="02010800040101010101" pitchFamily="2" charset="-122"/>
              </a:rPr>
              <a:t>(2) </a:t>
            </a:r>
            <a:r>
              <a:rPr lang="zh-CN" altLang="en-US" sz="3000" dirty="0">
                <a:latin typeface="华文新魏" panose="02010800040101010101" pitchFamily="2" charset="-122"/>
                <a:ea typeface="华文新魏" panose="02010800040101010101" pitchFamily="2" charset="-122"/>
              </a:rPr>
              <a:t>不同小</a:t>
            </a:r>
            <a:r>
              <a:rPr lang="zh-CN" altLang="zh-CN" sz="3000" dirty="0">
                <a:latin typeface="华文新魏" panose="02010800040101010101" pitchFamily="2" charset="-122"/>
                <a:ea typeface="华文新魏" panose="02010800040101010101" pitchFamily="2" charset="-122"/>
              </a:rPr>
              <a:t>程序可以并发执行的，例如，“输入”</a:t>
            </a:r>
            <a:r>
              <a:rPr lang="en-US" altLang="zh-CN" sz="3000" dirty="0">
                <a:latin typeface="华文新魏" panose="02010800040101010101" pitchFamily="2" charset="-122"/>
                <a:ea typeface="华文新魏" panose="02010800040101010101" pitchFamily="2" charset="-122"/>
              </a:rPr>
              <a:t> </a:t>
            </a:r>
            <a:r>
              <a:rPr lang="en-US" altLang="zh-CN" sz="3000" dirty="0" err="1">
                <a:latin typeface="华文新魏" panose="02010800040101010101" pitchFamily="2" charset="-122"/>
                <a:ea typeface="华文新魏" panose="02010800040101010101" pitchFamily="2" charset="-122"/>
              </a:rPr>
              <a:t>i</a:t>
            </a:r>
            <a:r>
              <a:rPr lang="zh-CN" altLang="zh-CN" sz="3000" dirty="0">
                <a:latin typeface="华文新魏" panose="02010800040101010101" pitchFamily="2" charset="-122"/>
                <a:ea typeface="华文新魏" panose="02010800040101010101" pitchFamily="2" charset="-122"/>
              </a:rPr>
              <a:t>３、“加工”</a:t>
            </a:r>
            <a:r>
              <a:rPr lang="en-US" altLang="zh-CN" sz="3000" dirty="0">
                <a:latin typeface="华文新魏" panose="02010800040101010101" pitchFamily="2" charset="-122"/>
                <a:ea typeface="华文新魏" panose="02010800040101010101" pitchFamily="2" charset="-122"/>
              </a:rPr>
              <a:t> p</a:t>
            </a:r>
            <a:r>
              <a:rPr lang="zh-CN" altLang="zh-CN" sz="3000" dirty="0">
                <a:latin typeface="华文新魏" panose="02010800040101010101" pitchFamily="2" charset="-122"/>
                <a:ea typeface="华文新魏" panose="02010800040101010101" pitchFamily="2" charset="-122"/>
              </a:rPr>
              <a:t>２与“输出”</a:t>
            </a:r>
            <a:r>
              <a:rPr lang="en-US" altLang="zh-CN" sz="3000" dirty="0">
                <a:latin typeface="华文新魏" panose="02010800040101010101" pitchFamily="2" charset="-122"/>
                <a:ea typeface="华文新魏" panose="02010800040101010101" pitchFamily="2" charset="-122"/>
              </a:rPr>
              <a:t> o</a:t>
            </a:r>
            <a:r>
              <a:rPr lang="zh-CN" altLang="zh-CN" sz="3000" dirty="0">
                <a:latin typeface="华文新魏" panose="02010800040101010101" pitchFamily="2" charset="-122"/>
                <a:ea typeface="华文新魏" panose="02010800040101010101" pitchFamily="2" charset="-122"/>
              </a:rPr>
              <a:t>１可并行操作。这样</a:t>
            </a:r>
            <a:r>
              <a:rPr lang="en-US" altLang="zh-CN" sz="3000" dirty="0">
                <a:latin typeface="华文新魏" panose="02010800040101010101" pitchFamily="2" charset="-122"/>
                <a:ea typeface="华文新魏" panose="02010800040101010101" pitchFamily="2" charset="-122"/>
              </a:rPr>
              <a:t> CPU</a:t>
            </a:r>
            <a:r>
              <a:rPr lang="zh-CN" altLang="zh-CN" sz="3000" dirty="0">
                <a:latin typeface="华文新魏" panose="02010800040101010101" pitchFamily="2" charset="-122"/>
                <a:ea typeface="华文新魏" panose="02010800040101010101" pitchFamily="2" charset="-122"/>
              </a:rPr>
              <a:t>、输入设备和输出设备</a:t>
            </a:r>
            <a:r>
              <a:rPr lang="zh-CN" altLang="en-US" sz="3000" dirty="0">
                <a:latin typeface="华文新魏" panose="02010800040101010101" pitchFamily="2" charset="-122"/>
                <a:ea typeface="华文新魏" panose="02010800040101010101" pitchFamily="2" charset="-122"/>
              </a:rPr>
              <a:t>可</a:t>
            </a:r>
            <a:r>
              <a:rPr lang="zh-CN" altLang="zh-CN" sz="3000" dirty="0">
                <a:latin typeface="华文新魏" panose="02010800040101010101" pitchFamily="2" charset="-122"/>
                <a:ea typeface="华文新魏" panose="02010800040101010101" pitchFamily="2" charset="-122"/>
              </a:rPr>
              <a:t>并行工作。</a:t>
            </a:r>
            <a:endParaRPr lang="en-US" altLang="zh-CN" sz="3000" dirty="0">
              <a:latin typeface="华文新魏" panose="02010800040101010101" pitchFamily="2" charset="-122"/>
              <a:ea typeface="华文新魏" panose="02010800040101010101" pitchFamily="2" charset="-122"/>
            </a:endParaRPr>
          </a:p>
          <a:p>
            <a:pPr eaLnBrk="1" hangingPunct="1"/>
            <a:r>
              <a:rPr lang="en-US" altLang="zh-CN" sz="3000" dirty="0">
                <a:latin typeface="华文新魏" panose="02010800040101010101" pitchFamily="2" charset="-122"/>
                <a:ea typeface="华文新魏" panose="02010800040101010101" pitchFamily="2" charset="-122"/>
              </a:rPr>
              <a:t>(3) </a:t>
            </a:r>
            <a:r>
              <a:rPr lang="zh-CN" altLang="en-US" sz="3000" dirty="0">
                <a:latin typeface="华文新魏" panose="02010800040101010101" pitchFamily="2" charset="-122"/>
                <a:ea typeface="华文新魏" panose="02010800040101010101" pitchFamily="2" charset="-122"/>
              </a:rPr>
              <a:t>小</a:t>
            </a:r>
            <a:r>
              <a:rPr lang="zh-CN" altLang="zh-CN" sz="3000" dirty="0">
                <a:latin typeface="华文新魏" panose="02010800040101010101" pitchFamily="2" charset="-122"/>
                <a:ea typeface="华文新魏" panose="02010800040101010101" pitchFamily="2" charset="-122"/>
              </a:rPr>
              <a:t>程序并发执行</a:t>
            </a:r>
            <a:r>
              <a:rPr lang="zh-CN" altLang="en-US" sz="3000" dirty="0">
                <a:latin typeface="华文新魏" panose="02010800040101010101" pitchFamily="2" charset="-122"/>
                <a:ea typeface="华文新魏" panose="02010800040101010101" pitchFamily="2" charset="-122"/>
              </a:rPr>
              <a:t>时</a:t>
            </a:r>
            <a:r>
              <a:rPr lang="zh-CN" altLang="zh-CN" sz="3000" dirty="0">
                <a:latin typeface="华文新魏" panose="02010800040101010101" pitchFamily="2" charset="-122"/>
                <a:ea typeface="华文新魏" panose="02010800040101010101" pitchFamily="2" charset="-122"/>
              </a:rPr>
              <a:t>，相互之间会产生制约关系，原因是</a:t>
            </a:r>
            <a:r>
              <a:rPr lang="zh-CN" altLang="en-US" sz="3000" dirty="0">
                <a:latin typeface="华文新魏" panose="02010800040101010101" pitchFamily="2" charset="-122"/>
                <a:ea typeface="华文新魏" panose="02010800040101010101" pitchFamily="2" charset="-122"/>
              </a:rPr>
              <a:t>小</a:t>
            </a:r>
            <a:r>
              <a:rPr lang="zh-CN" altLang="zh-CN" sz="3000" dirty="0">
                <a:latin typeface="华文新魏" panose="02010800040101010101" pitchFamily="2" charset="-122"/>
                <a:ea typeface="华文新魏" panose="02010800040101010101" pitchFamily="2" charset="-122"/>
              </a:rPr>
              <a:t>程序</a:t>
            </a:r>
            <a:r>
              <a:rPr lang="en-US" altLang="zh-CN" sz="3000" dirty="0">
                <a:latin typeface="华文新魏" panose="02010800040101010101" pitchFamily="2" charset="-122"/>
                <a:ea typeface="华文新魏" panose="02010800040101010101" pitchFamily="2" charset="-122"/>
              </a:rPr>
              <a:t>1</a:t>
            </a:r>
            <a:r>
              <a:rPr lang="zh-CN" altLang="zh-CN" sz="3000" dirty="0">
                <a:latin typeface="华文新魏" panose="02010800040101010101" pitchFamily="2" charset="-122"/>
                <a:ea typeface="华文新魏" panose="02010800040101010101" pitchFamily="2" charset="-122"/>
              </a:rPr>
              <a:t>与２共享资源</a:t>
            </a:r>
            <a:r>
              <a:rPr lang="en-US" altLang="zh-CN" sz="3000" dirty="0">
                <a:latin typeface="华文新魏" panose="02010800040101010101" pitchFamily="2" charset="-122"/>
                <a:ea typeface="华文新魏" panose="02010800040101010101" pitchFamily="2" charset="-122"/>
              </a:rPr>
              <a:t>--</a:t>
            </a:r>
            <a:r>
              <a:rPr lang="zh-CN" altLang="zh-CN" sz="3000" dirty="0">
                <a:latin typeface="华文新魏" panose="02010800040101010101" pitchFamily="2" charset="-122"/>
                <a:ea typeface="华文新魏" panose="02010800040101010101" pitchFamily="2" charset="-122"/>
              </a:rPr>
              <a:t>缓冲区</a:t>
            </a:r>
            <a:r>
              <a:rPr lang="en-US" altLang="zh-CN" sz="3000" dirty="0">
                <a:latin typeface="华文新魏" panose="02010800040101010101" pitchFamily="2" charset="-122"/>
                <a:ea typeface="华文新魏" panose="02010800040101010101" pitchFamily="2" charset="-122"/>
              </a:rPr>
              <a:t>1</a:t>
            </a:r>
            <a:r>
              <a:rPr lang="zh-CN" altLang="zh-CN" sz="3000" dirty="0">
                <a:latin typeface="华文新魏" panose="02010800040101010101" pitchFamily="2" charset="-122"/>
                <a:ea typeface="华文新魏" panose="02010800040101010101" pitchFamily="2" charset="-122"/>
              </a:rPr>
              <a:t>，</a:t>
            </a:r>
            <a:r>
              <a:rPr lang="zh-CN" altLang="en-US" sz="3000" dirty="0">
                <a:latin typeface="华文新魏" panose="02010800040101010101" pitchFamily="2" charset="-122"/>
                <a:ea typeface="华文新魏" panose="02010800040101010101" pitchFamily="2" charset="-122"/>
              </a:rPr>
              <a:t>小</a:t>
            </a:r>
            <a:r>
              <a:rPr lang="zh-CN" altLang="zh-CN" sz="3000" dirty="0">
                <a:latin typeface="华文新魏" panose="02010800040101010101" pitchFamily="2" charset="-122"/>
                <a:ea typeface="华文新魏" panose="02010800040101010101" pitchFamily="2" charset="-122"/>
              </a:rPr>
              <a:t>程序</a:t>
            </a:r>
            <a:r>
              <a:rPr lang="en-US" altLang="zh-CN" sz="3000" dirty="0">
                <a:latin typeface="华文新魏" panose="02010800040101010101" pitchFamily="2" charset="-122"/>
                <a:ea typeface="华文新魏" panose="02010800040101010101" pitchFamily="2" charset="-122"/>
              </a:rPr>
              <a:t>2</a:t>
            </a:r>
            <a:r>
              <a:rPr lang="zh-CN" altLang="zh-CN" sz="3000" dirty="0">
                <a:latin typeface="华文新魏" panose="02010800040101010101" pitchFamily="2" charset="-122"/>
                <a:ea typeface="华文新魏" panose="02010800040101010101" pitchFamily="2" charset="-122"/>
              </a:rPr>
              <a:t>与 </a:t>
            </a:r>
            <a:r>
              <a:rPr lang="en-US" altLang="zh-CN" sz="3000" dirty="0">
                <a:latin typeface="华文新魏" panose="02010800040101010101" pitchFamily="2" charset="-122"/>
                <a:ea typeface="华文新魏" panose="02010800040101010101" pitchFamily="2" charset="-122"/>
              </a:rPr>
              <a:t>3</a:t>
            </a:r>
            <a:r>
              <a:rPr lang="zh-CN" altLang="zh-CN" sz="3000" dirty="0">
                <a:latin typeface="华文新魏" panose="02010800040101010101" pitchFamily="2" charset="-122"/>
                <a:ea typeface="华文新魏" panose="02010800040101010101" pitchFamily="2" charset="-122"/>
              </a:rPr>
              <a:t>共享资源</a:t>
            </a:r>
            <a:r>
              <a:rPr lang="en-US" altLang="zh-CN" sz="3000" dirty="0">
                <a:latin typeface="华文新魏" panose="02010800040101010101" pitchFamily="2" charset="-122"/>
                <a:ea typeface="华文新魏" panose="02010800040101010101" pitchFamily="2" charset="-122"/>
              </a:rPr>
              <a:t>--</a:t>
            </a:r>
            <a:r>
              <a:rPr lang="zh-CN" altLang="zh-CN" sz="3000" dirty="0">
                <a:latin typeface="华文新魏" panose="02010800040101010101" pitchFamily="2" charset="-122"/>
                <a:ea typeface="华文新魏" panose="02010800040101010101" pitchFamily="2" charset="-122"/>
              </a:rPr>
              <a:t>缓冲区</a:t>
            </a:r>
            <a:r>
              <a:rPr lang="en-US" altLang="zh-CN" sz="3000" dirty="0">
                <a:latin typeface="华文新魏" panose="02010800040101010101" pitchFamily="2" charset="-122"/>
                <a:ea typeface="华文新魏" panose="02010800040101010101" pitchFamily="2" charset="-122"/>
              </a:rPr>
              <a:t>2</a:t>
            </a:r>
            <a:r>
              <a:rPr lang="zh-CN" altLang="zh-CN" sz="3000" dirty="0">
                <a:latin typeface="华文新魏" panose="02010800040101010101" pitchFamily="2" charset="-122"/>
                <a:ea typeface="华文新魏" panose="02010800040101010101" pitchFamily="2" charset="-122"/>
              </a:rPr>
              <a:t>，</a:t>
            </a:r>
            <a:r>
              <a:rPr lang="zh-CN" altLang="en-US" sz="3000" dirty="0">
                <a:latin typeface="华文新魏" panose="02010800040101010101" pitchFamily="2" charset="-122"/>
                <a:ea typeface="华文新魏" panose="02010800040101010101" pitchFamily="2" charset="-122"/>
              </a:rPr>
              <a:t>出现了竞争共享资源问题。</a:t>
            </a:r>
            <a:endParaRPr lang="zh-CN" altLang="zh-CN" sz="3000" dirty="0">
              <a:latin typeface="华文新魏" panose="02010800040101010101" pitchFamily="2" charset="-122"/>
              <a:ea typeface="华文新魏" panose="02010800040101010101" pitchFamily="2" charset="-122"/>
            </a:endParaRPr>
          </a:p>
          <a:p>
            <a:pPr eaLnBrk="1" hangingPunct="1"/>
            <a:endParaRPr lang="en-US" altLang="zh-CN" sz="3000" dirty="0">
              <a:latin typeface="华文新魏" panose="02010800040101010101" pitchFamily="2" charset="-122"/>
              <a:ea typeface="华文新魏" panose="02010800040101010101" pitchFamily="2" charset="-122"/>
            </a:endParaRPr>
          </a:p>
          <a:p>
            <a:pPr eaLnBrk="1" hangingPunct="1"/>
            <a:endParaRPr lang="en-US" altLang="zh-CN" sz="2800" dirty="0">
              <a:latin typeface="华文新魏" panose="02010800040101010101" pitchFamily="2" charset="-122"/>
              <a:ea typeface="华文新魏" panose="02010800040101010101" pitchFamily="2" charset="-122"/>
            </a:endParaRPr>
          </a:p>
          <a:p>
            <a:pPr eaLnBrk="1" hangingPunct="1"/>
            <a:endParaRPr lang="en-US" altLang="zh-CN" sz="2800" dirty="0"/>
          </a:p>
        </p:txBody>
      </p:sp>
    </p:spTree>
    <p:extLst>
      <p:ext uri="{BB962C8B-B14F-4D97-AF65-F5344CB8AC3E}">
        <p14:creationId xmlns:p14="http://schemas.microsoft.com/office/powerpoint/2010/main" val="317045772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2291">
                                            <p:txEl>
                                              <p:pRg st="0" end="0"/>
                                            </p:txEl>
                                          </p:spTgt>
                                        </p:tgtEl>
                                        <p:attrNameLst>
                                          <p:attrName>style.visibility</p:attrName>
                                        </p:attrNameLst>
                                      </p:cBhvr>
                                      <p:to>
                                        <p:strVal val="visible"/>
                                      </p:to>
                                    </p:set>
                                    <p:animEffect transition="in" filter="wipe(left)">
                                      <p:cBhvr>
                                        <p:cTn id="7" dur="500"/>
                                        <p:tgtEl>
                                          <p:spTgt spid="1229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291">
                                            <p:txEl>
                                              <p:pRg st="1" end="1"/>
                                            </p:txEl>
                                          </p:spTgt>
                                        </p:tgtEl>
                                        <p:attrNameLst>
                                          <p:attrName>style.visibility</p:attrName>
                                        </p:attrNameLst>
                                      </p:cBhvr>
                                      <p:to>
                                        <p:strVal val="visible"/>
                                      </p:to>
                                    </p:set>
                                    <p:animEffect transition="in" filter="wipe(left)">
                                      <p:cBhvr>
                                        <p:cTn id="12" dur="500"/>
                                        <p:tgtEl>
                                          <p:spTgt spid="1229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2291">
                                            <p:txEl>
                                              <p:pRg st="2" end="2"/>
                                            </p:txEl>
                                          </p:spTgt>
                                        </p:tgtEl>
                                        <p:attrNameLst>
                                          <p:attrName>style.visibility</p:attrName>
                                        </p:attrNameLst>
                                      </p:cBhvr>
                                      <p:to>
                                        <p:strVal val="visible"/>
                                      </p:to>
                                    </p:set>
                                    <p:animEffect transition="in" filter="wipe(left)">
                                      <p:cBhvr>
                                        <p:cTn id="17" dur="500"/>
                                        <p:tgtEl>
                                          <p:spTgt spid="1229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1"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Rectangle 3">
            <a:extLst>
              <a:ext uri="{FF2B5EF4-FFF2-40B4-BE49-F238E27FC236}">
                <a16:creationId xmlns:a16="http://schemas.microsoft.com/office/drawing/2014/main" id="{26289550-6283-6D4E-BC03-80AA1FC9C284}"/>
              </a:ext>
            </a:extLst>
          </p:cNvPr>
          <p:cNvSpPr>
            <a:spLocks noGrp="1" noChangeArrowheads="1"/>
          </p:cNvSpPr>
          <p:nvPr>
            <p:ph type="body" idx="4294967295"/>
          </p:nvPr>
        </p:nvSpPr>
        <p:spPr>
          <a:xfrm>
            <a:off x="827088" y="241300"/>
            <a:ext cx="7010400" cy="4876800"/>
          </a:xfrm>
        </p:spPr>
        <p:txBody>
          <a:bodyPr/>
          <a:lstStyle/>
          <a:p>
            <a:pPr algn="just" eaLnBrk="1" hangingPunct="1">
              <a:lnSpc>
                <a:spcPct val="120000"/>
              </a:lnSpc>
            </a:pPr>
            <a:r>
              <a:rPr lang="zh-CN" altLang="en-US" sz="3600" dirty="0">
                <a:latin typeface="Microsoft YaHei" panose="020B0503020204020204" pitchFamily="34" charset="-122"/>
                <a:ea typeface="Microsoft YaHei" panose="020B0503020204020204" pitchFamily="34" charset="-122"/>
              </a:rPr>
              <a:t>并发的</a:t>
            </a:r>
            <a:r>
              <a:rPr lang="zh-CN" altLang="en-US" sz="3600" dirty="0">
                <a:solidFill>
                  <a:srgbClr val="FF9900"/>
                </a:solidFill>
                <a:latin typeface="Microsoft YaHei" panose="020B0503020204020204" pitchFamily="34" charset="-122"/>
                <a:ea typeface="Microsoft YaHei" panose="020B0503020204020204" pitchFamily="34" charset="-122"/>
              </a:rPr>
              <a:t>实质</a:t>
            </a:r>
            <a:r>
              <a:rPr lang="zh-CN" altLang="en-US" sz="3600" dirty="0">
                <a:latin typeface="Microsoft YaHei" panose="020B0503020204020204" pitchFamily="34" charset="-122"/>
                <a:ea typeface="Microsoft YaHei" panose="020B0503020204020204" pitchFamily="34" charset="-122"/>
              </a:rPr>
              <a:t>是一个处理器在几个进程之间的</a:t>
            </a:r>
            <a:r>
              <a:rPr lang="zh-CN" altLang="en-US" sz="3600" dirty="0">
                <a:solidFill>
                  <a:srgbClr val="FF9900"/>
                </a:solidFill>
                <a:latin typeface="Microsoft YaHei" panose="020B0503020204020204" pitchFamily="34" charset="-122"/>
                <a:ea typeface="Microsoft YaHei" panose="020B0503020204020204" pitchFamily="34" charset="-122"/>
              </a:rPr>
              <a:t>多路复用</a:t>
            </a:r>
            <a:r>
              <a:rPr lang="zh-CN" altLang="en-US" sz="3600" dirty="0">
                <a:latin typeface="Microsoft YaHei" panose="020B0503020204020204" pitchFamily="34" charset="-122"/>
                <a:ea typeface="Microsoft YaHei" panose="020B0503020204020204" pitchFamily="34" charset="-122"/>
              </a:rPr>
              <a:t>，是对有限的物理资源强制行使多进程共享，</a:t>
            </a:r>
            <a:r>
              <a:rPr lang="zh-CN" altLang="en-US" sz="3600" dirty="0">
                <a:solidFill>
                  <a:srgbClr val="FF9900"/>
                </a:solidFill>
                <a:latin typeface="Microsoft YaHei" panose="020B0503020204020204" pitchFamily="34" charset="-122"/>
                <a:ea typeface="Microsoft YaHei" panose="020B0503020204020204" pitchFamily="34" charset="-122"/>
              </a:rPr>
              <a:t>消除</a:t>
            </a:r>
            <a:r>
              <a:rPr lang="zh-CN" altLang="en-US" sz="3600" dirty="0">
                <a:latin typeface="Microsoft YaHei" panose="020B0503020204020204" pitchFamily="34" charset="-122"/>
                <a:ea typeface="Microsoft YaHei" panose="020B0503020204020204" pitchFamily="34" charset="-122"/>
              </a:rPr>
              <a:t>计算机部件之间的</a:t>
            </a:r>
            <a:r>
              <a:rPr lang="zh-CN" altLang="en-US" sz="3600" dirty="0">
                <a:solidFill>
                  <a:srgbClr val="FF9900"/>
                </a:solidFill>
                <a:latin typeface="Microsoft YaHei" panose="020B0503020204020204" pitchFamily="34" charset="-122"/>
                <a:ea typeface="Microsoft YaHei" panose="020B0503020204020204" pitchFamily="34" charset="-122"/>
              </a:rPr>
              <a:t>互相等待</a:t>
            </a:r>
            <a:r>
              <a:rPr lang="zh-CN" altLang="en-US" sz="3600" dirty="0">
                <a:latin typeface="Microsoft YaHei" panose="020B0503020204020204" pitchFamily="34" charset="-122"/>
                <a:ea typeface="Microsoft YaHei" panose="020B0503020204020204" pitchFamily="34" charset="-122"/>
              </a:rPr>
              <a:t>现象，以</a:t>
            </a:r>
            <a:r>
              <a:rPr lang="zh-CN" altLang="en-US" sz="3600" dirty="0">
                <a:solidFill>
                  <a:srgbClr val="FF9900"/>
                </a:solidFill>
                <a:latin typeface="Microsoft YaHei" panose="020B0503020204020204" pitchFamily="34" charset="-122"/>
                <a:ea typeface="Microsoft YaHei" panose="020B0503020204020204" pitchFamily="34" charset="-122"/>
              </a:rPr>
              <a:t>提高</a:t>
            </a:r>
            <a:r>
              <a:rPr lang="zh-CN" altLang="en-US" sz="3600" dirty="0">
                <a:latin typeface="Microsoft YaHei" panose="020B0503020204020204" pitchFamily="34" charset="-122"/>
                <a:ea typeface="Microsoft YaHei" panose="020B0503020204020204" pitchFamily="34" charset="-122"/>
              </a:rPr>
              <a:t>系统资源</a:t>
            </a:r>
            <a:r>
              <a:rPr lang="zh-CN" altLang="en-US" sz="3600" dirty="0">
                <a:solidFill>
                  <a:srgbClr val="FF9900"/>
                </a:solidFill>
                <a:latin typeface="Microsoft YaHei" panose="020B0503020204020204" pitchFamily="34" charset="-122"/>
                <a:ea typeface="Microsoft YaHei" panose="020B0503020204020204" pitchFamily="34" charset="-122"/>
              </a:rPr>
              <a:t>利用率</a:t>
            </a:r>
            <a:r>
              <a:rPr lang="zh-CN" altLang="en-US" sz="3600" dirty="0">
                <a:latin typeface="Microsoft YaHei" panose="020B0503020204020204" pitchFamily="34" charset="-122"/>
                <a:ea typeface="Microsoft YaHei" panose="020B0503020204020204" pitchFamily="34" charset="-122"/>
              </a:rPr>
              <a:t>。</a:t>
            </a:r>
          </a:p>
          <a:p>
            <a:pPr algn="just" eaLnBrk="1" hangingPunct="1">
              <a:lnSpc>
                <a:spcPct val="120000"/>
              </a:lnSpc>
            </a:pPr>
            <a:endParaRPr lang="en-US" altLang="zh-CN" sz="3600" dirty="0">
              <a:latin typeface="Microsoft YaHei" panose="020B0503020204020204" pitchFamily="34" charset="-122"/>
              <a:ea typeface="Microsoft YaHei" panose="020B0503020204020204" pitchFamily="34" charset="-122"/>
            </a:endParaRPr>
          </a:p>
        </p:txBody>
      </p:sp>
      <p:pic>
        <p:nvPicPr>
          <p:cNvPr id="13315" name="图片 4">
            <a:extLst>
              <a:ext uri="{FF2B5EF4-FFF2-40B4-BE49-F238E27FC236}">
                <a16:creationId xmlns:a16="http://schemas.microsoft.com/office/drawing/2014/main" id="{C26184FF-8F14-4047-82CE-9DDA605CF6C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70200" y="3641725"/>
            <a:ext cx="3403600" cy="295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7" name="直接连接符 6">
            <a:extLst>
              <a:ext uri="{FF2B5EF4-FFF2-40B4-BE49-F238E27FC236}">
                <a16:creationId xmlns:a16="http://schemas.microsoft.com/office/drawing/2014/main" id="{E4C6A825-CE9A-CE40-8B2D-B06C8A267BF4}"/>
              </a:ext>
            </a:extLst>
          </p:cNvPr>
          <p:cNvCxnSpPr/>
          <p:nvPr/>
        </p:nvCxnSpPr>
        <p:spPr>
          <a:xfrm>
            <a:off x="4716463" y="3500438"/>
            <a:ext cx="0" cy="3168650"/>
          </a:xfrm>
          <a:prstGeom prst="line">
            <a:avLst/>
          </a:prstGeom>
          <a:ln w="28575">
            <a:solidFill>
              <a:srgbClr val="FF0000"/>
            </a:solidFill>
            <a:prstDash val="sys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81354343"/>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7" dur="500"/>
                                        <p:tgtEl>
                                          <p:spTgt spid="1024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6D108DF3-2BE2-1542-A4C8-493824D7B638}"/>
              </a:ext>
            </a:extLst>
          </p:cNvPr>
          <p:cNvSpPr>
            <a:spLocks noGrp="1" noChangeArrowheads="1"/>
          </p:cNvSpPr>
          <p:nvPr>
            <p:ph type="title"/>
          </p:nvPr>
        </p:nvSpPr>
        <p:spPr>
          <a:xfrm>
            <a:off x="685800" y="260350"/>
            <a:ext cx="7772400" cy="1143000"/>
          </a:xfrm>
        </p:spPr>
        <p:txBody>
          <a:bodyPr/>
          <a:lstStyle/>
          <a:p>
            <a:pPr eaLnBrk="1" hangingPunct="1"/>
            <a:r>
              <a:rPr lang="zh-CN" altLang="en-US" sz="4800">
                <a:latin typeface="Microsoft YaHei" panose="020B0503020204020204" pitchFamily="34" charset="-122"/>
                <a:ea typeface="Microsoft YaHei" panose="020B0503020204020204" pitchFamily="34" charset="-122"/>
              </a:rPr>
              <a:t>采用并发程序设计的目的</a:t>
            </a:r>
          </a:p>
        </p:txBody>
      </p:sp>
      <p:sp>
        <p:nvSpPr>
          <p:cNvPr id="14339" name="Rectangle 3">
            <a:extLst>
              <a:ext uri="{FF2B5EF4-FFF2-40B4-BE49-F238E27FC236}">
                <a16:creationId xmlns:a16="http://schemas.microsoft.com/office/drawing/2014/main" id="{AA267D1D-6B7A-E242-9FC6-F71805C7752E}"/>
              </a:ext>
            </a:extLst>
          </p:cNvPr>
          <p:cNvSpPr>
            <a:spLocks noGrp="1" noChangeArrowheads="1"/>
          </p:cNvSpPr>
          <p:nvPr>
            <p:ph idx="1"/>
          </p:nvPr>
        </p:nvSpPr>
        <p:spPr>
          <a:xfrm>
            <a:off x="468313" y="1371600"/>
            <a:ext cx="7848600" cy="4953000"/>
          </a:xfrm>
        </p:spPr>
        <p:txBody>
          <a:bodyPr/>
          <a:lstStyle/>
          <a:p>
            <a:pPr algn="just" eaLnBrk="1" hangingPunct="1"/>
            <a:r>
              <a:rPr lang="zh-CN" altLang="en-US" sz="3200" dirty="0">
                <a:latin typeface="Microsoft YaHei" panose="020B0503020204020204" pitchFamily="34" charset="-122"/>
                <a:ea typeface="Microsoft YaHei" panose="020B0503020204020204" pitchFamily="34" charset="-122"/>
              </a:rPr>
              <a:t>充分发挥硬件的并行性，</a:t>
            </a:r>
            <a:r>
              <a:rPr lang="zh-CN" altLang="en-US" sz="3200" dirty="0">
                <a:solidFill>
                  <a:srgbClr val="FF0000"/>
                </a:solidFill>
                <a:latin typeface="Microsoft YaHei" panose="020B0503020204020204" pitchFamily="34" charset="-122"/>
                <a:ea typeface="Microsoft YaHei" panose="020B0503020204020204" pitchFamily="34" charset="-122"/>
              </a:rPr>
              <a:t>提高系统效率</a:t>
            </a:r>
            <a:r>
              <a:rPr lang="zh-CN" altLang="en-US" sz="3200" dirty="0">
                <a:latin typeface="Microsoft YaHei" panose="020B0503020204020204" pitchFamily="34" charset="-122"/>
                <a:ea typeface="Microsoft YaHei" panose="020B0503020204020204" pitchFamily="34" charset="-122"/>
              </a:rPr>
              <a:t>。硬件能并行工作仅有了提高效率的可能性，硬部件并行性的实现需要软件技术去利用和发挥，这种软件技术就是并发程序设计。</a:t>
            </a:r>
          </a:p>
          <a:p>
            <a:pPr algn="just" eaLnBrk="1" hangingPunct="1"/>
            <a:r>
              <a:rPr lang="zh-CN" altLang="en-US" sz="3200" dirty="0">
                <a:latin typeface="Microsoft YaHei" panose="020B0503020204020204" pitchFamily="34" charset="-122"/>
                <a:ea typeface="Microsoft YaHei" panose="020B0503020204020204" pitchFamily="34" charset="-122"/>
              </a:rPr>
              <a:t>并发程序设计是多道程序设计的基础，多道程序的实质就是把并发程序设计引入到系统中。</a:t>
            </a:r>
          </a:p>
          <a:p>
            <a:pPr eaLnBrk="1" hangingPunct="1"/>
            <a:endParaRPr lang="en-US" altLang="zh-CN" sz="32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585307341"/>
      </p:ext>
    </p:extLst>
  </p:cSld>
  <p:clrMapOvr>
    <a:masterClrMapping/>
  </p:clrMapOvr>
  <p:transition>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DAF004D0-AD29-CC4E-A99A-7D7935644F86}"/>
              </a:ext>
            </a:extLst>
          </p:cNvPr>
          <p:cNvSpPr>
            <a:spLocks noGrp="1" noChangeArrowheads="1"/>
          </p:cNvSpPr>
          <p:nvPr>
            <p:ph type="title"/>
          </p:nvPr>
        </p:nvSpPr>
        <p:spPr>
          <a:xfrm>
            <a:off x="914400" y="260350"/>
            <a:ext cx="7696200" cy="990600"/>
          </a:xfrm>
        </p:spPr>
        <p:txBody>
          <a:bodyPr/>
          <a:lstStyle/>
          <a:p>
            <a:pPr eaLnBrk="1" hangingPunct="1"/>
            <a:r>
              <a:rPr lang="zh-CN" altLang="en-US" sz="4800">
                <a:latin typeface="Microsoft YaHei" panose="020B0503020204020204" pitchFamily="34" charset="-122"/>
                <a:ea typeface="Microsoft YaHei" panose="020B0503020204020204" pitchFamily="34" charset="-122"/>
              </a:rPr>
              <a:t>并发程序设计的优点</a:t>
            </a:r>
          </a:p>
        </p:txBody>
      </p:sp>
      <p:sp>
        <p:nvSpPr>
          <p:cNvPr id="18435" name="Rectangle 3">
            <a:extLst>
              <a:ext uri="{FF2B5EF4-FFF2-40B4-BE49-F238E27FC236}">
                <a16:creationId xmlns:a16="http://schemas.microsoft.com/office/drawing/2014/main" id="{F1695259-EC54-3441-9EE3-FCBCEF77E3E9}"/>
              </a:ext>
            </a:extLst>
          </p:cNvPr>
          <p:cNvSpPr>
            <a:spLocks noGrp="1" noChangeArrowheads="1"/>
          </p:cNvSpPr>
          <p:nvPr>
            <p:ph idx="1"/>
          </p:nvPr>
        </p:nvSpPr>
        <p:spPr>
          <a:xfrm>
            <a:off x="0" y="1196975"/>
            <a:ext cx="8820150" cy="4191000"/>
          </a:xfrm>
        </p:spPr>
        <p:txBody>
          <a:bodyPr/>
          <a:lstStyle/>
          <a:p>
            <a:pPr lvl="1" algn="just" eaLnBrk="1" hangingPunct="1">
              <a:lnSpc>
                <a:spcPct val="85000"/>
              </a:lnSpc>
              <a:buFontTx/>
              <a:buNone/>
            </a:pPr>
            <a:r>
              <a:rPr lang="en-US" altLang="zh-CN" sz="3600" b="1" dirty="0">
                <a:latin typeface="Microsoft YaHei" panose="020B0503020204020204" pitchFamily="34" charset="-122"/>
                <a:ea typeface="Microsoft YaHei" panose="020B0503020204020204" pitchFamily="34" charset="-122"/>
              </a:rPr>
              <a:t>•</a:t>
            </a:r>
            <a:r>
              <a:rPr lang="zh-CN" altLang="en-US" sz="3600" dirty="0">
                <a:latin typeface="Microsoft YaHei" panose="020B0503020204020204" pitchFamily="34" charset="-122"/>
                <a:ea typeface="Microsoft YaHei" panose="020B0503020204020204" pitchFamily="34" charset="-122"/>
              </a:rPr>
              <a:t>对于单处理器系统</a:t>
            </a:r>
            <a:r>
              <a:rPr lang="en-US" altLang="zh-CN" sz="3600" dirty="0">
                <a:latin typeface="Microsoft YaHei" panose="020B0503020204020204" pitchFamily="34" charset="-122"/>
                <a:ea typeface="Microsoft YaHei" panose="020B0503020204020204" pitchFamily="34" charset="-122"/>
              </a:rPr>
              <a:t>,</a:t>
            </a:r>
            <a:r>
              <a:rPr lang="zh-CN" altLang="en-US" sz="3600" dirty="0">
                <a:latin typeface="Microsoft YaHei" panose="020B0503020204020204" pitchFamily="34" charset="-122"/>
                <a:ea typeface="Microsoft YaHei" panose="020B0503020204020204" pitchFamily="34" charset="-122"/>
              </a:rPr>
              <a:t>可让处理器和各</a:t>
            </a:r>
            <a:r>
              <a:rPr lang="en-US" altLang="zh-CN" sz="3600" dirty="0">
                <a:latin typeface="Microsoft YaHei" panose="020B0503020204020204" pitchFamily="34" charset="-122"/>
                <a:ea typeface="Microsoft YaHei" panose="020B0503020204020204" pitchFamily="34" charset="-122"/>
              </a:rPr>
              <a:t>I/O</a:t>
            </a:r>
            <a:r>
              <a:rPr lang="zh-CN" altLang="en-US" sz="3600" dirty="0">
                <a:latin typeface="Microsoft YaHei" panose="020B0503020204020204" pitchFamily="34" charset="-122"/>
                <a:ea typeface="Microsoft YaHei" panose="020B0503020204020204" pitchFamily="34" charset="-122"/>
              </a:rPr>
              <a:t>设备同时工作</a:t>
            </a:r>
            <a:r>
              <a:rPr lang="en-US" altLang="zh-CN" sz="3600" dirty="0">
                <a:latin typeface="Microsoft YaHei" panose="020B0503020204020204" pitchFamily="34" charset="-122"/>
                <a:ea typeface="Microsoft YaHei" panose="020B0503020204020204" pitchFamily="34" charset="-122"/>
              </a:rPr>
              <a:t>,</a:t>
            </a:r>
            <a:r>
              <a:rPr lang="zh-CN" altLang="en-US" sz="3600" dirty="0">
                <a:latin typeface="Microsoft YaHei" panose="020B0503020204020204" pitchFamily="34" charset="-122"/>
                <a:ea typeface="Microsoft YaHei" panose="020B0503020204020204" pitchFamily="34" charset="-122"/>
              </a:rPr>
              <a:t>发挥硬部件的并行能力。</a:t>
            </a:r>
          </a:p>
          <a:p>
            <a:pPr lvl="1" algn="just" eaLnBrk="1" hangingPunct="1">
              <a:lnSpc>
                <a:spcPct val="85000"/>
              </a:lnSpc>
              <a:buFontTx/>
              <a:buNone/>
            </a:pPr>
            <a:r>
              <a:rPr lang="en-US" altLang="zh-CN" sz="3600" dirty="0">
                <a:latin typeface="Microsoft YaHei" panose="020B0503020204020204" pitchFamily="34" charset="-122"/>
                <a:ea typeface="Microsoft YaHei" panose="020B0503020204020204" pitchFamily="34" charset="-122"/>
              </a:rPr>
              <a:t>•</a:t>
            </a:r>
            <a:r>
              <a:rPr lang="zh-CN" altLang="en-US" sz="3600" dirty="0">
                <a:latin typeface="Microsoft YaHei" panose="020B0503020204020204" pitchFamily="34" charset="-122"/>
                <a:ea typeface="Microsoft YaHei" panose="020B0503020204020204" pitchFamily="34" charset="-122"/>
              </a:rPr>
              <a:t>对于多处理器系统</a:t>
            </a:r>
            <a:r>
              <a:rPr lang="en-US" altLang="zh-CN" sz="3600" dirty="0">
                <a:latin typeface="Microsoft YaHei" panose="020B0503020204020204" pitchFamily="34" charset="-122"/>
                <a:ea typeface="Microsoft YaHei" panose="020B0503020204020204" pitchFamily="34" charset="-122"/>
              </a:rPr>
              <a:t>,</a:t>
            </a:r>
            <a:r>
              <a:rPr lang="zh-CN" altLang="en-US" sz="3600" dirty="0">
                <a:latin typeface="Microsoft YaHei" panose="020B0503020204020204" pitchFamily="34" charset="-122"/>
                <a:ea typeface="Microsoft YaHei" panose="020B0503020204020204" pitchFamily="34" charset="-122"/>
              </a:rPr>
              <a:t>可让各进程在不同处理器上物理地并行，加快计算速度。</a:t>
            </a:r>
          </a:p>
          <a:p>
            <a:pPr lvl="1" algn="just" eaLnBrk="1" hangingPunct="1">
              <a:lnSpc>
                <a:spcPct val="85000"/>
              </a:lnSpc>
              <a:buFontTx/>
              <a:buNone/>
            </a:pPr>
            <a:endParaRPr lang="zh-CN" altLang="zh-CN" sz="3600" dirty="0">
              <a:latin typeface="Microsoft YaHei" panose="020B0503020204020204" pitchFamily="34" charset="-122"/>
              <a:ea typeface="Microsoft YaHei" panose="020B0503020204020204" pitchFamily="34" charset="-122"/>
            </a:endParaRPr>
          </a:p>
        </p:txBody>
      </p:sp>
      <p:sp>
        <p:nvSpPr>
          <p:cNvPr id="4" name="文本框 3">
            <a:extLst>
              <a:ext uri="{FF2B5EF4-FFF2-40B4-BE49-F238E27FC236}">
                <a16:creationId xmlns:a16="http://schemas.microsoft.com/office/drawing/2014/main" id="{053F3D7B-7528-604D-AFE8-A3AF39284891}"/>
              </a:ext>
            </a:extLst>
          </p:cNvPr>
          <p:cNvSpPr txBox="1">
            <a:spLocks noChangeArrowheads="1"/>
          </p:cNvSpPr>
          <p:nvPr/>
        </p:nvSpPr>
        <p:spPr bwMode="auto">
          <a:xfrm>
            <a:off x="2674938" y="3644900"/>
            <a:ext cx="4175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r>
              <a:rPr lang="zh-CN" altLang="en-US" sz="3200">
                <a:solidFill>
                  <a:srgbClr val="FF0000"/>
                </a:solidFill>
                <a:latin typeface="华文新魏" panose="02010800040101010101" pitchFamily="2" charset="-122"/>
                <a:ea typeface="华文新魏" panose="02010800040101010101" pitchFamily="2" charset="-122"/>
              </a:rPr>
              <a:t>并发进程间的关系？</a:t>
            </a:r>
            <a:endParaRPr lang="zh-CN" altLang="en-US" sz="3200"/>
          </a:p>
        </p:txBody>
      </p:sp>
    </p:spTree>
    <p:extLst>
      <p:ext uri="{BB962C8B-B14F-4D97-AF65-F5344CB8AC3E}">
        <p14:creationId xmlns:p14="http://schemas.microsoft.com/office/powerpoint/2010/main" val="3224220276"/>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wipe(left)">
                                      <p:cBhvr>
                                        <p:cTn id="7" dur="500"/>
                                        <p:tgtEl>
                                          <p:spTgt spid="18435">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18435">
                                            <p:txEl>
                                              <p:pRg st="1" end="1"/>
                                            </p:txEl>
                                          </p:spTgt>
                                        </p:tgtEl>
                                        <p:attrNameLst>
                                          <p:attrName>style.visibility</p:attrName>
                                        </p:attrNameLst>
                                      </p:cBhvr>
                                      <p:to>
                                        <p:strVal val="visible"/>
                                      </p:to>
                                    </p:set>
                                    <p:animEffect transition="in" filter="wipe(left)">
                                      <p:cBhvr>
                                        <p:cTn id="10" dur="500"/>
                                        <p:tgtEl>
                                          <p:spTgt spid="18435">
                                            <p:txEl>
                                              <p:pRg st="1" end="1"/>
                                            </p:txEl>
                                          </p:spTgt>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22" presetClass="entr" presetSubtype="8"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wipe(left)">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5" grpId="0" build="p"/>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a:extLst>
              <a:ext uri="{FF2B5EF4-FFF2-40B4-BE49-F238E27FC236}">
                <a16:creationId xmlns:a16="http://schemas.microsoft.com/office/drawing/2014/main" id="{EBF3516E-44AE-2F42-8B0A-D8AA0360E4B5}"/>
              </a:ext>
            </a:extLst>
          </p:cNvPr>
          <p:cNvSpPr>
            <a:spLocks noGrp="1" noChangeArrowheads="1"/>
          </p:cNvSpPr>
          <p:nvPr>
            <p:ph type="body" idx="1"/>
          </p:nvPr>
        </p:nvSpPr>
        <p:spPr>
          <a:xfrm>
            <a:off x="468313" y="476250"/>
            <a:ext cx="8153400" cy="5410200"/>
          </a:xfrm>
        </p:spPr>
        <p:txBody>
          <a:bodyPr/>
          <a:lstStyle/>
          <a:p>
            <a:pPr algn="just" eaLnBrk="1" hangingPunct="1"/>
            <a:r>
              <a:rPr lang="zh-CN" altLang="en-US" sz="3200">
                <a:latin typeface="Microsoft YaHei" panose="020B0503020204020204" pitchFamily="34" charset="-122"/>
                <a:ea typeface="Microsoft YaHei" panose="020B0503020204020204" pitchFamily="34" charset="-122"/>
              </a:rPr>
              <a:t>并发进程关系：</a:t>
            </a:r>
            <a:r>
              <a:rPr lang="zh-CN" altLang="en-US" sz="3200">
                <a:solidFill>
                  <a:srgbClr val="FF9900"/>
                </a:solidFill>
                <a:latin typeface="Microsoft YaHei" panose="020B0503020204020204" pitchFamily="34" charset="-122"/>
                <a:ea typeface="Microsoft YaHei" panose="020B0503020204020204" pitchFamily="34" charset="-122"/>
              </a:rPr>
              <a:t>无关的</a:t>
            </a:r>
            <a:r>
              <a:rPr lang="zh-CN" altLang="en-US" sz="3200">
                <a:latin typeface="Microsoft YaHei" panose="020B0503020204020204" pitchFamily="34" charset="-122"/>
                <a:ea typeface="Microsoft YaHei" panose="020B0503020204020204" pitchFamily="34" charset="-122"/>
              </a:rPr>
              <a:t>，</a:t>
            </a:r>
            <a:r>
              <a:rPr lang="zh-CN" altLang="en-US" sz="3200">
                <a:solidFill>
                  <a:srgbClr val="FF9900"/>
                </a:solidFill>
                <a:latin typeface="Microsoft YaHei" panose="020B0503020204020204" pitchFamily="34" charset="-122"/>
                <a:ea typeface="Microsoft YaHei" panose="020B0503020204020204" pitchFamily="34" charset="-122"/>
              </a:rPr>
              <a:t>交互的</a:t>
            </a:r>
            <a:r>
              <a:rPr lang="zh-CN" altLang="en-US" sz="3200">
                <a:latin typeface="Microsoft YaHei" panose="020B0503020204020204" pitchFamily="34" charset="-122"/>
                <a:ea typeface="Microsoft YaHei" panose="020B0503020204020204" pitchFamily="34" charset="-122"/>
              </a:rPr>
              <a:t>。</a:t>
            </a:r>
          </a:p>
          <a:p>
            <a:pPr algn="just" eaLnBrk="1" hangingPunct="1"/>
            <a:r>
              <a:rPr lang="zh-CN" altLang="en-US" sz="3200">
                <a:latin typeface="Microsoft YaHei" panose="020B0503020204020204" pitchFamily="34" charset="-122"/>
                <a:ea typeface="Microsoft YaHei" panose="020B0503020204020204" pitchFamily="34" charset="-122"/>
              </a:rPr>
              <a:t>无关的并发进程</a:t>
            </a:r>
          </a:p>
          <a:p>
            <a:pPr lvl="1" algn="just" eaLnBrk="1" hangingPunct="1"/>
            <a:r>
              <a:rPr lang="zh-CN" altLang="en-US" sz="3200">
                <a:latin typeface="Microsoft YaHei" panose="020B0503020204020204" pitchFamily="34" charset="-122"/>
                <a:ea typeface="Microsoft YaHei" panose="020B0503020204020204" pitchFamily="34" charset="-122"/>
              </a:rPr>
              <a:t>一组并发进程分别在</a:t>
            </a:r>
            <a:r>
              <a:rPr lang="zh-CN" altLang="en-US" sz="3200">
                <a:solidFill>
                  <a:srgbClr val="FF9900"/>
                </a:solidFill>
                <a:latin typeface="Microsoft YaHei" panose="020B0503020204020204" pitchFamily="34" charset="-122"/>
                <a:ea typeface="Microsoft YaHei" panose="020B0503020204020204" pitchFamily="34" charset="-122"/>
              </a:rPr>
              <a:t>不同的变量集合</a:t>
            </a:r>
            <a:r>
              <a:rPr lang="zh-CN" altLang="en-US" sz="3200">
                <a:latin typeface="Microsoft YaHei" panose="020B0503020204020204" pitchFamily="34" charset="-122"/>
                <a:ea typeface="Microsoft YaHei" panose="020B0503020204020204" pitchFamily="34" charset="-122"/>
              </a:rPr>
              <a:t>上操作，</a:t>
            </a:r>
            <a:r>
              <a:rPr lang="zh-CN" altLang="en-US" sz="3200">
                <a:solidFill>
                  <a:srgbClr val="FF9900"/>
                </a:solidFill>
                <a:latin typeface="Microsoft YaHei" panose="020B0503020204020204" pitchFamily="34" charset="-122"/>
                <a:ea typeface="Microsoft YaHei" panose="020B0503020204020204" pitchFamily="34" charset="-122"/>
              </a:rPr>
              <a:t>一个进程的执行与其他并发进程的进展无关</a:t>
            </a:r>
            <a:r>
              <a:rPr lang="zh-CN" altLang="en-US" sz="3200">
                <a:latin typeface="Microsoft YaHei" panose="020B0503020204020204" pitchFamily="34" charset="-122"/>
                <a:ea typeface="Microsoft YaHei" panose="020B0503020204020204" pitchFamily="34" charset="-122"/>
              </a:rPr>
              <a:t>。</a:t>
            </a:r>
          </a:p>
          <a:p>
            <a:pPr lvl="1" algn="just" eaLnBrk="1" hangingPunct="1"/>
            <a:r>
              <a:rPr lang="zh-CN" altLang="en-US" sz="3500">
                <a:latin typeface="Microsoft YaHei" panose="020B0503020204020204" pitchFamily="34" charset="-122"/>
                <a:ea typeface="Microsoft YaHei" panose="020B0503020204020204" pitchFamily="34" charset="-122"/>
              </a:rPr>
              <a:t>判断并发进程的无关性：        </a:t>
            </a:r>
            <a:r>
              <a:rPr lang="en-US" altLang="zh-CN" sz="3500">
                <a:solidFill>
                  <a:srgbClr val="FF9900"/>
                </a:solidFill>
                <a:latin typeface="Microsoft YaHei" panose="020B0503020204020204" pitchFamily="34" charset="-122"/>
                <a:ea typeface="Microsoft YaHei" panose="020B0503020204020204" pitchFamily="34" charset="-122"/>
              </a:rPr>
              <a:t>Bernstein</a:t>
            </a:r>
            <a:r>
              <a:rPr lang="zh-CN" altLang="en-US" sz="3500">
                <a:latin typeface="Microsoft YaHei" panose="020B0503020204020204" pitchFamily="34" charset="-122"/>
                <a:ea typeface="Microsoft YaHei" panose="020B0503020204020204" pitchFamily="34" charset="-122"/>
              </a:rPr>
              <a:t>条件。</a:t>
            </a:r>
          </a:p>
          <a:p>
            <a:pPr algn="just" eaLnBrk="1" hangingPunct="1"/>
            <a:r>
              <a:rPr lang="zh-CN" altLang="en-US" sz="3200">
                <a:latin typeface="Microsoft YaHei" panose="020B0503020204020204" pitchFamily="34" charset="-122"/>
                <a:ea typeface="Microsoft YaHei" panose="020B0503020204020204" pitchFamily="34" charset="-122"/>
              </a:rPr>
              <a:t>交互的并发进程</a:t>
            </a:r>
          </a:p>
          <a:p>
            <a:pPr lvl="1" algn="just" eaLnBrk="1" hangingPunct="1"/>
            <a:r>
              <a:rPr lang="zh-CN" altLang="en-US" sz="3200">
                <a:latin typeface="Microsoft YaHei" panose="020B0503020204020204" pitchFamily="34" charset="-122"/>
                <a:ea typeface="Microsoft YaHei" panose="020B0503020204020204" pitchFamily="34" charset="-122"/>
              </a:rPr>
              <a:t>一组并发进程共享某些变量，一个进程的执行</a:t>
            </a:r>
            <a:r>
              <a:rPr lang="zh-CN" altLang="en-US" sz="3200">
                <a:solidFill>
                  <a:srgbClr val="FF9900"/>
                </a:solidFill>
                <a:latin typeface="Microsoft YaHei" panose="020B0503020204020204" pitchFamily="34" charset="-122"/>
                <a:ea typeface="Microsoft YaHei" panose="020B0503020204020204" pitchFamily="34" charset="-122"/>
              </a:rPr>
              <a:t>可能影响</a:t>
            </a:r>
            <a:r>
              <a:rPr lang="zh-CN" altLang="en-US" sz="3200">
                <a:latin typeface="Microsoft YaHei" panose="020B0503020204020204" pitchFamily="34" charset="-122"/>
                <a:ea typeface="Microsoft YaHei" panose="020B0503020204020204" pitchFamily="34" charset="-122"/>
              </a:rPr>
              <a:t>其他并发进程的结果。</a:t>
            </a:r>
            <a:endParaRPr lang="zh-CN" altLang="zh-CN" sz="320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881126349"/>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5059">
                                            <p:txEl>
                                              <p:pRg st="0" end="0"/>
                                            </p:txEl>
                                          </p:spTgt>
                                        </p:tgtEl>
                                        <p:attrNameLst>
                                          <p:attrName>style.visibility</p:attrName>
                                        </p:attrNameLst>
                                      </p:cBhvr>
                                      <p:to>
                                        <p:strVal val="visible"/>
                                      </p:to>
                                    </p:set>
                                    <p:animEffect transition="in" filter="blinds(horizontal)">
                                      <p:cBhvr>
                                        <p:cTn id="7" dur="500"/>
                                        <p:tgtEl>
                                          <p:spTgt spid="450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5059">
                                            <p:txEl>
                                              <p:pRg st="1" end="1"/>
                                            </p:txEl>
                                          </p:spTgt>
                                        </p:tgtEl>
                                        <p:attrNameLst>
                                          <p:attrName>style.visibility</p:attrName>
                                        </p:attrNameLst>
                                      </p:cBhvr>
                                      <p:to>
                                        <p:strVal val="visible"/>
                                      </p:to>
                                    </p:set>
                                    <p:animEffect transition="in" filter="blinds(horizontal)">
                                      <p:cBhvr>
                                        <p:cTn id="12" dur="500"/>
                                        <p:tgtEl>
                                          <p:spTgt spid="45059">
                                            <p:txEl>
                                              <p:pRg st="1" end="1"/>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45059">
                                            <p:txEl>
                                              <p:pRg st="2" end="2"/>
                                            </p:txEl>
                                          </p:spTgt>
                                        </p:tgtEl>
                                        <p:attrNameLst>
                                          <p:attrName>style.visibility</p:attrName>
                                        </p:attrNameLst>
                                      </p:cBhvr>
                                      <p:to>
                                        <p:strVal val="visible"/>
                                      </p:to>
                                    </p:set>
                                    <p:animEffect transition="in" filter="blinds(horizontal)">
                                      <p:cBhvr>
                                        <p:cTn id="15" dur="500"/>
                                        <p:tgtEl>
                                          <p:spTgt spid="45059">
                                            <p:txEl>
                                              <p:pRg st="2" end="2"/>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45059">
                                            <p:txEl>
                                              <p:pRg st="3" end="3"/>
                                            </p:txEl>
                                          </p:spTgt>
                                        </p:tgtEl>
                                        <p:attrNameLst>
                                          <p:attrName>style.visibility</p:attrName>
                                        </p:attrNameLst>
                                      </p:cBhvr>
                                      <p:to>
                                        <p:strVal val="visible"/>
                                      </p:to>
                                    </p:set>
                                    <p:animEffect transition="in" filter="blinds(horizontal)">
                                      <p:cBhvr>
                                        <p:cTn id="18" dur="500"/>
                                        <p:tgtEl>
                                          <p:spTgt spid="45059">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45059">
                                            <p:txEl>
                                              <p:pRg st="4" end="4"/>
                                            </p:txEl>
                                          </p:spTgt>
                                        </p:tgtEl>
                                        <p:attrNameLst>
                                          <p:attrName>style.visibility</p:attrName>
                                        </p:attrNameLst>
                                      </p:cBhvr>
                                      <p:to>
                                        <p:strVal val="visible"/>
                                      </p:to>
                                    </p:set>
                                    <p:animEffect transition="in" filter="blinds(horizontal)">
                                      <p:cBhvr>
                                        <p:cTn id="23" dur="500"/>
                                        <p:tgtEl>
                                          <p:spTgt spid="45059">
                                            <p:txEl>
                                              <p:pRg st="4" end="4"/>
                                            </p:txEl>
                                          </p:spTgt>
                                        </p:tgtEl>
                                      </p:cBhvr>
                                    </p:animEffect>
                                  </p:childTnLst>
                                </p:cTn>
                              </p:par>
                              <p:par>
                                <p:cTn id="24" presetID="3" presetClass="entr" presetSubtype="10" fill="hold" nodeType="withEffect">
                                  <p:stCondLst>
                                    <p:cond delay="0"/>
                                  </p:stCondLst>
                                  <p:childTnLst>
                                    <p:set>
                                      <p:cBhvr>
                                        <p:cTn id="25" dur="1" fill="hold">
                                          <p:stCondLst>
                                            <p:cond delay="0"/>
                                          </p:stCondLst>
                                        </p:cTn>
                                        <p:tgtEl>
                                          <p:spTgt spid="45059">
                                            <p:txEl>
                                              <p:pRg st="5" end="5"/>
                                            </p:txEl>
                                          </p:spTgt>
                                        </p:tgtEl>
                                        <p:attrNameLst>
                                          <p:attrName>style.visibility</p:attrName>
                                        </p:attrNameLst>
                                      </p:cBhvr>
                                      <p:to>
                                        <p:strVal val="visible"/>
                                      </p:to>
                                    </p:set>
                                    <p:animEffect transition="in" filter="blinds(horizontal)">
                                      <p:cBhvr>
                                        <p:cTn id="26" dur="500"/>
                                        <p:tgtEl>
                                          <p:spTgt spid="45059">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9"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B0CE37FF-5B08-D442-B75D-1FBB50C47102}"/>
              </a:ext>
            </a:extLst>
          </p:cNvPr>
          <p:cNvSpPr>
            <a:spLocks noGrp="1" noChangeArrowheads="1"/>
          </p:cNvSpPr>
          <p:nvPr>
            <p:ph type="title"/>
          </p:nvPr>
        </p:nvSpPr>
        <p:spPr>
          <a:xfrm>
            <a:off x="508000" y="188913"/>
            <a:ext cx="7491413" cy="854075"/>
          </a:xfrm>
        </p:spPr>
        <p:txBody>
          <a:bodyPr/>
          <a:lstStyle/>
          <a:p>
            <a:pPr algn="ctr" eaLnBrk="1" hangingPunct="1"/>
            <a:r>
              <a:rPr lang="en-US" altLang="zh-CN" sz="4000" b="1"/>
              <a:t>Bernstein</a:t>
            </a:r>
            <a:r>
              <a:rPr lang="zh-CN" altLang="en-US" sz="4000" b="1"/>
              <a:t>条件             </a:t>
            </a:r>
            <a:endParaRPr lang="zh-CN" altLang="en-US" sz="4000" b="1">
              <a:solidFill>
                <a:srgbClr val="0000FF"/>
              </a:solidFill>
            </a:endParaRPr>
          </a:p>
        </p:txBody>
      </p:sp>
      <p:sp>
        <p:nvSpPr>
          <p:cNvPr id="46083" name="Rectangle 3">
            <a:extLst>
              <a:ext uri="{FF2B5EF4-FFF2-40B4-BE49-F238E27FC236}">
                <a16:creationId xmlns:a16="http://schemas.microsoft.com/office/drawing/2014/main" id="{048BD030-88E0-5C48-A4BE-6F6CA418A9B0}"/>
              </a:ext>
            </a:extLst>
          </p:cNvPr>
          <p:cNvSpPr>
            <a:spLocks noGrp="1" noRot="1" noChangeAspect="1" noMove="1" noResize="1" noEditPoints="1" noAdjustHandles="1" noChangeArrowheads="1" noChangeShapeType="1" noTextEdit="1"/>
          </p:cNvSpPr>
          <p:nvPr>
            <p:ph type="body" idx="1"/>
          </p:nvPr>
        </p:nvSpPr>
        <p:spPr>
          <a:xfrm>
            <a:off x="457200" y="1143000"/>
            <a:ext cx="8153400" cy="5029200"/>
          </a:xfrm>
          <a:blipFill>
            <a:blip r:embed="rId2"/>
            <a:stretch>
              <a:fillRect l="-1719" t="-2545" r="-1794"/>
            </a:stretch>
          </a:blipFill>
        </p:spPr>
        <p:txBody>
          <a:bodyPr rtlCol="0">
            <a:normAutofit/>
          </a:bodyPr>
          <a:lstStyle/>
          <a:p>
            <a:pPr eaLnBrk="1" hangingPunct="1">
              <a:defRPr/>
            </a:pPr>
            <a:r>
              <a:rPr lang="zh-CN" altLang="en-US">
                <a:noFill/>
              </a:rPr>
              <a:t> </a:t>
            </a:r>
          </a:p>
        </p:txBody>
      </p:sp>
    </p:spTree>
    <p:extLst>
      <p:ext uri="{BB962C8B-B14F-4D97-AF65-F5344CB8AC3E}">
        <p14:creationId xmlns:p14="http://schemas.microsoft.com/office/powerpoint/2010/main" val="583327110"/>
      </p:ext>
    </p:extLst>
  </p:cSld>
  <p:clrMapOvr>
    <a:masterClrMapping/>
  </p:clrMapOvr>
  <p:transition>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1" nodeType="clickEffect">
                                  <p:stCondLst>
                                    <p:cond delay="0"/>
                                  </p:stCondLst>
                                  <p:childTnLst>
                                    <p:set>
                                      <p:cBhvr>
                                        <p:cTn id="6" dur="1" fill="hold">
                                          <p:stCondLst>
                                            <p:cond delay="0"/>
                                          </p:stCondLst>
                                        </p:cTn>
                                        <p:tgtEl>
                                          <p:spTgt spid="46082"/>
                                        </p:tgtEl>
                                        <p:attrNameLst>
                                          <p:attrName>style.visibility</p:attrName>
                                        </p:attrNameLst>
                                      </p:cBhvr>
                                      <p:to>
                                        <p:strVal val="visible"/>
                                      </p:to>
                                    </p:set>
                                    <p:animEffect transition="in" filter="fade">
                                      <p:cBhvr>
                                        <p:cTn id="7" dur="500"/>
                                        <p:tgtEl>
                                          <p:spTgt spid="460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2" grpId="0"/>
      <p:bldP spid="46082" grpId="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090A88BD-1F9A-B441-890B-7B5D5CB0FE8F}"/>
              </a:ext>
            </a:extLst>
          </p:cNvPr>
          <p:cNvSpPr>
            <a:spLocks noGrp="1" noChangeArrowheads="1"/>
          </p:cNvSpPr>
          <p:nvPr>
            <p:ph type="title"/>
          </p:nvPr>
        </p:nvSpPr>
        <p:spPr>
          <a:xfrm>
            <a:off x="381000" y="228600"/>
            <a:ext cx="7772400" cy="1143000"/>
          </a:xfrm>
        </p:spPr>
        <p:txBody>
          <a:bodyPr/>
          <a:lstStyle/>
          <a:p>
            <a:pPr eaLnBrk="1" hangingPunct="1"/>
            <a:r>
              <a:rPr lang="en-US" altLang="zh-CN" sz="4800" dirty="0">
                <a:latin typeface="Microsoft YaHei" panose="020B0503020204020204" pitchFamily="34" charset="-122"/>
                <a:ea typeface="Microsoft YaHei" panose="020B0503020204020204" pitchFamily="34" charset="-122"/>
              </a:rPr>
              <a:t>Bernstein</a:t>
            </a:r>
            <a:r>
              <a:rPr lang="zh-CN" altLang="en-US" sz="4800" dirty="0">
                <a:latin typeface="Microsoft YaHei" panose="020B0503020204020204" pitchFamily="34" charset="-122"/>
                <a:ea typeface="Microsoft YaHei" panose="020B0503020204020204" pitchFamily="34" charset="-122"/>
              </a:rPr>
              <a:t>条件举例</a:t>
            </a:r>
          </a:p>
        </p:txBody>
      </p:sp>
      <p:sp>
        <p:nvSpPr>
          <p:cNvPr id="17411" name="Rectangle 3">
            <a:extLst>
              <a:ext uri="{FF2B5EF4-FFF2-40B4-BE49-F238E27FC236}">
                <a16:creationId xmlns:a16="http://schemas.microsoft.com/office/drawing/2014/main" id="{D8C64460-C0E4-704D-B492-16C1678CC8AA}"/>
              </a:ext>
            </a:extLst>
          </p:cNvPr>
          <p:cNvSpPr>
            <a:spLocks noGrp="1" noChangeArrowheads="1"/>
          </p:cNvSpPr>
          <p:nvPr>
            <p:ph idx="1"/>
          </p:nvPr>
        </p:nvSpPr>
        <p:spPr>
          <a:xfrm>
            <a:off x="395288" y="1219200"/>
            <a:ext cx="8353425" cy="5257800"/>
          </a:xfrm>
        </p:spPr>
        <p:txBody>
          <a:bodyPr/>
          <a:lstStyle/>
          <a:p>
            <a:pPr algn="just" eaLnBrk="1" hangingPunct="1">
              <a:buFontTx/>
              <a:buNone/>
            </a:pPr>
            <a:r>
              <a:rPr lang="en-US" altLang="zh-CN" dirty="0">
                <a:latin typeface="Microsoft YaHei" panose="020B0503020204020204" pitchFamily="34" charset="-122"/>
                <a:ea typeface="Microsoft YaHei" panose="020B0503020204020204" pitchFamily="34" charset="-122"/>
              </a:rPr>
              <a:t>  </a:t>
            </a:r>
            <a:r>
              <a:rPr lang="zh-CN" altLang="en-US" sz="3600" dirty="0">
                <a:latin typeface="Microsoft YaHei" panose="020B0503020204020204" pitchFamily="34" charset="-122"/>
                <a:ea typeface="Microsoft YaHei" panose="020B0503020204020204" pitchFamily="34" charset="-122"/>
              </a:rPr>
              <a:t>例如，有如下四条语句：</a:t>
            </a:r>
          </a:p>
          <a:p>
            <a:pPr algn="just" eaLnBrk="1" hangingPunct="1">
              <a:buFontTx/>
              <a:buNone/>
            </a:pPr>
            <a:r>
              <a:rPr lang="zh-CN" altLang="en-US" sz="36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S1:  a := x + y   S2:  b := z + 1</a:t>
            </a:r>
          </a:p>
          <a:p>
            <a:pPr algn="just" eaLnBrk="1" hangingPunct="1">
              <a:buFontTx/>
              <a:buNone/>
            </a:pPr>
            <a:r>
              <a:rPr lang="en-US" altLang="zh-CN" sz="2400" dirty="0">
                <a:latin typeface="Microsoft YaHei" panose="020B0503020204020204" pitchFamily="34" charset="-122"/>
                <a:ea typeface="Microsoft YaHei" panose="020B0503020204020204" pitchFamily="34" charset="-122"/>
              </a:rPr>
              <a:t>       S3:  c := a – b   S4:  w := c + 1</a:t>
            </a:r>
          </a:p>
          <a:p>
            <a:pPr eaLnBrk="1" hangingPunct="1">
              <a:buFontTx/>
              <a:buNone/>
            </a:pPr>
            <a:r>
              <a:rPr lang="en-US" altLang="zh-CN" sz="3600" dirty="0">
                <a:latin typeface="Microsoft YaHei" panose="020B0503020204020204" pitchFamily="34" charset="-122"/>
                <a:ea typeface="Microsoft YaHei" panose="020B0503020204020204" pitchFamily="34" charset="-122"/>
              </a:rPr>
              <a:t>   </a:t>
            </a:r>
            <a:r>
              <a:rPr lang="zh-CN" altLang="en-US" sz="3600" dirty="0">
                <a:latin typeface="Microsoft YaHei" panose="020B0503020204020204" pitchFamily="34" charset="-122"/>
                <a:ea typeface="Microsoft YaHei" panose="020B0503020204020204" pitchFamily="34" charset="-122"/>
              </a:rPr>
              <a:t>于是有：</a:t>
            </a:r>
            <a:endParaRPr lang="en-US" altLang="zh-CN" sz="3600" dirty="0">
              <a:latin typeface="Microsoft YaHei" panose="020B0503020204020204" pitchFamily="34" charset="-122"/>
              <a:ea typeface="Microsoft YaHei" panose="020B0503020204020204" pitchFamily="34" charset="-122"/>
            </a:endParaRPr>
          </a:p>
          <a:p>
            <a:pPr eaLnBrk="1" hangingPunct="1">
              <a:buFontTx/>
              <a:buNone/>
            </a:pPr>
            <a:r>
              <a:rPr lang="en-US" altLang="zh-CN" sz="36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R(S1)={</a:t>
            </a:r>
            <a:r>
              <a:rPr lang="en-US" altLang="zh-CN" sz="2400" dirty="0" err="1">
                <a:latin typeface="Microsoft YaHei" panose="020B0503020204020204" pitchFamily="34" charset="-122"/>
                <a:ea typeface="Microsoft YaHei" panose="020B0503020204020204" pitchFamily="34" charset="-122"/>
              </a:rPr>
              <a:t>x,y</a:t>
            </a:r>
            <a:r>
              <a:rPr lang="en-US" altLang="zh-CN" sz="2400" dirty="0">
                <a:latin typeface="Microsoft YaHei" panose="020B0503020204020204" pitchFamily="34" charset="-122"/>
                <a:ea typeface="Microsoft YaHei" panose="020B0503020204020204" pitchFamily="34" charset="-122"/>
              </a:rPr>
              <a:t>} ,	 W(S1)={a}</a:t>
            </a:r>
            <a:r>
              <a:rPr lang="zh-CN" altLang="en-US" sz="2400" dirty="0">
                <a:latin typeface="Microsoft YaHei" panose="020B0503020204020204" pitchFamily="34" charset="-122"/>
                <a:ea typeface="Microsoft YaHei" panose="020B0503020204020204" pitchFamily="34" charset="-122"/>
              </a:rPr>
              <a:t>；</a:t>
            </a:r>
            <a:endParaRPr lang="en-US" altLang="zh-CN" sz="2400" dirty="0">
              <a:latin typeface="Microsoft YaHei" panose="020B0503020204020204" pitchFamily="34" charset="-122"/>
              <a:ea typeface="Microsoft YaHei" panose="020B0503020204020204" pitchFamily="34" charset="-122"/>
            </a:endParaRPr>
          </a:p>
          <a:p>
            <a:pPr eaLnBrk="1" hangingPunct="1">
              <a:buFontTx/>
              <a:buNone/>
            </a:pPr>
            <a:r>
              <a:rPr lang="en-US" altLang="zh-CN" sz="2400" dirty="0">
                <a:latin typeface="Microsoft YaHei" panose="020B0503020204020204" pitchFamily="34" charset="-122"/>
                <a:ea typeface="Microsoft YaHei" panose="020B0503020204020204" pitchFamily="34" charset="-122"/>
              </a:rPr>
              <a:t>		R(S2)={z}</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	 W(S2)={b}</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	</a:t>
            </a:r>
          </a:p>
          <a:p>
            <a:pPr eaLnBrk="1" hangingPunct="1">
              <a:buFontTx/>
              <a:buNone/>
            </a:pPr>
            <a:r>
              <a:rPr lang="en-US" altLang="zh-CN" sz="2400" dirty="0">
                <a:latin typeface="Microsoft YaHei" panose="020B0503020204020204" pitchFamily="34" charset="-122"/>
                <a:ea typeface="Microsoft YaHei" panose="020B0503020204020204" pitchFamily="34" charset="-122"/>
              </a:rPr>
              <a:t>		R(S3)={</a:t>
            </a:r>
            <a:r>
              <a:rPr lang="en-US" altLang="zh-CN" sz="2400" dirty="0" err="1">
                <a:latin typeface="Microsoft YaHei" panose="020B0503020204020204" pitchFamily="34" charset="-122"/>
                <a:ea typeface="Microsoft YaHei" panose="020B0503020204020204" pitchFamily="34" charset="-122"/>
              </a:rPr>
              <a:t>a,b</a:t>
            </a:r>
            <a:r>
              <a:rPr lang="en-US" altLang="zh-CN"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	 W(S3)={c}</a:t>
            </a:r>
            <a:r>
              <a:rPr lang="zh-CN" altLang="en-US" sz="2400" dirty="0">
                <a:latin typeface="Microsoft YaHei" panose="020B0503020204020204" pitchFamily="34" charset="-122"/>
                <a:ea typeface="Microsoft YaHei" panose="020B0503020204020204" pitchFamily="34" charset="-122"/>
              </a:rPr>
              <a:t>；</a:t>
            </a:r>
            <a:endParaRPr lang="en-US" altLang="zh-CN" sz="2400" dirty="0">
              <a:latin typeface="Microsoft YaHei" panose="020B0503020204020204" pitchFamily="34" charset="-122"/>
              <a:ea typeface="Microsoft YaHei" panose="020B0503020204020204" pitchFamily="34" charset="-122"/>
            </a:endParaRPr>
          </a:p>
          <a:p>
            <a:pPr eaLnBrk="1" hangingPunct="1">
              <a:buFontTx/>
              <a:buNone/>
            </a:pPr>
            <a:r>
              <a:rPr lang="en-US" altLang="zh-CN" sz="2400" dirty="0">
                <a:latin typeface="Microsoft YaHei" panose="020B0503020204020204" pitchFamily="34" charset="-122"/>
                <a:ea typeface="Microsoft YaHei" panose="020B0503020204020204" pitchFamily="34" charset="-122"/>
              </a:rPr>
              <a:t>		R(S4)={c}</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	 W(S4)={w}.</a:t>
            </a:r>
            <a:endParaRPr lang="zh-CN" altLang="en-US" sz="2400" dirty="0">
              <a:latin typeface="Microsoft YaHei" panose="020B0503020204020204" pitchFamily="34" charset="-122"/>
              <a:ea typeface="Microsoft YaHei" panose="020B0503020204020204" pitchFamily="34" charset="-122"/>
            </a:endParaRPr>
          </a:p>
          <a:p>
            <a:pPr algn="just" eaLnBrk="1" hangingPunct="1">
              <a:buFontTx/>
              <a:buNone/>
            </a:pPr>
            <a:r>
              <a:rPr lang="zh-CN" altLang="en-US" sz="3600" dirty="0">
                <a:latin typeface="Microsoft YaHei" panose="020B0503020204020204" pitchFamily="34" charset="-122"/>
                <a:ea typeface="Microsoft YaHei" panose="020B0503020204020204" pitchFamily="34" charset="-122"/>
              </a:rPr>
              <a:t>   </a:t>
            </a:r>
            <a:r>
              <a:rPr lang="zh-CN" altLang="en-US" sz="3600" dirty="0">
                <a:solidFill>
                  <a:srgbClr val="FF0000"/>
                </a:solidFill>
                <a:latin typeface="Microsoft YaHei" panose="020B0503020204020204" pitchFamily="34" charset="-122"/>
                <a:ea typeface="Microsoft YaHei" panose="020B0503020204020204" pitchFamily="34" charset="-122"/>
              </a:rPr>
              <a:t>判断</a:t>
            </a:r>
            <a:r>
              <a:rPr lang="en-US" altLang="zh-CN" sz="3600" dirty="0">
                <a:solidFill>
                  <a:srgbClr val="FF0000"/>
                </a:solidFill>
                <a:latin typeface="Microsoft YaHei" panose="020B0503020204020204" pitchFamily="34" charset="-122"/>
                <a:ea typeface="Microsoft YaHei" panose="020B0503020204020204" pitchFamily="34" charset="-122"/>
              </a:rPr>
              <a:t>S1</a:t>
            </a:r>
            <a:r>
              <a:rPr lang="zh-CN" altLang="en-US" sz="3600" dirty="0">
                <a:solidFill>
                  <a:srgbClr val="FF0000"/>
                </a:solidFill>
                <a:latin typeface="Microsoft YaHei" panose="020B0503020204020204" pitchFamily="34" charset="-122"/>
                <a:ea typeface="Microsoft YaHei" panose="020B0503020204020204" pitchFamily="34" charset="-122"/>
              </a:rPr>
              <a:t>、</a:t>
            </a:r>
            <a:r>
              <a:rPr lang="en-US" altLang="zh-CN" sz="3600" dirty="0">
                <a:solidFill>
                  <a:srgbClr val="FF0000"/>
                </a:solidFill>
                <a:latin typeface="Microsoft YaHei" panose="020B0503020204020204" pitchFamily="34" charset="-122"/>
                <a:ea typeface="Microsoft YaHei" panose="020B0503020204020204" pitchFamily="34" charset="-122"/>
              </a:rPr>
              <a:t>S2</a:t>
            </a:r>
            <a:r>
              <a:rPr lang="zh-CN" altLang="en-US" sz="3600" dirty="0">
                <a:solidFill>
                  <a:srgbClr val="FF0000"/>
                </a:solidFill>
                <a:latin typeface="Microsoft YaHei" panose="020B0503020204020204" pitchFamily="34" charset="-122"/>
                <a:ea typeface="Microsoft YaHei" panose="020B0503020204020204" pitchFamily="34" charset="-122"/>
              </a:rPr>
              <a:t>、</a:t>
            </a:r>
            <a:r>
              <a:rPr lang="en-US" altLang="zh-CN" sz="3600" dirty="0">
                <a:solidFill>
                  <a:srgbClr val="FF0000"/>
                </a:solidFill>
                <a:latin typeface="Microsoft YaHei" panose="020B0503020204020204" pitchFamily="34" charset="-122"/>
                <a:ea typeface="Microsoft YaHei" panose="020B0503020204020204" pitchFamily="34" charset="-122"/>
              </a:rPr>
              <a:t>S3</a:t>
            </a:r>
            <a:r>
              <a:rPr lang="zh-CN" altLang="en-US" sz="3600" dirty="0">
                <a:solidFill>
                  <a:srgbClr val="FF0000"/>
                </a:solidFill>
                <a:latin typeface="Microsoft YaHei" panose="020B0503020204020204" pitchFamily="34" charset="-122"/>
                <a:ea typeface="Microsoft YaHei" panose="020B0503020204020204" pitchFamily="34" charset="-122"/>
              </a:rPr>
              <a:t>、</a:t>
            </a:r>
            <a:r>
              <a:rPr lang="en-US" altLang="zh-CN" sz="3600" dirty="0">
                <a:solidFill>
                  <a:srgbClr val="FF0000"/>
                </a:solidFill>
                <a:latin typeface="Microsoft YaHei" panose="020B0503020204020204" pitchFamily="34" charset="-122"/>
                <a:ea typeface="Microsoft YaHei" panose="020B0503020204020204" pitchFamily="34" charset="-122"/>
              </a:rPr>
              <a:t>S4</a:t>
            </a:r>
            <a:r>
              <a:rPr lang="zh-CN" altLang="en-US" sz="3600" dirty="0">
                <a:solidFill>
                  <a:srgbClr val="FF0000"/>
                </a:solidFill>
                <a:latin typeface="Microsoft YaHei" panose="020B0503020204020204" pitchFamily="34" charset="-122"/>
                <a:ea typeface="Microsoft YaHei" panose="020B0503020204020204" pitchFamily="34" charset="-122"/>
              </a:rPr>
              <a:t>两两之间是否无关</a:t>
            </a:r>
            <a:endParaRPr lang="zh-CN" altLang="en-US" sz="3600" dirty="0">
              <a:latin typeface="Microsoft YaHei" panose="020B0503020204020204" pitchFamily="34" charset="-122"/>
              <a:ea typeface="Microsoft YaHei" panose="020B0503020204020204" pitchFamily="34" charset="-122"/>
            </a:endParaRPr>
          </a:p>
          <a:p>
            <a:pPr eaLnBrk="1" hangingPunct="1"/>
            <a:endParaRPr lang="en-US" altLang="zh-CN" sz="36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17862547"/>
      </p:ext>
    </p:extLst>
  </p:cSld>
  <p:clrMapOvr>
    <a:masterClrMapping/>
  </p:clrMapOvr>
  <p:transition>
    <p:cove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411">
                                            <p:txEl>
                                              <p:pRg st="0" end="0"/>
                                            </p:txEl>
                                          </p:spTgt>
                                        </p:tgtEl>
                                        <p:attrNameLst>
                                          <p:attrName>style.visibility</p:attrName>
                                        </p:attrNameLst>
                                      </p:cBhvr>
                                      <p:to>
                                        <p:strVal val="visible"/>
                                      </p:to>
                                    </p:set>
                                    <p:animEffect transition="in" filter="wipe(left)">
                                      <p:cBhvr>
                                        <p:cTn id="7" dur="500"/>
                                        <p:tgtEl>
                                          <p:spTgt spid="17411">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7411">
                                            <p:txEl>
                                              <p:pRg st="1" end="1"/>
                                            </p:txEl>
                                          </p:spTgt>
                                        </p:tgtEl>
                                        <p:attrNameLst>
                                          <p:attrName>style.visibility</p:attrName>
                                        </p:attrNameLst>
                                      </p:cBhvr>
                                      <p:to>
                                        <p:strVal val="visible"/>
                                      </p:to>
                                    </p:set>
                                    <p:animEffect transition="in" filter="wipe(left)">
                                      <p:cBhvr>
                                        <p:cTn id="12" dur="500"/>
                                        <p:tgtEl>
                                          <p:spTgt spid="17411">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7411">
                                            <p:txEl>
                                              <p:pRg st="2" end="2"/>
                                            </p:txEl>
                                          </p:spTgt>
                                        </p:tgtEl>
                                        <p:attrNameLst>
                                          <p:attrName>style.visibility</p:attrName>
                                        </p:attrNameLst>
                                      </p:cBhvr>
                                      <p:to>
                                        <p:strVal val="visible"/>
                                      </p:to>
                                    </p:set>
                                    <p:animEffect transition="in" filter="wipe(left)">
                                      <p:cBhvr>
                                        <p:cTn id="17" dur="500"/>
                                        <p:tgtEl>
                                          <p:spTgt spid="17411">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7411">
                                            <p:txEl>
                                              <p:pRg st="3" end="3"/>
                                            </p:txEl>
                                          </p:spTgt>
                                        </p:tgtEl>
                                        <p:attrNameLst>
                                          <p:attrName>style.visibility</p:attrName>
                                        </p:attrNameLst>
                                      </p:cBhvr>
                                      <p:to>
                                        <p:strVal val="visible"/>
                                      </p:to>
                                    </p:set>
                                    <p:animEffect transition="in" filter="wipe(left)">
                                      <p:cBhvr>
                                        <p:cTn id="22" dur="500"/>
                                        <p:tgtEl>
                                          <p:spTgt spid="17411">
                                            <p:txEl>
                                              <p:pRg st="3" end="3"/>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7411">
                                            <p:txEl>
                                              <p:pRg st="4" end="4"/>
                                            </p:txEl>
                                          </p:spTgt>
                                        </p:tgtEl>
                                        <p:attrNameLst>
                                          <p:attrName>style.visibility</p:attrName>
                                        </p:attrNameLst>
                                      </p:cBhvr>
                                      <p:to>
                                        <p:strVal val="visible"/>
                                      </p:to>
                                    </p:set>
                                    <p:animEffect transition="in" filter="wipe(left)">
                                      <p:cBhvr>
                                        <p:cTn id="27" dur="500"/>
                                        <p:tgtEl>
                                          <p:spTgt spid="17411">
                                            <p:txEl>
                                              <p:pRg st="4" end="4"/>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7411">
                                            <p:txEl>
                                              <p:pRg st="5" end="5"/>
                                            </p:txEl>
                                          </p:spTgt>
                                        </p:tgtEl>
                                        <p:attrNameLst>
                                          <p:attrName>style.visibility</p:attrName>
                                        </p:attrNameLst>
                                      </p:cBhvr>
                                      <p:to>
                                        <p:strVal val="visible"/>
                                      </p:to>
                                    </p:set>
                                    <p:animEffect transition="in" filter="wipe(left)">
                                      <p:cBhvr>
                                        <p:cTn id="32" dur="500"/>
                                        <p:tgtEl>
                                          <p:spTgt spid="17411">
                                            <p:txEl>
                                              <p:pRg st="5" end="5"/>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7411">
                                            <p:txEl>
                                              <p:pRg st="6" end="6"/>
                                            </p:txEl>
                                          </p:spTgt>
                                        </p:tgtEl>
                                        <p:attrNameLst>
                                          <p:attrName>style.visibility</p:attrName>
                                        </p:attrNameLst>
                                      </p:cBhvr>
                                      <p:to>
                                        <p:strVal val="visible"/>
                                      </p:to>
                                    </p:set>
                                    <p:animEffect transition="in" filter="wipe(left)">
                                      <p:cBhvr>
                                        <p:cTn id="37" dur="500"/>
                                        <p:tgtEl>
                                          <p:spTgt spid="17411">
                                            <p:txEl>
                                              <p:pRg st="6" end="6"/>
                                            </p:txEl>
                                          </p:spTgt>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17411">
                                            <p:txEl>
                                              <p:pRg st="7" end="7"/>
                                            </p:txEl>
                                          </p:spTgt>
                                        </p:tgtEl>
                                        <p:attrNameLst>
                                          <p:attrName>style.visibility</p:attrName>
                                        </p:attrNameLst>
                                      </p:cBhvr>
                                      <p:to>
                                        <p:strVal val="visible"/>
                                      </p:to>
                                    </p:set>
                                    <p:animEffect transition="in" filter="wipe(left)">
                                      <p:cBhvr>
                                        <p:cTn id="42" dur="500"/>
                                        <p:tgtEl>
                                          <p:spTgt spid="17411">
                                            <p:txEl>
                                              <p:pRg st="7" end="7"/>
                                            </p:txEl>
                                          </p:spTgt>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17411">
                                            <p:txEl>
                                              <p:pRg st="8" end="8"/>
                                            </p:txEl>
                                          </p:spTgt>
                                        </p:tgtEl>
                                        <p:attrNameLst>
                                          <p:attrName>style.visibility</p:attrName>
                                        </p:attrNameLst>
                                      </p:cBhvr>
                                      <p:to>
                                        <p:strVal val="visible"/>
                                      </p:to>
                                    </p:set>
                                    <p:animEffect transition="in" filter="wipe(left)">
                                      <p:cBhvr>
                                        <p:cTn id="47" dur="500"/>
                                        <p:tgtEl>
                                          <p:spTgt spid="17411">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1"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4BC1BF72-06A7-3D47-9C52-04EAB5B3DB3D}"/>
              </a:ext>
            </a:extLst>
          </p:cNvPr>
          <p:cNvSpPr>
            <a:spLocks noGrp="1" noChangeArrowheads="1"/>
          </p:cNvSpPr>
          <p:nvPr>
            <p:ph type="title"/>
          </p:nvPr>
        </p:nvSpPr>
        <p:spPr>
          <a:xfrm>
            <a:off x="533400" y="304800"/>
            <a:ext cx="8137525" cy="1066800"/>
          </a:xfrm>
        </p:spPr>
        <p:txBody>
          <a:bodyPr/>
          <a:lstStyle/>
          <a:p>
            <a:pPr eaLnBrk="1" hangingPunct="1"/>
            <a:r>
              <a:rPr lang="zh-CN" altLang="en-US" sz="4800">
                <a:latin typeface="Microsoft YaHei" panose="020B0503020204020204" pitchFamily="34" charset="-122"/>
                <a:ea typeface="Microsoft YaHei" panose="020B0503020204020204" pitchFamily="34" charset="-122"/>
              </a:rPr>
              <a:t>与时间有关的错误：交互进程</a:t>
            </a:r>
          </a:p>
        </p:txBody>
      </p:sp>
      <p:sp>
        <p:nvSpPr>
          <p:cNvPr id="18435" name="Rectangle 3">
            <a:extLst>
              <a:ext uri="{FF2B5EF4-FFF2-40B4-BE49-F238E27FC236}">
                <a16:creationId xmlns:a16="http://schemas.microsoft.com/office/drawing/2014/main" id="{D2F87FD6-2531-DC44-9360-F184D0D2BBE4}"/>
              </a:ext>
            </a:extLst>
          </p:cNvPr>
          <p:cNvSpPr>
            <a:spLocks noGrp="1" noChangeArrowheads="1"/>
          </p:cNvSpPr>
          <p:nvPr>
            <p:ph idx="1"/>
          </p:nvPr>
        </p:nvSpPr>
        <p:spPr>
          <a:xfrm>
            <a:off x="395288" y="1143000"/>
            <a:ext cx="8137525" cy="4953000"/>
          </a:xfrm>
        </p:spPr>
        <p:txBody>
          <a:bodyPr/>
          <a:lstStyle/>
          <a:p>
            <a:pPr eaLnBrk="1" hangingPunct="1">
              <a:lnSpc>
                <a:spcPct val="120000"/>
              </a:lnSpc>
            </a:pPr>
            <a:r>
              <a:rPr lang="zh-CN" altLang="en-US" sz="3600" dirty="0">
                <a:latin typeface="Microsoft YaHei" panose="020B0503020204020204" pitchFamily="34" charset="-122"/>
                <a:ea typeface="Microsoft YaHei" panose="020B0503020204020204" pitchFamily="34" charset="-122"/>
              </a:rPr>
              <a:t>对于一组交互的并发进程，执行的相对速度无法相互控制，由并发进程间执行的相对速度引起的错误称之为与时间有关的错误。</a:t>
            </a:r>
          </a:p>
          <a:p>
            <a:pPr eaLnBrk="1" hangingPunct="1">
              <a:lnSpc>
                <a:spcPct val="120000"/>
              </a:lnSpc>
            </a:pPr>
            <a:r>
              <a:rPr lang="zh-CN" altLang="en-US" sz="3600" dirty="0">
                <a:latin typeface="Microsoft YaHei" panose="020B0503020204020204" pitchFamily="34" charset="-122"/>
                <a:ea typeface="Microsoft YaHei" panose="020B0503020204020204" pitchFamily="34" charset="-122"/>
              </a:rPr>
              <a:t>与时间有关错误的表现形式：</a:t>
            </a:r>
          </a:p>
          <a:p>
            <a:pPr lvl="1" eaLnBrk="1" hangingPunct="1">
              <a:lnSpc>
                <a:spcPct val="120000"/>
              </a:lnSpc>
            </a:pPr>
            <a:r>
              <a:rPr lang="zh-CN" altLang="en-US" sz="3600" dirty="0">
                <a:latin typeface="Microsoft YaHei" panose="020B0503020204020204" pitchFamily="34" charset="-122"/>
                <a:ea typeface="Microsoft YaHei" panose="020B0503020204020204" pitchFamily="34" charset="-122"/>
              </a:rPr>
              <a:t>结果不唯一</a:t>
            </a:r>
          </a:p>
          <a:p>
            <a:pPr lvl="1" eaLnBrk="1" hangingPunct="1">
              <a:lnSpc>
                <a:spcPct val="120000"/>
              </a:lnSpc>
            </a:pPr>
            <a:r>
              <a:rPr lang="zh-CN" altLang="en-US" sz="3600" dirty="0">
                <a:latin typeface="Microsoft YaHei" panose="020B0503020204020204" pitchFamily="34" charset="-122"/>
                <a:ea typeface="Microsoft YaHei" panose="020B0503020204020204" pitchFamily="34" charset="-122"/>
              </a:rPr>
              <a:t>永远等待</a:t>
            </a:r>
          </a:p>
          <a:p>
            <a:pPr lvl="1" eaLnBrk="1" hangingPunct="1">
              <a:lnSpc>
                <a:spcPct val="120000"/>
              </a:lnSpc>
            </a:pPr>
            <a:endParaRPr lang="zh-CN" altLang="zh-CN" sz="36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090277271"/>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18435">
                                            <p:txEl>
                                              <p:pRg st="0" end="0"/>
                                            </p:txEl>
                                          </p:spTgt>
                                        </p:tgtEl>
                                        <p:attrNameLst>
                                          <p:attrName>style.visibility</p:attrName>
                                        </p:attrNameLst>
                                      </p:cBhvr>
                                      <p:to>
                                        <p:strVal val="visible"/>
                                      </p:to>
                                    </p:set>
                                    <p:animEffect transition="in" filter="box(in)">
                                      <p:cBhvr>
                                        <p:cTn id="7" dur="500"/>
                                        <p:tgtEl>
                                          <p:spTgt spid="1843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18435">
                                            <p:txEl>
                                              <p:pRg st="1" end="1"/>
                                            </p:txEl>
                                          </p:spTgt>
                                        </p:tgtEl>
                                        <p:attrNameLst>
                                          <p:attrName>style.visibility</p:attrName>
                                        </p:attrNameLst>
                                      </p:cBhvr>
                                      <p:to>
                                        <p:strVal val="visible"/>
                                      </p:to>
                                    </p:set>
                                    <p:animEffect transition="in" filter="box(in)">
                                      <p:cBhvr>
                                        <p:cTn id="12" dur="500"/>
                                        <p:tgtEl>
                                          <p:spTgt spid="18435">
                                            <p:txEl>
                                              <p:pRg st="1" end="1"/>
                                            </p:txEl>
                                          </p:spTgt>
                                        </p:tgtEl>
                                      </p:cBhvr>
                                    </p:animEffect>
                                  </p:childTnLst>
                                </p:cTn>
                              </p:par>
                              <p:par>
                                <p:cTn id="13" presetID="4" presetClass="entr" presetSubtype="16" fill="hold" nodeType="withEffect">
                                  <p:stCondLst>
                                    <p:cond delay="0"/>
                                  </p:stCondLst>
                                  <p:childTnLst>
                                    <p:set>
                                      <p:cBhvr>
                                        <p:cTn id="14" dur="1" fill="hold">
                                          <p:stCondLst>
                                            <p:cond delay="0"/>
                                          </p:stCondLst>
                                        </p:cTn>
                                        <p:tgtEl>
                                          <p:spTgt spid="18435">
                                            <p:txEl>
                                              <p:pRg st="2" end="2"/>
                                            </p:txEl>
                                          </p:spTgt>
                                        </p:tgtEl>
                                        <p:attrNameLst>
                                          <p:attrName>style.visibility</p:attrName>
                                        </p:attrNameLst>
                                      </p:cBhvr>
                                      <p:to>
                                        <p:strVal val="visible"/>
                                      </p:to>
                                    </p:set>
                                    <p:animEffect transition="in" filter="box(in)">
                                      <p:cBhvr>
                                        <p:cTn id="15" dur="500"/>
                                        <p:tgtEl>
                                          <p:spTgt spid="18435">
                                            <p:txEl>
                                              <p:pRg st="2" end="2"/>
                                            </p:txEl>
                                          </p:spTgt>
                                        </p:tgtEl>
                                      </p:cBhvr>
                                    </p:animEffect>
                                  </p:childTnLst>
                                </p:cTn>
                              </p:par>
                              <p:par>
                                <p:cTn id="16" presetID="4" presetClass="entr" presetSubtype="16" fill="hold" nodeType="withEffect">
                                  <p:stCondLst>
                                    <p:cond delay="0"/>
                                  </p:stCondLst>
                                  <p:childTnLst>
                                    <p:set>
                                      <p:cBhvr>
                                        <p:cTn id="17" dur="1" fill="hold">
                                          <p:stCondLst>
                                            <p:cond delay="0"/>
                                          </p:stCondLst>
                                        </p:cTn>
                                        <p:tgtEl>
                                          <p:spTgt spid="18435">
                                            <p:txEl>
                                              <p:pRg st="3" end="3"/>
                                            </p:txEl>
                                          </p:spTgt>
                                        </p:tgtEl>
                                        <p:attrNameLst>
                                          <p:attrName>style.visibility</p:attrName>
                                        </p:attrNameLst>
                                      </p:cBhvr>
                                      <p:to>
                                        <p:strVal val="visible"/>
                                      </p:to>
                                    </p:set>
                                    <p:animEffect transition="in" filter="box(in)">
                                      <p:cBhvr>
                                        <p:cTn id="18" dur="500"/>
                                        <p:tgtEl>
                                          <p:spTgt spid="184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a:extLst>
              <a:ext uri="{FF2B5EF4-FFF2-40B4-BE49-F238E27FC236}">
                <a16:creationId xmlns:a16="http://schemas.microsoft.com/office/drawing/2014/main" id="{9E7F6930-CBFF-744C-834D-DF1C2CD4040A}"/>
              </a:ext>
            </a:extLst>
          </p:cNvPr>
          <p:cNvSpPr>
            <a:spLocks noGrp="1" noChangeArrowheads="1"/>
          </p:cNvSpPr>
          <p:nvPr>
            <p:ph type="title"/>
          </p:nvPr>
        </p:nvSpPr>
        <p:spPr>
          <a:xfrm>
            <a:off x="179388" y="-26988"/>
            <a:ext cx="8297862" cy="1143001"/>
          </a:xfrm>
        </p:spPr>
        <p:txBody>
          <a:bodyPr/>
          <a:lstStyle/>
          <a:p>
            <a:pPr eaLnBrk="1" hangingPunct="1"/>
            <a:r>
              <a:rPr lang="en-US" altLang="zh-CN" sz="5400">
                <a:latin typeface="Microsoft YaHei" panose="020B0503020204020204" pitchFamily="34" charset="-122"/>
                <a:ea typeface="Microsoft YaHei" panose="020B0503020204020204" pitchFamily="34" charset="-122"/>
              </a:rPr>
              <a:t> </a:t>
            </a:r>
            <a:r>
              <a:rPr lang="zh-CN" altLang="en-US" sz="4300">
                <a:latin typeface="Microsoft YaHei" panose="020B0503020204020204" pitchFamily="34" charset="-122"/>
                <a:ea typeface="Microsoft YaHei" panose="020B0503020204020204" pitchFamily="34" charset="-122"/>
              </a:rPr>
              <a:t>（结果不唯一）</a:t>
            </a:r>
            <a:r>
              <a:rPr lang="zh-CN" altLang="zh-CN" sz="4300">
                <a:latin typeface="Microsoft YaHei" panose="020B0503020204020204" pitchFamily="34" charset="-122"/>
                <a:ea typeface="Microsoft YaHei" panose="020B0503020204020204" pitchFamily="34" charset="-122"/>
              </a:rPr>
              <a:t>飞机票售票</a:t>
            </a:r>
            <a:r>
              <a:rPr lang="zh-CN" altLang="en-US" sz="4300">
                <a:latin typeface="Microsoft YaHei" panose="020B0503020204020204" pitchFamily="34" charset="-122"/>
                <a:ea typeface="Microsoft YaHei" panose="020B0503020204020204" pitchFamily="34" charset="-122"/>
              </a:rPr>
              <a:t>问题</a:t>
            </a:r>
          </a:p>
        </p:txBody>
      </p:sp>
      <p:sp>
        <p:nvSpPr>
          <p:cNvPr id="20483" name="Rectangle 3">
            <a:extLst>
              <a:ext uri="{FF2B5EF4-FFF2-40B4-BE49-F238E27FC236}">
                <a16:creationId xmlns:a16="http://schemas.microsoft.com/office/drawing/2014/main" id="{1D4C44F8-312A-014E-9086-382F9DE37C22}"/>
              </a:ext>
            </a:extLst>
          </p:cNvPr>
          <p:cNvSpPr>
            <a:spLocks noGrp="1" noChangeArrowheads="1"/>
          </p:cNvSpPr>
          <p:nvPr>
            <p:ph idx="1"/>
          </p:nvPr>
        </p:nvSpPr>
        <p:spPr>
          <a:xfrm>
            <a:off x="539750" y="1052513"/>
            <a:ext cx="8280400" cy="5805487"/>
          </a:xfrm>
        </p:spPr>
        <p:txBody>
          <a:bodyPr/>
          <a:lstStyle/>
          <a:p>
            <a:pPr eaLnBrk="1" hangingPunct="1">
              <a:buFontTx/>
              <a:buNone/>
            </a:pPr>
            <a:r>
              <a:rPr lang="en-US" altLang="zh-CN" sz="2400" b="1" dirty="0">
                <a:latin typeface="Microsoft YaHei" panose="020B0503020204020204" pitchFamily="34" charset="-122"/>
                <a:ea typeface="Microsoft YaHei" panose="020B0503020204020204" pitchFamily="34" charset="-122"/>
              </a:rPr>
              <a:t>     </a:t>
            </a:r>
            <a:r>
              <a:rPr lang="zh-CN" altLang="zh-CN" sz="2400" b="1" dirty="0">
                <a:latin typeface="Microsoft YaHei" panose="020B0503020204020204" pitchFamily="34" charset="-122"/>
                <a:ea typeface="Microsoft YaHei" panose="020B0503020204020204" pitchFamily="34" charset="-122"/>
              </a:rPr>
              <a:t>/</a:t>
            </a:r>
            <a:r>
              <a:rPr lang="en-US" altLang="zh-CN" sz="2400" b="1" dirty="0">
                <a:latin typeface="Microsoft YaHei" panose="020B0503020204020204" pitchFamily="34" charset="-122"/>
                <a:ea typeface="Microsoft YaHei" panose="020B0503020204020204" pitchFamily="34" charset="-122"/>
              </a:rPr>
              <a:t>*</a:t>
            </a:r>
            <a:r>
              <a:rPr lang="zh-CN" altLang="zh-CN" sz="2400" b="1" dirty="0">
                <a:latin typeface="Microsoft YaHei" panose="020B0503020204020204" pitchFamily="34" charset="-122"/>
                <a:ea typeface="Microsoft YaHei" panose="020B0503020204020204" pitchFamily="34" charset="-122"/>
              </a:rPr>
              <a:t>飞机票售票问题</a:t>
            </a:r>
            <a:r>
              <a:rPr lang="en-US" altLang="zh-CN" sz="2400" b="1" dirty="0">
                <a:latin typeface="Microsoft YaHei" panose="020B0503020204020204" pitchFamily="34" charset="-122"/>
                <a:ea typeface="Microsoft YaHei" panose="020B0503020204020204" pitchFamily="34" charset="-122"/>
              </a:rPr>
              <a:t>*/</a:t>
            </a:r>
            <a:endParaRPr lang="zh-CN" altLang="en-US" sz="2400" b="1" dirty="0">
              <a:latin typeface="Microsoft YaHei" panose="020B0503020204020204" pitchFamily="34" charset="-122"/>
              <a:ea typeface="Microsoft YaHei" panose="020B0503020204020204" pitchFamily="34" charset="-122"/>
            </a:endParaRPr>
          </a:p>
          <a:p>
            <a:pPr eaLnBrk="1" hangingPunct="1"/>
            <a:r>
              <a:rPr lang="en-US" altLang="zh-CN" sz="2400" b="1" dirty="0">
                <a:latin typeface="Microsoft YaHei" panose="020B0503020204020204" pitchFamily="34" charset="-122"/>
                <a:ea typeface="Microsoft YaHei" panose="020B0503020204020204" pitchFamily="34" charset="-122"/>
              </a:rPr>
              <a:t>void T1( ) {                             void T2( ) {   </a:t>
            </a:r>
          </a:p>
          <a:p>
            <a:pPr eaLnBrk="1" hangingPunct="1"/>
            <a:r>
              <a:rPr lang="en-US" altLang="zh-CN" sz="2400" b="1" dirty="0">
                <a:latin typeface="Microsoft YaHei" panose="020B0503020204020204" pitchFamily="34" charset="-122"/>
                <a:ea typeface="Microsoft YaHei" panose="020B0503020204020204" pitchFamily="34" charset="-122"/>
              </a:rPr>
              <a:t>{</a:t>
            </a:r>
            <a:r>
              <a:rPr lang="zh-CN" altLang="en-US" sz="2400" b="1" dirty="0">
                <a:latin typeface="Microsoft YaHei" panose="020B0503020204020204" pitchFamily="34" charset="-122"/>
                <a:ea typeface="Microsoft YaHei" panose="020B0503020204020204" pitchFamily="34" charset="-122"/>
              </a:rPr>
              <a:t>按旅客订票要求找到</a:t>
            </a:r>
            <a:r>
              <a:rPr lang="en-US" altLang="zh-CN" sz="2400" b="1" dirty="0" err="1">
                <a:latin typeface="Microsoft YaHei" panose="020B0503020204020204" pitchFamily="34" charset="-122"/>
                <a:ea typeface="Microsoft YaHei" panose="020B0503020204020204" pitchFamily="34" charset="-122"/>
              </a:rPr>
              <a:t>Aj</a:t>
            </a:r>
            <a:r>
              <a:rPr lang="en-US" altLang="zh-CN" sz="2400" b="1" dirty="0">
                <a:latin typeface="Microsoft YaHei" panose="020B0503020204020204" pitchFamily="34" charset="-122"/>
                <a:ea typeface="Microsoft YaHei" panose="020B0503020204020204" pitchFamily="34" charset="-122"/>
              </a:rPr>
              <a:t>};   {</a:t>
            </a:r>
            <a:r>
              <a:rPr lang="zh-CN" altLang="en-US" sz="2400" b="1" dirty="0">
                <a:latin typeface="Microsoft YaHei" panose="020B0503020204020204" pitchFamily="34" charset="-122"/>
                <a:ea typeface="Microsoft YaHei" panose="020B0503020204020204" pitchFamily="34" charset="-122"/>
              </a:rPr>
              <a:t>按旅客订票要求找到</a:t>
            </a:r>
            <a:r>
              <a:rPr lang="en-US" altLang="zh-CN" sz="2400" b="1" dirty="0" err="1">
                <a:latin typeface="Microsoft YaHei" panose="020B0503020204020204" pitchFamily="34" charset="-122"/>
                <a:ea typeface="Microsoft YaHei" panose="020B0503020204020204" pitchFamily="34" charset="-122"/>
              </a:rPr>
              <a:t>Aj</a:t>
            </a:r>
            <a:r>
              <a:rPr lang="en-US" altLang="zh-CN" sz="2400" b="1" dirty="0">
                <a:latin typeface="Microsoft YaHei" panose="020B0503020204020204" pitchFamily="34" charset="-122"/>
                <a:ea typeface="Microsoft YaHei" panose="020B0503020204020204" pitchFamily="34" charset="-122"/>
              </a:rPr>
              <a:t>};</a:t>
            </a:r>
          </a:p>
          <a:p>
            <a:pPr eaLnBrk="1" hangingPunct="1"/>
            <a:r>
              <a:rPr lang="en-US" altLang="zh-CN" sz="2400" b="1" dirty="0">
                <a:latin typeface="Microsoft YaHei" panose="020B0503020204020204" pitchFamily="34" charset="-122"/>
                <a:ea typeface="Microsoft YaHei" panose="020B0503020204020204" pitchFamily="34" charset="-122"/>
              </a:rPr>
              <a:t>  int X1=</a:t>
            </a:r>
            <a:r>
              <a:rPr lang="en-US" altLang="zh-CN" sz="2400" b="1" dirty="0" err="1">
                <a:latin typeface="Microsoft YaHei" panose="020B0503020204020204" pitchFamily="34" charset="-122"/>
                <a:ea typeface="Microsoft YaHei" panose="020B0503020204020204" pitchFamily="34" charset="-122"/>
              </a:rPr>
              <a:t>Aj</a:t>
            </a:r>
            <a:r>
              <a:rPr lang="en-US" altLang="zh-CN" sz="2400" b="1" dirty="0">
                <a:latin typeface="Microsoft YaHei" panose="020B0503020204020204" pitchFamily="34" charset="-122"/>
                <a:ea typeface="Microsoft YaHei" panose="020B0503020204020204" pitchFamily="34" charset="-122"/>
              </a:rPr>
              <a:t>;                             int X2=</a:t>
            </a:r>
            <a:r>
              <a:rPr lang="en-US" altLang="zh-CN" sz="2400" b="1" dirty="0" err="1">
                <a:latin typeface="Microsoft YaHei" panose="020B0503020204020204" pitchFamily="34" charset="-122"/>
                <a:ea typeface="Microsoft YaHei" panose="020B0503020204020204" pitchFamily="34" charset="-122"/>
              </a:rPr>
              <a:t>Aj</a:t>
            </a:r>
            <a:r>
              <a:rPr lang="en-US" altLang="zh-CN" sz="2400" b="1" dirty="0">
                <a:latin typeface="Microsoft YaHei" panose="020B0503020204020204" pitchFamily="34" charset="-122"/>
                <a:ea typeface="Microsoft YaHei" panose="020B0503020204020204" pitchFamily="34" charset="-122"/>
              </a:rPr>
              <a:t>;</a:t>
            </a:r>
          </a:p>
          <a:p>
            <a:pPr eaLnBrk="1" hangingPunct="1"/>
            <a:r>
              <a:rPr lang="en-US" altLang="zh-CN" sz="2400" b="1" dirty="0">
                <a:latin typeface="Microsoft YaHei" panose="020B0503020204020204" pitchFamily="34" charset="-122"/>
                <a:ea typeface="Microsoft YaHei" panose="020B0503020204020204" pitchFamily="34" charset="-122"/>
              </a:rPr>
              <a:t>  if(X1&gt;=1) {                           if(X2&gt;=1) {</a:t>
            </a:r>
          </a:p>
          <a:p>
            <a:pPr eaLnBrk="1" hangingPunct="1"/>
            <a:r>
              <a:rPr lang="en-US" altLang="zh-CN" sz="2400" b="1" dirty="0">
                <a:latin typeface="Microsoft YaHei" panose="020B0503020204020204" pitchFamily="34" charset="-122"/>
                <a:ea typeface="Microsoft YaHei" panose="020B0503020204020204" pitchFamily="34" charset="-122"/>
              </a:rPr>
              <a:t>	  X1--;                                 X2--; </a:t>
            </a:r>
          </a:p>
          <a:p>
            <a:pPr eaLnBrk="1" hangingPunct="1"/>
            <a:r>
              <a:rPr lang="en-US" altLang="zh-CN" sz="2400" b="1" dirty="0">
                <a:latin typeface="Microsoft YaHei" panose="020B0503020204020204" pitchFamily="34" charset="-122"/>
                <a:ea typeface="Microsoft YaHei" panose="020B0503020204020204" pitchFamily="34" charset="-122"/>
              </a:rPr>
              <a:t>        </a:t>
            </a:r>
            <a:r>
              <a:rPr lang="en-US" altLang="zh-CN" sz="2400" b="1" dirty="0" err="1">
                <a:latin typeface="Microsoft YaHei" panose="020B0503020204020204" pitchFamily="34" charset="-122"/>
                <a:ea typeface="Microsoft YaHei" panose="020B0503020204020204" pitchFamily="34" charset="-122"/>
              </a:rPr>
              <a:t>Aj</a:t>
            </a:r>
            <a:r>
              <a:rPr lang="en-US" altLang="zh-CN" sz="2400" b="1" dirty="0">
                <a:latin typeface="Microsoft YaHei" panose="020B0503020204020204" pitchFamily="34" charset="-122"/>
                <a:ea typeface="Microsoft YaHei" panose="020B0503020204020204" pitchFamily="34" charset="-122"/>
              </a:rPr>
              <a:t>=X1;                              </a:t>
            </a:r>
            <a:r>
              <a:rPr lang="en-US" altLang="zh-CN" sz="2400" b="1" dirty="0" err="1">
                <a:latin typeface="Microsoft YaHei" panose="020B0503020204020204" pitchFamily="34" charset="-122"/>
                <a:ea typeface="Microsoft YaHei" panose="020B0503020204020204" pitchFamily="34" charset="-122"/>
              </a:rPr>
              <a:t>Aj</a:t>
            </a:r>
            <a:r>
              <a:rPr lang="en-US" altLang="zh-CN" sz="2400" b="1" dirty="0">
                <a:latin typeface="Microsoft YaHei" panose="020B0503020204020204" pitchFamily="34" charset="-122"/>
                <a:ea typeface="Microsoft YaHei" panose="020B0503020204020204" pitchFamily="34" charset="-122"/>
              </a:rPr>
              <a:t>=X2;</a:t>
            </a:r>
          </a:p>
          <a:p>
            <a:pPr eaLnBrk="1" hangingPunct="1"/>
            <a:r>
              <a:rPr lang="en-US" altLang="zh-CN" sz="2400" b="1" dirty="0">
                <a:latin typeface="Microsoft YaHei" panose="020B0503020204020204" pitchFamily="34" charset="-122"/>
                <a:ea typeface="Microsoft YaHei" panose="020B0503020204020204" pitchFamily="34" charset="-122"/>
              </a:rPr>
              <a:t>	 /*</a:t>
            </a:r>
            <a:r>
              <a:rPr lang="zh-CN" altLang="en-US" sz="2400" b="1" dirty="0">
                <a:latin typeface="Microsoft YaHei" panose="020B0503020204020204" pitchFamily="34" charset="-122"/>
                <a:ea typeface="Microsoft YaHei" panose="020B0503020204020204" pitchFamily="34" charset="-122"/>
              </a:rPr>
              <a:t>输出一张票</a:t>
            </a:r>
            <a:r>
              <a:rPr lang="en-US" altLang="zh-CN" sz="2400" b="1" dirty="0">
                <a:latin typeface="Microsoft YaHei" panose="020B0503020204020204" pitchFamily="34" charset="-122"/>
                <a:ea typeface="Microsoft YaHei" panose="020B0503020204020204" pitchFamily="34" charset="-122"/>
              </a:rPr>
              <a:t>*/;                 /*</a:t>
            </a:r>
            <a:r>
              <a:rPr lang="zh-CN" altLang="en-US" sz="2400" b="1" dirty="0">
                <a:latin typeface="Microsoft YaHei" panose="020B0503020204020204" pitchFamily="34" charset="-122"/>
                <a:ea typeface="Microsoft YaHei" panose="020B0503020204020204" pitchFamily="34" charset="-122"/>
              </a:rPr>
              <a:t>输出一张票</a:t>
            </a:r>
            <a:r>
              <a:rPr lang="en-US" altLang="zh-CN" sz="2400" b="1" dirty="0">
                <a:latin typeface="Microsoft YaHei" panose="020B0503020204020204" pitchFamily="34" charset="-122"/>
                <a:ea typeface="Microsoft YaHei" panose="020B0503020204020204" pitchFamily="34" charset="-122"/>
              </a:rPr>
              <a:t>*/;</a:t>
            </a:r>
          </a:p>
          <a:p>
            <a:pPr eaLnBrk="1" hangingPunct="1"/>
            <a:r>
              <a:rPr lang="en-US" altLang="zh-CN" sz="2400" b="1" dirty="0">
                <a:latin typeface="Microsoft YaHei" panose="020B0503020204020204" pitchFamily="34" charset="-122"/>
                <a:ea typeface="Microsoft YaHei" panose="020B0503020204020204" pitchFamily="34" charset="-122"/>
              </a:rPr>
              <a:t>	}                                         }</a:t>
            </a:r>
          </a:p>
          <a:p>
            <a:pPr eaLnBrk="1" hangingPunct="1"/>
            <a:r>
              <a:rPr lang="en-US" altLang="zh-CN" sz="2400" b="1" dirty="0">
                <a:latin typeface="Microsoft YaHei" panose="020B0503020204020204" pitchFamily="34" charset="-122"/>
                <a:ea typeface="Microsoft YaHei" panose="020B0503020204020204" pitchFamily="34" charset="-122"/>
              </a:rPr>
              <a:t>	else                                 else</a:t>
            </a:r>
          </a:p>
          <a:p>
            <a:pPr eaLnBrk="1" hangingPunct="1"/>
            <a:r>
              <a:rPr lang="en-US" altLang="zh-CN" sz="2400" b="1" dirty="0">
                <a:latin typeface="Microsoft YaHei" panose="020B0503020204020204" pitchFamily="34" charset="-122"/>
                <a:ea typeface="Microsoft YaHei" panose="020B0503020204020204" pitchFamily="34" charset="-122"/>
              </a:rPr>
              <a:t>  /*</a:t>
            </a:r>
            <a:r>
              <a:rPr lang="zh-CN" altLang="en-US" sz="2400" b="1" dirty="0">
                <a:latin typeface="Microsoft YaHei" panose="020B0503020204020204" pitchFamily="34" charset="-122"/>
                <a:ea typeface="Microsoft YaHei" panose="020B0503020204020204" pitchFamily="34" charset="-122"/>
              </a:rPr>
              <a:t>输出信息</a:t>
            </a:r>
            <a:r>
              <a:rPr lang="en-US" altLang="zh-CN" sz="2400" b="1" dirty="0">
                <a:latin typeface="Microsoft YaHei" panose="020B0503020204020204" pitchFamily="34" charset="-122"/>
                <a:ea typeface="Microsoft YaHei" panose="020B0503020204020204" pitchFamily="34" charset="-122"/>
              </a:rPr>
              <a:t>"</a:t>
            </a:r>
            <a:r>
              <a:rPr lang="zh-CN" altLang="en-US" sz="2400" b="1" dirty="0">
                <a:latin typeface="Microsoft YaHei" panose="020B0503020204020204" pitchFamily="34" charset="-122"/>
                <a:ea typeface="Microsoft YaHei" panose="020B0503020204020204" pitchFamily="34" charset="-122"/>
              </a:rPr>
              <a:t>票已售完</a:t>
            </a:r>
            <a:r>
              <a:rPr lang="en-US" altLang="zh-CN" sz="2400" b="1" dirty="0">
                <a:latin typeface="Microsoft YaHei" panose="020B0503020204020204" pitchFamily="34" charset="-122"/>
                <a:ea typeface="Microsoft YaHei" panose="020B0503020204020204" pitchFamily="34" charset="-122"/>
              </a:rPr>
              <a:t>“*/;      /*</a:t>
            </a:r>
            <a:r>
              <a:rPr lang="zh-CN" altLang="en-US" sz="2400" b="1" dirty="0">
                <a:latin typeface="Microsoft YaHei" panose="020B0503020204020204" pitchFamily="34" charset="-122"/>
                <a:ea typeface="Microsoft YaHei" panose="020B0503020204020204" pitchFamily="34" charset="-122"/>
              </a:rPr>
              <a:t>输出信息</a:t>
            </a:r>
            <a:r>
              <a:rPr lang="en-US" altLang="zh-CN" sz="2400" b="1" dirty="0">
                <a:latin typeface="Microsoft YaHei" panose="020B0503020204020204" pitchFamily="34" charset="-122"/>
                <a:ea typeface="Microsoft YaHei" panose="020B0503020204020204" pitchFamily="34" charset="-122"/>
              </a:rPr>
              <a:t>"</a:t>
            </a:r>
            <a:r>
              <a:rPr lang="zh-CN" altLang="en-US" sz="2400" b="1" dirty="0">
                <a:latin typeface="Microsoft YaHei" panose="020B0503020204020204" pitchFamily="34" charset="-122"/>
                <a:ea typeface="Microsoft YaHei" panose="020B0503020204020204" pitchFamily="34" charset="-122"/>
              </a:rPr>
              <a:t>票已售完</a:t>
            </a:r>
            <a:r>
              <a:rPr lang="en-US" altLang="zh-CN" sz="2400" b="1" dirty="0">
                <a:latin typeface="Microsoft YaHei" panose="020B0503020204020204" pitchFamily="34" charset="-122"/>
                <a:ea typeface="Microsoft YaHei" panose="020B0503020204020204" pitchFamily="34" charset="-122"/>
              </a:rPr>
              <a:t>“*/;</a:t>
            </a:r>
          </a:p>
          <a:p>
            <a:pPr eaLnBrk="1" hangingPunct="1"/>
            <a:r>
              <a:rPr lang="en-US" altLang="zh-CN" sz="2400" b="1" dirty="0">
                <a:latin typeface="Microsoft YaHei" panose="020B0503020204020204" pitchFamily="34" charset="-122"/>
                <a:ea typeface="Microsoft YaHei" panose="020B0503020204020204" pitchFamily="34" charset="-122"/>
              </a:rPr>
              <a:t>}                          }</a:t>
            </a:r>
            <a:endParaRPr lang="zh-CN" altLang="zh-CN" sz="2400" b="1"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746847281"/>
      </p:ext>
    </p:extLst>
  </p:cSld>
  <p:clrMapOvr>
    <a:masterClrMapping/>
  </p:clrMapOvr>
  <p:transition>
    <p:wip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300CFD93-B854-DD4E-A455-43AC26B84126}"/>
              </a:ext>
            </a:extLst>
          </p:cNvPr>
          <p:cNvSpPr>
            <a:spLocks noGrp="1" noChangeArrowheads="1"/>
          </p:cNvSpPr>
          <p:nvPr>
            <p:ph type="title"/>
          </p:nvPr>
        </p:nvSpPr>
        <p:spPr>
          <a:xfrm>
            <a:off x="304800" y="188913"/>
            <a:ext cx="8686800" cy="1219200"/>
          </a:xfrm>
        </p:spPr>
        <p:txBody>
          <a:bodyPr/>
          <a:lstStyle/>
          <a:p>
            <a:pPr eaLnBrk="1" hangingPunct="1"/>
            <a:r>
              <a:rPr lang="zh-CN" altLang="en-US" sz="4500">
                <a:latin typeface="Microsoft YaHei" panose="020B0503020204020204" pitchFamily="34" charset="-122"/>
                <a:ea typeface="Microsoft YaHei" panose="020B0503020204020204" pitchFamily="34" charset="-122"/>
              </a:rPr>
              <a:t>（永远等待）</a:t>
            </a:r>
            <a:r>
              <a:rPr lang="zh-CN" altLang="zh-CN" sz="4500">
                <a:latin typeface="Microsoft YaHei" panose="020B0503020204020204" pitchFamily="34" charset="-122"/>
                <a:ea typeface="Microsoft YaHei" panose="020B0503020204020204" pitchFamily="34" charset="-122"/>
              </a:rPr>
              <a:t>内存资源</a:t>
            </a:r>
            <a:r>
              <a:rPr lang="zh-CN" altLang="en-US" sz="4500">
                <a:latin typeface="Microsoft YaHei" panose="020B0503020204020204" pitchFamily="34" charset="-122"/>
                <a:ea typeface="Microsoft YaHei" panose="020B0503020204020204" pitchFamily="34" charset="-122"/>
              </a:rPr>
              <a:t>管理问题</a:t>
            </a:r>
          </a:p>
        </p:txBody>
      </p:sp>
      <p:sp>
        <p:nvSpPr>
          <p:cNvPr id="20483" name="Rectangle 3">
            <a:extLst>
              <a:ext uri="{FF2B5EF4-FFF2-40B4-BE49-F238E27FC236}">
                <a16:creationId xmlns:a16="http://schemas.microsoft.com/office/drawing/2014/main" id="{510729E5-C71E-A64E-BB75-7EC4751A71AD}"/>
              </a:ext>
            </a:extLst>
          </p:cNvPr>
          <p:cNvSpPr>
            <a:spLocks noGrp="1" noChangeArrowheads="1"/>
          </p:cNvSpPr>
          <p:nvPr>
            <p:ph idx="1"/>
          </p:nvPr>
        </p:nvSpPr>
        <p:spPr>
          <a:xfrm>
            <a:off x="611188" y="1441450"/>
            <a:ext cx="8208962" cy="4508500"/>
          </a:xfrm>
        </p:spPr>
        <p:txBody>
          <a:bodyPr>
            <a:normAutofit fontScale="92500"/>
          </a:bodyPr>
          <a:lstStyle/>
          <a:p>
            <a:pPr eaLnBrk="1" hangingPunct="1">
              <a:buFontTx/>
              <a:buNone/>
            </a:pPr>
            <a:r>
              <a:rPr lang="en-US" altLang="zh-CN" sz="2400" b="1">
                <a:latin typeface="Microsoft YaHei" panose="020B0503020204020204" pitchFamily="34" charset="-122"/>
                <a:ea typeface="Microsoft YaHei" panose="020B0503020204020204" pitchFamily="34" charset="-122"/>
              </a:rPr>
              <a:t>    </a:t>
            </a:r>
            <a:r>
              <a:rPr lang="zh-CN" altLang="en-US" sz="2400" b="1">
                <a:latin typeface="Microsoft YaHei" panose="020B0503020204020204" pitchFamily="34" charset="-122"/>
                <a:ea typeface="Microsoft YaHei" panose="020B0503020204020204" pitchFamily="34" charset="-122"/>
              </a:rPr>
              <a:t>申请和归还内存资源问题</a:t>
            </a:r>
          </a:p>
          <a:p>
            <a:pPr eaLnBrk="1" hangingPunct="1"/>
            <a:r>
              <a:rPr lang="en-US" altLang="zh-CN" sz="2400" b="1">
                <a:latin typeface="Microsoft YaHei" panose="020B0503020204020204" pitchFamily="34" charset="-122"/>
                <a:ea typeface="Microsoft YaHei" panose="020B0503020204020204" pitchFamily="34" charset="-122"/>
              </a:rPr>
              <a:t>int X=memory;                   //memory</a:t>
            </a:r>
            <a:r>
              <a:rPr lang="zh-CN" altLang="en-US" sz="2400" b="1">
                <a:latin typeface="Microsoft YaHei" panose="020B0503020204020204" pitchFamily="34" charset="-122"/>
                <a:ea typeface="Microsoft YaHei" panose="020B0503020204020204" pitchFamily="34" charset="-122"/>
              </a:rPr>
              <a:t>为初始内存容量</a:t>
            </a:r>
            <a:endParaRPr lang="zh-CN" altLang="en-GB" sz="2400" b="1">
              <a:latin typeface="Microsoft YaHei" panose="020B0503020204020204" pitchFamily="34" charset="-122"/>
              <a:ea typeface="Microsoft YaHei" panose="020B0503020204020204" pitchFamily="34" charset="-122"/>
            </a:endParaRPr>
          </a:p>
          <a:p>
            <a:pPr eaLnBrk="1" hangingPunct="1"/>
            <a:r>
              <a:rPr lang="en-GB" altLang="zh-CN" sz="2400" b="1">
                <a:latin typeface="Microsoft YaHei" panose="020B0503020204020204" pitchFamily="34" charset="-122"/>
                <a:ea typeface="Microsoft YaHei" panose="020B0503020204020204" pitchFamily="34" charset="-122"/>
              </a:rPr>
              <a:t>void</a:t>
            </a:r>
            <a:r>
              <a:rPr lang="en-US" altLang="zh-CN" sz="2400" b="1">
                <a:latin typeface="Microsoft YaHei" panose="020B0503020204020204" pitchFamily="34" charset="-122"/>
                <a:ea typeface="Microsoft YaHei" panose="020B0503020204020204" pitchFamily="34" charset="-122"/>
              </a:rPr>
              <a:t> borrow(int B) {                  void return(int B) {</a:t>
            </a:r>
          </a:p>
          <a:p>
            <a:pPr eaLnBrk="1" hangingPunct="1"/>
            <a:r>
              <a:rPr lang="en-US" altLang="zh-CN" sz="2400" b="1">
                <a:latin typeface="Microsoft YaHei" panose="020B0503020204020204" pitchFamily="34" charset="-122"/>
                <a:ea typeface="Microsoft YaHei" panose="020B0503020204020204" pitchFamily="34" charset="-122"/>
              </a:rPr>
              <a:t>    while(B&gt;X)                                   X=X+B;</a:t>
            </a:r>
          </a:p>
          <a:p>
            <a:pPr eaLnBrk="1" hangingPunct="1"/>
            <a:r>
              <a:rPr lang="en-US" altLang="zh-CN" sz="2000" b="1">
                <a:latin typeface="Microsoft YaHei" panose="020B0503020204020204" pitchFamily="34" charset="-122"/>
                <a:ea typeface="Microsoft YaHei" panose="020B0503020204020204" pitchFamily="34" charset="-122"/>
              </a:rPr>
              <a:t>    /*</a:t>
            </a:r>
            <a:r>
              <a:rPr lang="zh-CN" altLang="en-US" sz="2000" b="1">
                <a:latin typeface="Microsoft YaHei" panose="020B0503020204020204" pitchFamily="34" charset="-122"/>
                <a:ea typeface="Microsoft YaHei" panose="020B0503020204020204" pitchFamily="34" charset="-122"/>
              </a:rPr>
              <a:t>进程</a:t>
            </a:r>
            <a:r>
              <a:rPr lang="zh-CN" altLang="en-US" sz="2000" b="1">
                <a:solidFill>
                  <a:srgbClr val="FF0000"/>
                </a:solidFill>
                <a:latin typeface="Microsoft YaHei" panose="020B0503020204020204" pitchFamily="34" charset="-122"/>
                <a:ea typeface="Microsoft YaHei" panose="020B0503020204020204" pitchFamily="34" charset="-122"/>
              </a:rPr>
              <a:t>进入等待内存资源队列</a:t>
            </a:r>
            <a:r>
              <a:rPr lang="en-US" altLang="zh-CN" sz="2000" b="1">
                <a:latin typeface="Microsoft YaHei" panose="020B0503020204020204" pitchFamily="34" charset="-122"/>
                <a:ea typeface="Microsoft YaHei" panose="020B0503020204020204" pitchFamily="34" charset="-122"/>
              </a:rPr>
              <a:t>*/;               /*</a:t>
            </a:r>
            <a:r>
              <a:rPr lang="zh-CN" altLang="en-US" sz="2000" b="1">
                <a:latin typeface="Microsoft YaHei" panose="020B0503020204020204" pitchFamily="34" charset="-122"/>
                <a:ea typeface="Microsoft YaHei" panose="020B0503020204020204" pitchFamily="34" charset="-122"/>
              </a:rPr>
              <a:t>修改内存分配表</a:t>
            </a:r>
            <a:r>
              <a:rPr lang="en-US" altLang="zh-CN" sz="2000" b="1">
                <a:latin typeface="Microsoft YaHei" panose="020B0503020204020204" pitchFamily="34" charset="-122"/>
                <a:ea typeface="Microsoft YaHei" panose="020B0503020204020204" pitchFamily="34" charset="-122"/>
              </a:rPr>
              <a:t>*/;</a:t>
            </a:r>
          </a:p>
          <a:p>
            <a:pPr eaLnBrk="1" hangingPunct="1"/>
            <a:r>
              <a:rPr lang="en-US" altLang="zh-CN" sz="2400" b="1">
                <a:latin typeface="Microsoft YaHei" panose="020B0503020204020204" pitchFamily="34" charset="-122"/>
                <a:ea typeface="Microsoft YaHei" panose="020B0503020204020204" pitchFamily="34" charset="-122"/>
              </a:rPr>
              <a:t>    X=X-B ;                                         </a:t>
            </a:r>
            <a:r>
              <a:rPr lang="en-US" altLang="zh-CN" sz="2000" b="1">
                <a:solidFill>
                  <a:srgbClr val="FF0000"/>
                </a:solidFill>
                <a:latin typeface="Microsoft YaHei" panose="020B0503020204020204" pitchFamily="34" charset="-122"/>
                <a:ea typeface="Microsoft YaHei" panose="020B0503020204020204" pitchFamily="34" charset="-122"/>
              </a:rPr>
              <a:t>/*</a:t>
            </a:r>
            <a:r>
              <a:rPr lang="zh-CN" altLang="en-US" sz="2000" b="1">
                <a:solidFill>
                  <a:srgbClr val="FF0000"/>
                </a:solidFill>
                <a:latin typeface="Microsoft YaHei" panose="020B0503020204020204" pitchFamily="34" charset="-122"/>
                <a:ea typeface="Microsoft YaHei" panose="020B0503020204020204" pitchFamily="34" charset="-122"/>
              </a:rPr>
              <a:t>释放等内存资源进程</a:t>
            </a:r>
            <a:r>
              <a:rPr lang="en-US" altLang="zh-CN" sz="2000" b="1">
                <a:solidFill>
                  <a:srgbClr val="FF0000"/>
                </a:solidFill>
                <a:latin typeface="Microsoft YaHei" panose="020B0503020204020204" pitchFamily="34" charset="-122"/>
                <a:ea typeface="Microsoft YaHei" panose="020B0503020204020204" pitchFamily="34" charset="-122"/>
              </a:rPr>
              <a:t>*/;</a:t>
            </a:r>
            <a:r>
              <a:rPr lang="en-US" altLang="zh-CN" sz="2400" b="1">
                <a:solidFill>
                  <a:srgbClr val="FF0000"/>
                </a:solidFill>
                <a:latin typeface="Microsoft YaHei" panose="020B0503020204020204" pitchFamily="34" charset="-122"/>
                <a:ea typeface="Microsoft YaHei" panose="020B0503020204020204" pitchFamily="34" charset="-122"/>
              </a:rPr>
              <a:t> </a:t>
            </a:r>
            <a:endParaRPr lang="en-US" altLang="zh-CN" sz="2000" b="1">
              <a:solidFill>
                <a:srgbClr val="FF0000"/>
              </a:solidFill>
              <a:latin typeface="Microsoft YaHei" panose="020B0503020204020204" pitchFamily="34" charset="-122"/>
              <a:ea typeface="Microsoft YaHei" panose="020B0503020204020204" pitchFamily="34" charset="-122"/>
            </a:endParaRPr>
          </a:p>
          <a:p>
            <a:pPr eaLnBrk="1" hangingPunct="1"/>
            <a:r>
              <a:rPr lang="en-US" altLang="zh-CN" sz="2000" b="1">
                <a:latin typeface="Microsoft YaHei" panose="020B0503020204020204" pitchFamily="34" charset="-122"/>
                <a:ea typeface="Microsoft YaHei" panose="020B0503020204020204" pitchFamily="34" charset="-122"/>
              </a:rPr>
              <a:t>    </a:t>
            </a:r>
            <a:r>
              <a:rPr lang="en-US" altLang="zh-CN" sz="1800" b="1">
                <a:latin typeface="Microsoft YaHei" panose="020B0503020204020204" pitchFamily="34" charset="-122"/>
                <a:ea typeface="Microsoft YaHei" panose="020B0503020204020204" pitchFamily="34" charset="-122"/>
              </a:rPr>
              <a:t>/*</a:t>
            </a:r>
            <a:r>
              <a:rPr lang="zh-CN" altLang="en-US" sz="1800" b="1">
                <a:latin typeface="Microsoft YaHei" panose="020B0503020204020204" pitchFamily="34" charset="-122"/>
                <a:ea typeface="Microsoft YaHei" panose="020B0503020204020204" pitchFamily="34" charset="-122"/>
              </a:rPr>
              <a:t>修改内存分配表，进程获得内存资源</a:t>
            </a:r>
            <a:r>
              <a:rPr lang="en-US" altLang="zh-CN" sz="1800" b="1">
                <a:latin typeface="Microsoft YaHei" panose="020B0503020204020204" pitchFamily="34" charset="-122"/>
                <a:ea typeface="Microsoft YaHei" panose="020B0503020204020204" pitchFamily="34" charset="-122"/>
              </a:rPr>
              <a:t>*/;</a:t>
            </a:r>
            <a:r>
              <a:rPr lang="en-US" altLang="zh-CN" sz="2000" b="1">
                <a:latin typeface="Microsoft YaHei" panose="020B0503020204020204" pitchFamily="34" charset="-122"/>
                <a:ea typeface="Microsoft YaHei" panose="020B0503020204020204" pitchFamily="34" charset="-122"/>
              </a:rPr>
              <a:t>     </a:t>
            </a:r>
            <a:r>
              <a:rPr lang="en-US" altLang="zh-CN" sz="2400" b="1">
                <a:latin typeface="Microsoft YaHei" panose="020B0503020204020204" pitchFamily="34" charset="-122"/>
                <a:ea typeface="Microsoft YaHei" panose="020B0503020204020204" pitchFamily="34" charset="-122"/>
              </a:rPr>
              <a:t>}</a:t>
            </a:r>
            <a:endParaRPr lang="en-US" altLang="zh-CN" sz="2000" b="1">
              <a:latin typeface="Microsoft YaHei" panose="020B0503020204020204" pitchFamily="34" charset="-122"/>
              <a:ea typeface="Microsoft YaHei" panose="020B0503020204020204" pitchFamily="34" charset="-122"/>
            </a:endParaRPr>
          </a:p>
          <a:p>
            <a:pPr eaLnBrk="1" hangingPunct="1"/>
            <a:r>
              <a:rPr lang="en-US" altLang="zh-CN" sz="2400" b="1">
                <a:latin typeface="Microsoft YaHei" panose="020B0503020204020204" pitchFamily="34" charset="-122"/>
                <a:ea typeface="Microsoft YaHei" panose="020B0503020204020204" pitchFamily="34" charset="-122"/>
              </a:rPr>
              <a:t>}</a:t>
            </a:r>
          </a:p>
          <a:p>
            <a:pPr eaLnBrk="1" hangingPunct="1">
              <a:buFont typeface="Arial" panose="020B0604020202020204" pitchFamily="34" charset="0"/>
              <a:buNone/>
            </a:pPr>
            <a:r>
              <a:rPr lang="en-US" altLang="zh-CN" sz="2400" b="1">
                <a:latin typeface="Microsoft YaHei" panose="020B0503020204020204" pitchFamily="34" charset="-122"/>
                <a:ea typeface="Microsoft YaHei" panose="020B0503020204020204" pitchFamily="34" charset="-122"/>
              </a:rPr>
              <a:t>borrow</a:t>
            </a:r>
            <a:r>
              <a:rPr lang="zh-CN" altLang="en-US" sz="2400" b="1">
                <a:latin typeface="Microsoft YaHei" panose="020B0503020204020204" pitchFamily="34" charset="-122"/>
                <a:ea typeface="Microsoft YaHei" panose="020B0503020204020204" pitchFamily="34" charset="-122"/>
              </a:rPr>
              <a:t>比较</a:t>
            </a:r>
            <a:r>
              <a:rPr lang="en-US" altLang="zh-CN" sz="2400" b="1">
                <a:latin typeface="Microsoft YaHei" panose="020B0503020204020204" pitchFamily="34" charset="-122"/>
                <a:ea typeface="Microsoft YaHei" panose="020B0503020204020204" pitchFamily="34" charset="-122"/>
              </a:rPr>
              <a:t>B&gt;X</a:t>
            </a:r>
            <a:r>
              <a:rPr lang="zh-CN" altLang="en-US" sz="2400" b="1">
                <a:latin typeface="Microsoft YaHei" panose="020B0503020204020204" pitchFamily="34" charset="-122"/>
                <a:ea typeface="Microsoft YaHei" panose="020B0503020204020204" pitchFamily="34" charset="-122"/>
              </a:rPr>
              <a:t>后，</a:t>
            </a:r>
            <a:r>
              <a:rPr lang="en-US" altLang="zh-CN" sz="2400" b="1">
                <a:latin typeface="Microsoft YaHei" panose="020B0503020204020204" pitchFamily="34" charset="-122"/>
                <a:ea typeface="Microsoft YaHei" panose="020B0503020204020204" pitchFamily="34" charset="-122"/>
              </a:rPr>
              <a:t>return</a:t>
            </a:r>
            <a:r>
              <a:rPr lang="zh-CN" altLang="en-US" sz="2400" b="1">
                <a:latin typeface="Microsoft YaHei" panose="020B0503020204020204" pitchFamily="34" charset="-122"/>
                <a:ea typeface="Microsoft YaHei" panose="020B0503020204020204" pitchFamily="34" charset="-122"/>
              </a:rPr>
              <a:t>抢先执行，此时无法释放“</a:t>
            </a:r>
            <a:r>
              <a:rPr lang="en-US" altLang="zh-CN" sz="2400" b="1">
                <a:latin typeface="Microsoft YaHei" panose="020B0503020204020204" pitchFamily="34" charset="-122"/>
                <a:ea typeface="Microsoft YaHei" panose="020B0503020204020204" pitchFamily="34" charset="-122"/>
              </a:rPr>
              <a:t>borrow</a:t>
            </a:r>
            <a:r>
              <a:rPr lang="zh-CN" altLang="en-US" sz="2400" b="1">
                <a:latin typeface="Microsoft YaHei" panose="020B0503020204020204" pitchFamily="34" charset="-122"/>
                <a:ea typeface="Microsoft YaHei" panose="020B0503020204020204" pitchFamily="34" charset="-122"/>
              </a:rPr>
              <a:t>”进程（未进入等待队列），随后可能永远等待</a:t>
            </a:r>
            <a:endParaRPr lang="en-US" altLang="zh-CN" sz="2400" b="1">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119983071"/>
      </p:ext>
    </p:extLst>
  </p:cSld>
  <p:clrMapOvr>
    <a:masterClrMapping/>
  </p:clrMapOvr>
  <p:transition>
    <p:dissolv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9FA2EF55-2D65-904C-99BC-C2C9E57CE954}"/>
              </a:ext>
            </a:extLst>
          </p:cNvPr>
          <p:cNvSpPr>
            <a:spLocks noGrp="1" noChangeArrowheads="1"/>
          </p:cNvSpPr>
          <p:nvPr>
            <p:ph type="title" idx="4294967295"/>
          </p:nvPr>
        </p:nvSpPr>
        <p:spPr>
          <a:xfrm>
            <a:off x="685800" y="228600"/>
            <a:ext cx="8458200" cy="1143000"/>
          </a:xfrm>
        </p:spPr>
        <p:txBody>
          <a:bodyPr/>
          <a:lstStyle/>
          <a:p>
            <a:pPr eaLnBrk="1" hangingPunct="1"/>
            <a:r>
              <a:rPr lang="zh-CN" altLang="en-US" sz="4800" dirty="0">
                <a:latin typeface="Microsoft YaHei" panose="020B0503020204020204" pitchFamily="34" charset="-122"/>
                <a:ea typeface="Microsoft YaHei" panose="020B0503020204020204" pitchFamily="34" charset="-122"/>
              </a:rPr>
              <a:t>互斥与临界区</a:t>
            </a:r>
            <a:endParaRPr lang="en-US" altLang="zh-CN" sz="4800" dirty="0">
              <a:latin typeface="Microsoft YaHei" panose="020B0503020204020204" pitchFamily="34" charset="-122"/>
              <a:ea typeface="Microsoft YaHei" panose="020B0503020204020204" pitchFamily="34" charset="-122"/>
            </a:endParaRPr>
          </a:p>
        </p:txBody>
      </p:sp>
      <p:sp>
        <p:nvSpPr>
          <p:cNvPr id="3075" name="Rectangle 3">
            <a:extLst>
              <a:ext uri="{FF2B5EF4-FFF2-40B4-BE49-F238E27FC236}">
                <a16:creationId xmlns:a16="http://schemas.microsoft.com/office/drawing/2014/main" id="{3045FEB7-BA27-F140-B8DA-DC0E224AB3C5}"/>
              </a:ext>
            </a:extLst>
          </p:cNvPr>
          <p:cNvSpPr>
            <a:spLocks noGrp="1" noChangeArrowheads="1"/>
          </p:cNvSpPr>
          <p:nvPr>
            <p:ph type="body" idx="4294967295"/>
          </p:nvPr>
        </p:nvSpPr>
        <p:spPr>
          <a:xfrm>
            <a:off x="670632" y="1371600"/>
            <a:ext cx="7770813" cy="4941888"/>
          </a:xfrm>
        </p:spPr>
        <p:txBody>
          <a:bodyPr/>
          <a:lstStyle/>
          <a:p>
            <a:pPr algn="just" eaLnBrk="1" hangingPunct="1">
              <a:lnSpc>
                <a:spcPct val="75000"/>
              </a:lnSpc>
            </a:pPr>
            <a:r>
              <a:rPr lang="zh-CN" altLang="en-US" sz="3600" dirty="0">
                <a:latin typeface="Microsoft YaHei" panose="020B0503020204020204" pitchFamily="34" charset="-122"/>
                <a:ea typeface="Microsoft YaHei" panose="020B0503020204020204" pitchFamily="34" charset="-122"/>
              </a:rPr>
              <a:t>并发进程中</a:t>
            </a:r>
            <a:r>
              <a:rPr lang="zh-CN" altLang="en-US" sz="3600" dirty="0">
                <a:solidFill>
                  <a:srgbClr val="FF0000"/>
                </a:solidFill>
                <a:latin typeface="Microsoft YaHei" panose="020B0503020204020204" pitchFamily="34" charset="-122"/>
                <a:ea typeface="Microsoft YaHei" panose="020B0503020204020204" pitchFamily="34" charset="-122"/>
              </a:rPr>
              <a:t>与共享变量有关的程序段</a:t>
            </a:r>
            <a:r>
              <a:rPr lang="zh-CN" altLang="en-US" sz="3600" dirty="0">
                <a:latin typeface="Microsoft YaHei" panose="020B0503020204020204" pitchFamily="34" charset="-122"/>
                <a:ea typeface="Microsoft YaHei" panose="020B0503020204020204" pitchFamily="34" charset="-122"/>
              </a:rPr>
              <a:t>叫“</a:t>
            </a:r>
            <a:r>
              <a:rPr lang="zh-CN" altLang="en-US" sz="3600" dirty="0">
                <a:solidFill>
                  <a:srgbClr val="FF9900"/>
                </a:solidFill>
                <a:latin typeface="Microsoft YaHei" panose="020B0503020204020204" pitchFamily="34" charset="-122"/>
                <a:ea typeface="Microsoft YaHei" panose="020B0503020204020204" pitchFamily="34" charset="-122"/>
              </a:rPr>
              <a:t>临界区</a:t>
            </a:r>
            <a:r>
              <a:rPr lang="zh-CN" altLang="en-US" sz="3600" dirty="0">
                <a:latin typeface="Microsoft YaHei" panose="020B0503020204020204" pitchFamily="34" charset="-122"/>
                <a:ea typeface="Microsoft YaHei" panose="020B0503020204020204" pitchFamily="34" charset="-122"/>
              </a:rPr>
              <a:t>”， 共享变量代表的资源叫“</a:t>
            </a:r>
            <a:r>
              <a:rPr lang="zh-CN" altLang="en-US" sz="3600" dirty="0">
                <a:solidFill>
                  <a:srgbClr val="FF9900"/>
                </a:solidFill>
                <a:latin typeface="Microsoft YaHei" panose="020B0503020204020204" pitchFamily="34" charset="-122"/>
                <a:ea typeface="Microsoft YaHei" panose="020B0503020204020204" pitchFamily="34" charset="-122"/>
              </a:rPr>
              <a:t>临界资源</a:t>
            </a:r>
            <a:r>
              <a:rPr lang="zh-CN" altLang="en-US" sz="3600" dirty="0">
                <a:latin typeface="Microsoft YaHei" panose="020B0503020204020204" pitchFamily="34" charset="-122"/>
                <a:ea typeface="Microsoft YaHei" panose="020B0503020204020204" pitchFamily="34" charset="-122"/>
              </a:rPr>
              <a:t>”。 </a:t>
            </a:r>
          </a:p>
          <a:p>
            <a:pPr algn="just" eaLnBrk="1" hangingPunct="1">
              <a:lnSpc>
                <a:spcPct val="75000"/>
              </a:lnSpc>
            </a:pPr>
            <a:r>
              <a:rPr lang="zh-CN" altLang="en-US" sz="3600" dirty="0">
                <a:latin typeface="Microsoft YaHei" panose="020B0503020204020204" pitchFamily="34" charset="-122"/>
                <a:ea typeface="Microsoft YaHei" panose="020B0503020204020204" pitchFamily="34" charset="-122"/>
              </a:rPr>
              <a:t>与同一变量有关的临界区分散在各进程的程序段中，而各进程的执行速度不可预知。</a:t>
            </a:r>
          </a:p>
          <a:p>
            <a:pPr algn="just" eaLnBrk="1" hangingPunct="1">
              <a:lnSpc>
                <a:spcPct val="75000"/>
              </a:lnSpc>
            </a:pPr>
            <a:r>
              <a:rPr lang="zh-CN" altLang="en-US" sz="3600" dirty="0">
                <a:latin typeface="Microsoft YaHei" panose="020B0503020204020204" pitchFamily="34" charset="-122"/>
                <a:ea typeface="Microsoft YaHei" panose="020B0503020204020204" pitchFamily="34" charset="-122"/>
              </a:rPr>
              <a:t>如果保证进程在临界区执行时，</a:t>
            </a:r>
            <a:r>
              <a:rPr lang="zh-CN" altLang="en-US" sz="3600" dirty="0">
                <a:solidFill>
                  <a:srgbClr val="FF9900"/>
                </a:solidFill>
                <a:latin typeface="Microsoft YaHei" panose="020B0503020204020204" pitchFamily="34" charset="-122"/>
                <a:ea typeface="Microsoft YaHei" panose="020B0503020204020204" pitchFamily="34" charset="-122"/>
              </a:rPr>
              <a:t>不让</a:t>
            </a:r>
            <a:r>
              <a:rPr lang="zh-CN" altLang="en-US" sz="3600" dirty="0">
                <a:latin typeface="Microsoft YaHei" panose="020B0503020204020204" pitchFamily="34" charset="-122"/>
                <a:ea typeface="Microsoft YaHei" panose="020B0503020204020204" pitchFamily="34" charset="-122"/>
              </a:rPr>
              <a:t>另一个进程进入临界区，即各进程对共享变量的访问是</a:t>
            </a:r>
            <a:r>
              <a:rPr lang="zh-CN" altLang="en-US" sz="3600" dirty="0">
                <a:solidFill>
                  <a:srgbClr val="FF9900"/>
                </a:solidFill>
                <a:latin typeface="Microsoft YaHei" panose="020B0503020204020204" pitchFamily="34" charset="-122"/>
                <a:ea typeface="Microsoft YaHei" panose="020B0503020204020204" pitchFamily="34" charset="-122"/>
              </a:rPr>
              <a:t>互斥</a:t>
            </a:r>
            <a:r>
              <a:rPr lang="zh-CN" altLang="en-US" sz="3600" dirty="0">
                <a:latin typeface="Microsoft YaHei" panose="020B0503020204020204" pitchFamily="34" charset="-122"/>
                <a:ea typeface="Microsoft YaHei" panose="020B0503020204020204" pitchFamily="34" charset="-122"/>
              </a:rPr>
              <a:t>的，就不会造成与时间有关的错误。</a:t>
            </a:r>
            <a:endParaRPr lang="zh-CN" altLang="zh-CN" sz="4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587027715"/>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 calcmode="lin" valueType="num">
                                      <p:cBhvr additive="base">
                                        <p:cTn id="7" dur="500" fill="hold"/>
                                        <p:tgtEl>
                                          <p:spTgt spid="3074"/>
                                        </p:tgtEl>
                                        <p:attrNameLst>
                                          <p:attrName>ppt_x</p:attrName>
                                        </p:attrNameLst>
                                      </p:cBhvr>
                                      <p:tavLst>
                                        <p:tav tm="0">
                                          <p:val>
                                            <p:strVal val="#ppt_x"/>
                                          </p:val>
                                        </p:tav>
                                        <p:tav tm="100000">
                                          <p:val>
                                            <p:strVal val="#ppt_x"/>
                                          </p:val>
                                        </p:tav>
                                      </p:tavLst>
                                    </p:anim>
                                    <p:anim calcmode="lin" valueType="num">
                                      <p:cBhvr additive="base">
                                        <p:cTn id="8" dur="500" fill="hold"/>
                                        <p:tgtEl>
                                          <p:spTgt spid="3074"/>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3075">
                                            <p:txEl>
                                              <p:pRg st="0" end="0"/>
                                            </p:txEl>
                                          </p:spTgt>
                                        </p:tgtEl>
                                        <p:attrNameLst>
                                          <p:attrName>style.visibility</p:attrName>
                                        </p:attrNameLst>
                                      </p:cBhvr>
                                      <p:to>
                                        <p:strVal val="visible"/>
                                      </p:to>
                                    </p:set>
                                    <p:anim calcmode="lin" valueType="num">
                                      <p:cBhvr additive="base">
                                        <p:cTn id="13" dur="500" fill="hold"/>
                                        <p:tgtEl>
                                          <p:spTgt spid="3075">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0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3075">
                                            <p:txEl>
                                              <p:pRg st="1" end="1"/>
                                            </p:txEl>
                                          </p:spTgt>
                                        </p:tgtEl>
                                        <p:attrNameLst>
                                          <p:attrName>style.visibility</p:attrName>
                                        </p:attrNameLst>
                                      </p:cBhvr>
                                      <p:to>
                                        <p:strVal val="visible"/>
                                      </p:to>
                                    </p:set>
                                    <p:anim calcmode="lin" valueType="num">
                                      <p:cBhvr additive="base">
                                        <p:cTn id="19" dur="500" fill="hold"/>
                                        <p:tgtEl>
                                          <p:spTgt spid="3075">
                                            <p:txEl>
                                              <p:pRg st="1" end="1"/>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0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3075">
                                            <p:txEl>
                                              <p:pRg st="2" end="2"/>
                                            </p:txEl>
                                          </p:spTgt>
                                        </p:tgtEl>
                                        <p:attrNameLst>
                                          <p:attrName>style.visibility</p:attrName>
                                        </p:attrNameLst>
                                      </p:cBhvr>
                                      <p:to>
                                        <p:strVal val="visible"/>
                                      </p:to>
                                    </p:set>
                                    <p:anim calcmode="lin" valueType="num">
                                      <p:cBhvr additive="base">
                                        <p:cTn id="25" dur="500" fill="hold"/>
                                        <p:tgtEl>
                                          <p:spTgt spid="3075">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07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4" grpId="0"/>
      <p:bldP spid="3075"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1" name="Rectangle 3">
            <a:extLst>
              <a:ext uri="{FF2B5EF4-FFF2-40B4-BE49-F238E27FC236}">
                <a16:creationId xmlns:a16="http://schemas.microsoft.com/office/drawing/2014/main" id="{3062C6B4-7B31-6D4B-A695-A1B06D0E5CC5}"/>
              </a:ext>
            </a:extLst>
          </p:cNvPr>
          <p:cNvSpPr>
            <a:spLocks noGrp="1" noChangeArrowheads="1"/>
          </p:cNvSpPr>
          <p:nvPr>
            <p:ph type="body" idx="4294967295"/>
          </p:nvPr>
        </p:nvSpPr>
        <p:spPr>
          <a:xfrm>
            <a:off x="2133600" y="620713"/>
            <a:ext cx="7010400" cy="6237287"/>
          </a:xfrm>
        </p:spPr>
        <p:txBody>
          <a:bodyPr/>
          <a:lstStyle/>
          <a:p>
            <a:pPr algn="just" eaLnBrk="1" hangingPunct="1">
              <a:lnSpc>
                <a:spcPct val="110000"/>
              </a:lnSpc>
              <a:buFont typeface="Wingdings" pitchFamily="2" charset="2"/>
              <a:buNone/>
            </a:pPr>
            <a:r>
              <a:rPr lang="en-US" altLang="zh-CN" sz="2400" b="1">
                <a:latin typeface="宋体" panose="02010600030101010101" pitchFamily="2" charset="-122"/>
              </a:rPr>
              <a:t>void Ti { //( i = 1, 2 )</a:t>
            </a:r>
          </a:p>
          <a:p>
            <a:pPr algn="just" eaLnBrk="1" hangingPunct="1">
              <a:lnSpc>
                <a:spcPct val="110000"/>
              </a:lnSpc>
              <a:buFont typeface="Wingdings" pitchFamily="2" charset="2"/>
              <a:buNone/>
            </a:pPr>
            <a:r>
              <a:rPr lang="en-US" altLang="zh-CN" sz="2400" b="1">
                <a:latin typeface="宋体" panose="02010600030101010101" pitchFamily="2" charset="-122"/>
              </a:rPr>
              <a:t> 	//</a:t>
            </a:r>
            <a:r>
              <a:rPr lang="zh-CN" altLang="en-US" sz="2400" b="1">
                <a:latin typeface="华文新魏" panose="02010800040101010101" pitchFamily="2" charset="-122"/>
                <a:ea typeface="华文新魏" panose="02010800040101010101" pitchFamily="2" charset="-122"/>
              </a:rPr>
              <a:t>按旅客定票要求找到</a:t>
            </a:r>
            <a:r>
              <a:rPr lang="en-US" altLang="zh-CN" sz="2400" b="1">
                <a:latin typeface="宋体" panose="02010600030101010101" pitchFamily="2" charset="-122"/>
              </a:rPr>
              <a:t>Aj</a:t>
            </a:r>
            <a:endParaRPr lang="zh-CN" altLang="en-US" sz="2400" b="1">
              <a:latin typeface="宋体" panose="02010600030101010101" pitchFamily="2" charset="-122"/>
            </a:endParaRPr>
          </a:p>
          <a:p>
            <a:pPr algn="just" eaLnBrk="1" hangingPunct="1">
              <a:lnSpc>
                <a:spcPct val="110000"/>
              </a:lnSpc>
              <a:buFont typeface="Wingdings" pitchFamily="2" charset="2"/>
              <a:buNone/>
            </a:pPr>
            <a:r>
              <a:rPr lang="zh-CN" altLang="en-US" sz="2400" b="1">
                <a:latin typeface="宋体" panose="02010600030101010101" pitchFamily="2" charset="-122"/>
              </a:rPr>
              <a:t>	</a:t>
            </a:r>
            <a:r>
              <a:rPr lang="en-US" altLang="zh-CN" sz="2400" b="1">
                <a:latin typeface="宋体" panose="02010600030101010101" pitchFamily="2" charset="-122"/>
              </a:rPr>
              <a:t>Xi = Aj;</a:t>
            </a:r>
          </a:p>
          <a:p>
            <a:pPr algn="just" eaLnBrk="1" hangingPunct="1">
              <a:lnSpc>
                <a:spcPct val="110000"/>
              </a:lnSpc>
              <a:buFont typeface="Wingdings" pitchFamily="2" charset="2"/>
              <a:buNone/>
            </a:pPr>
            <a:r>
              <a:rPr lang="en-US" altLang="zh-CN" sz="2400" b="1">
                <a:latin typeface="宋体" panose="02010600030101010101" pitchFamily="2" charset="-122"/>
              </a:rPr>
              <a:t>	if (Xi&gt;=1) { </a:t>
            </a:r>
          </a:p>
          <a:p>
            <a:pPr algn="just" eaLnBrk="1" hangingPunct="1">
              <a:lnSpc>
                <a:spcPct val="110000"/>
              </a:lnSpc>
              <a:buFont typeface="Wingdings" pitchFamily="2" charset="2"/>
              <a:buNone/>
            </a:pPr>
            <a:r>
              <a:rPr lang="en-US" altLang="zh-CN" sz="2400" b="1">
                <a:latin typeface="宋体" panose="02010600030101010101" pitchFamily="2" charset="-122"/>
              </a:rPr>
              <a:t>       Xi--; </a:t>
            </a:r>
          </a:p>
          <a:p>
            <a:pPr algn="just" eaLnBrk="1" hangingPunct="1">
              <a:lnSpc>
                <a:spcPct val="110000"/>
              </a:lnSpc>
              <a:buFont typeface="Wingdings" pitchFamily="2" charset="2"/>
              <a:buNone/>
            </a:pPr>
            <a:r>
              <a:rPr lang="en-US" altLang="zh-CN" sz="2400" b="1">
                <a:latin typeface="宋体" panose="02010600030101010101" pitchFamily="2" charset="-122"/>
              </a:rPr>
              <a:t>       </a:t>
            </a:r>
            <a:r>
              <a:rPr lang="en-US" altLang="zh-CN" sz="2400" b="1">
                <a:solidFill>
                  <a:srgbClr val="FF0000"/>
                </a:solidFill>
                <a:latin typeface="宋体" panose="02010600030101010101" pitchFamily="2" charset="-122"/>
              </a:rPr>
              <a:t>Aj=Xi;</a:t>
            </a:r>
          </a:p>
          <a:p>
            <a:pPr algn="just" eaLnBrk="1" hangingPunct="1">
              <a:lnSpc>
                <a:spcPct val="110000"/>
              </a:lnSpc>
              <a:buFont typeface="Wingdings" pitchFamily="2" charset="2"/>
              <a:buNone/>
            </a:pPr>
            <a:r>
              <a:rPr lang="en-US" altLang="zh-CN" sz="2400" b="1">
                <a:latin typeface="宋体" panose="02010600030101010101" pitchFamily="2" charset="-122"/>
              </a:rPr>
              <a:t>       {</a:t>
            </a:r>
            <a:r>
              <a:rPr lang="zh-CN" altLang="en-US" sz="2400" b="1">
                <a:latin typeface="华文新魏" panose="02010800040101010101" pitchFamily="2" charset="-122"/>
                <a:ea typeface="华文新魏" panose="02010800040101010101" pitchFamily="2" charset="-122"/>
              </a:rPr>
              <a:t>输出一张票</a:t>
            </a:r>
            <a:r>
              <a:rPr lang="en-US" altLang="zh-CN" sz="2400" b="1">
                <a:latin typeface="宋体" panose="02010600030101010101" pitchFamily="2" charset="-122"/>
              </a:rPr>
              <a:t>}</a:t>
            </a:r>
            <a:r>
              <a:rPr lang="zh-CN" altLang="en-US" sz="2400" b="1">
                <a:latin typeface="宋体" panose="02010600030101010101" pitchFamily="2" charset="-122"/>
              </a:rPr>
              <a:t>；</a:t>
            </a:r>
          </a:p>
          <a:p>
            <a:pPr algn="just" eaLnBrk="1" hangingPunct="1">
              <a:lnSpc>
                <a:spcPct val="110000"/>
              </a:lnSpc>
              <a:buFont typeface="Wingdings" pitchFamily="2" charset="2"/>
              <a:buNone/>
            </a:pPr>
            <a:r>
              <a:rPr lang="en-US" altLang="zh-CN" sz="2400" b="1">
                <a:latin typeface="宋体" panose="02010600030101010101" pitchFamily="2" charset="-122"/>
              </a:rPr>
              <a:t>   }</a:t>
            </a:r>
          </a:p>
          <a:p>
            <a:pPr algn="just" eaLnBrk="1" hangingPunct="1">
              <a:lnSpc>
                <a:spcPct val="110000"/>
              </a:lnSpc>
              <a:buFont typeface="Wingdings" pitchFamily="2" charset="2"/>
              <a:buNone/>
            </a:pPr>
            <a:r>
              <a:rPr lang="en-US" altLang="zh-CN" sz="2400" b="1">
                <a:latin typeface="宋体" panose="02010600030101010101" pitchFamily="2" charset="-122"/>
              </a:rPr>
              <a:t>	 else </a:t>
            </a:r>
          </a:p>
          <a:p>
            <a:pPr algn="just" eaLnBrk="1" hangingPunct="1">
              <a:lnSpc>
                <a:spcPct val="110000"/>
              </a:lnSpc>
              <a:buFont typeface="Wingdings" pitchFamily="2" charset="2"/>
              <a:buNone/>
            </a:pPr>
            <a:r>
              <a:rPr lang="en-US" altLang="zh-CN" sz="2400" b="1">
                <a:latin typeface="宋体" panose="02010600030101010101" pitchFamily="2" charset="-122"/>
              </a:rPr>
              <a:t>       {</a:t>
            </a:r>
            <a:r>
              <a:rPr lang="zh-CN" altLang="en-US" sz="2400" b="1">
                <a:latin typeface="华文新魏" panose="02010800040101010101" pitchFamily="2" charset="-122"/>
                <a:ea typeface="华文新魏" panose="02010800040101010101" pitchFamily="2" charset="-122"/>
              </a:rPr>
              <a:t>输出票已售完</a:t>
            </a:r>
            <a:r>
              <a:rPr lang="en-US" altLang="zh-CN" sz="2400" b="1">
                <a:latin typeface="宋体" panose="02010600030101010101" pitchFamily="2" charset="-122"/>
              </a:rPr>
              <a:t>}</a:t>
            </a:r>
            <a:r>
              <a:rPr lang="zh-CN" altLang="en-US" sz="2400" b="1">
                <a:latin typeface="宋体" panose="02010600030101010101" pitchFamily="2" charset="-122"/>
              </a:rPr>
              <a:t>；</a:t>
            </a:r>
          </a:p>
          <a:p>
            <a:pPr algn="just" eaLnBrk="1" hangingPunct="1">
              <a:lnSpc>
                <a:spcPct val="110000"/>
              </a:lnSpc>
              <a:buFont typeface="Wingdings" pitchFamily="2" charset="2"/>
              <a:buNone/>
            </a:pPr>
            <a:r>
              <a:rPr lang="en-US" altLang="zh-CN" sz="2400" b="1">
                <a:latin typeface="宋体" panose="02010600030101010101" pitchFamily="2" charset="-122"/>
              </a:rPr>
              <a:t>}</a:t>
            </a:r>
            <a:endParaRPr lang="zh-CN" altLang="zh-CN" sz="2800" b="1">
              <a:latin typeface="宋体" panose="02010600030101010101" pitchFamily="2" charset="-122"/>
            </a:endParaRPr>
          </a:p>
        </p:txBody>
      </p:sp>
      <p:sp>
        <p:nvSpPr>
          <p:cNvPr id="50183" name="Rectangle 2">
            <a:extLst>
              <a:ext uri="{FF2B5EF4-FFF2-40B4-BE49-F238E27FC236}">
                <a16:creationId xmlns:a16="http://schemas.microsoft.com/office/drawing/2014/main" id="{4B433067-6849-3C4A-B7BA-BED3AAAD51A3}"/>
              </a:ext>
            </a:extLst>
          </p:cNvPr>
          <p:cNvSpPr>
            <a:spLocks noChangeArrowheads="1"/>
          </p:cNvSpPr>
          <p:nvPr/>
        </p:nvSpPr>
        <p:spPr bwMode="auto">
          <a:xfrm>
            <a:off x="685800" y="-26988"/>
            <a:ext cx="8153400" cy="1143001"/>
          </a:xfrm>
          <a:prstGeom prst="rect">
            <a:avLst/>
          </a:prstGeom>
          <a:noFill/>
          <a:ln w="9525">
            <a:noFill/>
            <a:miter lim="800000"/>
            <a:headEnd/>
            <a:tailEnd/>
          </a:ln>
          <a:effectLst/>
        </p:spPr>
        <p:txBody>
          <a:bodyPr anchor="ctr"/>
          <a:lstStyle/>
          <a:p>
            <a:pPr algn="ctr" eaLnBrk="1" fontAlgn="auto" hangingPunct="1">
              <a:spcBef>
                <a:spcPts val="0"/>
              </a:spcBef>
              <a:spcAft>
                <a:spcPts val="0"/>
              </a:spcAft>
              <a:defRPr/>
            </a:pPr>
            <a:r>
              <a:rPr lang="en-US" altLang="zh-CN" sz="5400">
                <a:effectLst>
                  <a:outerShdw blurRad="38100" dist="38100" dir="2700000" algn="tl">
                    <a:srgbClr val="000000"/>
                  </a:outerShdw>
                </a:effectLst>
                <a:latin typeface="隶书" pitchFamily="49" charset="-122"/>
                <a:ea typeface="隶书" pitchFamily="49" charset="-122"/>
              </a:rPr>
              <a:t> </a:t>
            </a:r>
            <a:endParaRPr lang="zh-CN" altLang="en-US" sz="4800">
              <a:effectLst>
                <a:outerShdw blurRad="38100" dist="38100" dir="2700000" algn="tl">
                  <a:srgbClr val="000000"/>
                </a:outerShdw>
              </a:effectLst>
              <a:latin typeface="Arial" charset="0"/>
              <a:ea typeface="华文新魏" pitchFamily="2" charset="-122"/>
            </a:endParaRPr>
          </a:p>
        </p:txBody>
      </p:sp>
      <p:sp>
        <p:nvSpPr>
          <p:cNvPr id="50184" name="Rectangle 8">
            <a:extLst>
              <a:ext uri="{FF2B5EF4-FFF2-40B4-BE49-F238E27FC236}">
                <a16:creationId xmlns:a16="http://schemas.microsoft.com/office/drawing/2014/main" id="{D8EEA3AC-956B-3943-AE3A-7972788F644E}"/>
              </a:ext>
            </a:extLst>
          </p:cNvPr>
          <p:cNvSpPr>
            <a:spLocks noChangeArrowheads="1"/>
          </p:cNvSpPr>
          <p:nvPr/>
        </p:nvSpPr>
        <p:spPr bwMode="auto">
          <a:xfrm>
            <a:off x="2420938" y="58738"/>
            <a:ext cx="4095750" cy="519112"/>
          </a:xfrm>
          <a:prstGeom prst="rect">
            <a:avLst/>
          </a:prstGeom>
          <a:noFill/>
          <a:ln w="9525">
            <a:noFill/>
            <a:miter lim="800000"/>
            <a:headEnd/>
            <a:tailEnd/>
          </a:ln>
          <a:effec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2800">
                <a:effectLst>
                  <a:outerShdw blurRad="38100" dist="38100" dir="2700000" algn="tl">
                    <a:srgbClr val="C0C0C0"/>
                  </a:outerShdw>
                </a:effectLst>
                <a:latin typeface="Arial" panose="020B0604020202020204" pitchFamily="34" charset="0"/>
              </a:rPr>
              <a:t>（结果不唯一）机票问题</a:t>
            </a:r>
          </a:p>
        </p:txBody>
      </p:sp>
      <p:sp>
        <p:nvSpPr>
          <p:cNvPr id="50185" name="Text Box 9">
            <a:extLst>
              <a:ext uri="{FF2B5EF4-FFF2-40B4-BE49-F238E27FC236}">
                <a16:creationId xmlns:a16="http://schemas.microsoft.com/office/drawing/2014/main" id="{4F44619F-C880-7E4E-A11B-C54ACE29B97F}"/>
              </a:ext>
            </a:extLst>
          </p:cNvPr>
          <p:cNvSpPr txBox="1">
            <a:spLocks noChangeArrowheads="1"/>
          </p:cNvSpPr>
          <p:nvPr/>
        </p:nvSpPr>
        <p:spPr bwMode="auto">
          <a:xfrm>
            <a:off x="6300788" y="5013325"/>
            <a:ext cx="143986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a:latin typeface="Arial" panose="020B0604020202020204" pitchFamily="34" charset="0"/>
                <a:ea typeface="宋体" panose="02010600030101010101" pitchFamily="2" charset="-122"/>
              </a:rPr>
              <a:t>即使是</a:t>
            </a:r>
            <a:r>
              <a:rPr lang="en-US" altLang="zh-CN">
                <a:latin typeface="Arial" panose="020B0604020202020204" pitchFamily="34" charset="0"/>
                <a:ea typeface="宋体" panose="02010600030101010101" pitchFamily="2" charset="-122"/>
              </a:rPr>
              <a:t>i--</a:t>
            </a:r>
            <a:r>
              <a:rPr lang="zh-CN" altLang="en-US">
                <a:latin typeface="Arial" panose="020B0604020202020204" pitchFamily="34" charset="0"/>
                <a:ea typeface="宋体" panose="02010600030101010101" pitchFamily="2" charset="-122"/>
              </a:rPr>
              <a:t>这种简单的运算也可能被打断</a:t>
            </a:r>
          </a:p>
        </p:txBody>
      </p:sp>
    </p:spTree>
    <p:extLst>
      <p:ext uri="{BB962C8B-B14F-4D97-AF65-F5344CB8AC3E}">
        <p14:creationId xmlns:p14="http://schemas.microsoft.com/office/powerpoint/2010/main" val="272573148"/>
      </p:ext>
    </p:extLst>
  </p:cSld>
  <p:clrMapOvr>
    <a:masterClrMapping/>
  </p:clrMapOvr>
  <p:transition>
    <p:wip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0184"/>
                                        </p:tgtEl>
                                        <p:attrNameLst>
                                          <p:attrName>style.visibility</p:attrName>
                                        </p:attrNameLst>
                                      </p:cBhvr>
                                      <p:to>
                                        <p:strVal val="visible"/>
                                      </p:to>
                                    </p:set>
                                    <p:animEffect transition="in" filter="blinds(horizontal)">
                                      <p:cBhvr>
                                        <p:cTn id="7" dur="500"/>
                                        <p:tgtEl>
                                          <p:spTgt spid="5018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50181">
                                            <p:txEl>
                                              <p:pRg st="0" end="0"/>
                                            </p:txEl>
                                          </p:spTgt>
                                        </p:tgtEl>
                                        <p:attrNameLst>
                                          <p:attrName>style.visibility</p:attrName>
                                        </p:attrNameLst>
                                      </p:cBhvr>
                                      <p:to>
                                        <p:strVal val="visible"/>
                                      </p:to>
                                    </p:set>
                                    <p:anim calcmode="lin" valueType="num">
                                      <p:cBhvr additive="base">
                                        <p:cTn id="12" dur="500" fill="hold"/>
                                        <p:tgtEl>
                                          <p:spTgt spid="50181">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0181">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50181">
                                            <p:txEl>
                                              <p:pRg st="1" end="1"/>
                                            </p:txEl>
                                          </p:spTgt>
                                        </p:tgtEl>
                                        <p:attrNameLst>
                                          <p:attrName>style.visibility</p:attrName>
                                        </p:attrNameLst>
                                      </p:cBhvr>
                                      <p:to>
                                        <p:strVal val="visible"/>
                                      </p:to>
                                    </p:set>
                                    <p:anim calcmode="lin" valueType="num">
                                      <p:cBhvr additive="base">
                                        <p:cTn id="16" dur="500" fill="hold"/>
                                        <p:tgtEl>
                                          <p:spTgt spid="50181">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50181">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50181">
                                            <p:txEl>
                                              <p:pRg st="2" end="2"/>
                                            </p:txEl>
                                          </p:spTgt>
                                        </p:tgtEl>
                                        <p:attrNameLst>
                                          <p:attrName>style.visibility</p:attrName>
                                        </p:attrNameLst>
                                      </p:cBhvr>
                                      <p:to>
                                        <p:strVal val="visible"/>
                                      </p:to>
                                    </p:set>
                                    <p:anim calcmode="lin" valueType="num">
                                      <p:cBhvr additive="base">
                                        <p:cTn id="20" dur="500" fill="hold"/>
                                        <p:tgtEl>
                                          <p:spTgt spid="50181">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50181">
                                            <p:txEl>
                                              <p:pRg st="2" end="2"/>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50181">
                                            <p:txEl>
                                              <p:pRg st="3" end="3"/>
                                            </p:txEl>
                                          </p:spTgt>
                                        </p:tgtEl>
                                        <p:attrNameLst>
                                          <p:attrName>style.visibility</p:attrName>
                                        </p:attrNameLst>
                                      </p:cBhvr>
                                      <p:to>
                                        <p:strVal val="visible"/>
                                      </p:to>
                                    </p:set>
                                    <p:anim calcmode="lin" valueType="num">
                                      <p:cBhvr additive="base">
                                        <p:cTn id="24" dur="500" fill="hold"/>
                                        <p:tgtEl>
                                          <p:spTgt spid="50181">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50181">
                                            <p:txEl>
                                              <p:pRg st="3" end="3"/>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50181">
                                            <p:txEl>
                                              <p:pRg st="4" end="4"/>
                                            </p:txEl>
                                          </p:spTgt>
                                        </p:tgtEl>
                                        <p:attrNameLst>
                                          <p:attrName>style.visibility</p:attrName>
                                        </p:attrNameLst>
                                      </p:cBhvr>
                                      <p:to>
                                        <p:strVal val="visible"/>
                                      </p:to>
                                    </p:set>
                                    <p:anim calcmode="lin" valueType="num">
                                      <p:cBhvr additive="base">
                                        <p:cTn id="28" dur="500" fill="hold"/>
                                        <p:tgtEl>
                                          <p:spTgt spid="50181">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50181">
                                            <p:txEl>
                                              <p:pRg st="4" end="4"/>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50181">
                                            <p:txEl>
                                              <p:pRg st="5" end="5"/>
                                            </p:txEl>
                                          </p:spTgt>
                                        </p:tgtEl>
                                        <p:attrNameLst>
                                          <p:attrName>style.visibility</p:attrName>
                                        </p:attrNameLst>
                                      </p:cBhvr>
                                      <p:to>
                                        <p:strVal val="visible"/>
                                      </p:to>
                                    </p:set>
                                    <p:anim calcmode="lin" valueType="num">
                                      <p:cBhvr additive="base">
                                        <p:cTn id="32" dur="500" fill="hold"/>
                                        <p:tgtEl>
                                          <p:spTgt spid="50181">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50181">
                                            <p:txEl>
                                              <p:pRg st="5" end="5"/>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50181">
                                            <p:txEl>
                                              <p:pRg st="6" end="6"/>
                                            </p:txEl>
                                          </p:spTgt>
                                        </p:tgtEl>
                                        <p:attrNameLst>
                                          <p:attrName>style.visibility</p:attrName>
                                        </p:attrNameLst>
                                      </p:cBhvr>
                                      <p:to>
                                        <p:strVal val="visible"/>
                                      </p:to>
                                    </p:set>
                                    <p:anim calcmode="lin" valueType="num">
                                      <p:cBhvr additive="base">
                                        <p:cTn id="36" dur="500" fill="hold"/>
                                        <p:tgtEl>
                                          <p:spTgt spid="50181">
                                            <p:txEl>
                                              <p:pRg st="6" end="6"/>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50181">
                                            <p:txEl>
                                              <p:pRg st="6" end="6"/>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50181">
                                            <p:txEl>
                                              <p:pRg st="7" end="7"/>
                                            </p:txEl>
                                          </p:spTgt>
                                        </p:tgtEl>
                                        <p:attrNameLst>
                                          <p:attrName>style.visibility</p:attrName>
                                        </p:attrNameLst>
                                      </p:cBhvr>
                                      <p:to>
                                        <p:strVal val="visible"/>
                                      </p:to>
                                    </p:set>
                                    <p:anim calcmode="lin" valueType="num">
                                      <p:cBhvr additive="base">
                                        <p:cTn id="40" dur="500" fill="hold"/>
                                        <p:tgtEl>
                                          <p:spTgt spid="50181">
                                            <p:txEl>
                                              <p:pRg st="7" end="7"/>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50181">
                                            <p:txEl>
                                              <p:pRg st="7" end="7"/>
                                            </p:txEl>
                                          </p:spTgt>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50181">
                                            <p:txEl>
                                              <p:pRg st="8" end="8"/>
                                            </p:txEl>
                                          </p:spTgt>
                                        </p:tgtEl>
                                        <p:attrNameLst>
                                          <p:attrName>style.visibility</p:attrName>
                                        </p:attrNameLst>
                                      </p:cBhvr>
                                      <p:to>
                                        <p:strVal val="visible"/>
                                      </p:to>
                                    </p:set>
                                    <p:anim calcmode="lin" valueType="num">
                                      <p:cBhvr additive="base">
                                        <p:cTn id="44" dur="500" fill="hold"/>
                                        <p:tgtEl>
                                          <p:spTgt spid="50181">
                                            <p:txEl>
                                              <p:pRg st="8" end="8"/>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50181">
                                            <p:txEl>
                                              <p:pRg st="8" end="8"/>
                                            </p:txEl>
                                          </p:spTgt>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50181">
                                            <p:txEl>
                                              <p:pRg st="9" end="9"/>
                                            </p:txEl>
                                          </p:spTgt>
                                        </p:tgtEl>
                                        <p:attrNameLst>
                                          <p:attrName>style.visibility</p:attrName>
                                        </p:attrNameLst>
                                      </p:cBhvr>
                                      <p:to>
                                        <p:strVal val="visible"/>
                                      </p:to>
                                    </p:set>
                                    <p:anim calcmode="lin" valueType="num">
                                      <p:cBhvr additive="base">
                                        <p:cTn id="48" dur="500" fill="hold"/>
                                        <p:tgtEl>
                                          <p:spTgt spid="50181">
                                            <p:txEl>
                                              <p:pRg st="9" end="9"/>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50181">
                                            <p:txEl>
                                              <p:pRg st="9" end="9"/>
                                            </p:txEl>
                                          </p:spTgt>
                                        </p:tgtEl>
                                        <p:attrNameLst>
                                          <p:attrName>ppt_y</p:attrName>
                                        </p:attrNameLst>
                                      </p:cBhvr>
                                      <p:tavLst>
                                        <p:tav tm="0">
                                          <p:val>
                                            <p:strVal val="1+#ppt_h/2"/>
                                          </p:val>
                                        </p:tav>
                                        <p:tav tm="100000">
                                          <p:val>
                                            <p:strVal val="#ppt_y"/>
                                          </p:val>
                                        </p:tav>
                                      </p:tavLst>
                                    </p:anim>
                                  </p:childTnLst>
                                </p:cTn>
                              </p:par>
                              <p:par>
                                <p:cTn id="50" presetID="2" presetClass="entr" presetSubtype="4" fill="hold" nodeType="withEffect">
                                  <p:stCondLst>
                                    <p:cond delay="0"/>
                                  </p:stCondLst>
                                  <p:childTnLst>
                                    <p:set>
                                      <p:cBhvr>
                                        <p:cTn id="51" dur="1" fill="hold">
                                          <p:stCondLst>
                                            <p:cond delay="0"/>
                                          </p:stCondLst>
                                        </p:cTn>
                                        <p:tgtEl>
                                          <p:spTgt spid="50181">
                                            <p:txEl>
                                              <p:pRg st="10" end="10"/>
                                            </p:txEl>
                                          </p:spTgt>
                                        </p:tgtEl>
                                        <p:attrNameLst>
                                          <p:attrName>style.visibility</p:attrName>
                                        </p:attrNameLst>
                                      </p:cBhvr>
                                      <p:to>
                                        <p:strVal val="visible"/>
                                      </p:to>
                                    </p:set>
                                    <p:anim calcmode="lin" valueType="num">
                                      <p:cBhvr additive="base">
                                        <p:cTn id="52" dur="500" fill="hold"/>
                                        <p:tgtEl>
                                          <p:spTgt spid="50181">
                                            <p:txEl>
                                              <p:pRg st="10" end="10"/>
                                            </p:txEl>
                                          </p:spTgt>
                                        </p:tgtEl>
                                        <p:attrNameLst>
                                          <p:attrName>ppt_x</p:attrName>
                                        </p:attrNameLst>
                                      </p:cBhvr>
                                      <p:tavLst>
                                        <p:tav tm="0">
                                          <p:val>
                                            <p:strVal val="#ppt_x"/>
                                          </p:val>
                                        </p:tav>
                                        <p:tav tm="100000">
                                          <p:val>
                                            <p:strVal val="#ppt_x"/>
                                          </p:val>
                                        </p:tav>
                                      </p:tavLst>
                                    </p:anim>
                                    <p:anim calcmode="lin" valueType="num">
                                      <p:cBhvr additive="base">
                                        <p:cTn id="53" dur="500" fill="hold"/>
                                        <p:tgtEl>
                                          <p:spTgt spid="50181">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54" fill="hold" nodeType="clickPar">
                      <p:stCondLst>
                        <p:cond delay="indefinite"/>
                      </p:stCondLst>
                      <p:childTnLst>
                        <p:par>
                          <p:cTn id="55" fill="hold" nodeType="withGroup">
                            <p:stCondLst>
                              <p:cond delay="0"/>
                            </p:stCondLst>
                            <p:childTnLst>
                              <p:par>
                                <p:cTn id="56" presetID="8" presetClass="entr" presetSubtype="16" fill="hold" nodeType="clickEffect">
                                  <p:stCondLst>
                                    <p:cond delay="0"/>
                                  </p:stCondLst>
                                  <p:childTnLst>
                                    <p:set>
                                      <p:cBhvr>
                                        <p:cTn id="57" dur="1" fill="hold">
                                          <p:stCondLst>
                                            <p:cond delay="0"/>
                                          </p:stCondLst>
                                        </p:cTn>
                                        <p:tgtEl>
                                          <p:spTgt spid="50185"/>
                                        </p:tgtEl>
                                        <p:attrNameLst>
                                          <p:attrName>style.visibility</p:attrName>
                                        </p:attrNameLst>
                                      </p:cBhvr>
                                      <p:to>
                                        <p:strVal val="visible"/>
                                      </p:to>
                                    </p:set>
                                    <p:animEffect transition="in" filter="diamond(in)">
                                      <p:cBhvr>
                                        <p:cTn id="58" dur="2000"/>
                                        <p:tgtEl>
                                          <p:spTgt spid="5018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4" grpId="0"/>
      <p:bldP spid="5018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5" name="Rectangle 3">
            <a:extLst>
              <a:ext uri="{FF2B5EF4-FFF2-40B4-BE49-F238E27FC236}">
                <a16:creationId xmlns:a16="http://schemas.microsoft.com/office/drawing/2014/main" id="{43F13872-B980-814E-A2E6-98C3121D38A1}"/>
              </a:ext>
            </a:extLst>
          </p:cNvPr>
          <p:cNvSpPr>
            <a:spLocks noGrp="1" noChangeArrowheads="1"/>
          </p:cNvSpPr>
          <p:nvPr>
            <p:ph type="body" idx="4294967295"/>
          </p:nvPr>
        </p:nvSpPr>
        <p:spPr>
          <a:xfrm>
            <a:off x="1871663" y="836613"/>
            <a:ext cx="7272337" cy="5761037"/>
          </a:xfrm>
        </p:spPr>
        <p:txBody>
          <a:bodyPr/>
          <a:lstStyle/>
          <a:p>
            <a:pPr algn="just" eaLnBrk="1" hangingPunct="1">
              <a:spcBef>
                <a:spcPct val="0"/>
              </a:spcBef>
              <a:buFont typeface="Wingdings" pitchFamily="2" charset="2"/>
              <a:buNone/>
            </a:pPr>
            <a:r>
              <a:rPr lang="en-US" altLang="zh-CN" sz="2400" b="1">
                <a:latin typeface="宋体" panose="02010600030101010101" pitchFamily="2" charset="-122"/>
              </a:rPr>
              <a:t>//x</a:t>
            </a:r>
            <a:r>
              <a:rPr lang="zh-CN" altLang="en-US" sz="2400" b="1">
                <a:latin typeface="宋体" panose="02010600030101010101" pitchFamily="2" charset="-122"/>
              </a:rPr>
              <a:t>为当前内存剩余容量</a:t>
            </a:r>
            <a:endParaRPr lang="en-US" altLang="zh-CN" sz="2400" b="1">
              <a:latin typeface="宋体" panose="02010600030101010101" pitchFamily="2" charset="-122"/>
            </a:endParaRPr>
          </a:p>
          <a:p>
            <a:pPr algn="just" eaLnBrk="1" hangingPunct="1">
              <a:spcBef>
                <a:spcPct val="0"/>
              </a:spcBef>
              <a:buFont typeface="Wingdings" pitchFamily="2" charset="2"/>
              <a:buNone/>
            </a:pPr>
            <a:r>
              <a:rPr lang="en-US" altLang="zh-CN" sz="2400" b="1">
                <a:latin typeface="宋体" panose="02010600030101010101" pitchFamily="2" charset="-122"/>
              </a:rPr>
              <a:t>void borrow (int B) {</a:t>
            </a:r>
          </a:p>
          <a:p>
            <a:pPr algn="just" eaLnBrk="1" hangingPunct="1">
              <a:spcBef>
                <a:spcPct val="0"/>
              </a:spcBef>
              <a:buFont typeface="Wingdings" pitchFamily="2" charset="2"/>
              <a:buNone/>
            </a:pPr>
            <a:r>
              <a:rPr lang="en-US" altLang="zh-CN" sz="2400" b="1">
                <a:latin typeface="宋体" panose="02010600030101010101" pitchFamily="2" charset="-122"/>
              </a:rPr>
              <a:t>     while(</a:t>
            </a:r>
            <a:r>
              <a:rPr lang="en-US" altLang="zh-CN" sz="2400" b="1">
                <a:solidFill>
                  <a:srgbClr val="FF0000"/>
                </a:solidFill>
                <a:latin typeface="宋体" panose="02010600030101010101" pitchFamily="2" charset="-122"/>
              </a:rPr>
              <a:t>B&gt;x</a:t>
            </a:r>
            <a:r>
              <a:rPr lang="en-US" altLang="zh-CN" sz="2400" b="1">
                <a:latin typeface="宋体" panose="02010600030101010101" pitchFamily="2" charset="-122"/>
              </a:rPr>
              <a:t>)    </a:t>
            </a:r>
          </a:p>
          <a:p>
            <a:pPr algn="just" eaLnBrk="1" hangingPunct="1">
              <a:spcBef>
                <a:spcPct val="0"/>
              </a:spcBef>
              <a:buFont typeface="Wingdings" pitchFamily="2" charset="2"/>
              <a:buNone/>
            </a:pPr>
            <a:r>
              <a:rPr lang="en-US" altLang="zh-CN" sz="2400" b="1">
                <a:latin typeface="宋体" panose="02010600030101010101" pitchFamily="2" charset="-122"/>
              </a:rPr>
              <a:t>          {</a:t>
            </a:r>
            <a:r>
              <a:rPr lang="zh-CN" altLang="en-US" sz="2400" b="1">
                <a:latin typeface="华文新魏" panose="02010800040101010101" pitchFamily="2" charset="-122"/>
                <a:ea typeface="华文新魏" panose="02010800040101010101" pitchFamily="2" charset="-122"/>
              </a:rPr>
              <a:t>申请进程进入等待队列等主存资源</a:t>
            </a:r>
            <a:r>
              <a:rPr lang="en-US" altLang="zh-CN" sz="2400" b="1">
                <a:latin typeface="宋体" panose="02010600030101010101" pitchFamily="2" charset="-122"/>
              </a:rPr>
              <a:t>}</a:t>
            </a:r>
          </a:p>
          <a:p>
            <a:pPr algn="just" eaLnBrk="1" hangingPunct="1">
              <a:spcBef>
                <a:spcPct val="0"/>
              </a:spcBef>
              <a:buFont typeface="Wingdings" pitchFamily="2" charset="2"/>
              <a:buNone/>
            </a:pPr>
            <a:r>
              <a:rPr lang="en-US" altLang="zh-CN" sz="2400" b="1">
                <a:latin typeface="宋体" panose="02010600030101010101" pitchFamily="2" charset="-122"/>
              </a:rPr>
              <a:t>     </a:t>
            </a:r>
            <a:r>
              <a:rPr lang="en-US" altLang="zh-CN" sz="2400" b="1">
                <a:solidFill>
                  <a:srgbClr val="FF0000"/>
                </a:solidFill>
                <a:latin typeface="宋体" panose="02010600030101010101" pitchFamily="2" charset="-122"/>
              </a:rPr>
              <a:t>x = x-B;</a:t>
            </a:r>
          </a:p>
          <a:p>
            <a:pPr algn="just" eaLnBrk="1" hangingPunct="1">
              <a:spcBef>
                <a:spcPct val="0"/>
              </a:spcBef>
              <a:buFont typeface="Wingdings" pitchFamily="2" charset="2"/>
              <a:buNone/>
            </a:pPr>
            <a:r>
              <a:rPr lang="en-US" altLang="zh-CN" sz="2400" b="1">
                <a:latin typeface="宋体" panose="02010600030101010101" pitchFamily="2" charset="-122"/>
              </a:rPr>
              <a:t>     {</a:t>
            </a:r>
            <a:r>
              <a:rPr lang="zh-CN" altLang="en-US" sz="2400" b="1">
                <a:latin typeface="华文新魏" panose="02010800040101010101" pitchFamily="2" charset="-122"/>
                <a:ea typeface="华文新魏" panose="02010800040101010101" pitchFamily="2" charset="-122"/>
              </a:rPr>
              <a:t>修改主存分配表，申请进程获得主存资源</a:t>
            </a:r>
            <a:r>
              <a:rPr lang="en-US" altLang="zh-CN" sz="2400" b="1">
                <a:latin typeface="宋体" panose="02010600030101010101" pitchFamily="2" charset="-122"/>
              </a:rPr>
              <a:t>}</a:t>
            </a:r>
          </a:p>
          <a:p>
            <a:pPr algn="just" eaLnBrk="1" hangingPunct="1">
              <a:spcBef>
                <a:spcPct val="0"/>
              </a:spcBef>
              <a:buFont typeface="Wingdings" pitchFamily="2" charset="2"/>
              <a:buNone/>
            </a:pPr>
            <a:r>
              <a:rPr lang="en-US" altLang="zh-CN" sz="2400" b="1">
                <a:latin typeface="宋体" panose="02010600030101010101" pitchFamily="2" charset="-122"/>
              </a:rPr>
              <a:t>}</a:t>
            </a:r>
          </a:p>
          <a:p>
            <a:pPr algn="just" eaLnBrk="1" hangingPunct="1">
              <a:spcBef>
                <a:spcPct val="0"/>
              </a:spcBef>
              <a:buFont typeface="Wingdings" pitchFamily="2" charset="2"/>
              <a:buNone/>
            </a:pPr>
            <a:endParaRPr lang="en-US" altLang="zh-CN" sz="2400" b="1">
              <a:latin typeface="宋体" panose="02010600030101010101" pitchFamily="2" charset="-122"/>
            </a:endParaRPr>
          </a:p>
          <a:p>
            <a:pPr algn="just" eaLnBrk="1" hangingPunct="1">
              <a:spcBef>
                <a:spcPct val="0"/>
              </a:spcBef>
              <a:buFont typeface="Wingdings" pitchFamily="2" charset="2"/>
              <a:buNone/>
            </a:pPr>
            <a:r>
              <a:rPr lang="en-US" altLang="zh-CN" sz="2400" b="1">
                <a:latin typeface="宋体" panose="02010600030101010101" pitchFamily="2" charset="-122"/>
              </a:rPr>
              <a:t>void return (int B) {</a:t>
            </a:r>
          </a:p>
          <a:p>
            <a:pPr algn="just" eaLnBrk="1" hangingPunct="1">
              <a:spcBef>
                <a:spcPct val="0"/>
              </a:spcBef>
              <a:buFont typeface="Wingdings" pitchFamily="2" charset="2"/>
              <a:buNone/>
            </a:pPr>
            <a:r>
              <a:rPr lang="en-US" altLang="zh-CN" sz="2400" b="1">
                <a:latin typeface="宋体" panose="02010600030101010101" pitchFamily="2" charset="-122"/>
              </a:rPr>
              <a:t>		</a:t>
            </a:r>
            <a:r>
              <a:rPr lang="en-US" altLang="zh-CN" sz="2400" b="1">
                <a:solidFill>
                  <a:srgbClr val="FF0000"/>
                </a:solidFill>
                <a:latin typeface="宋体" panose="02010600030101010101" pitchFamily="2" charset="-122"/>
              </a:rPr>
              <a:t>x = x+B;</a:t>
            </a:r>
          </a:p>
          <a:p>
            <a:pPr algn="just" eaLnBrk="1" hangingPunct="1">
              <a:spcBef>
                <a:spcPct val="0"/>
              </a:spcBef>
              <a:buFont typeface="Wingdings" pitchFamily="2" charset="2"/>
              <a:buNone/>
            </a:pPr>
            <a:r>
              <a:rPr lang="en-US" altLang="zh-CN" sz="2400" b="1">
                <a:latin typeface="宋体" panose="02010600030101010101" pitchFamily="2" charset="-122"/>
              </a:rPr>
              <a:t>      {</a:t>
            </a:r>
            <a:r>
              <a:rPr lang="zh-CN" altLang="en-US" sz="2400" b="1">
                <a:latin typeface="华文新魏" panose="02010800040101010101" pitchFamily="2" charset="-122"/>
                <a:ea typeface="华文新魏" panose="02010800040101010101" pitchFamily="2" charset="-122"/>
              </a:rPr>
              <a:t>修改主存分配表</a:t>
            </a:r>
            <a:r>
              <a:rPr lang="en-US" altLang="zh-CN" sz="2400" b="1">
                <a:latin typeface="宋体" panose="02010600030101010101" pitchFamily="2" charset="-122"/>
              </a:rPr>
              <a:t>}</a:t>
            </a:r>
          </a:p>
          <a:p>
            <a:pPr algn="just" eaLnBrk="1" hangingPunct="1">
              <a:spcBef>
                <a:spcPct val="0"/>
              </a:spcBef>
              <a:buFont typeface="Wingdings" pitchFamily="2" charset="2"/>
              <a:buNone/>
            </a:pPr>
            <a:r>
              <a:rPr lang="en-US" altLang="zh-CN" sz="2400" b="1">
                <a:latin typeface="宋体" panose="02010600030101010101" pitchFamily="2" charset="-122"/>
              </a:rPr>
              <a:t>      {</a:t>
            </a:r>
            <a:r>
              <a:rPr lang="zh-CN" altLang="en-US" sz="2400" b="1">
                <a:latin typeface="华文新魏" panose="02010800040101010101" pitchFamily="2" charset="-122"/>
                <a:ea typeface="华文新魏" panose="02010800040101010101" pitchFamily="2" charset="-122"/>
              </a:rPr>
              <a:t>唤醒等主存资源的进程</a:t>
            </a:r>
            <a:r>
              <a:rPr lang="en-US" altLang="zh-CN" sz="2400" b="1">
                <a:latin typeface="宋体" panose="02010600030101010101" pitchFamily="2" charset="-122"/>
              </a:rPr>
              <a:t>}</a:t>
            </a:r>
          </a:p>
          <a:p>
            <a:pPr algn="just" eaLnBrk="1" hangingPunct="1">
              <a:spcBef>
                <a:spcPct val="0"/>
              </a:spcBef>
              <a:buFont typeface="Wingdings" pitchFamily="2" charset="2"/>
              <a:buNone/>
            </a:pPr>
            <a:r>
              <a:rPr lang="en-US" altLang="zh-CN" sz="2400" b="1">
                <a:latin typeface="宋体" panose="02010600030101010101" pitchFamily="2" charset="-122"/>
              </a:rPr>
              <a:t>}</a:t>
            </a:r>
          </a:p>
        </p:txBody>
      </p:sp>
      <p:sp>
        <p:nvSpPr>
          <p:cNvPr id="51207" name="Rectangle 7">
            <a:extLst>
              <a:ext uri="{FF2B5EF4-FFF2-40B4-BE49-F238E27FC236}">
                <a16:creationId xmlns:a16="http://schemas.microsoft.com/office/drawing/2014/main" id="{13076E2D-3AD7-0044-AABF-DC9624BBA6E8}"/>
              </a:ext>
            </a:extLst>
          </p:cNvPr>
          <p:cNvSpPr>
            <a:spLocks noChangeArrowheads="1"/>
          </p:cNvSpPr>
          <p:nvPr/>
        </p:nvSpPr>
        <p:spPr bwMode="auto">
          <a:xfrm>
            <a:off x="2771775" y="58738"/>
            <a:ext cx="4451350" cy="519112"/>
          </a:xfrm>
          <a:prstGeom prst="rect">
            <a:avLst/>
          </a:prstGeom>
          <a:noFill/>
          <a:ln w="9525">
            <a:noFill/>
            <a:miter lim="800000"/>
            <a:headEnd/>
            <a:tailEnd/>
          </a:ln>
          <a:effec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2800">
                <a:effectLst>
                  <a:outerShdw blurRad="38100" dist="38100" dir="2700000" algn="tl">
                    <a:srgbClr val="C0C0C0"/>
                  </a:outerShdw>
                </a:effectLst>
                <a:latin typeface="Arial" panose="020B0604020202020204" pitchFamily="34" charset="0"/>
              </a:rPr>
              <a:t>（永远等待）主存管理问题</a:t>
            </a:r>
          </a:p>
        </p:txBody>
      </p:sp>
    </p:spTree>
    <p:extLst>
      <p:ext uri="{BB962C8B-B14F-4D97-AF65-F5344CB8AC3E}">
        <p14:creationId xmlns:p14="http://schemas.microsoft.com/office/powerpoint/2010/main" val="3373724600"/>
      </p:ext>
    </p:extLst>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1207"/>
                                        </p:tgtEl>
                                        <p:attrNameLst>
                                          <p:attrName>style.visibility</p:attrName>
                                        </p:attrNameLst>
                                      </p:cBhvr>
                                      <p:to>
                                        <p:strVal val="visible"/>
                                      </p:to>
                                    </p:set>
                                    <p:animEffect transition="in" filter="blinds(horizontal)">
                                      <p:cBhvr>
                                        <p:cTn id="7" dur="500"/>
                                        <p:tgtEl>
                                          <p:spTgt spid="5120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51205">
                                            <p:txEl>
                                              <p:pRg st="1" end="1"/>
                                            </p:txEl>
                                          </p:spTgt>
                                        </p:tgtEl>
                                        <p:attrNameLst>
                                          <p:attrName>style.visibility</p:attrName>
                                        </p:attrNameLst>
                                      </p:cBhvr>
                                      <p:to>
                                        <p:strVal val="visible"/>
                                      </p:to>
                                    </p:set>
                                    <p:anim calcmode="lin" valueType="num">
                                      <p:cBhvr additive="base">
                                        <p:cTn id="12" dur="500" fill="hold"/>
                                        <p:tgtEl>
                                          <p:spTgt spid="51205">
                                            <p:txEl>
                                              <p:pRg st="1" end="1"/>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5120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51205">
                                            <p:txEl>
                                              <p:pRg st="0" end="0"/>
                                            </p:txEl>
                                          </p:spTgt>
                                        </p:tgtEl>
                                        <p:attrNameLst>
                                          <p:attrName>style.visibility</p:attrName>
                                        </p:attrNameLst>
                                      </p:cBhvr>
                                      <p:to>
                                        <p:strVal val="visible"/>
                                      </p:to>
                                    </p:set>
                                    <p:anim calcmode="lin" valueType="num">
                                      <p:cBhvr additive="base">
                                        <p:cTn id="18" dur="500" fill="hold"/>
                                        <p:tgtEl>
                                          <p:spTgt spid="51205">
                                            <p:txEl>
                                              <p:pRg st="0" end="0"/>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51205">
                                            <p:txEl>
                                              <p:pRg st="0" end="0"/>
                                            </p:txEl>
                                          </p:spTgt>
                                        </p:tgtEl>
                                        <p:attrNameLst>
                                          <p:attrName>ppt_y</p:attrName>
                                        </p:attrNameLst>
                                      </p:cBhvr>
                                      <p:tavLst>
                                        <p:tav tm="0">
                                          <p:val>
                                            <p:strVal val="1+#ppt_h/2"/>
                                          </p:val>
                                        </p:tav>
                                        <p:tav tm="100000">
                                          <p:val>
                                            <p:strVal val="#ppt_y"/>
                                          </p:val>
                                        </p:tav>
                                      </p:tavLst>
                                    </p:anim>
                                  </p:childTnLst>
                                </p:cTn>
                              </p:par>
                              <p:par>
                                <p:cTn id="20" presetID="2" presetClass="entr" presetSubtype="4" fill="hold" nodeType="withEffect">
                                  <p:stCondLst>
                                    <p:cond delay="0"/>
                                  </p:stCondLst>
                                  <p:childTnLst>
                                    <p:set>
                                      <p:cBhvr>
                                        <p:cTn id="21" dur="1" fill="hold">
                                          <p:stCondLst>
                                            <p:cond delay="0"/>
                                          </p:stCondLst>
                                        </p:cTn>
                                        <p:tgtEl>
                                          <p:spTgt spid="51205">
                                            <p:txEl>
                                              <p:pRg st="2" end="2"/>
                                            </p:txEl>
                                          </p:spTgt>
                                        </p:tgtEl>
                                        <p:attrNameLst>
                                          <p:attrName>style.visibility</p:attrName>
                                        </p:attrNameLst>
                                      </p:cBhvr>
                                      <p:to>
                                        <p:strVal val="visible"/>
                                      </p:to>
                                    </p:set>
                                    <p:anim calcmode="lin" valueType="num">
                                      <p:cBhvr additive="base">
                                        <p:cTn id="22" dur="500" fill="hold"/>
                                        <p:tgtEl>
                                          <p:spTgt spid="51205">
                                            <p:txEl>
                                              <p:pRg st="2" end="2"/>
                                            </p:txEl>
                                          </p:spTgt>
                                        </p:tgtEl>
                                        <p:attrNameLst>
                                          <p:attrName>ppt_x</p:attrName>
                                        </p:attrNameLst>
                                      </p:cBhvr>
                                      <p:tavLst>
                                        <p:tav tm="0">
                                          <p:val>
                                            <p:strVal val="#ppt_x"/>
                                          </p:val>
                                        </p:tav>
                                        <p:tav tm="100000">
                                          <p:val>
                                            <p:strVal val="#ppt_x"/>
                                          </p:val>
                                        </p:tav>
                                      </p:tavLst>
                                    </p:anim>
                                    <p:anim calcmode="lin" valueType="num">
                                      <p:cBhvr additive="base">
                                        <p:cTn id="23" dur="500" fill="hold"/>
                                        <p:tgtEl>
                                          <p:spTgt spid="51205">
                                            <p:txEl>
                                              <p:pRg st="2" end="2"/>
                                            </p:txEl>
                                          </p:spTgt>
                                        </p:tgtEl>
                                        <p:attrNameLst>
                                          <p:attrName>ppt_y</p:attrName>
                                        </p:attrNameLst>
                                      </p:cBhvr>
                                      <p:tavLst>
                                        <p:tav tm="0">
                                          <p:val>
                                            <p:strVal val="1+#ppt_h/2"/>
                                          </p:val>
                                        </p:tav>
                                        <p:tav tm="100000">
                                          <p:val>
                                            <p:strVal val="#ppt_y"/>
                                          </p:val>
                                        </p:tav>
                                      </p:tavLst>
                                    </p:anim>
                                  </p:childTnLst>
                                </p:cTn>
                              </p:par>
                              <p:par>
                                <p:cTn id="24" presetID="2" presetClass="entr" presetSubtype="4" fill="hold" nodeType="withEffect">
                                  <p:stCondLst>
                                    <p:cond delay="0"/>
                                  </p:stCondLst>
                                  <p:childTnLst>
                                    <p:set>
                                      <p:cBhvr>
                                        <p:cTn id="25" dur="1" fill="hold">
                                          <p:stCondLst>
                                            <p:cond delay="0"/>
                                          </p:stCondLst>
                                        </p:cTn>
                                        <p:tgtEl>
                                          <p:spTgt spid="51205">
                                            <p:txEl>
                                              <p:pRg st="3" end="3"/>
                                            </p:txEl>
                                          </p:spTgt>
                                        </p:tgtEl>
                                        <p:attrNameLst>
                                          <p:attrName>style.visibility</p:attrName>
                                        </p:attrNameLst>
                                      </p:cBhvr>
                                      <p:to>
                                        <p:strVal val="visible"/>
                                      </p:to>
                                    </p:set>
                                    <p:anim calcmode="lin" valueType="num">
                                      <p:cBhvr additive="base">
                                        <p:cTn id="26" dur="500" fill="hold"/>
                                        <p:tgtEl>
                                          <p:spTgt spid="51205">
                                            <p:txEl>
                                              <p:pRg st="3" end="3"/>
                                            </p:txEl>
                                          </p:spTgt>
                                        </p:tgtEl>
                                        <p:attrNameLst>
                                          <p:attrName>ppt_x</p:attrName>
                                        </p:attrNameLst>
                                      </p:cBhvr>
                                      <p:tavLst>
                                        <p:tav tm="0">
                                          <p:val>
                                            <p:strVal val="#ppt_x"/>
                                          </p:val>
                                        </p:tav>
                                        <p:tav tm="100000">
                                          <p:val>
                                            <p:strVal val="#ppt_x"/>
                                          </p:val>
                                        </p:tav>
                                      </p:tavLst>
                                    </p:anim>
                                    <p:anim calcmode="lin" valueType="num">
                                      <p:cBhvr additive="base">
                                        <p:cTn id="27" dur="500" fill="hold"/>
                                        <p:tgtEl>
                                          <p:spTgt spid="51205">
                                            <p:txEl>
                                              <p:pRg st="3" end="3"/>
                                            </p:txEl>
                                          </p:spTgt>
                                        </p:tgtEl>
                                        <p:attrNameLst>
                                          <p:attrName>ppt_y</p:attrName>
                                        </p:attrNameLst>
                                      </p:cBhvr>
                                      <p:tavLst>
                                        <p:tav tm="0">
                                          <p:val>
                                            <p:strVal val="1+#ppt_h/2"/>
                                          </p:val>
                                        </p:tav>
                                        <p:tav tm="100000">
                                          <p:val>
                                            <p:strVal val="#ppt_y"/>
                                          </p:val>
                                        </p:tav>
                                      </p:tavLst>
                                    </p:anim>
                                  </p:childTnLst>
                                </p:cTn>
                              </p:par>
                              <p:par>
                                <p:cTn id="28" presetID="2" presetClass="entr" presetSubtype="4" fill="hold" nodeType="withEffect">
                                  <p:stCondLst>
                                    <p:cond delay="0"/>
                                  </p:stCondLst>
                                  <p:childTnLst>
                                    <p:set>
                                      <p:cBhvr>
                                        <p:cTn id="29" dur="1" fill="hold">
                                          <p:stCondLst>
                                            <p:cond delay="0"/>
                                          </p:stCondLst>
                                        </p:cTn>
                                        <p:tgtEl>
                                          <p:spTgt spid="51205">
                                            <p:txEl>
                                              <p:pRg st="4" end="4"/>
                                            </p:txEl>
                                          </p:spTgt>
                                        </p:tgtEl>
                                        <p:attrNameLst>
                                          <p:attrName>style.visibility</p:attrName>
                                        </p:attrNameLst>
                                      </p:cBhvr>
                                      <p:to>
                                        <p:strVal val="visible"/>
                                      </p:to>
                                    </p:set>
                                    <p:anim calcmode="lin" valueType="num">
                                      <p:cBhvr additive="base">
                                        <p:cTn id="30" dur="500" fill="hold"/>
                                        <p:tgtEl>
                                          <p:spTgt spid="51205">
                                            <p:txEl>
                                              <p:pRg st="4" end="4"/>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51205">
                                            <p:txEl>
                                              <p:pRg st="4" end="4"/>
                                            </p:txEl>
                                          </p:spTgt>
                                        </p:tgtEl>
                                        <p:attrNameLst>
                                          <p:attrName>ppt_y</p:attrName>
                                        </p:attrNameLst>
                                      </p:cBhvr>
                                      <p:tavLst>
                                        <p:tav tm="0">
                                          <p:val>
                                            <p:strVal val="1+#ppt_h/2"/>
                                          </p:val>
                                        </p:tav>
                                        <p:tav tm="100000">
                                          <p:val>
                                            <p:strVal val="#ppt_y"/>
                                          </p:val>
                                        </p:tav>
                                      </p:tavLst>
                                    </p:anim>
                                  </p:childTnLst>
                                </p:cTn>
                              </p:par>
                              <p:par>
                                <p:cTn id="32" presetID="2" presetClass="entr" presetSubtype="4" fill="hold" nodeType="withEffect">
                                  <p:stCondLst>
                                    <p:cond delay="0"/>
                                  </p:stCondLst>
                                  <p:childTnLst>
                                    <p:set>
                                      <p:cBhvr>
                                        <p:cTn id="33" dur="1" fill="hold">
                                          <p:stCondLst>
                                            <p:cond delay="0"/>
                                          </p:stCondLst>
                                        </p:cTn>
                                        <p:tgtEl>
                                          <p:spTgt spid="51205">
                                            <p:txEl>
                                              <p:pRg st="5" end="5"/>
                                            </p:txEl>
                                          </p:spTgt>
                                        </p:tgtEl>
                                        <p:attrNameLst>
                                          <p:attrName>style.visibility</p:attrName>
                                        </p:attrNameLst>
                                      </p:cBhvr>
                                      <p:to>
                                        <p:strVal val="visible"/>
                                      </p:to>
                                    </p:set>
                                    <p:anim calcmode="lin" valueType="num">
                                      <p:cBhvr additive="base">
                                        <p:cTn id="34" dur="500" fill="hold"/>
                                        <p:tgtEl>
                                          <p:spTgt spid="51205">
                                            <p:txEl>
                                              <p:pRg st="5" end="5"/>
                                            </p:txEl>
                                          </p:spTgt>
                                        </p:tgtEl>
                                        <p:attrNameLst>
                                          <p:attrName>ppt_x</p:attrName>
                                        </p:attrNameLst>
                                      </p:cBhvr>
                                      <p:tavLst>
                                        <p:tav tm="0">
                                          <p:val>
                                            <p:strVal val="#ppt_x"/>
                                          </p:val>
                                        </p:tav>
                                        <p:tav tm="100000">
                                          <p:val>
                                            <p:strVal val="#ppt_x"/>
                                          </p:val>
                                        </p:tav>
                                      </p:tavLst>
                                    </p:anim>
                                    <p:anim calcmode="lin" valueType="num">
                                      <p:cBhvr additive="base">
                                        <p:cTn id="35" dur="500" fill="hold"/>
                                        <p:tgtEl>
                                          <p:spTgt spid="51205">
                                            <p:txEl>
                                              <p:pRg st="5" end="5"/>
                                            </p:txEl>
                                          </p:spTgt>
                                        </p:tgtEl>
                                        <p:attrNameLst>
                                          <p:attrName>ppt_y</p:attrName>
                                        </p:attrNameLst>
                                      </p:cBhvr>
                                      <p:tavLst>
                                        <p:tav tm="0">
                                          <p:val>
                                            <p:strVal val="1+#ppt_h/2"/>
                                          </p:val>
                                        </p:tav>
                                        <p:tav tm="100000">
                                          <p:val>
                                            <p:strVal val="#ppt_y"/>
                                          </p:val>
                                        </p:tav>
                                      </p:tavLst>
                                    </p:anim>
                                  </p:childTnLst>
                                </p:cTn>
                              </p:par>
                              <p:par>
                                <p:cTn id="36" presetID="2" presetClass="entr" presetSubtype="4" fill="hold" nodeType="withEffect">
                                  <p:stCondLst>
                                    <p:cond delay="0"/>
                                  </p:stCondLst>
                                  <p:childTnLst>
                                    <p:set>
                                      <p:cBhvr>
                                        <p:cTn id="37" dur="1" fill="hold">
                                          <p:stCondLst>
                                            <p:cond delay="0"/>
                                          </p:stCondLst>
                                        </p:cTn>
                                        <p:tgtEl>
                                          <p:spTgt spid="51205">
                                            <p:txEl>
                                              <p:pRg st="6" end="6"/>
                                            </p:txEl>
                                          </p:spTgt>
                                        </p:tgtEl>
                                        <p:attrNameLst>
                                          <p:attrName>style.visibility</p:attrName>
                                        </p:attrNameLst>
                                      </p:cBhvr>
                                      <p:to>
                                        <p:strVal val="visible"/>
                                      </p:to>
                                    </p:set>
                                    <p:anim calcmode="lin" valueType="num">
                                      <p:cBhvr additive="base">
                                        <p:cTn id="38" dur="500" fill="hold"/>
                                        <p:tgtEl>
                                          <p:spTgt spid="51205">
                                            <p:txEl>
                                              <p:pRg st="6" end="6"/>
                                            </p:txEl>
                                          </p:spTgt>
                                        </p:tgtEl>
                                        <p:attrNameLst>
                                          <p:attrName>ppt_x</p:attrName>
                                        </p:attrNameLst>
                                      </p:cBhvr>
                                      <p:tavLst>
                                        <p:tav tm="0">
                                          <p:val>
                                            <p:strVal val="#ppt_x"/>
                                          </p:val>
                                        </p:tav>
                                        <p:tav tm="100000">
                                          <p:val>
                                            <p:strVal val="#ppt_x"/>
                                          </p:val>
                                        </p:tav>
                                      </p:tavLst>
                                    </p:anim>
                                    <p:anim calcmode="lin" valueType="num">
                                      <p:cBhvr additive="base">
                                        <p:cTn id="39" dur="500" fill="hold"/>
                                        <p:tgtEl>
                                          <p:spTgt spid="51205">
                                            <p:txEl>
                                              <p:pRg st="6" end="6"/>
                                            </p:txEl>
                                          </p:spTgt>
                                        </p:tgtEl>
                                        <p:attrNameLst>
                                          <p:attrName>ppt_y</p:attrName>
                                        </p:attrNameLst>
                                      </p:cBhvr>
                                      <p:tavLst>
                                        <p:tav tm="0">
                                          <p:val>
                                            <p:strVal val="1+#ppt_h/2"/>
                                          </p:val>
                                        </p:tav>
                                        <p:tav tm="100000">
                                          <p:val>
                                            <p:strVal val="#ppt_y"/>
                                          </p:val>
                                        </p:tav>
                                      </p:tavLst>
                                    </p:anim>
                                  </p:childTnLst>
                                </p:cTn>
                              </p:par>
                              <p:par>
                                <p:cTn id="40" presetID="2" presetClass="entr" presetSubtype="4" fill="hold" nodeType="withEffect">
                                  <p:stCondLst>
                                    <p:cond delay="0"/>
                                  </p:stCondLst>
                                  <p:childTnLst>
                                    <p:set>
                                      <p:cBhvr>
                                        <p:cTn id="41" dur="1" fill="hold">
                                          <p:stCondLst>
                                            <p:cond delay="0"/>
                                          </p:stCondLst>
                                        </p:cTn>
                                        <p:tgtEl>
                                          <p:spTgt spid="51205">
                                            <p:txEl>
                                              <p:pRg st="8" end="8"/>
                                            </p:txEl>
                                          </p:spTgt>
                                        </p:tgtEl>
                                        <p:attrNameLst>
                                          <p:attrName>style.visibility</p:attrName>
                                        </p:attrNameLst>
                                      </p:cBhvr>
                                      <p:to>
                                        <p:strVal val="visible"/>
                                      </p:to>
                                    </p:set>
                                    <p:anim calcmode="lin" valueType="num">
                                      <p:cBhvr additive="base">
                                        <p:cTn id="42" dur="500" fill="hold"/>
                                        <p:tgtEl>
                                          <p:spTgt spid="51205">
                                            <p:txEl>
                                              <p:pRg st="8" end="8"/>
                                            </p:txEl>
                                          </p:spTgt>
                                        </p:tgtEl>
                                        <p:attrNameLst>
                                          <p:attrName>ppt_x</p:attrName>
                                        </p:attrNameLst>
                                      </p:cBhvr>
                                      <p:tavLst>
                                        <p:tav tm="0">
                                          <p:val>
                                            <p:strVal val="#ppt_x"/>
                                          </p:val>
                                        </p:tav>
                                        <p:tav tm="100000">
                                          <p:val>
                                            <p:strVal val="#ppt_x"/>
                                          </p:val>
                                        </p:tav>
                                      </p:tavLst>
                                    </p:anim>
                                    <p:anim calcmode="lin" valueType="num">
                                      <p:cBhvr additive="base">
                                        <p:cTn id="43" dur="500" fill="hold"/>
                                        <p:tgtEl>
                                          <p:spTgt spid="51205">
                                            <p:txEl>
                                              <p:pRg st="8" end="8"/>
                                            </p:txEl>
                                          </p:spTgt>
                                        </p:tgtEl>
                                        <p:attrNameLst>
                                          <p:attrName>ppt_y</p:attrName>
                                        </p:attrNameLst>
                                      </p:cBhvr>
                                      <p:tavLst>
                                        <p:tav tm="0">
                                          <p:val>
                                            <p:strVal val="1+#ppt_h/2"/>
                                          </p:val>
                                        </p:tav>
                                        <p:tav tm="100000">
                                          <p:val>
                                            <p:strVal val="#ppt_y"/>
                                          </p:val>
                                        </p:tav>
                                      </p:tavLst>
                                    </p:anim>
                                  </p:childTnLst>
                                </p:cTn>
                              </p:par>
                              <p:par>
                                <p:cTn id="44" presetID="2" presetClass="entr" presetSubtype="4" fill="hold" nodeType="withEffect">
                                  <p:stCondLst>
                                    <p:cond delay="0"/>
                                  </p:stCondLst>
                                  <p:childTnLst>
                                    <p:set>
                                      <p:cBhvr>
                                        <p:cTn id="45" dur="1" fill="hold">
                                          <p:stCondLst>
                                            <p:cond delay="0"/>
                                          </p:stCondLst>
                                        </p:cTn>
                                        <p:tgtEl>
                                          <p:spTgt spid="51205">
                                            <p:txEl>
                                              <p:pRg st="9" end="9"/>
                                            </p:txEl>
                                          </p:spTgt>
                                        </p:tgtEl>
                                        <p:attrNameLst>
                                          <p:attrName>style.visibility</p:attrName>
                                        </p:attrNameLst>
                                      </p:cBhvr>
                                      <p:to>
                                        <p:strVal val="visible"/>
                                      </p:to>
                                    </p:set>
                                    <p:anim calcmode="lin" valueType="num">
                                      <p:cBhvr additive="base">
                                        <p:cTn id="46" dur="500" fill="hold"/>
                                        <p:tgtEl>
                                          <p:spTgt spid="51205">
                                            <p:txEl>
                                              <p:pRg st="9" end="9"/>
                                            </p:txEl>
                                          </p:spTgt>
                                        </p:tgtEl>
                                        <p:attrNameLst>
                                          <p:attrName>ppt_x</p:attrName>
                                        </p:attrNameLst>
                                      </p:cBhvr>
                                      <p:tavLst>
                                        <p:tav tm="0">
                                          <p:val>
                                            <p:strVal val="#ppt_x"/>
                                          </p:val>
                                        </p:tav>
                                        <p:tav tm="100000">
                                          <p:val>
                                            <p:strVal val="#ppt_x"/>
                                          </p:val>
                                        </p:tav>
                                      </p:tavLst>
                                    </p:anim>
                                    <p:anim calcmode="lin" valueType="num">
                                      <p:cBhvr additive="base">
                                        <p:cTn id="47" dur="500" fill="hold"/>
                                        <p:tgtEl>
                                          <p:spTgt spid="51205">
                                            <p:txEl>
                                              <p:pRg st="9" end="9"/>
                                            </p:txEl>
                                          </p:spTgt>
                                        </p:tgtEl>
                                        <p:attrNameLst>
                                          <p:attrName>ppt_y</p:attrName>
                                        </p:attrNameLst>
                                      </p:cBhvr>
                                      <p:tavLst>
                                        <p:tav tm="0">
                                          <p:val>
                                            <p:strVal val="1+#ppt_h/2"/>
                                          </p:val>
                                        </p:tav>
                                        <p:tav tm="100000">
                                          <p:val>
                                            <p:strVal val="#ppt_y"/>
                                          </p:val>
                                        </p:tav>
                                      </p:tavLst>
                                    </p:anim>
                                  </p:childTnLst>
                                </p:cTn>
                              </p:par>
                              <p:par>
                                <p:cTn id="48" presetID="2" presetClass="entr" presetSubtype="4" fill="hold" nodeType="withEffect">
                                  <p:stCondLst>
                                    <p:cond delay="0"/>
                                  </p:stCondLst>
                                  <p:childTnLst>
                                    <p:set>
                                      <p:cBhvr>
                                        <p:cTn id="49" dur="1" fill="hold">
                                          <p:stCondLst>
                                            <p:cond delay="0"/>
                                          </p:stCondLst>
                                        </p:cTn>
                                        <p:tgtEl>
                                          <p:spTgt spid="51205">
                                            <p:txEl>
                                              <p:pRg st="10" end="10"/>
                                            </p:txEl>
                                          </p:spTgt>
                                        </p:tgtEl>
                                        <p:attrNameLst>
                                          <p:attrName>style.visibility</p:attrName>
                                        </p:attrNameLst>
                                      </p:cBhvr>
                                      <p:to>
                                        <p:strVal val="visible"/>
                                      </p:to>
                                    </p:set>
                                    <p:anim calcmode="lin" valueType="num">
                                      <p:cBhvr additive="base">
                                        <p:cTn id="50" dur="500" fill="hold"/>
                                        <p:tgtEl>
                                          <p:spTgt spid="51205">
                                            <p:txEl>
                                              <p:pRg st="10" end="10"/>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51205">
                                            <p:txEl>
                                              <p:pRg st="10" end="10"/>
                                            </p:txEl>
                                          </p:spTgt>
                                        </p:tgtEl>
                                        <p:attrNameLst>
                                          <p:attrName>ppt_y</p:attrName>
                                        </p:attrNameLst>
                                      </p:cBhvr>
                                      <p:tavLst>
                                        <p:tav tm="0">
                                          <p:val>
                                            <p:strVal val="1+#ppt_h/2"/>
                                          </p:val>
                                        </p:tav>
                                        <p:tav tm="100000">
                                          <p:val>
                                            <p:strVal val="#ppt_y"/>
                                          </p:val>
                                        </p:tav>
                                      </p:tavLst>
                                    </p:anim>
                                  </p:childTnLst>
                                </p:cTn>
                              </p:par>
                              <p:par>
                                <p:cTn id="52" presetID="2" presetClass="entr" presetSubtype="4" fill="hold" nodeType="withEffect">
                                  <p:stCondLst>
                                    <p:cond delay="0"/>
                                  </p:stCondLst>
                                  <p:childTnLst>
                                    <p:set>
                                      <p:cBhvr>
                                        <p:cTn id="53" dur="1" fill="hold">
                                          <p:stCondLst>
                                            <p:cond delay="0"/>
                                          </p:stCondLst>
                                        </p:cTn>
                                        <p:tgtEl>
                                          <p:spTgt spid="51205">
                                            <p:txEl>
                                              <p:pRg st="11" end="11"/>
                                            </p:txEl>
                                          </p:spTgt>
                                        </p:tgtEl>
                                        <p:attrNameLst>
                                          <p:attrName>style.visibility</p:attrName>
                                        </p:attrNameLst>
                                      </p:cBhvr>
                                      <p:to>
                                        <p:strVal val="visible"/>
                                      </p:to>
                                    </p:set>
                                    <p:anim calcmode="lin" valueType="num">
                                      <p:cBhvr additive="base">
                                        <p:cTn id="54" dur="500" fill="hold"/>
                                        <p:tgtEl>
                                          <p:spTgt spid="51205">
                                            <p:txEl>
                                              <p:pRg st="11" end="11"/>
                                            </p:txEl>
                                          </p:spTgt>
                                        </p:tgtEl>
                                        <p:attrNameLst>
                                          <p:attrName>ppt_x</p:attrName>
                                        </p:attrNameLst>
                                      </p:cBhvr>
                                      <p:tavLst>
                                        <p:tav tm="0">
                                          <p:val>
                                            <p:strVal val="#ppt_x"/>
                                          </p:val>
                                        </p:tav>
                                        <p:tav tm="100000">
                                          <p:val>
                                            <p:strVal val="#ppt_x"/>
                                          </p:val>
                                        </p:tav>
                                      </p:tavLst>
                                    </p:anim>
                                    <p:anim calcmode="lin" valueType="num">
                                      <p:cBhvr additive="base">
                                        <p:cTn id="55" dur="500" fill="hold"/>
                                        <p:tgtEl>
                                          <p:spTgt spid="51205">
                                            <p:txEl>
                                              <p:pRg st="11" end="11"/>
                                            </p:txEl>
                                          </p:spTgt>
                                        </p:tgtEl>
                                        <p:attrNameLst>
                                          <p:attrName>ppt_y</p:attrName>
                                        </p:attrNameLst>
                                      </p:cBhvr>
                                      <p:tavLst>
                                        <p:tav tm="0">
                                          <p:val>
                                            <p:strVal val="1+#ppt_h/2"/>
                                          </p:val>
                                        </p:tav>
                                        <p:tav tm="100000">
                                          <p:val>
                                            <p:strVal val="#ppt_y"/>
                                          </p:val>
                                        </p:tav>
                                      </p:tavLst>
                                    </p:anim>
                                  </p:childTnLst>
                                </p:cTn>
                              </p:par>
                              <p:par>
                                <p:cTn id="56" presetID="2" presetClass="entr" presetSubtype="4" fill="hold" nodeType="withEffect">
                                  <p:stCondLst>
                                    <p:cond delay="0"/>
                                  </p:stCondLst>
                                  <p:childTnLst>
                                    <p:set>
                                      <p:cBhvr>
                                        <p:cTn id="57" dur="1" fill="hold">
                                          <p:stCondLst>
                                            <p:cond delay="0"/>
                                          </p:stCondLst>
                                        </p:cTn>
                                        <p:tgtEl>
                                          <p:spTgt spid="51205">
                                            <p:txEl>
                                              <p:pRg st="12" end="12"/>
                                            </p:txEl>
                                          </p:spTgt>
                                        </p:tgtEl>
                                        <p:attrNameLst>
                                          <p:attrName>style.visibility</p:attrName>
                                        </p:attrNameLst>
                                      </p:cBhvr>
                                      <p:to>
                                        <p:strVal val="visible"/>
                                      </p:to>
                                    </p:set>
                                    <p:anim calcmode="lin" valueType="num">
                                      <p:cBhvr additive="base">
                                        <p:cTn id="58" dur="500" fill="hold"/>
                                        <p:tgtEl>
                                          <p:spTgt spid="51205">
                                            <p:txEl>
                                              <p:pRg st="12" end="12"/>
                                            </p:txEl>
                                          </p:spTgt>
                                        </p:tgtEl>
                                        <p:attrNameLst>
                                          <p:attrName>ppt_x</p:attrName>
                                        </p:attrNameLst>
                                      </p:cBhvr>
                                      <p:tavLst>
                                        <p:tav tm="0">
                                          <p:val>
                                            <p:strVal val="#ppt_x"/>
                                          </p:val>
                                        </p:tav>
                                        <p:tav tm="100000">
                                          <p:val>
                                            <p:strVal val="#ppt_x"/>
                                          </p:val>
                                        </p:tav>
                                      </p:tavLst>
                                    </p:anim>
                                    <p:anim calcmode="lin" valueType="num">
                                      <p:cBhvr additive="base">
                                        <p:cTn id="59" dur="500" fill="hold"/>
                                        <p:tgtEl>
                                          <p:spTgt spid="51205">
                                            <p:txEl>
                                              <p:pRg st="12" end="1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4955C3BB-2A29-1646-A960-CB89AEF77FFE}"/>
              </a:ext>
            </a:extLst>
          </p:cNvPr>
          <p:cNvSpPr>
            <a:spLocks noGrp="1" noChangeArrowheads="1"/>
          </p:cNvSpPr>
          <p:nvPr>
            <p:ph type="title" idx="4294967295"/>
          </p:nvPr>
        </p:nvSpPr>
        <p:spPr>
          <a:xfrm>
            <a:off x="0" y="333375"/>
            <a:ext cx="7772400" cy="1143000"/>
          </a:xfrm>
        </p:spPr>
        <p:txBody>
          <a:bodyPr/>
          <a:lstStyle/>
          <a:p>
            <a:pPr eaLnBrk="1" hangingPunct="1"/>
            <a:r>
              <a:rPr lang="zh-CN" altLang="en-US" sz="4800">
                <a:latin typeface="Microsoft YaHei" panose="020B0503020204020204" pitchFamily="34" charset="-122"/>
                <a:ea typeface="Microsoft YaHei" panose="020B0503020204020204" pitchFamily="34" charset="-122"/>
              </a:rPr>
              <a:t>临界区调度的原则</a:t>
            </a:r>
            <a:endParaRPr lang="en-US" altLang="zh-CN">
              <a:latin typeface="Microsoft YaHei" panose="020B0503020204020204" pitchFamily="34" charset="-122"/>
              <a:ea typeface="Microsoft YaHei" panose="020B0503020204020204" pitchFamily="34" charset="-122"/>
            </a:endParaRPr>
          </a:p>
        </p:txBody>
      </p:sp>
      <p:sp>
        <p:nvSpPr>
          <p:cNvPr id="4099" name="Rectangle 3">
            <a:extLst>
              <a:ext uri="{FF2B5EF4-FFF2-40B4-BE49-F238E27FC236}">
                <a16:creationId xmlns:a16="http://schemas.microsoft.com/office/drawing/2014/main" id="{A8821C86-F4EC-954A-A0B2-AF1A0BA4DBDD}"/>
              </a:ext>
            </a:extLst>
          </p:cNvPr>
          <p:cNvSpPr>
            <a:spLocks noGrp="1" noChangeArrowheads="1"/>
          </p:cNvSpPr>
          <p:nvPr>
            <p:ph type="body" idx="4294967295"/>
          </p:nvPr>
        </p:nvSpPr>
        <p:spPr>
          <a:xfrm>
            <a:off x="468313" y="1341438"/>
            <a:ext cx="8675687" cy="5183187"/>
          </a:xfrm>
        </p:spPr>
        <p:txBody>
          <a:bodyPr/>
          <a:lstStyle/>
          <a:p>
            <a:pPr eaLnBrk="1" hangingPunct="1"/>
            <a:r>
              <a:rPr lang="zh-CN" altLang="en-US" sz="3200">
                <a:latin typeface="Microsoft YaHei" panose="020B0503020204020204" pitchFamily="34" charset="-122"/>
                <a:ea typeface="Microsoft YaHei" panose="020B0503020204020204" pitchFamily="34" charset="-122"/>
              </a:rPr>
              <a:t>一次</a:t>
            </a:r>
            <a:r>
              <a:rPr lang="zh-CN" altLang="en-US" sz="3200">
                <a:solidFill>
                  <a:srgbClr val="FF9900"/>
                </a:solidFill>
                <a:latin typeface="Microsoft YaHei" panose="020B0503020204020204" pitchFamily="34" charset="-122"/>
                <a:ea typeface="Microsoft YaHei" panose="020B0503020204020204" pitchFamily="34" charset="-122"/>
              </a:rPr>
              <a:t>至多一个进程能够进入临界区</a:t>
            </a:r>
            <a:r>
              <a:rPr lang="zh-CN" altLang="en-US" sz="3200">
                <a:latin typeface="Microsoft YaHei" panose="020B0503020204020204" pitchFamily="34" charset="-122"/>
                <a:ea typeface="Microsoft YaHei" panose="020B0503020204020204" pitchFamily="34" charset="-122"/>
              </a:rPr>
              <a:t>内执行；</a:t>
            </a:r>
          </a:p>
          <a:p>
            <a:pPr eaLnBrk="1" hangingPunct="1"/>
            <a:endParaRPr lang="zh-CN" altLang="en-US" sz="3200">
              <a:latin typeface="Microsoft YaHei" panose="020B0503020204020204" pitchFamily="34" charset="-122"/>
              <a:ea typeface="Microsoft YaHei" panose="020B0503020204020204" pitchFamily="34" charset="-122"/>
            </a:endParaRPr>
          </a:p>
          <a:p>
            <a:pPr eaLnBrk="1" hangingPunct="1"/>
            <a:r>
              <a:rPr lang="zh-CN" altLang="en-US" sz="3200">
                <a:latin typeface="Microsoft YaHei" panose="020B0503020204020204" pitchFamily="34" charset="-122"/>
                <a:ea typeface="Microsoft YaHei" panose="020B0503020204020204" pitchFamily="34" charset="-122"/>
              </a:rPr>
              <a:t>如果已有进程在临界区，其他试图进入的进程应等待；</a:t>
            </a:r>
          </a:p>
          <a:p>
            <a:pPr eaLnBrk="1" hangingPunct="1"/>
            <a:endParaRPr lang="zh-CN" altLang="en-US" sz="3200">
              <a:latin typeface="Microsoft YaHei" panose="020B0503020204020204" pitchFamily="34" charset="-122"/>
              <a:ea typeface="Microsoft YaHei" panose="020B0503020204020204" pitchFamily="34" charset="-122"/>
            </a:endParaRPr>
          </a:p>
          <a:p>
            <a:pPr eaLnBrk="1" hangingPunct="1"/>
            <a:r>
              <a:rPr lang="zh-CN" altLang="en-US" sz="3200">
                <a:latin typeface="Microsoft YaHei" panose="020B0503020204020204" pitchFamily="34" charset="-122"/>
                <a:ea typeface="Microsoft YaHei" panose="020B0503020204020204" pitchFamily="34" charset="-122"/>
              </a:rPr>
              <a:t>进入临界区内的进程应在有限时间内退出，以便让等待进程中的一个进入。</a:t>
            </a:r>
            <a:endParaRPr lang="en-US" altLang="zh-CN" sz="320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2845269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Effect transition="in" filter="blinds(horizontal)">
                                      <p:cBhvr>
                                        <p:cTn id="7" dur="500"/>
                                        <p:tgtEl>
                                          <p:spTgt spid="409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4099">
                                            <p:txEl>
                                              <p:pRg st="0" end="0"/>
                                            </p:txEl>
                                          </p:spTgt>
                                        </p:tgtEl>
                                        <p:attrNameLst>
                                          <p:attrName>style.visibility</p:attrName>
                                        </p:attrNameLst>
                                      </p:cBhvr>
                                      <p:to>
                                        <p:strVal val="visible"/>
                                      </p:to>
                                    </p:set>
                                    <p:anim calcmode="lin" valueType="num">
                                      <p:cBhvr additive="base">
                                        <p:cTn id="12" dur="500" fill="hold"/>
                                        <p:tgtEl>
                                          <p:spTgt spid="4099">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40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 presetClass="entr" presetSubtype="4" fill="hold" nodeType="clickEffect">
                                  <p:stCondLst>
                                    <p:cond delay="0"/>
                                  </p:stCondLst>
                                  <p:childTnLst>
                                    <p:set>
                                      <p:cBhvr>
                                        <p:cTn id="17" dur="1" fill="hold">
                                          <p:stCondLst>
                                            <p:cond delay="0"/>
                                          </p:stCondLst>
                                        </p:cTn>
                                        <p:tgtEl>
                                          <p:spTgt spid="4099">
                                            <p:txEl>
                                              <p:pRg st="2" end="2"/>
                                            </p:txEl>
                                          </p:spTgt>
                                        </p:tgtEl>
                                        <p:attrNameLst>
                                          <p:attrName>style.visibility</p:attrName>
                                        </p:attrNameLst>
                                      </p:cBhvr>
                                      <p:to>
                                        <p:strVal val="visible"/>
                                      </p:to>
                                    </p:set>
                                    <p:anim calcmode="lin" valueType="num">
                                      <p:cBhvr additive="base">
                                        <p:cTn id="18" dur="500" fill="hold"/>
                                        <p:tgtEl>
                                          <p:spTgt spid="4099">
                                            <p:txEl>
                                              <p:pRg st="2" end="2"/>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40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 presetClass="entr" presetSubtype="4" fill="hold" nodeType="clickEffect">
                                  <p:stCondLst>
                                    <p:cond delay="0"/>
                                  </p:stCondLst>
                                  <p:childTnLst>
                                    <p:set>
                                      <p:cBhvr>
                                        <p:cTn id="23" dur="1" fill="hold">
                                          <p:stCondLst>
                                            <p:cond delay="0"/>
                                          </p:stCondLst>
                                        </p:cTn>
                                        <p:tgtEl>
                                          <p:spTgt spid="4099">
                                            <p:txEl>
                                              <p:pRg st="4" end="4"/>
                                            </p:txEl>
                                          </p:spTgt>
                                        </p:tgtEl>
                                        <p:attrNameLst>
                                          <p:attrName>style.visibility</p:attrName>
                                        </p:attrNameLst>
                                      </p:cBhvr>
                                      <p:to>
                                        <p:strVal val="visible"/>
                                      </p:to>
                                    </p:set>
                                    <p:anim calcmode="lin" valueType="num">
                                      <p:cBhvr additive="base">
                                        <p:cTn id="24" dur="500" fill="hold"/>
                                        <p:tgtEl>
                                          <p:spTgt spid="4099">
                                            <p:txEl>
                                              <p:pRg st="4" end="4"/>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409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8" grpId="0"/>
      <p:bldP spid="4099"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D45B3909-3B84-9F45-9DF1-5032D6FD4F84}"/>
              </a:ext>
            </a:extLst>
          </p:cNvPr>
          <p:cNvSpPr txBox="1">
            <a:spLocks noChangeArrowheads="1"/>
          </p:cNvSpPr>
          <p:nvPr/>
        </p:nvSpPr>
        <p:spPr bwMode="auto">
          <a:xfrm>
            <a:off x="1066800" y="0"/>
            <a:ext cx="7772400" cy="1143000"/>
          </a:xfrm>
          <a:prstGeom prst="rect">
            <a:avLst/>
          </a:prstGeom>
          <a:noFill/>
          <a:ln w="9525">
            <a:noFill/>
            <a:miter lim="800000"/>
            <a:headEnd/>
            <a:tailEnd/>
          </a:ln>
          <a:effectLst/>
        </p:spPr>
        <p:txBody>
          <a:bodyPr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zh-CN" altLang="en-US" sz="4800" dirty="0">
                <a:effectLst>
                  <a:outerShdw blurRad="38100" dist="38100" dir="2700000" algn="tl">
                    <a:srgbClr val="C0C0C0"/>
                  </a:outerShdw>
                </a:effectLst>
                <a:latin typeface="Microsoft YaHei" panose="020B0503020204020204" pitchFamily="34" charset="-122"/>
                <a:ea typeface="Microsoft YaHei" panose="020B0503020204020204" pitchFamily="34" charset="-122"/>
              </a:rPr>
              <a:t>临界区管理的尝试</a:t>
            </a:r>
            <a:endParaRPr lang="en-US" altLang="zh-CN" sz="4800" dirty="0">
              <a:effectLst>
                <a:outerShdw blurRad="38100" dist="38100" dir="2700000" algn="tl">
                  <a:srgbClr val="C0C0C0"/>
                </a:outerShdw>
              </a:effectLst>
              <a:latin typeface="Microsoft YaHei" panose="020B0503020204020204" pitchFamily="34" charset="-122"/>
              <a:ea typeface="Microsoft YaHei" panose="020B0503020204020204" pitchFamily="34" charset="-122"/>
            </a:endParaRPr>
          </a:p>
        </p:txBody>
      </p:sp>
      <p:sp>
        <p:nvSpPr>
          <p:cNvPr id="3" name="Rectangle 3">
            <a:extLst>
              <a:ext uri="{FF2B5EF4-FFF2-40B4-BE49-F238E27FC236}">
                <a16:creationId xmlns:a16="http://schemas.microsoft.com/office/drawing/2014/main" id="{CF7E0E60-4025-BE44-A9A4-2454C6EEF206}"/>
              </a:ext>
            </a:extLst>
          </p:cNvPr>
          <p:cNvSpPr txBox="1">
            <a:spLocks noChangeArrowheads="1"/>
          </p:cNvSpPr>
          <p:nvPr/>
        </p:nvSpPr>
        <p:spPr bwMode="auto">
          <a:xfrm>
            <a:off x="611188" y="914400"/>
            <a:ext cx="8456612" cy="5683250"/>
          </a:xfrm>
          <a:prstGeom prst="rect">
            <a:avLst/>
          </a:prstGeom>
          <a:noFill/>
          <a:ln w="9525">
            <a:noFill/>
            <a:miter lim="800000"/>
            <a:headEnd/>
            <a:tailEnd/>
          </a:ln>
          <a:effectLst/>
        </p:spPr>
        <p:txBody>
          <a:bodyPr/>
          <a:lstStyle>
            <a:lvl1pPr marL="342900" indent="-342900">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eaLnBrk="1" hangingPunct="1">
              <a:lnSpc>
                <a:spcPct val="100000"/>
              </a:lnSpc>
              <a:spcBef>
                <a:spcPct val="20000"/>
              </a:spcBef>
              <a:buClr>
                <a:schemeClr val="hlink"/>
              </a:buClr>
              <a:buSzPct val="80000"/>
              <a:buFont typeface="Wingdings" pitchFamily="2" charset="2"/>
              <a:buChar char="Ø"/>
            </a:pPr>
            <a:r>
              <a:rPr lang="en-US" altLang="zh-CN" sz="2400">
                <a:effectLst>
                  <a:outerShdw blurRad="38100" dist="38100" dir="2700000" algn="tl">
                    <a:srgbClr val="C0C0C0"/>
                  </a:outerShdw>
                </a:effectLst>
                <a:latin typeface="华文新魏" panose="02010800040101010101" pitchFamily="2" charset="-122"/>
                <a:ea typeface="华文新魏" panose="02010800040101010101" pitchFamily="2" charset="-122"/>
              </a:rPr>
              <a:t>bool inside1=false;  //P1</a:t>
            </a:r>
            <a:r>
              <a:rPr lang="zh-CN" altLang="en-US" sz="2400">
                <a:effectLst>
                  <a:outerShdw blurRad="38100" dist="38100" dir="2700000" algn="tl">
                    <a:srgbClr val="C0C0C0"/>
                  </a:outerShdw>
                </a:effectLst>
                <a:latin typeface="华文新魏" panose="02010800040101010101" pitchFamily="2" charset="-122"/>
                <a:ea typeface="华文新魏" panose="02010800040101010101" pitchFamily="2" charset="-122"/>
              </a:rPr>
              <a:t>不在其临界区内</a:t>
            </a:r>
          </a:p>
          <a:p>
            <a:pPr eaLnBrk="1" hangingPunct="1">
              <a:lnSpc>
                <a:spcPct val="100000"/>
              </a:lnSpc>
              <a:spcBef>
                <a:spcPct val="20000"/>
              </a:spcBef>
              <a:buClr>
                <a:schemeClr val="hlink"/>
              </a:buClr>
              <a:buSzPct val="80000"/>
              <a:buFont typeface="Wingdings" pitchFamily="2" charset="2"/>
              <a:buChar char="Ø"/>
            </a:pPr>
            <a:r>
              <a:rPr lang="en-US" altLang="zh-CN" sz="2400">
                <a:effectLst>
                  <a:outerShdw blurRad="38100" dist="38100" dir="2700000" algn="tl">
                    <a:srgbClr val="C0C0C0"/>
                  </a:outerShdw>
                </a:effectLst>
                <a:latin typeface="华文新魏" panose="02010800040101010101" pitchFamily="2" charset="-122"/>
                <a:ea typeface="华文新魏" panose="02010800040101010101" pitchFamily="2" charset="-122"/>
              </a:rPr>
              <a:t>bool inside2=false;  //P2</a:t>
            </a:r>
            <a:r>
              <a:rPr lang="zh-CN" altLang="en-US" sz="2400">
                <a:effectLst>
                  <a:outerShdw blurRad="38100" dist="38100" dir="2700000" algn="tl">
                    <a:srgbClr val="C0C0C0"/>
                  </a:outerShdw>
                </a:effectLst>
                <a:latin typeface="华文新魏" panose="02010800040101010101" pitchFamily="2" charset="-122"/>
                <a:ea typeface="华文新魏" panose="02010800040101010101" pitchFamily="2" charset="-122"/>
              </a:rPr>
              <a:t>不在其临界区内</a:t>
            </a:r>
          </a:p>
          <a:p>
            <a:pPr eaLnBrk="1" hangingPunct="1">
              <a:lnSpc>
                <a:spcPct val="100000"/>
              </a:lnSpc>
              <a:spcBef>
                <a:spcPct val="20000"/>
              </a:spcBef>
              <a:buClr>
                <a:schemeClr val="hlink"/>
              </a:buClr>
              <a:buSzPct val="80000"/>
              <a:buFont typeface="Wingdings" pitchFamily="2" charset="2"/>
              <a:buChar char="Ø"/>
            </a:pPr>
            <a:r>
              <a:rPr lang="en-US" altLang="zh-CN" sz="2400">
                <a:effectLst>
                  <a:outerShdw blurRad="38100" dist="38100" dir="2700000" algn="tl">
                    <a:srgbClr val="C0C0C0"/>
                  </a:outerShdw>
                </a:effectLst>
                <a:latin typeface="华文新魏" panose="02010800040101010101" pitchFamily="2" charset="-122"/>
                <a:ea typeface="华文新魏" panose="02010800040101010101" pitchFamily="2" charset="-122"/>
              </a:rPr>
              <a:t>cobegin             /*cobegin</a:t>
            </a:r>
            <a:r>
              <a:rPr lang="zh-CN" altLang="en-US" sz="2400">
                <a:effectLst>
                  <a:outerShdw blurRad="38100" dist="38100" dir="2700000" algn="tl">
                    <a:srgbClr val="C0C0C0"/>
                  </a:outerShdw>
                </a:effectLst>
                <a:latin typeface="华文新魏" panose="02010800040101010101" pitchFamily="2" charset="-122"/>
                <a:ea typeface="华文新魏" panose="02010800040101010101" pitchFamily="2" charset="-122"/>
              </a:rPr>
              <a:t>和</a:t>
            </a:r>
            <a:r>
              <a:rPr lang="en-US" altLang="zh-CN" sz="2400">
                <a:effectLst>
                  <a:outerShdw blurRad="38100" dist="38100" dir="2700000" algn="tl">
                    <a:srgbClr val="C0C0C0"/>
                  </a:outerShdw>
                </a:effectLst>
                <a:latin typeface="华文新魏" panose="02010800040101010101" pitchFamily="2" charset="-122"/>
                <a:ea typeface="华文新魏" panose="02010800040101010101" pitchFamily="2" charset="-122"/>
              </a:rPr>
              <a:t>coend</a:t>
            </a:r>
            <a:r>
              <a:rPr lang="zh-CN" altLang="en-US" sz="2400">
                <a:effectLst>
                  <a:outerShdw blurRad="38100" dist="38100" dir="2700000" algn="tl">
                    <a:srgbClr val="C0C0C0"/>
                  </a:outerShdw>
                </a:effectLst>
                <a:latin typeface="华文新魏" panose="02010800040101010101" pitchFamily="2" charset="-122"/>
                <a:ea typeface="华文新魏" panose="02010800040101010101" pitchFamily="2" charset="-122"/>
              </a:rPr>
              <a:t>表示括号中的进程是一组并发进程*</a:t>
            </a:r>
            <a:r>
              <a:rPr lang="en-US" altLang="zh-CN" sz="2400">
                <a:effectLst>
                  <a:outerShdw blurRad="38100" dist="38100" dir="2700000" algn="tl">
                    <a:srgbClr val="C0C0C0"/>
                  </a:outerShdw>
                </a:effectLst>
                <a:latin typeface="华文新魏" panose="02010800040101010101" pitchFamily="2" charset="-122"/>
                <a:ea typeface="华文新魏" panose="02010800040101010101" pitchFamily="2" charset="-122"/>
              </a:rPr>
              <a:t>/</a:t>
            </a:r>
          </a:p>
          <a:p>
            <a:pPr eaLnBrk="1" hangingPunct="1">
              <a:lnSpc>
                <a:spcPct val="100000"/>
              </a:lnSpc>
              <a:spcBef>
                <a:spcPct val="20000"/>
              </a:spcBef>
              <a:buClr>
                <a:schemeClr val="hlink"/>
              </a:buClr>
              <a:buSzPct val="80000"/>
              <a:buFont typeface="Wingdings" pitchFamily="2" charset="2"/>
              <a:buChar char="Ø"/>
            </a:pPr>
            <a:r>
              <a:rPr lang="en-US" altLang="zh-CN" sz="2400">
                <a:effectLst>
                  <a:outerShdw blurRad="38100" dist="38100" dir="2700000" algn="tl">
                    <a:srgbClr val="C0C0C0"/>
                  </a:outerShdw>
                </a:effectLst>
                <a:latin typeface="华文新魏" panose="02010800040101010101" pitchFamily="2" charset="-122"/>
                <a:ea typeface="华文新魏" panose="02010800040101010101" pitchFamily="2" charset="-122"/>
              </a:rPr>
              <a:t>process P1( ) {                     process P2( ) {</a:t>
            </a:r>
          </a:p>
          <a:p>
            <a:pPr eaLnBrk="1" hangingPunct="1">
              <a:lnSpc>
                <a:spcPct val="100000"/>
              </a:lnSpc>
              <a:spcBef>
                <a:spcPct val="20000"/>
              </a:spcBef>
              <a:buClr>
                <a:schemeClr val="hlink"/>
              </a:buClr>
              <a:buSzPct val="80000"/>
              <a:buFont typeface="Wingdings" pitchFamily="2" charset="2"/>
              <a:buChar char="Ø"/>
            </a:pPr>
            <a:r>
              <a:rPr lang="en-US" altLang="zh-CN" sz="2400">
                <a:effectLst>
                  <a:outerShdw blurRad="38100" dist="38100" dir="2700000" algn="tl">
                    <a:srgbClr val="C0C0C0"/>
                  </a:outerShdw>
                </a:effectLst>
                <a:latin typeface="华文新魏" panose="02010800040101010101" pitchFamily="2" charset="-122"/>
                <a:ea typeface="华文新魏" panose="02010800040101010101" pitchFamily="2" charset="-122"/>
              </a:rPr>
              <a:t>      while(inside2);//</a:t>
            </a:r>
            <a:r>
              <a:rPr lang="zh-CN" altLang="en-US" sz="2400">
                <a:effectLst>
                  <a:outerShdw blurRad="38100" dist="38100" dir="2700000" algn="tl">
                    <a:srgbClr val="C0C0C0"/>
                  </a:outerShdw>
                </a:effectLst>
                <a:latin typeface="华文新魏" panose="02010800040101010101" pitchFamily="2" charset="-122"/>
                <a:ea typeface="华文新魏" panose="02010800040101010101" pitchFamily="2" charset="-122"/>
              </a:rPr>
              <a:t>等待         </a:t>
            </a:r>
            <a:r>
              <a:rPr lang="en-US" altLang="zh-CN" sz="2400">
                <a:effectLst>
                  <a:outerShdw blurRad="38100" dist="38100" dir="2700000" algn="tl">
                    <a:srgbClr val="C0C0C0"/>
                  </a:outerShdw>
                </a:effectLst>
                <a:latin typeface="华文新魏" panose="02010800040101010101" pitchFamily="2" charset="-122"/>
                <a:ea typeface="华文新魏" panose="02010800040101010101" pitchFamily="2" charset="-122"/>
              </a:rPr>
              <a:t>while(inside1);//</a:t>
            </a:r>
            <a:r>
              <a:rPr lang="zh-CN" altLang="en-US" sz="2400">
                <a:effectLst>
                  <a:outerShdw blurRad="38100" dist="38100" dir="2700000" algn="tl">
                    <a:srgbClr val="C0C0C0"/>
                  </a:outerShdw>
                </a:effectLst>
                <a:latin typeface="华文新魏" panose="02010800040101010101" pitchFamily="2" charset="-122"/>
                <a:ea typeface="华文新魏" panose="02010800040101010101" pitchFamily="2" charset="-122"/>
              </a:rPr>
              <a:t>等待</a:t>
            </a:r>
          </a:p>
          <a:p>
            <a:pPr eaLnBrk="1" hangingPunct="1">
              <a:lnSpc>
                <a:spcPct val="100000"/>
              </a:lnSpc>
              <a:spcBef>
                <a:spcPct val="20000"/>
              </a:spcBef>
              <a:buClr>
                <a:schemeClr val="hlink"/>
              </a:buClr>
              <a:buSzPct val="80000"/>
              <a:buFont typeface="Wingdings" pitchFamily="2" charset="2"/>
              <a:buChar char="Ø"/>
            </a:pPr>
            <a:r>
              <a:rPr lang="zh-CN" altLang="en-US" sz="2400">
                <a:effectLst>
                  <a:outerShdw blurRad="38100" dist="38100" dir="2700000" algn="tl">
                    <a:srgbClr val="C0C0C0"/>
                  </a:outerShdw>
                </a:effectLst>
                <a:latin typeface="华文新魏" panose="02010800040101010101" pitchFamily="2" charset="-122"/>
                <a:ea typeface="华文新魏" panose="02010800040101010101" pitchFamily="2" charset="-122"/>
              </a:rPr>
              <a:t>      </a:t>
            </a:r>
            <a:r>
              <a:rPr lang="en-US" altLang="zh-CN" sz="2400">
                <a:effectLst>
                  <a:outerShdw blurRad="38100" dist="38100" dir="2700000" algn="tl">
                    <a:srgbClr val="C0C0C0"/>
                  </a:outerShdw>
                </a:effectLst>
                <a:latin typeface="华文新魏" panose="02010800040101010101" pitchFamily="2" charset="-122"/>
                <a:ea typeface="华文新魏" panose="02010800040101010101" pitchFamily="2" charset="-122"/>
              </a:rPr>
              <a:t>inside1=true;                      inside2=true;</a:t>
            </a:r>
          </a:p>
          <a:p>
            <a:pPr eaLnBrk="1" hangingPunct="1">
              <a:lnSpc>
                <a:spcPct val="100000"/>
              </a:lnSpc>
              <a:spcBef>
                <a:spcPct val="20000"/>
              </a:spcBef>
              <a:buClr>
                <a:schemeClr val="hlink"/>
              </a:buClr>
              <a:buSzPct val="80000"/>
              <a:buFont typeface="Wingdings" pitchFamily="2" charset="2"/>
              <a:buChar char="Ø"/>
            </a:pPr>
            <a:r>
              <a:rPr lang="en-US" altLang="zh-CN" sz="2400">
                <a:effectLst>
                  <a:outerShdw blurRad="38100" dist="38100" dir="2700000" algn="tl">
                    <a:srgbClr val="C0C0C0"/>
                  </a:outerShdw>
                </a:effectLst>
                <a:latin typeface="华文新魏" panose="02010800040101010101" pitchFamily="2" charset="-122"/>
                <a:ea typeface="华文新魏" panose="02010800040101010101" pitchFamily="2" charset="-122"/>
              </a:rPr>
              <a:t>      {</a:t>
            </a:r>
            <a:r>
              <a:rPr lang="zh-CN" altLang="en-US" sz="2400">
                <a:solidFill>
                  <a:srgbClr val="FF99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临界区</a:t>
            </a:r>
            <a:r>
              <a:rPr lang="en-US" altLang="zh-CN" sz="2400">
                <a:effectLst>
                  <a:outerShdw blurRad="38100" dist="38100" dir="2700000" algn="tl">
                    <a:srgbClr val="C0C0C0"/>
                  </a:outerShdw>
                </a:effectLst>
                <a:latin typeface="华文新魏" panose="02010800040101010101" pitchFamily="2" charset="-122"/>
                <a:ea typeface="华文新魏" panose="02010800040101010101" pitchFamily="2" charset="-122"/>
              </a:rPr>
              <a:t>};                            {</a:t>
            </a:r>
            <a:r>
              <a:rPr lang="zh-CN" altLang="en-US" sz="2400">
                <a:solidFill>
                  <a:srgbClr val="FF9900"/>
                </a:solidFill>
                <a:effectLst>
                  <a:outerShdw blurRad="38100" dist="38100" dir="2700000" algn="tl">
                    <a:srgbClr val="C0C0C0"/>
                  </a:outerShdw>
                </a:effectLst>
                <a:latin typeface="华文新魏" panose="02010800040101010101" pitchFamily="2" charset="-122"/>
                <a:ea typeface="华文新魏" panose="02010800040101010101" pitchFamily="2" charset="-122"/>
              </a:rPr>
              <a:t>临界区</a:t>
            </a:r>
            <a:r>
              <a:rPr lang="en-US" altLang="zh-CN" sz="2400">
                <a:effectLst>
                  <a:outerShdw blurRad="38100" dist="38100" dir="2700000" algn="tl">
                    <a:srgbClr val="C0C0C0"/>
                  </a:outerShdw>
                </a:effectLst>
                <a:latin typeface="华文新魏" panose="02010800040101010101" pitchFamily="2" charset="-122"/>
                <a:ea typeface="华文新魏" panose="02010800040101010101" pitchFamily="2" charset="-122"/>
              </a:rPr>
              <a:t>};</a:t>
            </a:r>
          </a:p>
          <a:p>
            <a:pPr eaLnBrk="1" hangingPunct="1">
              <a:lnSpc>
                <a:spcPct val="100000"/>
              </a:lnSpc>
              <a:spcBef>
                <a:spcPct val="20000"/>
              </a:spcBef>
              <a:buClr>
                <a:schemeClr val="hlink"/>
              </a:buClr>
              <a:buSzPct val="80000"/>
              <a:buFont typeface="Wingdings" pitchFamily="2" charset="2"/>
              <a:buChar char="Ø"/>
            </a:pPr>
            <a:r>
              <a:rPr lang="en-US" altLang="zh-CN" sz="2400">
                <a:effectLst>
                  <a:outerShdw blurRad="38100" dist="38100" dir="2700000" algn="tl">
                    <a:srgbClr val="C0C0C0"/>
                  </a:outerShdw>
                </a:effectLst>
                <a:latin typeface="华文新魏" panose="02010800040101010101" pitchFamily="2" charset="-122"/>
                <a:ea typeface="华文新魏" panose="02010800040101010101" pitchFamily="2" charset="-122"/>
              </a:rPr>
              <a:t>      inside1=false;                     Inside2=false;</a:t>
            </a:r>
          </a:p>
          <a:p>
            <a:pPr eaLnBrk="1" hangingPunct="1">
              <a:lnSpc>
                <a:spcPct val="100000"/>
              </a:lnSpc>
              <a:spcBef>
                <a:spcPct val="20000"/>
              </a:spcBef>
              <a:buClr>
                <a:schemeClr val="hlink"/>
              </a:buClr>
              <a:buSzPct val="80000"/>
              <a:buFont typeface="Wingdings" pitchFamily="2" charset="2"/>
              <a:buChar char="Ø"/>
            </a:pPr>
            <a:r>
              <a:rPr lang="en-US" altLang="zh-CN" sz="2400">
                <a:effectLst>
                  <a:outerShdw blurRad="38100" dist="38100" dir="2700000" algn="tl">
                    <a:srgbClr val="C0C0C0"/>
                  </a:outerShdw>
                </a:effectLst>
                <a:latin typeface="华文新魏" panose="02010800040101010101" pitchFamily="2" charset="-122"/>
                <a:ea typeface="华文新魏" panose="02010800040101010101" pitchFamily="2" charset="-122"/>
              </a:rPr>
              <a:t> }                                           }</a:t>
            </a:r>
          </a:p>
          <a:p>
            <a:pPr eaLnBrk="1" hangingPunct="1">
              <a:lnSpc>
                <a:spcPct val="100000"/>
              </a:lnSpc>
              <a:spcBef>
                <a:spcPct val="20000"/>
              </a:spcBef>
              <a:buClr>
                <a:schemeClr val="hlink"/>
              </a:buClr>
              <a:buSzPct val="80000"/>
              <a:buFont typeface="Wingdings" pitchFamily="2" charset="2"/>
              <a:buChar char="Ø"/>
            </a:pPr>
            <a:r>
              <a:rPr lang="en-US" altLang="zh-CN" sz="2400">
                <a:effectLst>
                  <a:outerShdw blurRad="38100" dist="38100" dir="2700000" algn="tl">
                    <a:srgbClr val="C0C0C0"/>
                  </a:outerShdw>
                </a:effectLst>
                <a:latin typeface="华文新魏" panose="02010800040101010101" pitchFamily="2" charset="-122"/>
                <a:ea typeface="华文新魏" panose="02010800040101010101" pitchFamily="2" charset="-122"/>
              </a:rPr>
              <a:t>coend </a:t>
            </a:r>
          </a:p>
        </p:txBody>
      </p:sp>
      <p:sp>
        <p:nvSpPr>
          <p:cNvPr id="4" name="Text Box 5">
            <a:extLst>
              <a:ext uri="{FF2B5EF4-FFF2-40B4-BE49-F238E27FC236}">
                <a16:creationId xmlns:a16="http://schemas.microsoft.com/office/drawing/2014/main" id="{8EBA7DEE-0FD8-B348-A7F4-3CBB9984EA38}"/>
              </a:ext>
            </a:extLst>
          </p:cNvPr>
          <p:cNvSpPr txBox="1">
            <a:spLocks noChangeArrowheads="1"/>
          </p:cNvSpPr>
          <p:nvPr/>
        </p:nvSpPr>
        <p:spPr bwMode="auto">
          <a:xfrm>
            <a:off x="611188" y="5957888"/>
            <a:ext cx="8324850" cy="833437"/>
          </a:xfrm>
          <a:prstGeom prst="rect">
            <a:avLst/>
          </a:prstGeom>
          <a:noFill/>
          <a:ln w="9525">
            <a:noFill/>
            <a:miter lim="800000"/>
            <a:headEnd/>
            <a:tailEnd/>
          </a:ln>
          <a:effectLst/>
        </p:spPr>
        <p:txBody>
          <a:bodyPr lIns="90000" tIns="46800" rIns="90000" bIns="4680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kumimoji="1" lang="en-US" altLang="zh-CN" sz="2400">
                <a:solidFill>
                  <a:srgbClr val="FF9900"/>
                </a:solidFill>
                <a:effectLst>
                  <a:outerShdw blurRad="38100" dist="38100" dir="2700000" algn="tl">
                    <a:srgbClr val="C0C0C0"/>
                  </a:outerShdw>
                </a:effectLst>
                <a:latin typeface="Times New Roman" panose="02020603050405020304" pitchFamily="18" charset="0"/>
                <a:ea typeface="黑体" panose="02010609060101010101" pitchFamily="49" charset="-122"/>
              </a:rPr>
              <a:t>P1</a:t>
            </a:r>
            <a:r>
              <a:rPr kumimoji="1" lang="zh-CN" altLang="en-US" sz="2400">
                <a:solidFill>
                  <a:srgbClr val="FF9900"/>
                </a:solidFill>
                <a:effectLst>
                  <a:outerShdw blurRad="38100" dist="38100" dir="2700000" algn="tl">
                    <a:srgbClr val="C0C0C0"/>
                  </a:outerShdw>
                </a:effectLst>
                <a:latin typeface="Times New Roman" panose="02020603050405020304" pitchFamily="18" charset="0"/>
                <a:ea typeface="黑体" panose="02010609060101010101" pitchFamily="49" charset="-122"/>
              </a:rPr>
              <a:t>跳出等待，随后</a:t>
            </a:r>
            <a:r>
              <a:rPr kumimoji="1" lang="en-US" altLang="zh-CN" sz="2400">
                <a:solidFill>
                  <a:srgbClr val="FF9900"/>
                </a:solidFill>
                <a:effectLst>
                  <a:outerShdw blurRad="38100" dist="38100" dir="2700000" algn="tl">
                    <a:srgbClr val="C0C0C0"/>
                  </a:outerShdw>
                </a:effectLst>
                <a:latin typeface="Times New Roman" panose="02020603050405020304" pitchFamily="18" charset="0"/>
                <a:ea typeface="黑体" panose="02010609060101010101" pitchFamily="49" charset="-122"/>
              </a:rPr>
              <a:t>P2</a:t>
            </a:r>
            <a:r>
              <a:rPr kumimoji="1" lang="zh-CN" altLang="en-US" sz="2400">
                <a:solidFill>
                  <a:srgbClr val="FF9900"/>
                </a:solidFill>
                <a:effectLst>
                  <a:outerShdw blurRad="38100" dist="38100" dir="2700000" algn="tl">
                    <a:srgbClr val="C0C0C0"/>
                  </a:outerShdw>
                </a:effectLst>
                <a:latin typeface="Times New Roman" panose="02020603050405020304" pitchFamily="18" charset="0"/>
                <a:ea typeface="黑体" panose="02010609060101010101" pitchFamily="49" charset="-122"/>
              </a:rPr>
              <a:t>执行也跳出等待，这是两边都设置为</a:t>
            </a:r>
            <a:r>
              <a:rPr kumimoji="1" lang="en-US" altLang="zh-CN" sz="2400">
                <a:solidFill>
                  <a:srgbClr val="FF9900"/>
                </a:solidFill>
                <a:effectLst>
                  <a:outerShdw blurRad="38100" dist="38100" dir="2700000" algn="tl">
                    <a:srgbClr val="C0C0C0"/>
                  </a:outerShdw>
                </a:effectLst>
                <a:latin typeface="Times New Roman" panose="02020603050405020304" pitchFamily="18" charset="0"/>
                <a:ea typeface="黑体" panose="02010609060101010101" pitchFamily="49" charset="-122"/>
              </a:rPr>
              <a:t>true</a:t>
            </a:r>
            <a:r>
              <a:rPr kumimoji="1" lang="zh-CN" altLang="en-US" sz="2400">
                <a:solidFill>
                  <a:srgbClr val="FF9900"/>
                </a:solidFill>
                <a:effectLst>
                  <a:outerShdw blurRad="38100" dist="38100" dir="2700000" algn="tl">
                    <a:srgbClr val="C0C0C0"/>
                  </a:outerShdw>
                </a:effectLst>
                <a:latin typeface="Times New Roman" panose="02020603050405020304" pitchFamily="18" charset="0"/>
                <a:ea typeface="黑体" panose="02010609060101010101" pitchFamily="49" charset="-122"/>
              </a:rPr>
              <a:t>，从而使</a:t>
            </a:r>
            <a:r>
              <a:rPr kumimoji="1" lang="en-US" altLang="zh-CN" sz="2400">
                <a:solidFill>
                  <a:srgbClr val="FF9900"/>
                </a:solidFill>
                <a:effectLst>
                  <a:outerShdw blurRad="38100" dist="38100" dir="2700000" algn="tl">
                    <a:srgbClr val="C0C0C0"/>
                  </a:outerShdw>
                </a:effectLst>
                <a:latin typeface="Times New Roman" panose="02020603050405020304" pitchFamily="18" charset="0"/>
                <a:ea typeface="黑体" panose="02010609060101010101" pitchFamily="49" charset="-122"/>
              </a:rPr>
              <a:t>P1</a:t>
            </a:r>
            <a:r>
              <a:rPr kumimoji="1" lang="zh-CN" altLang="en-US" sz="2400">
                <a:solidFill>
                  <a:srgbClr val="FF9900"/>
                </a:solidFill>
                <a:effectLst>
                  <a:outerShdw blurRad="38100" dist="38100" dir="2700000" algn="tl">
                    <a:srgbClr val="C0C0C0"/>
                  </a:outerShdw>
                </a:effectLst>
                <a:latin typeface="Times New Roman" panose="02020603050405020304" pitchFamily="18" charset="0"/>
                <a:ea typeface="黑体" panose="02010609060101010101" pitchFamily="49" charset="-122"/>
              </a:rPr>
              <a:t>和</a:t>
            </a:r>
            <a:r>
              <a:rPr kumimoji="1" lang="en-US" altLang="zh-CN" sz="2400">
                <a:solidFill>
                  <a:srgbClr val="FF9900"/>
                </a:solidFill>
                <a:effectLst>
                  <a:outerShdw blurRad="38100" dist="38100" dir="2700000" algn="tl">
                    <a:srgbClr val="C0C0C0"/>
                  </a:outerShdw>
                </a:effectLst>
                <a:latin typeface="Times New Roman" panose="02020603050405020304" pitchFamily="18" charset="0"/>
                <a:ea typeface="黑体" panose="02010609060101010101" pitchFamily="49" charset="-122"/>
              </a:rPr>
              <a:t>P2</a:t>
            </a:r>
            <a:r>
              <a:rPr kumimoji="1" lang="zh-CN" altLang="en-US" sz="2400">
                <a:solidFill>
                  <a:srgbClr val="FF9900"/>
                </a:solidFill>
                <a:effectLst>
                  <a:outerShdw blurRad="38100" dist="38100" dir="2700000" algn="tl">
                    <a:srgbClr val="C0C0C0"/>
                  </a:outerShdw>
                </a:effectLst>
                <a:latin typeface="Times New Roman" panose="02020603050405020304" pitchFamily="18" charset="0"/>
                <a:ea typeface="黑体" panose="02010609060101010101" pitchFamily="49" charset="-122"/>
              </a:rPr>
              <a:t>可以同时进入临界区</a:t>
            </a:r>
          </a:p>
        </p:txBody>
      </p:sp>
      <p:sp>
        <p:nvSpPr>
          <p:cNvPr id="8" name="Text Box 5">
            <a:extLst>
              <a:ext uri="{FF2B5EF4-FFF2-40B4-BE49-F238E27FC236}">
                <a16:creationId xmlns:a16="http://schemas.microsoft.com/office/drawing/2014/main" id="{1F088D98-57E0-6540-BFBB-F4F512C074F7}"/>
              </a:ext>
            </a:extLst>
          </p:cNvPr>
          <p:cNvSpPr txBox="1">
            <a:spLocks noChangeArrowheads="1"/>
          </p:cNvSpPr>
          <p:nvPr/>
        </p:nvSpPr>
        <p:spPr bwMode="auto">
          <a:xfrm>
            <a:off x="4067175" y="5238750"/>
            <a:ext cx="50768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spcBef>
                <a:spcPct val="50000"/>
              </a:spcBef>
            </a:pPr>
            <a:r>
              <a:rPr kumimoji="1" lang="zh-CN" altLang="en-US" sz="2400">
                <a:solidFill>
                  <a:srgbClr val="FF0000"/>
                </a:solidFill>
                <a:latin typeface="Times New Roman" panose="02020603050405020304" pitchFamily="18" charset="0"/>
                <a:ea typeface="黑体" panose="02010609060101010101" pitchFamily="49" charset="-122"/>
              </a:rPr>
              <a:t>第一种尝试：观察别人不用我就用</a:t>
            </a:r>
          </a:p>
        </p:txBody>
      </p:sp>
    </p:spTree>
    <p:extLst>
      <p:ext uri="{BB962C8B-B14F-4D97-AF65-F5344CB8AC3E}">
        <p14:creationId xmlns:p14="http://schemas.microsoft.com/office/powerpoint/2010/main" val="2076039699"/>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 calcmode="lin" valueType="num">
                                      <p:cBhvr additive="base">
                                        <p:cTn id="12"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3">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 calcmode="lin" valueType="num">
                                      <p:cBhvr additive="base">
                                        <p:cTn id="16"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 calcmode="lin" valueType="num">
                                      <p:cBhvr additive="base">
                                        <p:cTn id="20"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3">
                                            <p:txEl>
                                              <p:pRg st="3" end="3"/>
                                            </p:txEl>
                                          </p:spTgt>
                                        </p:tgtEl>
                                        <p:attrNameLst>
                                          <p:attrName>style.visibility</p:attrName>
                                        </p:attrNameLst>
                                      </p:cBhvr>
                                      <p:to>
                                        <p:strVal val="visible"/>
                                      </p:to>
                                    </p:set>
                                    <p:anim calcmode="lin" valueType="num">
                                      <p:cBhvr additive="base">
                                        <p:cTn id="24"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 calcmode="lin" valueType="num">
                                      <p:cBhvr additive="base">
                                        <p:cTn id="28"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additive="base">
                                        <p:cTn id="32"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3">
                                            <p:txEl>
                                              <p:pRg st="5" end="5"/>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3">
                                            <p:txEl>
                                              <p:pRg st="6" end="6"/>
                                            </p:txEl>
                                          </p:spTgt>
                                        </p:tgtEl>
                                        <p:attrNameLst>
                                          <p:attrName>style.visibility</p:attrName>
                                        </p:attrNameLst>
                                      </p:cBhvr>
                                      <p:to>
                                        <p:strVal val="visible"/>
                                      </p:to>
                                    </p:set>
                                    <p:anim calcmode="lin" valueType="num">
                                      <p:cBhvr additive="base">
                                        <p:cTn id="36"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 calcmode="lin" valueType="num">
                                      <p:cBhvr additive="base">
                                        <p:cTn id="40"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3">
                                            <p:txEl>
                                              <p:pRg st="7" end="7"/>
                                            </p:txEl>
                                          </p:spTgt>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3">
                                            <p:txEl>
                                              <p:pRg st="8" end="8"/>
                                            </p:txEl>
                                          </p:spTgt>
                                        </p:tgtEl>
                                        <p:attrNameLst>
                                          <p:attrName>style.visibility</p:attrName>
                                        </p:attrNameLst>
                                      </p:cBhvr>
                                      <p:to>
                                        <p:strVal val="visible"/>
                                      </p:to>
                                    </p:set>
                                    <p:anim calcmode="lin" valueType="num">
                                      <p:cBhvr additive="base">
                                        <p:cTn id="44"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3">
                                            <p:txEl>
                                              <p:pRg st="8" end="8"/>
                                            </p:txEl>
                                          </p:spTgt>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3">
                                            <p:txEl>
                                              <p:pRg st="9" end="9"/>
                                            </p:txEl>
                                          </p:spTgt>
                                        </p:tgtEl>
                                        <p:attrNameLst>
                                          <p:attrName>style.visibility</p:attrName>
                                        </p:attrNameLst>
                                      </p:cBhvr>
                                      <p:to>
                                        <p:strVal val="visible"/>
                                      </p:to>
                                    </p:set>
                                    <p:anim calcmode="lin" valueType="num">
                                      <p:cBhvr additive="base">
                                        <p:cTn id="48"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4" presetClass="entr" presetSubtype="16" fill="hold" nodeType="clickEffect">
                                  <p:stCondLst>
                                    <p:cond delay="0"/>
                                  </p:stCondLst>
                                  <p:childTnLst>
                                    <p:set>
                                      <p:cBhvr>
                                        <p:cTn id="53" dur="1" fill="hold">
                                          <p:stCondLst>
                                            <p:cond delay="0"/>
                                          </p:stCondLst>
                                        </p:cTn>
                                        <p:tgtEl>
                                          <p:spTgt spid="4"/>
                                        </p:tgtEl>
                                        <p:attrNameLst>
                                          <p:attrName>style.visibility</p:attrName>
                                        </p:attrNameLst>
                                      </p:cBhvr>
                                      <p:to>
                                        <p:strVal val="visible"/>
                                      </p:to>
                                    </p:set>
                                    <p:animEffect transition="in" filter="box(in)">
                                      <p:cBhvr>
                                        <p:cTn id="54" dur="500"/>
                                        <p:tgtEl>
                                          <p:spTgt spid="4"/>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nodeType="clickEffect">
                                  <p:stCondLst>
                                    <p:cond delay="0"/>
                                  </p:stCondLst>
                                  <p:childTnLst>
                                    <p:set>
                                      <p:cBhvr>
                                        <p:cTn id="58" dur="1" fill="hold">
                                          <p:stCondLst>
                                            <p:cond delay="0"/>
                                          </p:stCondLst>
                                        </p:cTn>
                                        <p:tgtEl>
                                          <p:spTgt spid="8">
                                            <p:txEl>
                                              <p:pRg st="0" end="0"/>
                                            </p:txEl>
                                          </p:spTgt>
                                        </p:tgtEl>
                                        <p:attrNameLst>
                                          <p:attrName>style.visibility</p:attrName>
                                        </p:attrNameLst>
                                      </p:cBhvr>
                                      <p:to>
                                        <p:strVal val="visible"/>
                                      </p:to>
                                    </p:set>
                                    <p:animEffect transition="in" filter="blinds(horizontal)">
                                      <p:cBhvr>
                                        <p:cTn id="59"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518C5711-2940-D248-9DAE-3E2F3B7E404D}"/>
              </a:ext>
            </a:extLst>
          </p:cNvPr>
          <p:cNvSpPr/>
          <p:nvPr/>
        </p:nvSpPr>
        <p:spPr>
          <a:xfrm>
            <a:off x="1223963" y="1681163"/>
            <a:ext cx="5256212" cy="1871662"/>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0243" name="组合 48">
            <a:extLst>
              <a:ext uri="{FF2B5EF4-FFF2-40B4-BE49-F238E27FC236}">
                <a16:creationId xmlns:a16="http://schemas.microsoft.com/office/drawing/2014/main" id="{25D880DA-92A9-6E44-9083-1E08F9F40E6A}"/>
              </a:ext>
            </a:extLst>
          </p:cNvPr>
          <p:cNvGrpSpPr>
            <a:grpSpLocks/>
          </p:cNvGrpSpPr>
          <p:nvPr/>
        </p:nvGrpSpPr>
        <p:grpSpPr bwMode="auto">
          <a:xfrm>
            <a:off x="3563938" y="2481263"/>
            <a:ext cx="576262" cy="790575"/>
            <a:chOff x="2411760" y="2348880"/>
            <a:chExt cx="576064" cy="792088"/>
          </a:xfrm>
        </p:grpSpPr>
        <p:grpSp>
          <p:nvGrpSpPr>
            <p:cNvPr id="10250" name="组合 46">
              <a:extLst>
                <a:ext uri="{FF2B5EF4-FFF2-40B4-BE49-F238E27FC236}">
                  <a16:creationId xmlns:a16="http://schemas.microsoft.com/office/drawing/2014/main" id="{3B43720B-CCA3-2045-8AEB-FF58F44255E1}"/>
                </a:ext>
              </a:extLst>
            </p:cNvPr>
            <p:cNvGrpSpPr>
              <a:grpSpLocks/>
            </p:cNvGrpSpPr>
            <p:nvPr/>
          </p:nvGrpSpPr>
          <p:grpSpPr bwMode="auto">
            <a:xfrm>
              <a:off x="2411760" y="2348880"/>
              <a:ext cx="576064" cy="792088"/>
              <a:chOff x="2267744" y="3861048"/>
              <a:chExt cx="576064" cy="792088"/>
            </a:xfrm>
          </p:grpSpPr>
          <p:sp>
            <p:nvSpPr>
              <p:cNvPr id="44" name="矩形 43">
                <a:extLst>
                  <a:ext uri="{FF2B5EF4-FFF2-40B4-BE49-F238E27FC236}">
                    <a16:creationId xmlns:a16="http://schemas.microsoft.com/office/drawing/2014/main" id="{77B30353-7D40-8D43-88FD-939C8E58C4D9}"/>
                  </a:ext>
                </a:extLst>
              </p:cNvPr>
              <p:cNvSpPr/>
              <p:nvPr/>
            </p:nvSpPr>
            <p:spPr>
              <a:xfrm>
                <a:off x="2267744" y="3861048"/>
                <a:ext cx="576064" cy="79208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6" name="椭圆 45">
                <a:extLst>
                  <a:ext uri="{FF2B5EF4-FFF2-40B4-BE49-F238E27FC236}">
                    <a16:creationId xmlns:a16="http://schemas.microsoft.com/office/drawing/2014/main" id="{8B082E92-A36D-884B-9882-67764ABD54A6}"/>
                  </a:ext>
                </a:extLst>
              </p:cNvPr>
              <p:cNvSpPr/>
              <p:nvPr/>
            </p:nvSpPr>
            <p:spPr>
              <a:xfrm>
                <a:off x="2339156" y="4253910"/>
                <a:ext cx="144413" cy="14314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48" name="矩形 47">
              <a:extLst>
                <a:ext uri="{FF2B5EF4-FFF2-40B4-BE49-F238E27FC236}">
                  <a16:creationId xmlns:a16="http://schemas.microsoft.com/office/drawing/2014/main" id="{3568791B-A99B-184A-BD82-A116A968DBA7}"/>
                </a:ext>
              </a:extLst>
            </p:cNvPr>
            <p:cNvSpPr/>
            <p:nvPr/>
          </p:nvSpPr>
          <p:spPr>
            <a:xfrm>
              <a:off x="2627586" y="2493618"/>
              <a:ext cx="288826" cy="14314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pic>
        <p:nvPicPr>
          <p:cNvPr id="10244" name="图片 55">
            <a:extLst>
              <a:ext uri="{FF2B5EF4-FFF2-40B4-BE49-F238E27FC236}">
                <a16:creationId xmlns:a16="http://schemas.microsoft.com/office/drawing/2014/main" id="{98994350-3F71-6044-AB5B-E363B538DE5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3860800"/>
            <a:ext cx="787400"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5" name="图片 57">
            <a:extLst>
              <a:ext uri="{FF2B5EF4-FFF2-40B4-BE49-F238E27FC236}">
                <a16:creationId xmlns:a16="http://schemas.microsoft.com/office/drawing/2014/main" id="{762A63B4-6A81-BE4C-832F-41D70E39EB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425" y="3860800"/>
            <a:ext cx="696913"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文本框 59">
            <a:extLst>
              <a:ext uri="{FF2B5EF4-FFF2-40B4-BE49-F238E27FC236}">
                <a16:creationId xmlns:a16="http://schemas.microsoft.com/office/drawing/2014/main" id="{AB3E4970-73A5-3C4C-9EC7-8FBE143E9D2E}"/>
              </a:ext>
            </a:extLst>
          </p:cNvPr>
          <p:cNvSpPr txBox="1"/>
          <p:nvPr/>
        </p:nvSpPr>
        <p:spPr>
          <a:xfrm>
            <a:off x="1133475" y="3860800"/>
            <a:ext cx="414338" cy="369888"/>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P1</a:t>
            </a:r>
            <a:endParaRPr lang="zh-CN" altLang="en-US" dirty="0"/>
          </a:p>
        </p:txBody>
      </p:sp>
      <p:sp>
        <p:nvSpPr>
          <p:cNvPr id="61" name="文本框 60">
            <a:extLst>
              <a:ext uri="{FF2B5EF4-FFF2-40B4-BE49-F238E27FC236}">
                <a16:creationId xmlns:a16="http://schemas.microsoft.com/office/drawing/2014/main" id="{E22E5F84-2310-6742-B1D0-28DAE1056CAA}"/>
              </a:ext>
            </a:extLst>
          </p:cNvPr>
          <p:cNvSpPr txBox="1"/>
          <p:nvPr/>
        </p:nvSpPr>
        <p:spPr>
          <a:xfrm>
            <a:off x="4932363" y="3860800"/>
            <a:ext cx="473075" cy="369888"/>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P2</a:t>
            </a:r>
            <a:endParaRPr lang="zh-CN" altLang="en-US" dirty="0"/>
          </a:p>
        </p:txBody>
      </p:sp>
      <p:sp>
        <p:nvSpPr>
          <p:cNvPr id="18" name="文本框 17">
            <a:extLst>
              <a:ext uri="{FF2B5EF4-FFF2-40B4-BE49-F238E27FC236}">
                <a16:creationId xmlns:a16="http://schemas.microsoft.com/office/drawing/2014/main" id="{8BD94061-1666-FC4B-B5AC-3E16F0789AC3}"/>
              </a:ext>
            </a:extLst>
          </p:cNvPr>
          <p:cNvSpPr txBox="1"/>
          <p:nvPr/>
        </p:nvSpPr>
        <p:spPr>
          <a:xfrm>
            <a:off x="1344613" y="3097213"/>
            <a:ext cx="1638300" cy="368300"/>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inside1=false; </a:t>
            </a:r>
            <a:endParaRPr lang="zh-CN" altLang="en-US" dirty="0"/>
          </a:p>
        </p:txBody>
      </p:sp>
      <p:sp>
        <p:nvSpPr>
          <p:cNvPr id="19" name="文本框 18">
            <a:extLst>
              <a:ext uri="{FF2B5EF4-FFF2-40B4-BE49-F238E27FC236}">
                <a16:creationId xmlns:a16="http://schemas.microsoft.com/office/drawing/2014/main" id="{55673ADB-9188-094C-AFA4-30A073E09983}"/>
              </a:ext>
            </a:extLst>
          </p:cNvPr>
          <p:cNvSpPr txBox="1"/>
          <p:nvPr/>
        </p:nvSpPr>
        <p:spPr>
          <a:xfrm>
            <a:off x="4859338" y="3084513"/>
            <a:ext cx="2089150" cy="369887"/>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inside2=false; </a:t>
            </a:r>
            <a:endParaRPr lang="zh-CN" altLang="en-US" dirty="0"/>
          </a:p>
        </p:txBody>
      </p:sp>
    </p:spTree>
    <p:extLst>
      <p:ext uri="{BB962C8B-B14F-4D97-AF65-F5344CB8AC3E}">
        <p14:creationId xmlns:p14="http://schemas.microsoft.com/office/powerpoint/2010/main" val="3237974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0ADE535F-72C0-104D-99FC-00353778646E}"/>
              </a:ext>
            </a:extLst>
          </p:cNvPr>
          <p:cNvSpPr/>
          <p:nvPr/>
        </p:nvSpPr>
        <p:spPr>
          <a:xfrm>
            <a:off x="1223963" y="1681163"/>
            <a:ext cx="5256212" cy="1871662"/>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1267" name="组合 48">
            <a:extLst>
              <a:ext uri="{FF2B5EF4-FFF2-40B4-BE49-F238E27FC236}">
                <a16:creationId xmlns:a16="http://schemas.microsoft.com/office/drawing/2014/main" id="{99EB27C2-A6DC-D042-953E-81EDEDA0E9ED}"/>
              </a:ext>
            </a:extLst>
          </p:cNvPr>
          <p:cNvGrpSpPr>
            <a:grpSpLocks/>
          </p:cNvGrpSpPr>
          <p:nvPr/>
        </p:nvGrpSpPr>
        <p:grpSpPr bwMode="auto">
          <a:xfrm>
            <a:off x="3563938" y="2376488"/>
            <a:ext cx="576262" cy="790575"/>
            <a:chOff x="2411760" y="2348880"/>
            <a:chExt cx="576064" cy="792088"/>
          </a:xfrm>
        </p:grpSpPr>
        <p:grpSp>
          <p:nvGrpSpPr>
            <p:cNvPr id="11276" name="组合 46">
              <a:extLst>
                <a:ext uri="{FF2B5EF4-FFF2-40B4-BE49-F238E27FC236}">
                  <a16:creationId xmlns:a16="http://schemas.microsoft.com/office/drawing/2014/main" id="{8FD329EA-E865-344A-BBE2-8D2190739C07}"/>
                </a:ext>
              </a:extLst>
            </p:cNvPr>
            <p:cNvGrpSpPr>
              <a:grpSpLocks/>
            </p:cNvGrpSpPr>
            <p:nvPr/>
          </p:nvGrpSpPr>
          <p:grpSpPr bwMode="auto">
            <a:xfrm>
              <a:off x="2411760" y="2348880"/>
              <a:ext cx="576064" cy="792088"/>
              <a:chOff x="2267744" y="3861048"/>
              <a:chExt cx="576064" cy="792088"/>
            </a:xfrm>
          </p:grpSpPr>
          <p:sp>
            <p:nvSpPr>
              <p:cNvPr id="44" name="矩形 43">
                <a:extLst>
                  <a:ext uri="{FF2B5EF4-FFF2-40B4-BE49-F238E27FC236}">
                    <a16:creationId xmlns:a16="http://schemas.microsoft.com/office/drawing/2014/main" id="{EC97BD84-9983-464D-ADA8-8AE48C0EACFE}"/>
                  </a:ext>
                </a:extLst>
              </p:cNvPr>
              <p:cNvSpPr/>
              <p:nvPr/>
            </p:nvSpPr>
            <p:spPr>
              <a:xfrm>
                <a:off x="2267744" y="3861048"/>
                <a:ext cx="576064" cy="79208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6" name="椭圆 45">
                <a:extLst>
                  <a:ext uri="{FF2B5EF4-FFF2-40B4-BE49-F238E27FC236}">
                    <a16:creationId xmlns:a16="http://schemas.microsoft.com/office/drawing/2014/main" id="{8AE377AE-3594-C345-BCF5-B8071D108993}"/>
                  </a:ext>
                </a:extLst>
              </p:cNvPr>
              <p:cNvSpPr/>
              <p:nvPr/>
            </p:nvSpPr>
            <p:spPr>
              <a:xfrm>
                <a:off x="2339156" y="4253910"/>
                <a:ext cx="144413" cy="14314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48" name="矩形 47">
              <a:extLst>
                <a:ext uri="{FF2B5EF4-FFF2-40B4-BE49-F238E27FC236}">
                  <a16:creationId xmlns:a16="http://schemas.microsoft.com/office/drawing/2014/main" id="{57F7B8DE-ED98-3C4F-8EE2-702B1A5B4248}"/>
                </a:ext>
              </a:extLst>
            </p:cNvPr>
            <p:cNvSpPr/>
            <p:nvPr/>
          </p:nvSpPr>
          <p:spPr>
            <a:xfrm>
              <a:off x="2627586" y="2493618"/>
              <a:ext cx="288826" cy="14314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11268" name="组合 1">
            <a:extLst>
              <a:ext uri="{FF2B5EF4-FFF2-40B4-BE49-F238E27FC236}">
                <a16:creationId xmlns:a16="http://schemas.microsoft.com/office/drawing/2014/main" id="{9445DDCB-A4AE-E146-9FC2-1D15D751AAA7}"/>
              </a:ext>
            </a:extLst>
          </p:cNvPr>
          <p:cNvGrpSpPr>
            <a:grpSpLocks/>
          </p:cNvGrpSpPr>
          <p:nvPr/>
        </p:nvGrpSpPr>
        <p:grpSpPr bwMode="auto">
          <a:xfrm>
            <a:off x="1951038" y="1854200"/>
            <a:ext cx="1200150" cy="1262063"/>
            <a:chOff x="1133872" y="3861047"/>
            <a:chExt cx="1200891" cy="1262008"/>
          </a:xfrm>
        </p:grpSpPr>
        <p:pic>
          <p:nvPicPr>
            <p:cNvPr id="11274" name="图片 55">
              <a:extLst>
                <a:ext uri="{FF2B5EF4-FFF2-40B4-BE49-F238E27FC236}">
                  <a16:creationId xmlns:a16="http://schemas.microsoft.com/office/drawing/2014/main" id="{ADBA649D-2E29-9946-ACB3-2BB2B2E635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664" y="3861048"/>
              <a:ext cx="787099" cy="1262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文本框 59">
              <a:extLst>
                <a:ext uri="{FF2B5EF4-FFF2-40B4-BE49-F238E27FC236}">
                  <a16:creationId xmlns:a16="http://schemas.microsoft.com/office/drawing/2014/main" id="{7A7E7199-33F6-4949-B325-DA2419B98311}"/>
                </a:ext>
              </a:extLst>
            </p:cNvPr>
            <p:cNvSpPr txBox="1"/>
            <p:nvPr/>
          </p:nvSpPr>
          <p:spPr>
            <a:xfrm>
              <a:off x="1133872" y="3861047"/>
              <a:ext cx="413005" cy="369872"/>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P1</a:t>
              </a:r>
              <a:endParaRPr lang="zh-CN" altLang="en-US" dirty="0"/>
            </a:p>
          </p:txBody>
        </p:sp>
      </p:grpSp>
      <p:grpSp>
        <p:nvGrpSpPr>
          <p:cNvPr id="11269" name="组合 2">
            <a:extLst>
              <a:ext uri="{FF2B5EF4-FFF2-40B4-BE49-F238E27FC236}">
                <a16:creationId xmlns:a16="http://schemas.microsoft.com/office/drawing/2014/main" id="{F69A7C30-A7C8-DE43-9A29-3C3CD4539837}"/>
              </a:ext>
            </a:extLst>
          </p:cNvPr>
          <p:cNvGrpSpPr>
            <a:grpSpLocks/>
          </p:cNvGrpSpPr>
          <p:nvPr/>
        </p:nvGrpSpPr>
        <p:grpSpPr bwMode="auto">
          <a:xfrm>
            <a:off x="4219575" y="1854200"/>
            <a:ext cx="1166813" cy="1262063"/>
            <a:chOff x="4963034" y="3861047"/>
            <a:chExt cx="1166259" cy="1262007"/>
          </a:xfrm>
        </p:grpSpPr>
        <p:pic>
          <p:nvPicPr>
            <p:cNvPr id="11272" name="图片 57">
              <a:extLst>
                <a:ext uri="{FF2B5EF4-FFF2-40B4-BE49-F238E27FC236}">
                  <a16:creationId xmlns:a16="http://schemas.microsoft.com/office/drawing/2014/main" id="{CB28A5B8-57B0-1C47-AB84-976231067E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801" y="3861047"/>
              <a:ext cx="696492" cy="1262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 name="文本框 60">
              <a:extLst>
                <a:ext uri="{FF2B5EF4-FFF2-40B4-BE49-F238E27FC236}">
                  <a16:creationId xmlns:a16="http://schemas.microsoft.com/office/drawing/2014/main" id="{57A5400F-5747-534D-A5FF-E9F05BB4B59C}"/>
                </a:ext>
              </a:extLst>
            </p:cNvPr>
            <p:cNvSpPr txBox="1"/>
            <p:nvPr/>
          </p:nvSpPr>
          <p:spPr>
            <a:xfrm>
              <a:off x="4963034" y="3861047"/>
              <a:ext cx="472850" cy="369872"/>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P2</a:t>
              </a:r>
              <a:endParaRPr lang="zh-CN" altLang="en-US" dirty="0"/>
            </a:p>
          </p:txBody>
        </p:sp>
      </p:grpSp>
      <p:sp>
        <p:nvSpPr>
          <p:cNvPr id="20" name="文本框 19">
            <a:extLst>
              <a:ext uri="{FF2B5EF4-FFF2-40B4-BE49-F238E27FC236}">
                <a16:creationId xmlns:a16="http://schemas.microsoft.com/office/drawing/2014/main" id="{1B247DDF-E0A2-B447-88FF-4C53406F58F2}"/>
              </a:ext>
            </a:extLst>
          </p:cNvPr>
          <p:cNvSpPr txBox="1"/>
          <p:nvPr/>
        </p:nvSpPr>
        <p:spPr>
          <a:xfrm>
            <a:off x="1344613" y="3097213"/>
            <a:ext cx="1638300" cy="368300"/>
          </a:xfrm>
          <a:prstGeom prst="rect">
            <a:avLst/>
          </a:prstGeom>
          <a:noFill/>
        </p:spPr>
        <p:txBody>
          <a:bodyPr>
            <a:spAutoFit/>
          </a:bodyPr>
          <a:lstStyle/>
          <a:p>
            <a:pPr>
              <a:defRPr/>
            </a:pPr>
            <a:r>
              <a:rPr lang="en-US" altLang="zh-CN" dirty="0">
                <a:solidFill>
                  <a:srgbClr val="FF0000"/>
                </a:solidFill>
                <a:effectLst>
                  <a:outerShdw blurRad="38100" dist="38100" dir="2700000" algn="tl">
                    <a:srgbClr val="000000"/>
                  </a:outerShdw>
                </a:effectLst>
                <a:latin typeface="华文新魏" pitchFamily="2" charset="-122"/>
                <a:ea typeface="华文新魏" pitchFamily="2" charset="-122"/>
              </a:rPr>
              <a:t>inside1=true; </a:t>
            </a:r>
            <a:endParaRPr lang="zh-CN" altLang="en-US" dirty="0">
              <a:solidFill>
                <a:srgbClr val="FF0000"/>
              </a:solidFill>
            </a:endParaRPr>
          </a:p>
        </p:txBody>
      </p:sp>
      <p:sp>
        <p:nvSpPr>
          <p:cNvPr id="21" name="文本框 20">
            <a:extLst>
              <a:ext uri="{FF2B5EF4-FFF2-40B4-BE49-F238E27FC236}">
                <a16:creationId xmlns:a16="http://schemas.microsoft.com/office/drawing/2014/main" id="{AD8D640F-6689-0C4B-8A28-74CFD08AEACB}"/>
              </a:ext>
            </a:extLst>
          </p:cNvPr>
          <p:cNvSpPr txBox="1"/>
          <p:nvPr/>
        </p:nvSpPr>
        <p:spPr>
          <a:xfrm>
            <a:off x="4859338" y="3084513"/>
            <a:ext cx="2089150" cy="369887"/>
          </a:xfrm>
          <a:prstGeom prst="rect">
            <a:avLst/>
          </a:prstGeom>
          <a:noFill/>
        </p:spPr>
        <p:txBody>
          <a:bodyPr>
            <a:spAutoFit/>
          </a:bodyPr>
          <a:lstStyle/>
          <a:p>
            <a:pPr>
              <a:defRPr/>
            </a:pPr>
            <a:r>
              <a:rPr lang="en-US" altLang="zh-CN" dirty="0">
                <a:solidFill>
                  <a:srgbClr val="FF0000"/>
                </a:solidFill>
                <a:effectLst>
                  <a:outerShdw blurRad="38100" dist="38100" dir="2700000" algn="tl">
                    <a:srgbClr val="000000"/>
                  </a:outerShdw>
                </a:effectLst>
                <a:latin typeface="华文新魏" pitchFamily="2" charset="-122"/>
                <a:ea typeface="华文新魏" pitchFamily="2" charset="-122"/>
              </a:rPr>
              <a:t>inside2=true; </a:t>
            </a:r>
            <a:endParaRPr lang="zh-CN" altLang="en-US" dirty="0">
              <a:solidFill>
                <a:srgbClr val="FF0000"/>
              </a:solidFill>
            </a:endParaRPr>
          </a:p>
        </p:txBody>
      </p:sp>
    </p:spTree>
    <p:extLst>
      <p:ext uri="{BB962C8B-B14F-4D97-AF65-F5344CB8AC3E}">
        <p14:creationId xmlns:p14="http://schemas.microsoft.com/office/powerpoint/2010/main" val="410229717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a:extLst>
              <a:ext uri="{FF2B5EF4-FFF2-40B4-BE49-F238E27FC236}">
                <a16:creationId xmlns:a16="http://schemas.microsoft.com/office/drawing/2014/main" id="{BB6FBE85-0428-DA49-A4A4-21FD3A2D39E4}"/>
              </a:ext>
            </a:extLst>
          </p:cNvPr>
          <p:cNvSpPr>
            <a:spLocks noGrp="1" noChangeArrowheads="1"/>
          </p:cNvSpPr>
          <p:nvPr>
            <p:ph type="body" idx="4294967295"/>
          </p:nvPr>
        </p:nvSpPr>
        <p:spPr>
          <a:xfrm>
            <a:off x="588963" y="981075"/>
            <a:ext cx="8531225" cy="4535488"/>
          </a:xfrm>
        </p:spPr>
        <p:txBody>
          <a:bodyPr/>
          <a:lstStyle/>
          <a:p>
            <a:pPr eaLnBrk="1" hangingPunct="1"/>
            <a:r>
              <a:rPr lang="en-US" altLang="zh-CN" sz="2400">
                <a:latin typeface="华文新魏" panose="02010800040101010101" pitchFamily="2" charset="-122"/>
                <a:ea typeface="华文新魏" panose="02010800040101010101" pitchFamily="2" charset="-122"/>
              </a:rPr>
              <a:t>bool inside1=false;  //P1</a:t>
            </a:r>
            <a:r>
              <a:rPr lang="zh-CN" altLang="en-US" sz="2400">
                <a:latin typeface="华文新魏" panose="02010800040101010101" pitchFamily="2" charset="-122"/>
                <a:ea typeface="华文新魏" panose="02010800040101010101" pitchFamily="2" charset="-122"/>
              </a:rPr>
              <a:t>不在其临界区内</a:t>
            </a:r>
          </a:p>
          <a:p>
            <a:pPr eaLnBrk="1" hangingPunct="1"/>
            <a:r>
              <a:rPr lang="en-US" altLang="zh-CN" sz="2400">
                <a:latin typeface="华文新魏" panose="02010800040101010101" pitchFamily="2" charset="-122"/>
                <a:ea typeface="华文新魏" panose="02010800040101010101" pitchFamily="2" charset="-122"/>
              </a:rPr>
              <a:t>bool inside2=false;  //P2</a:t>
            </a:r>
            <a:r>
              <a:rPr lang="zh-CN" altLang="en-US" sz="2400">
                <a:latin typeface="华文新魏" panose="02010800040101010101" pitchFamily="2" charset="-122"/>
                <a:ea typeface="华文新魏" panose="02010800040101010101" pitchFamily="2" charset="-122"/>
              </a:rPr>
              <a:t>不在其临界区内</a:t>
            </a:r>
          </a:p>
          <a:p>
            <a:pPr eaLnBrk="1" hangingPunct="1"/>
            <a:r>
              <a:rPr lang="en-US" altLang="zh-CN" sz="2400">
                <a:latin typeface="华文新魏" panose="02010800040101010101" pitchFamily="2" charset="-122"/>
                <a:ea typeface="华文新魏" panose="02010800040101010101" pitchFamily="2" charset="-122"/>
              </a:rPr>
              <a:t>cobegin</a:t>
            </a:r>
          </a:p>
          <a:p>
            <a:pPr eaLnBrk="1" hangingPunct="1"/>
            <a:r>
              <a:rPr lang="en-US" altLang="zh-CN" sz="2400">
                <a:latin typeface="华文新魏" panose="02010800040101010101" pitchFamily="2" charset="-122"/>
                <a:ea typeface="华文新魏" panose="02010800040101010101" pitchFamily="2" charset="-122"/>
              </a:rPr>
              <a:t>process P1( ) {                     process P2( ) {</a:t>
            </a:r>
          </a:p>
          <a:p>
            <a:pPr eaLnBrk="1" hangingPunct="1"/>
            <a:r>
              <a:rPr lang="en-US" altLang="zh-CN" sz="2400">
                <a:latin typeface="华文新魏" panose="02010800040101010101" pitchFamily="2" charset="-122"/>
                <a:ea typeface="华文新魏" panose="02010800040101010101" pitchFamily="2" charset="-122"/>
              </a:rPr>
              <a:t>     inside1=true;                     inside2=true;</a:t>
            </a:r>
          </a:p>
          <a:p>
            <a:pPr eaLnBrk="1" hangingPunct="1"/>
            <a:r>
              <a:rPr lang="en-US" altLang="zh-CN" sz="2400">
                <a:latin typeface="华文新魏" panose="02010800040101010101" pitchFamily="2" charset="-122"/>
                <a:ea typeface="华文新魏" panose="02010800040101010101" pitchFamily="2" charset="-122"/>
              </a:rPr>
              <a:t>     while(inside2);//</a:t>
            </a:r>
            <a:r>
              <a:rPr lang="zh-CN" altLang="en-US" sz="2400">
                <a:latin typeface="华文新魏" panose="02010800040101010101" pitchFamily="2" charset="-122"/>
                <a:ea typeface="华文新魏" panose="02010800040101010101" pitchFamily="2" charset="-122"/>
              </a:rPr>
              <a:t>等待        </a:t>
            </a:r>
            <a:r>
              <a:rPr lang="en-US" altLang="zh-CN" sz="2400">
                <a:latin typeface="华文新魏" panose="02010800040101010101" pitchFamily="2" charset="-122"/>
                <a:ea typeface="华文新魏" panose="02010800040101010101" pitchFamily="2" charset="-122"/>
              </a:rPr>
              <a:t>while(inside1);//</a:t>
            </a:r>
            <a:r>
              <a:rPr lang="zh-CN" altLang="en-US" sz="2400">
                <a:latin typeface="华文新魏" panose="02010800040101010101" pitchFamily="2" charset="-122"/>
                <a:ea typeface="华文新魏" panose="02010800040101010101" pitchFamily="2" charset="-122"/>
              </a:rPr>
              <a:t>等待</a:t>
            </a:r>
          </a:p>
          <a:p>
            <a:pPr eaLnBrk="1" hangingPunct="1"/>
            <a:r>
              <a:rPr lang="zh-CN" altLang="en-US" sz="2400">
                <a:latin typeface="华文新魏" panose="02010800040101010101" pitchFamily="2" charset="-122"/>
                <a:ea typeface="华文新魏" panose="02010800040101010101" pitchFamily="2" charset="-122"/>
              </a:rPr>
              <a:t>	</a:t>
            </a:r>
            <a:r>
              <a:rPr lang="en-US" altLang="zh-CN" sz="2400">
                <a:latin typeface="华文新魏" panose="02010800040101010101" pitchFamily="2" charset="-122"/>
                <a:ea typeface="华文新魏" panose="02010800040101010101" pitchFamily="2" charset="-122"/>
              </a:rPr>
              <a:t>{</a:t>
            </a:r>
            <a:r>
              <a:rPr lang="zh-CN" altLang="en-US" sz="2400">
                <a:solidFill>
                  <a:srgbClr val="FF9900"/>
                </a:solidFill>
                <a:latin typeface="华文新魏" panose="02010800040101010101" pitchFamily="2" charset="-122"/>
                <a:ea typeface="华文新魏" panose="02010800040101010101" pitchFamily="2" charset="-122"/>
              </a:rPr>
              <a:t>临界区</a:t>
            </a:r>
            <a:r>
              <a:rPr lang="en-US" altLang="zh-CN" sz="2400">
                <a:latin typeface="华文新魏" panose="02010800040101010101" pitchFamily="2" charset="-122"/>
                <a:ea typeface="华文新魏" panose="02010800040101010101" pitchFamily="2" charset="-122"/>
              </a:rPr>
              <a:t>};                          {</a:t>
            </a:r>
            <a:r>
              <a:rPr lang="zh-CN" altLang="en-US" sz="2400">
                <a:solidFill>
                  <a:srgbClr val="FF9900"/>
                </a:solidFill>
                <a:latin typeface="华文新魏" panose="02010800040101010101" pitchFamily="2" charset="-122"/>
                <a:ea typeface="华文新魏" panose="02010800040101010101" pitchFamily="2" charset="-122"/>
              </a:rPr>
              <a:t>临界区</a:t>
            </a:r>
            <a:r>
              <a:rPr lang="en-US" altLang="zh-CN" sz="2400">
                <a:latin typeface="华文新魏" panose="02010800040101010101" pitchFamily="2" charset="-122"/>
                <a:ea typeface="华文新魏" panose="02010800040101010101" pitchFamily="2" charset="-122"/>
              </a:rPr>
              <a:t>};</a:t>
            </a:r>
          </a:p>
          <a:p>
            <a:pPr eaLnBrk="1" hangingPunct="1"/>
            <a:r>
              <a:rPr lang="en-US" altLang="zh-CN" sz="2400">
                <a:latin typeface="华文新魏" panose="02010800040101010101" pitchFamily="2" charset="-122"/>
                <a:ea typeface="华文新魏" panose="02010800040101010101" pitchFamily="2" charset="-122"/>
              </a:rPr>
              <a:t>      inside1=false;                   inside2=false;</a:t>
            </a:r>
          </a:p>
          <a:p>
            <a:pPr eaLnBrk="1" hangingPunct="1"/>
            <a:r>
              <a:rPr lang="en-US" altLang="zh-CN" sz="2400">
                <a:latin typeface="华文新魏" panose="02010800040101010101" pitchFamily="2" charset="-122"/>
                <a:ea typeface="华文新魏" panose="02010800040101010101" pitchFamily="2" charset="-122"/>
              </a:rPr>
              <a:t>}                                            }</a:t>
            </a:r>
          </a:p>
          <a:p>
            <a:pPr eaLnBrk="1" hangingPunct="1"/>
            <a:r>
              <a:rPr lang="en-US" altLang="zh-CN" sz="2400">
                <a:latin typeface="华文新魏" panose="02010800040101010101" pitchFamily="2" charset="-122"/>
                <a:ea typeface="华文新魏" panose="02010800040101010101" pitchFamily="2" charset="-122"/>
              </a:rPr>
              <a:t>coend</a:t>
            </a:r>
          </a:p>
        </p:txBody>
      </p:sp>
      <p:sp>
        <p:nvSpPr>
          <p:cNvPr id="6149" name="Text Box 5">
            <a:extLst>
              <a:ext uri="{FF2B5EF4-FFF2-40B4-BE49-F238E27FC236}">
                <a16:creationId xmlns:a16="http://schemas.microsoft.com/office/drawing/2014/main" id="{AAA396CB-062D-2C46-A053-B460BDBF08CA}"/>
              </a:ext>
            </a:extLst>
          </p:cNvPr>
          <p:cNvSpPr txBox="1">
            <a:spLocks noChangeArrowheads="1"/>
          </p:cNvSpPr>
          <p:nvPr/>
        </p:nvSpPr>
        <p:spPr bwMode="auto">
          <a:xfrm>
            <a:off x="615950" y="5368925"/>
            <a:ext cx="8139113" cy="1017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50000"/>
              </a:spcBef>
            </a:pPr>
            <a:r>
              <a:rPr kumimoji="1" lang="en-US" altLang="zh-CN" sz="2400">
                <a:solidFill>
                  <a:srgbClr val="FF9900"/>
                </a:solidFill>
                <a:latin typeface="Times New Roman" panose="02020603050405020304" pitchFamily="18" charset="0"/>
                <a:ea typeface="黑体" panose="02010609060101010101" pitchFamily="49" charset="-122"/>
              </a:rPr>
              <a:t>P1</a:t>
            </a:r>
            <a:r>
              <a:rPr kumimoji="1" lang="zh-CN" altLang="en-US" sz="2400">
                <a:solidFill>
                  <a:srgbClr val="FF9900"/>
                </a:solidFill>
                <a:latin typeface="Times New Roman" panose="02020603050405020304" pitchFamily="18" charset="0"/>
                <a:ea typeface="黑体" panose="02010609060101010101" pitchFamily="49" charset="-122"/>
              </a:rPr>
              <a:t>设置为</a:t>
            </a:r>
            <a:r>
              <a:rPr kumimoji="1" lang="en-US" altLang="zh-CN" sz="2400">
                <a:solidFill>
                  <a:srgbClr val="FF9900"/>
                </a:solidFill>
                <a:latin typeface="Times New Roman" panose="02020603050405020304" pitchFamily="18" charset="0"/>
                <a:ea typeface="黑体" panose="02010609060101010101" pitchFamily="49" charset="-122"/>
              </a:rPr>
              <a:t>true</a:t>
            </a:r>
            <a:r>
              <a:rPr kumimoji="1" lang="zh-CN" altLang="en-US" sz="2400">
                <a:solidFill>
                  <a:srgbClr val="FF9900"/>
                </a:solidFill>
                <a:latin typeface="Times New Roman" panose="02020603050405020304" pitchFamily="18" charset="0"/>
                <a:ea typeface="黑体" panose="02010609060101010101" pitchFamily="49" charset="-122"/>
              </a:rPr>
              <a:t>，随后</a:t>
            </a:r>
            <a:r>
              <a:rPr kumimoji="1" lang="en-US" altLang="zh-CN" sz="2400">
                <a:solidFill>
                  <a:srgbClr val="FF9900"/>
                </a:solidFill>
                <a:latin typeface="Times New Roman" panose="02020603050405020304" pitchFamily="18" charset="0"/>
                <a:ea typeface="黑体" panose="02010609060101010101" pitchFamily="49" charset="-122"/>
              </a:rPr>
              <a:t>P2</a:t>
            </a:r>
            <a:r>
              <a:rPr kumimoji="1" lang="zh-CN" altLang="en-US" sz="2400">
                <a:solidFill>
                  <a:srgbClr val="FF9900"/>
                </a:solidFill>
                <a:latin typeface="Times New Roman" panose="02020603050405020304" pitchFamily="18" charset="0"/>
                <a:ea typeface="黑体" panose="02010609060101010101" pitchFamily="49" charset="-122"/>
              </a:rPr>
              <a:t>设置为</a:t>
            </a:r>
            <a:r>
              <a:rPr kumimoji="1" lang="en-US" altLang="zh-CN" sz="2400">
                <a:solidFill>
                  <a:srgbClr val="FF9900"/>
                </a:solidFill>
                <a:latin typeface="Times New Roman" panose="02020603050405020304" pitchFamily="18" charset="0"/>
                <a:ea typeface="黑体" panose="02010609060101010101" pitchFamily="49" charset="-122"/>
              </a:rPr>
              <a:t>true</a:t>
            </a:r>
            <a:r>
              <a:rPr kumimoji="1" lang="zh-CN" altLang="en-US" sz="2400">
                <a:solidFill>
                  <a:srgbClr val="FF9900"/>
                </a:solidFill>
                <a:latin typeface="Times New Roman" panose="02020603050405020304" pitchFamily="18" charset="0"/>
                <a:ea typeface="黑体" panose="02010609060101010101" pitchFamily="49" charset="-122"/>
              </a:rPr>
              <a:t>，出现永远等待（死循环）</a:t>
            </a:r>
          </a:p>
          <a:p>
            <a:pPr eaLnBrk="1" hangingPunct="1">
              <a:spcBef>
                <a:spcPct val="50000"/>
              </a:spcBef>
            </a:pPr>
            <a:r>
              <a:rPr kumimoji="1" lang="zh-CN" altLang="en-US" sz="2400">
                <a:solidFill>
                  <a:srgbClr val="FF9900"/>
                </a:solidFill>
                <a:latin typeface="Times New Roman" panose="02020603050405020304" pitchFamily="18" charset="0"/>
                <a:ea typeface="黑体" panose="02010609060101010101" pitchFamily="49" charset="-122"/>
              </a:rPr>
              <a:t>可见临界区管理不是那么容易！</a:t>
            </a:r>
          </a:p>
        </p:txBody>
      </p:sp>
      <p:sp>
        <p:nvSpPr>
          <p:cNvPr id="4" name="Text Box 5">
            <a:extLst>
              <a:ext uri="{FF2B5EF4-FFF2-40B4-BE49-F238E27FC236}">
                <a16:creationId xmlns:a16="http://schemas.microsoft.com/office/drawing/2014/main" id="{6A696725-987F-644F-AD0F-DA3678D43BAF}"/>
              </a:ext>
            </a:extLst>
          </p:cNvPr>
          <p:cNvSpPr txBox="1">
            <a:spLocks noChangeArrowheads="1"/>
          </p:cNvSpPr>
          <p:nvPr/>
        </p:nvSpPr>
        <p:spPr bwMode="auto">
          <a:xfrm>
            <a:off x="501650" y="180975"/>
            <a:ext cx="8139113"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spcBef>
                <a:spcPct val="50000"/>
              </a:spcBef>
            </a:pPr>
            <a:r>
              <a:rPr kumimoji="1" lang="zh-CN" altLang="en-US" sz="2800">
                <a:solidFill>
                  <a:srgbClr val="FF0000"/>
                </a:solidFill>
                <a:latin typeface="Times New Roman" panose="02020603050405020304" pitchFamily="18" charset="0"/>
                <a:ea typeface="黑体" panose="02010609060101010101" pitchFamily="49" charset="-122"/>
              </a:rPr>
              <a:t>第二种尝试：延迟等待</a:t>
            </a:r>
          </a:p>
        </p:txBody>
      </p:sp>
      <p:sp>
        <p:nvSpPr>
          <p:cNvPr id="5" name="Text Box 5">
            <a:extLst>
              <a:ext uri="{FF2B5EF4-FFF2-40B4-BE49-F238E27FC236}">
                <a16:creationId xmlns:a16="http://schemas.microsoft.com/office/drawing/2014/main" id="{8FFBF4EA-145B-1F42-8DB5-F1A3B46C4C04}"/>
              </a:ext>
            </a:extLst>
          </p:cNvPr>
          <p:cNvSpPr txBox="1">
            <a:spLocks noChangeArrowheads="1"/>
          </p:cNvSpPr>
          <p:nvPr/>
        </p:nvSpPr>
        <p:spPr bwMode="auto">
          <a:xfrm>
            <a:off x="3779838" y="4862513"/>
            <a:ext cx="5076825" cy="46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spcBef>
                <a:spcPct val="50000"/>
              </a:spcBef>
            </a:pPr>
            <a:r>
              <a:rPr kumimoji="1" lang="zh-CN" altLang="en-US" sz="2400">
                <a:solidFill>
                  <a:srgbClr val="FF0000"/>
                </a:solidFill>
                <a:latin typeface="Times New Roman" panose="02020603050405020304" pitchFamily="18" charset="0"/>
                <a:ea typeface="黑体" panose="02010609060101010101" pitchFamily="49" charset="-122"/>
              </a:rPr>
              <a:t>第二种尝试：先设置占用标志再观察</a:t>
            </a:r>
          </a:p>
        </p:txBody>
      </p:sp>
    </p:spTree>
    <p:extLst>
      <p:ext uri="{BB962C8B-B14F-4D97-AF65-F5344CB8AC3E}">
        <p14:creationId xmlns:p14="http://schemas.microsoft.com/office/powerpoint/2010/main" val="2402184157"/>
      </p:ext>
    </p:extLst>
  </p:cSld>
  <p:clrMapOvr>
    <a:masterClrMapping/>
  </p:clrMapOvr>
  <p:transition>
    <p:dissolv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linds(horizontal)">
                                      <p:cBhvr>
                                        <p:cTn id="7" dur="500"/>
                                        <p:tgtEl>
                                          <p:spTgt spid="4">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6147">
                                            <p:txEl>
                                              <p:pRg st="0" end="0"/>
                                            </p:txEl>
                                          </p:spTgt>
                                        </p:tgtEl>
                                        <p:attrNameLst>
                                          <p:attrName>style.visibility</p:attrName>
                                        </p:attrNameLst>
                                      </p:cBhvr>
                                      <p:to>
                                        <p:strVal val="visible"/>
                                      </p:to>
                                    </p:set>
                                    <p:anim calcmode="lin" valueType="num">
                                      <p:cBhvr additive="base">
                                        <p:cTn id="12" dur="500" fill="hold"/>
                                        <p:tgtEl>
                                          <p:spTgt spid="6147">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6147">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6147">
                                            <p:txEl>
                                              <p:pRg st="1" end="1"/>
                                            </p:txEl>
                                          </p:spTgt>
                                        </p:tgtEl>
                                        <p:attrNameLst>
                                          <p:attrName>style.visibility</p:attrName>
                                        </p:attrNameLst>
                                      </p:cBhvr>
                                      <p:to>
                                        <p:strVal val="visible"/>
                                      </p:to>
                                    </p:set>
                                    <p:anim calcmode="lin" valueType="num">
                                      <p:cBhvr additive="base">
                                        <p:cTn id="16" dur="500" fill="hold"/>
                                        <p:tgtEl>
                                          <p:spTgt spid="6147">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6147">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6147">
                                            <p:txEl>
                                              <p:pRg st="2" end="2"/>
                                            </p:txEl>
                                          </p:spTgt>
                                        </p:tgtEl>
                                        <p:attrNameLst>
                                          <p:attrName>style.visibility</p:attrName>
                                        </p:attrNameLst>
                                      </p:cBhvr>
                                      <p:to>
                                        <p:strVal val="visible"/>
                                      </p:to>
                                    </p:set>
                                    <p:anim calcmode="lin" valueType="num">
                                      <p:cBhvr additive="base">
                                        <p:cTn id="20" dur="500" fill="hold"/>
                                        <p:tgtEl>
                                          <p:spTgt spid="6147">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6147">
                                            <p:txEl>
                                              <p:pRg st="2" end="2"/>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6147">
                                            <p:txEl>
                                              <p:pRg st="3" end="3"/>
                                            </p:txEl>
                                          </p:spTgt>
                                        </p:tgtEl>
                                        <p:attrNameLst>
                                          <p:attrName>style.visibility</p:attrName>
                                        </p:attrNameLst>
                                      </p:cBhvr>
                                      <p:to>
                                        <p:strVal val="visible"/>
                                      </p:to>
                                    </p:set>
                                    <p:anim calcmode="lin" valueType="num">
                                      <p:cBhvr additive="base">
                                        <p:cTn id="24" dur="500" fill="hold"/>
                                        <p:tgtEl>
                                          <p:spTgt spid="6147">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6147">
                                            <p:txEl>
                                              <p:pRg st="3" end="3"/>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6147">
                                            <p:txEl>
                                              <p:pRg st="4" end="4"/>
                                            </p:txEl>
                                          </p:spTgt>
                                        </p:tgtEl>
                                        <p:attrNameLst>
                                          <p:attrName>style.visibility</p:attrName>
                                        </p:attrNameLst>
                                      </p:cBhvr>
                                      <p:to>
                                        <p:strVal val="visible"/>
                                      </p:to>
                                    </p:set>
                                    <p:anim calcmode="lin" valueType="num">
                                      <p:cBhvr additive="base">
                                        <p:cTn id="28" dur="500" fill="hold"/>
                                        <p:tgtEl>
                                          <p:spTgt spid="6147">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6147">
                                            <p:txEl>
                                              <p:pRg st="4" end="4"/>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6147">
                                            <p:txEl>
                                              <p:pRg st="5" end="5"/>
                                            </p:txEl>
                                          </p:spTgt>
                                        </p:tgtEl>
                                        <p:attrNameLst>
                                          <p:attrName>style.visibility</p:attrName>
                                        </p:attrNameLst>
                                      </p:cBhvr>
                                      <p:to>
                                        <p:strVal val="visible"/>
                                      </p:to>
                                    </p:set>
                                    <p:anim calcmode="lin" valueType="num">
                                      <p:cBhvr additive="base">
                                        <p:cTn id="32" dur="500" fill="hold"/>
                                        <p:tgtEl>
                                          <p:spTgt spid="6147">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6147">
                                            <p:txEl>
                                              <p:pRg st="5" end="5"/>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6147">
                                            <p:txEl>
                                              <p:pRg st="6" end="6"/>
                                            </p:txEl>
                                          </p:spTgt>
                                        </p:tgtEl>
                                        <p:attrNameLst>
                                          <p:attrName>style.visibility</p:attrName>
                                        </p:attrNameLst>
                                      </p:cBhvr>
                                      <p:to>
                                        <p:strVal val="visible"/>
                                      </p:to>
                                    </p:set>
                                    <p:anim calcmode="lin" valueType="num">
                                      <p:cBhvr additive="base">
                                        <p:cTn id="36" dur="500" fill="hold"/>
                                        <p:tgtEl>
                                          <p:spTgt spid="6147">
                                            <p:txEl>
                                              <p:pRg st="6" end="6"/>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6147">
                                            <p:txEl>
                                              <p:pRg st="6" end="6"/>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6147">
                                            <p:txEl>
                                              <p:pRg st="7" end="7"/>
                                            </p:txEl>
                                          </p:spTgt>
                                        </p:tgtEl>
                                        <p:attrNameLst>
                                          <p:attrName>style.visibility</p:attrName>
                                        </p:attrNameLst>
                                      </p:cBhvr>
                                      <p:to>
                                        <p:strVal val="visible"/>
                                      </p:to>
                                    </p:set>
                                    <p:anim calcmode="lin" valueType="num">
                                      <p:cBhvr additive="base">
                                        <p:cTn id="40" dur="500" fill="hold"/>
                                        <p:tgtEl>
                                          <p:spTgt spid="6147">
                                            <p:txEl>
                                              <p:pRg st="7" end="7"/>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6147">
                                            <p:txEl>
                                              <p:pRg st="7" end="7"/>
                                            </p:txEl>
                                          </p:spTgt>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6147">
                                            <p:txEl>
                                              <p:pRg st="8" end="8"/>
                                            </p:txEl>
                                          </p:spTgt>
                                        </p:tgtEl>
                                        <p:attrNameLst>
                                          <p:attrName>style.visibility</p:attrName>
                                        </p:attrNameLst>
                                      </p:cBhvr>
                                      <p:to>
                                        <p:strVal val="visible"/>
                                      </p:to>
                                    </p:set>
                                    <p:anim calcmode="lin" valueType="num">
                                      <p:cBhvr additive="base">
                                        <p:cTn id="44" dur="500" fill="hold"/>
                                        <p:tgtEl>
                                          <p:spTgt spid="6147">
                                            <p:txEl>
                                              <p:pRg st="8" end="8"/>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6147">
                                            <p:txEl>
                                              <p:pRg st="8" end="8"/>
                                            </p:txEl>
                                          </p:spTgt>
                                        </p:tgtEl>
                                        <p:attrNameLst>
                                          <p:attrName>ppt_y</p:attrName>
                                        </p:attrNameLst>
                                      </p:cBhvr>
                                      <p:tavLst>
                                        <p:tav tm="0">
                                          <p:val>
                                            <p:strVal val="1+#ppt_h/2"/>
                                          </p:val>
                                        </p:tav>
                                        <p:tav tm="100000">
                                          <p:val>
                                            <p:strVal val="#ppt_y"/>
                                          </p:val>
                                        </p:tav>
                                      </p:tavLst>
                                    </p:anim>
                                  </p:childTnLst>
                                </p:cTn>
                              </p:par>
                              <p:par>
                                <p:cTn id="46" presetID="2" presetClass="entr" presetSubtype="4" fill="hold" nodeType="withEffect">
                                  <p:stCondLst>
                                    <p:cond delay="0"/>
                                  </p:stCondLst>
                                  <p:childTnLst>
                                    <p:set>
                                      <p:cBhvr>
                                        <p:cTn id="47" dur="1" fill="hold">
                                          <p:stCondLst>
                                            <p:cond delay="0"/>
                                          </p:stCondLst>
                                        </p:cTn>
                                        <p:tgtEl>
                                          <p:spTgt spid="6147">
                                            <p:txEl>
                                              <p:pRg st="9" end="9"/>
                                            </p:txEl>
                                          </p:spTgt>
                                        </p:tgtEl>
                                        <p:attrNameLst>
                                          <p:attrName>style.visibility</p:attrName>
                                        </p:attrNameLst>
                                      </p:cBhvr>
                                      <p:to>
                                        <p:strVal val="visible"/>
                                      </p:to>
                                    </p:set>
                                    <p:anim calcmode="lin" valueType="num">
                                      <p:cBhvr additive="base">
                                        <p:cTn id="48" dur="500" fill="hold"/>
                                        <p:tgtEl>
                                          <p:spTgt spid="6147">
                                            <p:txEl>
                                              <p:pRg st="9" end="9"/>
                                            </p:txEl>
                                          </p:spTgt>
                                        </p:tgtEl>
                                        <p:attrNameLst>
                                          <p:attrName>ppt_x</p:attrName>
                                        </p:attrNameLst>
                                      </p:cBhvr>
                                      <p:tavLst>
                                        <p:tav tm="0">
                                          <p:val>
                                            <p:strVal val="#ppt_x"/>
                                          </p:val>
                                        </p:tav>
                                        <p:tav tm="100000">
                                          <p:val>
                                            <p:strVal val="#ppt_x"/>
                                          </p:val>
                                        </p:tav>
                                      </p:tavLst>
                                    </p:anim>
                                    <p:anim calcmode="lin" valueType="num">
                                      <p:cBhvr additive="base">
                                        <p:cTn id="49" dur="500" fill="hold"/>
                                        <p:tgtEl>
                                          <p:spTgt spid="6147">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nodeType="clickEffect">
                                  <p:stCondLst>
                                    <p:cond delay="0"/>
                                  </p:stCondLst>
                                  <p:childTnLst>
                                    <p:set>
                                      <p:cBhvr>
                                        <p:cTn id="53" dur="1" fill="hold">
                                          <p:stCondLst>
                                            <p:cond delay="0"/>
                                          </p:stCondLst>
                                        </p:cTn>
                                        <p:tgtEl>
                                          <p:spTgt spid="6149">
                                            <p:txEl>
                                              <p:pRg st="0" end="0"/>
                                            </p:txEl>
                                          </p:spTgt>
                                        </p:tgtEl>
                                        <p:attrNameLst>
                                          <p:attrName>style.visibility</p:attrName>
                                        </p:attrNameLst>
                                      </p:cBhvr>
                                      <p:to>
                                        <p:strVal val="visible"/>
                                      </p:to>
                                    </p:set>
                                    <p:animEffect transition="in" filter="blinds(horizontal)">
                                      <p:cBhvr>
                                        <p:cTn id="54" dur="500"/>
                                        <p:tgtEl>
                                          <p:spTgt spid="6149">
                                            <p:txEl>
                                              <p:pRg st="0" end="0"/>
                                            </p:txEl>
                                          </p:spTgt>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2" presetClass="entr" presetSubtype="4" fill="hold" nodeType="clickEffect">
                                  <p:stCondLst>
                                    <p:cond delay="0"/>
                                  </p:stCondLst>
                                  <p:childTnLst>
                                    <p:set>
                                      <p:cBhvr>
                                        <p:cTn id="58" dur="1" fill="hold">
                                          <p:stCondLst>
                                            <p:cond delay="0"/>
                                          </p:stCondLst>
                                        </p:cTn>
                                        <p:tgtEl>
                                          <p:spTgt spid="6149">
                                            <p:txEl>
                                              <p:pRg st="1" end="1"/>
                                            </p:txEl>
                                          </p:spTgt>
                                        </p:tgtEl>
                                        <p:attrNameLst>
                                          <p:attrName>style.visibility</p:attrName>
                                        </p:attrNameLst>
                                      </p:cBhvr>
                                      <p:to>
                                        <p:strVal val="visible"/>
                                      </p:to>
                                    </p:set>
                                    <p:anim calcmode="lin" valueType="num">
                                      <p:cBhvr additive="base">
                                        <p:cTn id="59" dur="500" fill="hold"/>
                                        <p:tgtEl>
                                          <p:spTgt spid="6149">
                                            <p:txEl>
                                              <p:pRg st="1" end="1"/>
                                            </p:txEl>
                                          </p:spTgt>
                                        </p:tgtEl>
                                        <p:attrNameLst>
                                          <p:attrName>ppt_x</p:attrName>
                                        </p:attrNameLst>
                                      </p:cBhvr>
                                      <p:tavLst>
                                        <p:tav tm="0">
                                          <p:val>
                                            <p:strVal val="#ppt_x"/>
                                          </p:val>
                                        </p:tav>
                                        <p:tav tm="100000">
                                          <p:val>
                                            <p:strVal val="#ppt_x"/>
                                          </p:val>
                                        </p:tav>
                                      </p:tavLst>
                                    </p:anim>
                                    <p:anim calcmode="lin" valueType="num">
                                      <p:cBhvr additive="base">
                                        <p:cTn id="60" dur="500" fill="hold"/>
                                        <p:tgtEl>
                                          <p:spTgt spid="614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61" fill="hold" nodeType="clickPar">
                      <p:stCondLst>
                        <p:cond delay="indefinite"/>
                      </p:stCondLst>
                      <p:childTnLst>
                        <p:par>
                          <p:cTn id="62" fill="hold" nodeType="withGroup">
                            <p:stCondLst>
                              <p:cond delay="0"/>
                            </p:stCondLst>
                            <p:childTnLst>
                              <p:par>
                                <p:cTn id="63" presetID="3" presetClass="entr" presetSubtype="10" fill="hold" nodeType="clickEffect">
                                  <p:stCondLst>
                                    <p:cond delay="0"/>
                                  </p:stCondLst>
                                  <p:childTnLst>
                                    <p:set>
                                      <p:cBhvr>
                                        <p:cTn id="64" dur="1" fill="hold">
                                          <p:stCondLst>
                                            <p:cond delay="0"/>
                                          </p:stCondLst>
                                        </p:cTn>
                                        <p:tgtEl>
                                          <p:spTgt spid="5">
                                            <p:txEl>
                                              <p:pRg st="0" end="0"/>
                                            </p:txEl>
                                          </p:spTgt>
                                        </p:tgtEl>
                                        <p:attrNameLst>
                                          <p:attrName>style.visibility</p:attrName>
                                        </p:attrNameLst>
                                      </p:cBhvr>
                                      <p:to>
                                        <p:strVal val="visible"/>
                                      </p:to>
                                    </p:set>
                                    <p:animEffect transition="in" filter="blinds(horizontal)">
                                      <p:cBhvr>
                                        <p:cTn id="65"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D043AC29-16B7-0C42-9863-02732C19CD3A}"/>
              </a:ext>
            </a:extLst>
          </p:cNvPr>
          <p:cNvSpPr/>
          <p:nvPr/>
        </p:nvSpPr>
        <p:spPr>
          <a:xfrm>
            <a:off x="1223963" y="1681163"/>
            <a:ext cx="5256212" cy="1871662"/>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3315" name="组合 48">
            <a:extLst>
              <a:ext uri="{FF2B5EF4-FFF2-40B4-BE49-F238E27FC236}">
                <a16:creationId xmlns:a16="http://schemas.microsoft.com/office/drawing/2014/main" id="{D174F0A5-F223-6245-94FB-911A555604C4}"/>
              </a:ext>
            </a:extLst>
          </p:cNvPr>
          <p:cNvGrpSpPr>
            <a:grpSpLocks/>
          </p:cNvGrpSpPr>
          <p:nvPr/>
        </p:nvGrpSpPr>
        <p:grpSpPr bwMode="auto">
          <a:xfrm>
            <a:off x="3563938" y="2481263"/>
            <a:ext cx="576262" cy="790575"/>
            <a:chOff x="2411760" y="2348880"/>
            <a:chExt cx="576064" cy="792088"/>
          </a:xfrm>
        </p:grpSpPr>
        <p:grpSp>
          <p:nvGrpSpPr>
            <p:cNvPr id="13322" name="组合 46">
              <a:extLst>
                <a:ext uri="{FF2B5EF4-FFF2-40B4-BE49-F238E27FC236}">
                  <a16:creationId xmlns:a16="http://schemas.microsoft.com/office/drawing/2014/main" id="{B0C5C998-65B5-684C-8C0B-1294C3DB8822}"/>
                </a:ext>
              </a:extLst>
            </p:cNvPr>
            <p:cNvGrpSpPr>
              <a:grpSpLocks/>
            </p:cNvGrpSpPr>
            <p:nvPr/>
          </p:nvGrpSpPr>
          <p:grpSpPr bwMode="auto">
            <a:xfrm>
              <a:off x="2411760" y="2348880"/>
              <a:ext cx="576064" cy="792088"/>
              <a:chOff x="2267744" y="3861048"/>
              <a:chExt cx="576064" cy="792088"/>
            </a:xfrm>
          </p:grpSpPr>
          <p:sp>
            <p:nvSpPr>
              <p:cNvPr id="44" name="矩形 43">
                <a:extLst>
                  <a:ext uri="{FF2B5EF4-FFF2-40B4-BE49-F238E27FC236}">
                    <a16:creationId xmlns:a16="http://schemas.microsoft.com/office/drawing/2014/main" id="{6D9EA930-7F72-AC4C-9268-8A4251BD0212}"/>
                  </a:ext>
                </a:extLst>
              </p:cNvPr>
              <p:cNvSpPr/>
              <p:nvPr/>
            </p:nvSpPr>
            <p:spPr>
              <a:xfrm>
                <a:off x="2267744" y="3861048"/>
                <a:ext cx="576064" cy="79208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6" name="椭圆 45">
                <a:extLst>
                  <a:ext uri="{FF2B5EF4-FFF2-40B4-BE49-F238E27FC236}">
                    <a16:creationId xmlns:a16="http://schemas.microsoft.com/office/drawing/2014/main" id="{A43173ED-C51F-4C4F-BD8E-36424945FD6E}"/>
                  </a:ext>
                </a:extLst>
              </p:cNvPr>
              <p:cNvSpPr/>
              <p:nvPr/>
            </p:nvSpPr>
            <p:spPr>
              <a:xfrm>
                <a:off x="2339156" y="4253910"/>
                <a:ext cx="144413" cy="14314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48" name="矩形 47">
              <a:extLst>
                <a:ext uri="{FF2B5EF4-FFF2-40B4-BE49-F238E27FC236}">
                  <a16:creationId xmlns:a16="http://schemas.microsoft.com/office/drawing/2014/main" id="{F2CDD1C6-74E4-F541-954B-A81EE2841AF6}"/>
                </a:ext>
              </a:extLst>
            </p:cNvPr>
            <p:cNvSpPr/>
            <p:nvPr/>
          </p:nvSpPr>
          <p:spPr>
            <a:xfrm>
              <a:off x="2627586" y="2493618"/>
              <a:ext cx="288826" cy="143148"/>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pic>
        <p:nvPicPr>
          <p:cNvPr id="13316" name="图片 55">
            <a:extLst>
              <a:ext uri="{FF2B5EF4-FFF2-40B4-BE49-F238E27FC236}">
                <a16:creationId xmlns:a16="http://schemas.microsoft.com/office/drawing/2014/main" id="{DE1C0A10-A839-4A4C-A32F-5C44FD8E03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3860800"/>
            <a:ext cx="787400"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17" name="图片 57">
            <a:extLst>
              <a:ext uri="{FF2B5EF4-FFF2-40B4-BE49-F238E27FC236}">
                <a16:creationId xmlns:a16="http://schemas.microsoft.com/office/drawing/2014/main" id="{3B4ADA37-F61B-814E-AC72-510A9F0915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425" y="3860800"/>
            <a:ext cx="696913"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文本框 59">
            <a:extLst>
              <a:ext uri="{FF2B5EF4-FFF2-40B4-BE49-F238E27FC236}">
                <a16:creationId xmlns:a16="http://schemas.microsoft.com/office/drawing/2014/main" id="{EF68FD4A-782C-F041-9655-1AF489421285}"/>
              </a:ext>
            </a:extLst>
          </p:cNvPr>
          <p:cNvSpPr txBox="1"/>
          <p:nvPr/>
        </p:nvSpPr>
        <p:spPr>
          <a:xfrm>
            <a:off x="1133475" y="3860800"/>
            <a:ext cx="414338" cy="369888"/>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P1</a:t>
            </a:r>
            <a:endParaRPr lang="zh-CN" altLang="en-US" dirty="0"/>
          </a:p>
        </p:txBody>
      </p:sp>
      <p:sp>
        <p:nvSpPr>
          <p:cNvPr id="61" name="文本框 60">
            <a:extLst>
              <a:ext uri="{FF2B5EF4-FFF2-40B4-BE49-F238E27FC236}">
                <a16:creationId xmlns:a16="http://schemas.microsoft.com/office/drawing/2014/main" id="{AA8FFA43-6765-0F4E-8437-84BC2979F42C}"/>
              </a:ext>
            </a:extLst>
          </p:cNvPr>
          <p:cNvSpPr txBox="1"/>
          <p:nvPr/>
        </p:nvSpPr>
        <p:spPr>
          <a:xfrm>
            <a:off x="4932363" y="3860800"/>
            <a:ext cx="473075" cy="369888"/>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P2</a:t>
            </a:r>
            <a:endParaRPr lang="zh-CN" altLang="en-US" dirty="0"/>
          </a:p>
        </p:txBody>
      </p:sp>
      <p:sp>
        <p:nvSpPr>
          <p:cNvPr id="18" name="文本框 17">
            <a:extLst>
              <a:ext uri="{FF2B5EF4-FFF2-40B4-BE49-F238E27FC236}">
                <a16:creationId xmlns:a16="http://schemas.microsoft.com/office/drawing/2014/main" id="{F30848D9-800D-EB41-9545-4D8C62570FEC}"/>
              </a:ext>
            </a:extLst>
          </p:cNvPr>
          <p:cNvSpPr txBox="1"/>
          <p:nvPr/>
        </p:nvSpPr>
        <p:spPr>
          <a:xfrm>
            <a:off x="1344613" y="3097213"/>
            <a:ext cx="1638300" cy="368300"/>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inside1=false; </a:t>
            </a:r>
            <a:endParaRPr lang="zh-CN" altLang="en-US" dirty="0"/>
          </a:p>
        </p:txBody>
      </p:sp>
      <p:sp>
        <p:nvSpPr>
          <p:cNvPr id="19" name="文本框 18">
            <a:extLst>
              <a:ext uri="{FF2B5EF4-FFF2-40B4-BE49-F238E27FC236}">
                <a16:creationId xmlns:a16="http://schemas.microsoft.com/office/drawing/2014/main" id="{07755B41-20F8-1D41-852E-77A85301F138}"/>
              </a:ext>
            </a:extLst>
          </p:cNvPr>
          <p:cNvSpPr txBox="1"/>
          <p:nvPr/>
        </p:nvSpPr>
        <p:spPr>
          <a:xfrm>
            <a:off x="4859338" y="3084513"/>
            <a:ext cx="2089150" cy="369887"/>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inside2=false; </a:t>
            </a:r>
            <a:endParaRPr lang="zh-CN" altLang="en-US" dirty="0"/>
          </a:p>
        </p:txBody>
      </p:sp>
    </p:spTree>
    <p:extLst>
      <p:ext uri="{BB962C8B-B14F-4D97-AF65-F5344CB8AC3E}">
        <p14:creationId xmlns:p14="http://schemas.microsoft.com/office/powerpoint/2010/main" val="41889649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DB674B29-3B51-9B4B-9ECD-BA205B2901E7}"/>
              </a:ext>
            </a:extLst>
          </p:cNvPr>
          <p:cNvSpPr/>
          <p:nvPr/>
        </p:nvSpPr>
        <p:spPr>
          <a:xfrm>
            <a:off x="1223963" y="1681163"/>
            <a:ext cx="5256212" cy="1871662"/>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4339" name="组合 49">
            <a:extLst>
              <a:ext uri="{FF2B5EF4-FFF2-40B4-BE49-F238E27FC236}">
                <a16:creationId xmlns:a16="http://schemas.microsoft.com/office/drawing/2014/main" id="{9EC0B567-1351-9041-BE53-3BFAD3551F37}"/>
              </a:ext>
            </a:extLst>
          </p:cNvPr>
          <p:cNvGrpSpPr>
            <a:grpSpLocks/>
          </p:cNvGrpSpPr>
          <p:nvPr/>
        </p:nvGrpSpPr>
        <p:grpSpPr bwMode="auto">
          <a:xfrm>
            <a:off x="3563938" y="2420938"/>
            <a:ext cx="576262" cy="792162"/>
            <a:chOff x="2411760" y="2348880"/>
            <a:chExt cx="576064" cy="792088"/>
          </a:xfrm>
        </p:grpSpPr>
        <p:grpSp>
          <p:nvGrpSpPr>
            <p:cNvPr id="14346" name="组合 50">
              <a:extLst>
                <a:ext uri="{FF2B5EF4-FFF2-40B4-BE49-F238E27FC236}">
                  <a16:creationId xmlns:a16="http://schemas.microsoft.com/office/drawing/2014/main" id="{BBE295F4-0C12-3046-8BDE-F4FF5FE2F700}"/>
                </a:ext>
              </a:extLst>
            </p:cNvPr>
            <p:cNvGrpSpPr>
              <a:grpSpLocks/>
            </p:cNvGrpSpPr>
            <p:nvPr/>
          </p:nvGrpSpPr>
          <p:grpSpPr bwMode="auto">
            <a:xfrm>
              <a:off x="2411760" y="2348880"/>
              <a:ext cx="576064" cy="792088"/>
              <a:chOff x="2267744" y="3861048"/>
              <a:chExt cx="576064" cy="792088"/>
            </a:xfrm>
          </p:grpSpPr>
          <p:sp>
            <p:nvSpPr>
              <p:cNvPr id="53" name="矩形 52">
                <a:extLst>
                  <a:ext uri="{FF2B5EF4-FFF2-40B4-BE49-F238E27FC236}">
                    <a16:creationId xmlns:a16="http://schemas.microsoft.com/office/drawing/2014/main" id="{8334A68A-D476-8445-9A0F-B880B2D0F961}"/>
                  </a:ext>
                </a:extLst>
              </p:cNvPr>
              <p:cNvSpPr/>
              <p:nvPr/>
            </p:nvSpPr>
            <p:spPr>
              <a:xfrm>
                <a:off x="2267744" y="3861048"/>
                <a:ext cx="576064" cy="79208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4" name="椭圆 53">
                <a:extLst>
                  <a:ext uri="{FF2B5EF4-FFF2-40B4-BE49-F238E27FC236}">
                    <a16:creationId xmlns:a16="http://schemas.microsoft.com/office/drawing/2014/main" id="{2E8610B7-9FB6-8746-8D3E-395C012AE78C}"/>
                  </a:ext>
                </a:extLst>
              </p:cNvPr>
              <p:cNvSpPr/>
              <p:nvPr/>
            </p:nvSpPr>
            <p:spPr>
              <a:xfrm>
                <a:off x="2339156" y="4253123"/>
                <a:ext cx="144413" cy="1444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52" name="矩形 51">
              <a:extLst>
                <a:ext uri="{FF2B5EF4-FFF2-40B4-BE49-F238E27FC236}">
                  <a16:creationId xmlns:a16="http://schemas.microsoft.com/office/drawing/2014/main" id="{2E92C273-AC47-1D46-A6DC-9BA49C46D8F8}"/>
                </a:ext>
              </a:extLst>
            </p:cNvPr>
            <p:cNvSpPr/>
            <p:nvPr/>
          </p:nvSpPr>
          <p:spPr>
            <a:xfrm>
              <a:off x="2627586" y="2493329"/>
              <a:ext cx="288826" cy="142862"/>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pic>
        <p:nvPicPr>
          <p:cNvPr id="14340" name="图片 55">
            <a:extLst>
              <a:ext uri="{FF2B5EF4-FFF2-40B4-BE49-F238E27FC236}">
                <a16:creationId xmlns:a16="http://schemas.microsoft.com/office/drawing/2014/main" id="{65E3CBD1-78C4-8A43-BDB4-32A553733E0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3860800"/>
            <a:ext cx="787400"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1" name="图片 57">
            <a:extLst>
              <a:ext uri="{FF2B5EF4-FFF2-40B4-BE49-F238E27FC236}">
                <a16:creationId xmlns:a16="http://schemas.microsoft.com/office/drawing/2014/main" id="{981069AE-FDD6-AB49-BE84-F67784F51C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425" y="3860800"/>
            <a:ext cx="696913"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文本框 59">
            <a:extLst>
              <a:ext uri="{FF2B5EF4-FFF2-40B4-BE49-F238E27FC236}">
                <a16:creationId xmlns:a16="http://schemas.microsoft.com/office/drawing/2014/main" id="{70F2609C-99BF-4F43-9ECC-F9309275B268}"/>
              </a:ext>
            </a:extLst>
          </p:cNvPr>
          <p:cNvSpPr txBox="1"/>
          <p:nvPr/>
        </p:nvSpPr>
        <p:spPr>
          <a:xfrm>
            <a:off x="1133475" y="3860800"/>
            <a:ext cx="414338" cy="369888"/>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P1</a:t>
            </a:r>
            <a:endParaRPr lang="zh-CN" altLang="en-US" dirty="0"/>
          </a:p>
        </p:txBody>
      </p:sp>
      <p:sp>
        <p:nvSpPr>
          <p:cNvPr id="61" name="文本框 60">
            <a:extLst>
              <a:ext uri="{FF2B5EF4-FFF2-40B4-BE49-F238E27FC236}">
                <a16:creationId xmlns:a16="http://schemas.microsoft.com/office/drawing/2014/main" id="{704B7902-4516-EA4F-B512-34EED2E701D1}"/>
              </a:ext>
            </a:extLst>
          </p:cNvPr>
          <p:cNvSpPr txBox="1"/>
          <p:nvPr/>
        </p:nvSpPr>
        <p:spPr>
          <a:xfrm>
            <a:off x="4932363" y="3860800"/>
            <a:ext cx="473075" cy="369888"/>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P2</a:t>
            </a:r>
            <a:endParaRPr lang="zh-CN" altLang="en-US" dirty="0"/>
          </a:p>
        </p:txBody>
      </p:sp>
      <p:sp>
        <p:nvSpPr>
          <p:cNvPr id="18" name="文本框 17">
            <a:extLst>
              <a:ext uri="{FF2B5EF4-FFF2-40B4-BE49-F238E27FC236}">
                <a16:creationId xmlns:a16="http://schemas.microsoft.com/office/drawing/2014/main" id="{EC7640F9-EBEE-8B46-9A5D-AE85268F9EAA}"/>
              </a:ext>
            </a:extLst>
          </p:cNvPr>
          <p:cNvSpPr txBox="1"/>
          <p:nvPr/>
        </p:nvSpPr>
        <p:spPr>
          <a:xfrm>
            <a:off x="1344613" y="3097213"/>
            <a:ext cx="1638300" cy="368300"/>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inside1=</a:t>
            </a:r>
            <a:r>
              <a:rPr lang="en-US" altLang="zh-CN" dirty="0">
                <a:solidFill>
                  <a:srgbClr val="FF0000"/>
                </a:solidFill>
                <a:effectLst>
                  <a:outerShdw blurRad="38100" dist="38100" dir="2700000" algn="tl">
                    <a:srgbClr val="000000"/>
                  </a:outerShdw>
                </a:effectLst>
                <a:latin typeface="华文新魏" pitchFamily="2" charset="-122"/>
                <a:ea typeface="华文新魏" pitchFamily="2" charset="-122"/>
              </a:rPr>
              <a:t>true</a:t>
            </a:r>
            <a:r>
              <a:rPr lang="en-US" altLang="zh-CN" dirty="0">
                <a:effectLst>
                  <a:outerShdw blurRad="38100" dist="38100" dir="2700000" algn="tl">
                    <a:srgbClr val="000000"/>
                  </a:outerShdw>
                </a:effectLst>
                <a:latin typeface="华文新魏" pitchFamily="2" charset="-122"/>
                <a:ea typeface="华文新魏" pitchFamily="2" charset="-122"/>
              </a:rPr>
              <a:t>; </a:t>
            </a:r>
            <a:endParaRPr lang="zh-CN" altLang="en-US" dirty="0"/>
          </a:p>
        </p:txBody>
      </p:sp>
      <p:sp>
        <p:nvSpPr>
          <p:cNvPr id="19" name="文本框 18">
            <a:extLst>
              <a:ext uri="{FF2B5EF4-FFF2-40B4-BE49-F238E27FC236}">
                <a16:creationId xmlns:a16="http://schemas.microsoft.com/office/drawing/2014/main" id="{EF5BE58F-5048-EA46-AC7A-A81E9C61D94B}"/>
              </a:ext>
            </a:extLst>
          </p:cNvPr>
          <p:cNvSpPr txBox="1"/>
          <p:nvPr/>
        </p:nvSpPr>
        <p:spPr>
          <a:xfrm>
            <a:off x="4859338" y="3084513"/>
            <a:ext cx="2089150" cy="369887"/>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inside2=</a:t>
            </a:r>
            <a:r>
              <a:rPr lang="en-US" altLang="zh-CN" dirty="0">
                <a:solidFill>
                  <a:srgbClr val="FF0000"/>
                </a:solidFill>
                <a:effectLst>
                  <a:outerShdw blurRad="38100" dist="38100" dir="2700000" algn="tl">
                    <a:srgbClr val="000000"/>
                  </a:outerShdw>
                </a:effectLst>
                <a:latin typeface="华文新魏" pitchFamily="2" charset="-122"/>
                <a:ea typeface="华文新魏" pitchFamily="2" charset="-122"/>
              </a:rPr>
              <a:t>true</a:t>
            </a:r>
            <a:r>
              <a:rPr lang="en-US" altLang="zh-CN" dirty="0">
                <a:effectLst>
                  <a:outerShdw blurRad="38100" dist="38100" dir="2700000" algn="tl">
                    <a:srgbClr val="000000"/>
                  </a:outerShdw>
                </a:effectLst>
                <a:latin typeface="华文新魏" pitchFamily="2" charset="-122"/>
                <a:ea typeface="华文新魏" pitchFamily="2" charset="-122"/>
              </a:rPr>
              <a:t>; </a:t>
            </a:r>
            <a:endParaRPr lang="zh-CN" altLang="en-US" dirty="0"/>
          </a:p>
        </p:txBody>
      </p:sp>
    </p:spTree>
    <p:extLst>
      <p:ext uri="{BB962C8B-B14F-4D97-AF65-F5344CB8AC3E}">
        <p14:creationId xmlns:p14="http://schemas.microsoft.com/office/powerpoint/2010/main" val="3032524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D0E87155-E1FD-3948-A6E1-8590E37ADE74}"/>
              </a:ext>
            </a:extLst>
          </p:cNvPr>
          <p:cNvSpPr txBox="1">
            <a:spLocks noChangeArrowheads="1"/>
          </p:cNvSpPr>
          <p:nvPr/>
        </p:nvSpPr>
        <p:spPr bwMode="auto">
          <a:xfrm>
            <a:off x="34925" y="2854325"/>
            <a:ext cx="4460875" cy="3671888"/>
          </a:xfrm>
          <a:prstGeom prst="rect">
            <a:avLst/>
          </a:prstGeom>
          <a:noFill/>
          <a:ln w="9525">
            <a:noFill/>
            <a:miter lim="800000"/>
            <a:headEnd/>
            <a:tailEnd/>
          </a:ln>
          <a:effectLst/>
        </p:spPr>
        <p:txBody>
          <a:bodyPr/>
          <a:lstStyle>
            <a:lvl1pPr marL="342900" indent="-34290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just" eaLnBrk="1" hangingPunct="1">
              <a:spcBef>
                <a:spcPct val="20000"/>
              </a:spcBef>
              <a:buClr>
                <a:schemeClr val="hlink"/>
              </a:buClr>
              <a:buSzPct val="80000"/>
              <a:buFont typeface="Wingdings" pitchFamily="2" charset="2"/>
              <a:buChar char="Ø"/>
            </a:pPr>
            <a:r>
              <a:rPr lang="en-US" altLang="zh-CN" sz="2400" b="1">
                <a:ea typeface="华文新魏" panose="02010800040101010101" pitchFamily="2" charset="-122"/>
              </a:rPr>
              <a:t>cobegin</a:t>
            </a:r>
          </a:p>
          <a:p>
            <a:pPr eaLnBrk="1" hangingPunct="1">
              <a:spcBef>
                <a:spcPct val="20000"/>
              </a:spcBef>
              <a:buClr>
                <a:schemeClr val="hlink"/>
              </a:buClr>
              <a:buSzPct val="80000"/>
              <a:buFont typeface="Wingdings" pitchFamily="2" charset="2"/>
              <a:buChar char="Ø"/>
            </a:pPr>
            <a:r>
              <a:rPr lang="en-US" altLang="zh-CN" sz="2400" b="1"/>
              <a:t>process P1( ) {                   </a:t>
            </a:r>
          </a:p>
          <a:p>
            <a:pPr eaLnBrk="1" hangingPunct="1">
              <a:spcBef>
                <a:spcPct val="20000"/>
              </a:spcBef>
              <a:buClr>
                <a:schemeClr val="hlink"/>
              </a:buClr>
              <a:buSzPct val="80000"/>
              <a:buFont typeface="Wingdings" pitchFamily="2" charset="2"/>
              <a:buChar char="Ø"/>
            </a:pPr>
            <a:r>
              <a:rPr lang="en-US" altLang="zh-CN" sz="2400" b="1"/>
              <a:t>    inside1=true;                   </a:t>
            </a:r>
          </a:p>
          <a:p>
            <a:pPr eaLnBrk="1" hangingPunct="1">
              <a:spcBef>
                <a:spcPct val="20000"/>
              </a:spcBef>
              <a:buClr>
                <a:schemeClr val="hlink"/>
              </a:buClr>
              <a:buSzPct val="80000"/>
              <a:buFont typeface="Wingdings" pitchFamily="2" charset="2"/>
              <a:buChar char="Ø"/>
            </a:pPr>
            <a:r>
              <a:rPr lang="en-US" altLang="zh-CN" sz="2400" b="1"/>
              <a:t>    </a:t>
            </a:r>
            <a:r>
              <a:rPr lang="en-US" altLang="zh-CN" sz="2400" b="1">
                <a:solidFill>
                  <a:srgbClr val="FF0000"/>
                </a:solidFill>
              </a:rPr>
              <a:t>turn=2;                              </a:t>
            </a:r>
          </a:p>
          <a:p>
            <a:pPr eaLnBrk="1" hangingPunct="1">
              <a:spcBef>
                <a:spcPct val="20000"/>
              </a:spcBef>
              <a:buClr>
                <a:schemeClr val="hlink"/>
              </a:buClr>
              <a:buSzPct val="80000"/>
              <a:buFont typeface="Wingdings" pitchFamily="2" charset="2"/>
              <a:buChar char="Ø"/>
            </a:pPr>
            <a:r>
              <a:rPr lang="en-US" altLang="zh-CN" sz="2400" b="1"/>
              <a:t>    while(inside2&amp;&amp;turn==2);        </a:t>
            </a:r>
          </a:p>
          <a:p>
            <a:pPr eaLnBrk="1" hangingPunct="1">
              <a:spcBef>
                <a:spcPct val="20000"/>
              </a:spcBef>
              <a:buClr>
                <a:schemeClr val="hlink"/>
              </a:buClr>
              <a:buSzPct val="80000"/>
              <a:buFont typeface="Wingdings" pitchFamily="2" charset="2"/>
              <a:buChar char="Ø"/>
            </a:pPr>
            <a:r>
              <a:rPr lang="en-US" altLang="zh-CN" sz="2400" b="1">
                <a:ea typeface="华文新魏" panose="02010800040101010101" pitchFamily="2" charset="-122"/>
              </a:rPr>
              <a:t>    {</a:t>
            </a:r>
            <a:r>
              <a:rPr lang="zh-CN" altLang="en-US" sz="2400" b="1">
                <a:solidFill>
                  <a:srgbClr val="FF9900"/>
                </a:solidFill>
                <a:ea typeface="华文新魏" panose="02010800040101010101" pitchFamily="2" charset="-122"/>
              </a:rPr>
              <a:t>临界区</a:t>
            </a:r>
            <a:r>
              <a:rPr lang="en-US" altLang="zh-CN" sz="2400" b="1">
                <a:ea typeface="华文新魏" panose="02010800040101010101" pitchFamily="2" charset="-122"/>
              </a:rPr>
              <a:t>};</a:t>
            </a:r>
            <a:r>
              <a:rPr lang="en-US" altLang="zh-CN" sz="2400" b="1"/>
              <a:t>                      </a:t>
            </a:r>
          </a:p>
          <a:p>
            <a:pPr eaLnBrk="1" hangingPunct="1">
              <a:spcBef>
                <a:spcPct val="20000"/>
              </a:spcBef>
              <a:buClr>
                <a:schemeClr val="hlink"/>
              </a:buClr>
              <a:buSzPct val="80000"/>
              <a:buFont typeface="Wingdings" pitchFamily="2" charset="2"/>
              <a:buChar char="Ø"/>
            </a:pPr>
            <a:r>
              <a:rPr lang="en-US" altLang="zh-CN" sz="2400" b="1"/>
              <a:t>    inside1=false;                  </a:t>
            </a:r>
          </a:p>
          <a:p>
            <a:pPr eaLnBrk="1" hangingPunct="1">
              <a:spcBef>
                <a:spcPct val="20000"/>
              </a:spcBef>
              <a:buClr>
                <a:schemeClr val="hlink"/>
              </a:buClr>
              <a:buSzPct val="80000"/>
              <a:buFont typeface="Wingdings" pitchFamily="2" charset="2"/>
              <a:buChar char="Ø"/>
            </a:pPr>
            <a:r>
              <a:rPr lang="en-US" altLang="zh-CN" sz="2400" b="1"/>
              <a:t> }                                 </a:t>
            </a:r>
          </a:p>
          <a:p>
            <a:pPr eaLnBrk="1" hangingPunct="1">
              <a:spcBef>
                <a:spcPct val="20000"/>
              </a:spcBef>
              <a:buClr>
                <a:schemeClr val="hlink"/>
              </a:buClr>
              <a:buSzPct val="80000"/>
              <a:buFont typeface="Wingdings" pitchFamily="2" charset="2"/>
              <a:buChar char="Ø"/>
            </a:pPr>
            <a:endParaRPr lang="en-US" altLang="zh-CN" sz="2400" b="1"/>
          </a:p>
        </p:txBody>
      </p:sp>
      <p:sp>
        <p:nvSpPr>
          <p:cNvPr id="3" name="Rectangle 3">
            <a:extLst>
              <a:ext uri="{FF2B5EF4-FFF2-40B4-BE49-F238E27FC236}">
                <a16:creationId xmlns:a16="http://schemas.microsoft.com/office/drawing/2014/main" id="{1434E0A4-4B45-5A44-9C3E-80E788F97BCC}"/>
              </a:ext>
            </a:extLst>
          </p:cNvPr>
          <p:cNvSpPr>
            <a:spLocks noChangeArrowheads="1"/>
          </p:cNvSpPr>
          <p:nvPr/>
        </p:nvSpPr>
        <p:spPr bwMode="auto">
          <a:xfrm>
            <a:off x="4462463" y="2924175"/>
            <a:ext cx="4681537" cy="3600450"/>
          </a:xfrm>
          <a:prstGeom prst="rect">
            <a:avLst/>
          </a:prstGeom>
          <a:noFill/>
          <a:ln>
            <a:noFill/>
          </a:ln>
        </p:spPr>
        <p:txBody>
          <a:bodyPr/>
          <a:lstStyle>
            <a:lvl1pPr marL="342900" indent="-34290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20000"/>
              </a:spcBef>
              <a:buClr>
                <a:schemeClr val="hlink"/>
              </a:buClr>
              <a:buSzPct val="80000"/>
              <a:buFont typeface="Wingdings" pitchFamily="2" charset="2"/>
              <a:buChar char="Ø"/>
            </a:pPr>
            <a:r>
              <a:rPr lang="en-US" altLang="zh-CN" sz="2400" b="1">
                <a:ea typeface="宋体" panose="02010600030101010101" pitchFamily="2" charset="-122"/>
              </a:rPr>
              <a:t>   process P2( ) {</a:t>
            </a:r>
          </a:p>
          <a:p>
            <a:pPr eaLnBrk="1" hangingPunct="1">
              <a:spcBef>
                <a:spcPct val="20000"/>
              </a:spcBef>
              <a:buClr>
                <a:schemeClr val="hlink"/>
              </a:buClr>
              <a:buSzPct val="80000"/>
              <a:buFont typeface="Wingdings" pitchFamily="2" charset="2"/>
              <a:buChar char="Ø"/>
            </a:pPr>
            <a:r>
              <a:rPr lang="en-US" altLang="zh-CN" sz="2400" b="1">
                <a:ea typeface="宋体" panose="02010600030101010101" pitchFamily="2" charset="-122"/>
              </a:rPr>
              <a:t>       inside2=true;</a:t>
            </a:r>
          </a:p>
          <a:p>
            <a:pPr eaLnBrk="1" hangingPunct="1">
              <a:spcBef>
                <a:spcPct val="20000"/>
              </a:spcBef>
              <a:buClr>
                <a:schemeClr val="hlink"/>
              </a:buClr>
              <a:buSzPct val="80000"/>
              <a:buFont typeface="Wingdings" pitchFamily="2" charset="2"/>
              <a:buChar char="Ø"/>
            </a:pPr>
            <a:r>
              <a:rPr lang="en-US" altLang="zh-CN" sz="2400" b="1">
                <a:ea typeface="宋体" panose="02010600030101010101" pitchFamily="2" charset="-122"/>
              </a:rPr>
              <a:t>       </a:t>
            </a:r>
            <a:r>
              <a:rPr lang="en-US" altLang="zh-CN" sz="2400" b="1">
                <a:solidFill>
                  <a:srgbClr val="FF0000"/>
                </a:solidFill>
                <a:ea typeface="宋体" panose="02010600030101010101" pitchFamily="2" charset="-122"/>
              </a:rPr>
              <a:t>turn=1;</a:t>
            </a:r>
            <a:r>
              <a:rPr lang="en-US" altLang="zh-CN" sz="2400" b="1">
                <a:ea typeface="宋体" panose="02010600030101010101" pitchFamily="2" charset="-122"/>
              </a:rPr>
              <a:t>     //</a:t>
            </a:r>
            <a:r>
              <a:rPr lang="zh-CN" altLang="en-US" sz="2400" b="1">
                <a:solidFill>
                  <a:srgbClr val="FF3300"/>
                </a:solidFill>
                <a:ea typeface="宋体" panose="02010600030101010101" pitchFamily="2" charset="-122"/>
              </a:rPr>
              <a:t>指示器</a:t>
            </a:r>
            <a:r>
              <a:rPr lang="en-US" altLang="zh-CN" sz="2400" b="1">
                <a:solidFill>
                  <a:srgbClr val="FF3300"/>
                </a:solidFill>
                <a:ea typeface="宋体" panose="02010600030101010101" pitchFamily="2" charset="-122"/>
              </a:rPr>
              <a:t>/</a:t>
            </a:r>
            <a:r>
              <a:rPr lang="zh-CN" altLang="en-US" sz="2400" b="1">
                <a:solidFill>
                  <a:srgbClr val="FF3300"/>
                </a:solidFill>
                <a:ea typeface="宋体" panose="02010600030101010101" pitchFamily="2" charset="-122"/>
              </a:rPr>
              <a:t>钥匙</a:t>
            </a:r>
            <a:endParaRPr lang="en-US" altLang="zh-CN" sz="2400" b="1">
              <a:solidFill>
                <a:srgbClr val="FF3300"/>
              </a:solidFill>
              <a:ea typeface="宋体" panose="02010600030101010101" pitchFamily="2" charset="-122"/>
            </a:endParaRPr>
          </a:p>
          <a:p>
            <a:pPr eaLnBrk="1" hangingPunct="1">
              <a:spcBef>
                <a:spcPct val="20000"/>
              </a:spcBef>
              <a:buClr>
                <a:schemeClr val="hlink"/>
              </a:buClr>
              <a:buSzPct val="80000"/>
              <a:buFont typeface="Wingdings" pitchFamily="2" charset="2"/>
              <a:buChar char="Ø"/>
            </a:pPr>
            <a:r>
              <a:rPr lang="en-US" altLang="zh-CN" sz="2400" b="1">
                <a:ea typeface="宋体" panose="02010600030101010101" pitchFamily="2" charset="-122"/>
              </a:rPr>
              <a:t>      while(inside1&amp;&amp;turn==1);</a:t>
            </a:r>
          </a:p>
          <a:p>
            <a:pPr eaLnBrk="1" hangingPunct="1">
              <a:spcBef>
                <a:spcPct val="20000"/>
              </a:spcBef>
              <a:buClr>
                <a:schemeClr val="hlink"/>
              </a:buClr>
              <a:buSzPct val="80000"/>
              <a:buFont typeface="Wingdings" pitchFamily="2" charset="2"/>
              <a:buChar char="Ø"/>
            </a:pPr>
            <a:r>
              <a:rPr lang="en-US" altLang="zh-CN" sz="2400" b="1">
                <a:ea typeface="宋体" panose="02010600030101010101" pitchFamily="2" charset="-122"/>
              </a:rPr>
              <a:t>	  </a:t>
            </a:r>
            <a:r>
              <a:rPr lang="en-US" altLang="zh-CN" sz="2400" b="1">
                <a:ea typeface="华文新魏" panose="02010800040101010101" pitchFamily="2" charset="-122"/>
              </a:rPr>
              <a:t>{</a:t>
            </a:r>
            <a:r>
              <a:rPr lang="zh-CN" altLang="en-US" sz="2400" b="1">
                <a:solidFill>
                  <a:srgbClr val="FF9900"/>
                </a:solidFill>
                <a:ea typeface="华文新魏" panose="02010800040101010101" pitchFamily="2" charset="-122"/>
              </a:rPr>
              <a:t>临界区</a:t>
            </a:r>
            <a:r>
              <a:rPr lang="en-US" altLang="zh-CN" sz="2400" b="1">
                <a:ea typeface="华文新魏" panose="02010800040101010101" pitchFamily="2" charset="-122"/>
              </a:rPr>
              <a:t>};</a:t>
            </a:r>
            <a:r>
              <a:rPr lang="en-US" altLang="zh-CN" sz="2400" b="1">
                <a:ea typeface="宋体" panose="02010600030101010101" pitchFamily="2" charset="-122"/>
              </a:rPr>
              <a:t>                     </a:t>
            </a:r>
          </a:p>
          <a:p>
            <a:pPr eaLnBrk="1" hangingPunct="1">
              <a:spcBef>
                <a:spcPct val="20000"/>
              </a:spcBef>
              <a:buClr>
                <a:schemeClr val="hlink"/>
              </a:buClr>
              <a:buSzPct val="80000"/>
              <a:buFont typeface="Wingdings" pitchFamily="2" charset="2"/>
              <a:buChar char="Ø"/>
            </a:pPr>
            <a:r>
              <a:rPr lang="en-US" altLang="zh-CN" sz="2400" b="1">
                <a:ea typeface="宋体" panose="02010600030101010101" pitchFamily="2" charset="-122"/>
              </a:rPr>
              <a:t>       inside2=false;</a:t>
            </a:r>
          </a:p>
          <a:p>
            <a:pPr eaLnBrk="1" hangingPunct="1">
              <a:spcBef>
                <a:spcPct val="20000"/>
              </a:spcBef>
              <a:buClr>
                <a:schemeClr val="hlink"/>
              </a:buClr>
              <a:buSzPct val="80000"/>
              <a:buFont typeface="Wingdings" pitchFamily="2" charset="2"/>
              <a:buChar char="Ø"/>
            </a:pPr>
            <a:r>
              <a:rPr lang="en-US" altLang="zh-CN" sz="2400" b="1">
                <a:ea typeface="宋体" panose="02010600030101010101" pitchFamily="2" charset="-122"/>
              </a:rPr>
              <a:t> }                                 </a:t>
            </a:r>
          </a:p>
          <a:p>
            <a:pPr eaLnBrk="1" hangingPunct="1">
              <a:spcBef>
                <a:spcPct val="20000"/>
              </a:spcBef>
              <a:buClr>
                <a:schemeClr val="hlink"/>
              </a:buClr>
              <a:buSzPct val="80000"/>
              <a:buFont typeface="Wingdings" pitchFamily="2" charset="2"/>
              <a:buChar char="Ø"/>
            </a:pPr>
            <a:r>
              <a:rPr lang="en-US" altLang="zh-CN" sz="2400" b="1">
                <a:ea typeface="宋体" panose="02010600030101010101" pitchFamily="2" charset="-122"/>
              </a:rPr>
              <a:t>coend</a:t>
            </a:r>
          </a:p>
        </p:txBody>
      </p:sp>
      <p:sp>
        <p:nvSpPr>
          <p:cNvPr id="4" name="Rectangle 3">
            <a:extLst>
              <a:ext uri="{FF2B5EF4-FFF2-40B4-BE49-F238E27FC236}">
                <a16:creationId xmlns:a16="http://schemas.microsoft.com/office/drawing/2014/main" id="{ED8518C9-313A-9C40-88C7-A62D2D3FD6FC}"/>
              </a:ext>
            </a:extLst>
          </p:cNvPr>
          <p:cNvSpPr>
            <a:spLocks noChangeArrowheads="1"/>
          </p:cNvSpPr>
          <p:nvPr/>
        </p:nvSpPr>
        <p:spPr bwMode="auto">
          <a:xfrm>
            <a:off x="3132138" y="1125538"/>
            <a:ext cx="4176712" cy="1847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20000"/>
              </a:spcBef>
              <a:buClr>
                <a:schemeClr val="hlink"/>
              </a:buClr>
              <a:buSzPct val="80000"/>
              <a:buFont typeface="Wingdings" pitchFamily="2" charset="2"/>
              <a:buChar char="Ø"/>
            </a:pPr>
            <a:r>
              <a:rPr lang="en-US" altLang="zh-CN" sz="2400">
                <a:latin typeface="华文新魏" panose="02010800040101010101" pitchFamily="2" charset="-122"/>
                <a:ea typeface="华文新魏" panose="02010800040101010101" pitchFamily="2" charset="-122"/>
              </a:rPr>
              <a:t>bool inside1=false;</a:t>
            </a:r>
          </a:p>
          <a:p>
            <a:pPr eaLnBrk="1" hangingPunct="1">
              <a:spcBef>
                <a:spcPct val="20000"/>
              </a:spcBef>
              <a:buClr>
                <a:schemeClr val="hlink"/>
              </a:buClr>
              <a:buSzPct val="80000"/>
              <a:buFont typeface="Wingdings" pitchFamily="2" charset="2"/>
              <a:buChar char="Ø"/>
            </a:pPr>
            <a:r>
              <a:rPr lang="en-US" altLang="zh-CN" sz="2400">
                <a:latin typeface="华文新魏" panose="02010800040101010101" pitchFamily="2" charset="-122"/>
                <a:ea typeface="华文新魏" panose="02010800040101010101" pitchFamily="2" charset="-122"/>
              </a:rPr>
              <a:t>bool inside2=false;</a:t>
            </a:r>
          </a:p>
          <a:p>
            <a:pPr eaLnBrk="1" hangingPunct="1">
              <a:spcBef>
                <a:spcPct val="20000"/>
              </a:spcBef>
              <a:buClr>
                <a:schemeClr val="hlink"/>
              </a:buClr>
              <a:buSzPct val="80000"/>
              <a:buFont typeface="Wingdings" pitchFamily="2" charset="2"/>
              <a:buChar char="Ø"/>
            </a:pPr>
            <a:r>
              <a:rPr lang="en-US" altLang="zh-CN" sz="2400">
                <a:latin typeface="华文新魏" panose="02010800040101010101" pitchFamily="2" charset="-122"/>
                <a:ea typeface="华文新魏" panose="02010800040101010101" pitchFamily="2" charset="-122"/>
              </a:rPr>
              <a:t>enum {0,1} turn;</a:t>
            </a:r>
          </a:p>
        </p:txBody>
      </p:sp>
      <p:sp>
        <p:nvSpPr>
          <p:cNvPr id="5" name="Rectangle 7">
            <a:extLst>
              <a:ext uri="{FF2B5EF4-FFF2-40B4-BE49-F238E27FC236}">
                <a16:creationId xmlns:a16="http://schemas.microsoft.com/office/drawing/2014/main" id="{78C7C744-87C3-0C43-A637-FE84F402E2F8}"/>
              </a:ext>
            </a:extLst>
          </p:cNvPr>
          <p:cNvSpPr>
            <a:spLocks noChangeArrowheads="1"/>
          </p:cNvSpPr>
          <p:nvPr/>
        </p:nvSpPr>
        <p:spPr bwMode="auto">
          <a:xfrm>
            <a:off x="395288" y="1773238"/>
            <a:ext cx="264477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en-US" altLang="zh-CN" sz="3200">
                <a:solidFill>
                  <a:schemeClr val="tx2"/>
                </a:solidFill>
                <a:latin typeface="Arial" panose="020B0604020202020204" pitchFamily="34" charset="0"/>
                <a:ea typeface="宋体" panose="02010600030101010101" pitchFamily="2" charset="-122"/>
              </a:rPr>
              <a:t>Peterson</a:t>
            </a:r>
            <a:r>
              <a:rPr lang="zh-CN" altLang="en-US" sz="3200">
                <a:solidFill>
                  <a:schemeClr val="tx2"/>
                </a:solidFill>
                <a:latin typeface="Arial" panose="020B0604020202020204" pitchFamily="34" charset="0"/>
                <a:ea typeface="宋体" panose="02010600030101010101" pitchFamily="2" charset="-122"/>
              </a:rPr>
              <a:t>算法</a:t>
            </a:r>
            <a:endParaRPr lang="en-US" altLang="zh-CN" sz="3200">
              <a:solidFill>
                <a:schemeClr val="tx2"/>
              </a:solidFill>
              <a:latin typeface="Arial" panose="020B0604020202020204" pitchFamily="34" charset="0"/>
              <a:ea typeface="宋体" panose="02010600030101010101" pitchFamily="2" charset="-122"/>
            </a:endParaRPr>
          </a:p>
          <a:p>
            <a:pPr algn="ctr" eaLnBrk="1" hangingPunct="1"/>
            <a:r>
              <a:rPr lang="en-US" altLang="zh-CN" sz="3200">
                <a:solidFill>
                  <a:schemeClr val="tx2"/>
                </a:solidFill>
                <a:latin typeface="Arial" panose="020B0604020202020204" pitchFamily="34" charset="0"/>
                <a:ea typeface="宋体" panose="02010600030101010101" pitchFamily="2" charset="-122"/>
              </a:rPr>
              <a:t>1981</a:t>
            </a:r>
            <a:r>
              <a:rPr lang="zh-CN" altLang="en-US" sz="3200">
                <a:solidFill>
                  <a:schemeClr val="tx2"/>
                </a:solidFill>
                <a:latin typeface="Arial" panose="020B0604020202020204" pitchFamily="34" charset="0"/>
                <a:ea typeface="宋体" panose="02010600030101010101" pitchFamily="2" charset="-122"/>
              </a:rPr>
              <a:t>年</a:t>
            </a:r>
          </a:p>
        </p:txBody>
      </p:sp>
      <p:sp>
        <p:nvSpPr>
          <p:cNvPr id="6" name="Rectangle 2">
            <a:extLst>
              <a:ext uri="{FF2B5EF4-FFF2-40B4-BE49-F238E27FC236}">
                <a16:creationId xmlns:a16="http://schemas.microsoft.com/office/drawing/2014/main" id="{6D1D7920-7A80-0F49-8FC1-3318795D62E2}"/>
              </a:ext>
            </a:extLst>
          </p:cNvPr>
          <p:cNvSpPr>
            <a:spLocks noChangeArrowheads="1"/>
          </p:cNvSpPr>
          <p:nvPr/>
        </p:nvSpPr>
        <p:spPr bwMode="auto">
          <a:xfrm>
            <a:off x="684213" y="4445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r>
              <a:rPr lang="zh-CN" altLang="en-US" sz="4800" dirty="0">
                <a:solidFill>
                  <a:schemeClr val="tx2"/>
                </a:solidFill>
                <a:latin typeface="Microsoft YaHei" panose="020B0503020204020204" pitchFamily="34" charset="-122"/>
                <a:ea typeface="Microsoft YaHei" panose="020B0503020204020204" pitchFamily="34" charset="-122"/>
              </a:rPr>
              <a:t>实现临界区的软件算法</a:t>
            </a:r>
            <a:endParaRPr lang="en-US" altLang="zh-CN" sz="4800" dirty="0">
              <a:solidFill>
                <a:schemeClr val="tx2"/>
              </a:solidFill>
              <a:latin typeface="Microsoft YaHei" panose="020B0503020204020204" pitchFamily="34" charset="-122"/>
              <a:ea typeface="Microsoft YaHei" panose="020B0503020204020204" pitchFamily="34" charset="-122"/>
            </a:endParaRPr>
          </a:p>
        </p:txBody>
      </p:sp>
      <p:sp>
        <p:nvSpPr>
          <p:cNvPr id="7" name="Text Box 5">
            <a:extLst>
              <a:ext uri="{FF2B5EF4-FFF2-40B4-BE49-F238E27FC236}">
                <a16:creationId xmlns:a16="http://schemas.microsoft.com/office/drawing/2014/main" id="{04FBF862-7247-664E-B376-8659C436458F}"/>
              </a:ext>
            </a:extLst>
          </p:cNvPr>
          <p:cNvSpPr txBox="1">
            <a:spLocks noChangeArrowheads="1"/>
          </p:cNvSpPr>
          <p:nvPr/>
        </p:nvSpPr>
        <p:spPr bwMode="auto">
          <a:xfrm>
            <a:off x="5816600" y="1355725"/>
            <a:ext cx="3168650" cy="160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algn="ctr" eaLnBrk="1" hangingPunct="1">
              <a:spcBef>
                <a:spcPct val="50000"/>
              </a:spcBef>
            </a:pPr>
            <a:r>
              <a:rPr kumimoji="1" lang="zh-CN" altLang="en-US" sz="2800">
                <a:solidFill>
                  <a:srgbClr val="FF0000"/>
                </a:solidFill>
                <a:latin typeface="Times New Roman" panose="02020603050405020304" pitchFamily="18" charset="0"/>
                <a:ea typeface="黑体" panose="02010609060101010101" pitchFamily="49" charset="-122"/>
              </a:rPr>
              <a:t>第二种尝试：</a:t>
            </a:r>
            <a:endParaRPr kumimoji="1" lang="en-US" altLang="zh-CN" sz="2800">
              <a:solidFill>
                <a:srgbClr val="FF0000"/>
              </a:solidFill>
              <a:latin typeface="Times New Roman" panose="02020603050405020304" pitchFamily="18" charset="0"/>
              <a:ea typeface="黑体" panose="02010609060101010101" pitchFamily="49" charset="-122"/>
            </a:endParaRPr>
          </a:p>
          <a:p>
            <a:pPr algn="ctr" eaLnBrk="1" hangingPunct="1">
              <a:spcBef>
                <a:spcPct val="50000"/>
              </a:spcBef>
            </a:pPr>
            <a:r>
              <a:rPr kumimoji="1" lang="zh-CN" altLang="en-US" sz="2800">
                <a:solidFill>
                  <a:srgbClr val="FF0000"/>
                </a:solidFill>
                <a:latin typeface="Times New Roman" panose="02020603050405020304" pitchFamily="18" charset="0"/>
                <a:ea typeface="黑体" panose="02010609060101010101" pitchFamily="49" charset="-122"/>
              </a:rPr>
              <a:t>观察别人有没有占用标识和钥匙</a:t>
            </a:r>
          </a:p>
        </p:txBody>
      </p:sp>
    </p:spTree>
    <p:extLst>
      <p:ext uri="{BB962C8B-B14F-4D97-AF65-F5344CB8AC3E}">
        <p14:creationId xmlns:p14="http://schemas.microsoft.com/office/powerpoint/2010/main" val="155796996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blinds(horizontal)">
                                      <p:cBhvr>
                                        <p:cTn id="13" dur="500"/>
                                        <p:tgtEl>
                                          <p:spTgt spid="5"/>
                                        </p:tgtEl>
                                      </p:cBhvr>
                                    </p:animEffect>
                                  </p:childTnLst>
                                </p:cTn>
                              </p:par>
                              <p:par>
                                <p:cTn id="14" presetID="3" presetClass="entr" presetSubtype="10" fill="hold" nodeType="withEffect">
                                  <p:stCondLst>
                                    <p:cond delay="0"/>
                                  </p:stCondLst>
                                  <p:childTnLst>
                                    <p:set>
                                      <p:cBhvr>
                                        <p:cTn id="15" dur="1" fill="hold">
                                          <p:stCondLst>
                                            <p:cond delay="0"/>
                                          </p:stCondLst>
                                        </p:cTn>
                                        <p:tgtEl>
                                          <p:spTgt spid="4">
                                            <p:txEl>
                                              <p:pRg st="0" end="0"/>
                                            </p:txEl>
                                          </p:spTgt>
                                        </p:tgtEl>
                                        <p:attrNameLst>
                                          <p:attrName>style.visibility</p:attrName>
                                        </p:attrNameLst>
                                      </p:cBhvr>
                                      <p:to>
                                        <p:strVal val="visible"/>
                                      </p:to>
                                    </p:set>
                                    <p:animEffect transition="in" filter="blinds(horizontal)">
                                      <p:cBhvr>
                                        <p:cTn id="16" dur="500"/>
                                        <p:tgtEl>
                                          <p:spTgt spid="4">
                                            <p:txEl>
                                              <p:pRg st="0" end="0"/>
                                            </p:txEl>
                                          </p:spTgt>
                                        </p:tgtEl>
                                      </p:cBhvr>
                                    </p:animEffect>
                                  </p:childTnLst>
                                </p:cTn>
                              </p:par>
                              <p:par>
                                <p:cTn id="17" presetID="3" presetClass="entr" presetSubtype="10" fill="hold" nodeType="withEffect">
                                  <p:stCondLst>
                                    <p:cond delay="0"/>
                                  </p:stCondLst>
                                  <p:childTnLst>
                                    <p:set>
                                      <p:cBhvr>
                                        <p:cTn id="18" dur="1" fill="hold">
                                          <p:stCondLst>
                                            <p:cond delay="0"/>
                                          </p:stCondLst>
                                        </p:cTn>
                                        <p:tgtEl>
                                          <p:spTgt spid="4">
                                            <p:txEl>
                                              <p:pRg st="1" end="1"/>
                                            </p:txEl>
                                          </p:spTgt>
                                        </p:tgtEl>
                                        <p:attrNameLst>
                                          <p:attrName>style.visibility</p:attrName>
                                        </p:attrNameLst>
                                      </p:cBhvr>
                                      <p:to>
                                        <p:strVal val="visible"/>
                                      </p:to>
                                    </p:set>
                                    <p:animEffect transition="in" filter="blinds(horizontal)">
                                      <p:cBhvr>
                                        <p:cTn id="19" dur="500"/>
                                        <p:tgtEl>
                                          <p:spTgt spid="4">
                                            <p:txEl>
                                              <p:pRg st="1" end="1"/>
                                            </p:txEl>
                                          </p:spTgt>
                                        </p:tgtEl>
                                      </p:cBhvr>
                                    </p:animEffect>
                                  </p:childTnLst>
                                </p:cTn>
                              </p:par>
                              <p:par>
                                <p:cTn id="20" presetID="3" presetClass="entr" presetSubtype="10" fill="hold" nodeType="with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blinds(horizontal)">
                                      <p:cBhvr>
                                        <p:cTn id="22" dur="500"/>
                                        <p:tgtEl>
                                          <p:spTgt spid="4">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 presetClass="entr" presetSubtype="4" fill="hold" nodeType="clickEffect">
                                  <p:stCondLst>
                                    <p:cond delay="0"/>
                                  </p:stCondLst>
                                  <p:childTnLst>
                                    <p:set>
                                      <p:cBhvr>
                                        <p:cTn id="26" dur="1" fill="hold">
                                          <p:stCondLst>
                                            <p:cond delay="0"/>
                                          </p:stCondLst>
                                        </p:cTn>
                                        <p:tgtEl>
                                          <p:spTgt spid="2">
                                            <p:txEl>
                                              <p:pRg st="0" end="0"/>
                                            </p:txEl>
                                          </p:spTgt>
                                        </p:tgtEl>
                                        <p:attrNameLst>
                                          <p:attrName>style.visibility</p:attrName>
                                        </p:attrNameLst>
                                      </p:cBhvr>
                                      <p:to>
                                        <p:strVal val="visible"/>
                                      </p:to>
                                    </p:set>
                                    <p:anim calcmode="lin" valueType="num">
                                      <p:cBhvr additive="base">
                                        <p:cTn id="27" dur="500" fill="hold"/>
                                        <p:tgtEl>
                                          <p:spTgt spid="2">
                                            <p:txEl>
                                              <p:pRg st="0" end="0"/>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2">
                                            <p:txEl>
                                              <p:pRg st="0" end="0"/>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2">
                                            <p:txEl>
                                              <p:pRg st="1" end="1"/>
                                            </p:txEl>
                                          </p:spTgt>
                                        </p:tgtEl>
                                        <p:attrNameLst>
                                          <p:attrName>style.visibility</p:attrName>
                                        </p:attrNameLst>
                                      </p:cBhvr>
                                      <p:to>
                                        <p:strVal val="visible"/>
                                      </p:to>
                                    </p:set>
                                    <p:anim calcmode="lin" valueType="num">
                                      <p:cBhvr additive="base">
                                        <p:cTn id="31" dur="500" fill="hold"/>
                                        <p:tgtEl>
                                          <p:spTgt spid="2">
                                            <p:txEl>
                                              <p:pRg st="1" end="1"/>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2">
                                            <p:txEl>
                                              <p:pRg st="1" end="1"/>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2">
                                            <p:txEl>
                                              <p:pRg st="2" end="2"/>
                                            </p:txEl>
                                          </p:spTgt>
                                        </p:tgtEl>
                                        <p:attrNameLst>
                                          <p:attrName>style.visibility</p:attrName>
                                        </p:attrNameLst>
                                      </p:cBhvr>
                                      <p:to>
                                        <p:strVal val="visible"/>
                                      </p:to>
                                    </p:set>
                                    <p:anim calcmode="lin" valueType="num">
                                      <p:cBhvr additive="base">
                                        <p:cTn id="35" dur="500" fill="hold"/>
                                        <p:tgtEl>
                                          <p:spTgt spid="2">
                                            <p:txEl>
                                              <p:pRg st="2" end="2"/>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2">
                                            <p:txEl>
                                              <p:pRg st="2" end="2"/>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2">
                                            <p:txEl>
                                              <p:pRg st="3" end="3"/>
                                            </p:txEl>
                                          </p:spTgt>
                                        </p:tgtEl>
                                        <p:attrNameLst>
                                          <p:attrName>style.visibility</p:attrName>
                                        </p:attrNameLst>
                                      </p:cBhvr>
                                      <p:to>
                                        <p:strVal val="visible"/>
                                      </p:to>
                                    </p:set>
                                    <p:anim calcmode="lin" valueType="num">
                                      <p:cBhvr additive="base">
                                        <p:cTn id="39" dur="500" fill="hold"/>
                                        <p:tgtEl>
                                          <p:spTgt spid="2">
                                            <p:txEl>
                                              <p:pRg st="3" end="3"/>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2">
                                            <p:txEl>
                                              <p:pRg st="3" end="3"/>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2">
                                            <p:txEl>
                                              <p:pRg st="4" end="4"/>
                                            </p:txEl>
                                          </p:spTgt>
                                        </p:tgtEl>
                                        <p:attrNameLst>
                                          <p:attrName>style.visibility</p:attrName>
                                        </p:attrNameLst>
                                      </p:cBhvr>
                                      <p:to>
                                        <p:strVal val="visible"/>
                                      </p:to>
                                    </p:set>
                                    <p:anim calcmode="lin" valueType="num">
                                      <p:cBhvr additive="base">
                                        <p:cTn id="43" dur="500" fill="hold"/>
                                        <p:tgtEl>
                                          <p:spTgt spid="2">
                                            <p:txEl>
                                              <p:pRg st="4" end="4"/>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2">
                                            <p:txEl>
                                              <p:pRg st="4" end="4"/>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2">
                                            <p:txEl>
                                              <p:pRg st="5" end="5"/>
                                            </p:txEl>
                                          </p:spTgt>
                                        </p:tgtEl>
                                        <p:attrNameLst>
                                          <p:attrName>style.visibility</p:attrName>
                                        </p:attrNameLst>
                                      </p:cBhvr>
                                      <p:to>
                                        <p:strVal val="visible"/>
                                      </p:to>
                                    </p:set>
                                    <p:anim calcmode="lin" valueType="num">
                                      <p:cBhvr additive="base">
                                        <p:cTn id="47" dur="500" fill="hold"/>
                                        <p:tgtEl>
                                          <p:spTgt spid="2">
                                            <p:txEl>
                                              <p:pRg st="5" end="5"/>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2">
                                            <p:txEl>
                                              <p:pRg st="5" end="5"/>
                                            </p:txEl>
                                          </p:spTgt>
                                        </p:tgtEl>
                                        <p:attrNameLst>
                                          <p:attrName>ppt_y</p:attrName>
                                        </p:attrNameLst>
                                      </p:cBhvr>
                                      <p:tavLst>
                                        <p:tav tm="0">
                                          <p:val>
                                            <p:strVal val="1+#ppt_h/2"/>
                                          </p:val>
                                        </p:tav>
                                        <p:tav tm="100000">
                                          <p:val>
                                            <p:strVal val="#ppt_y"/>
                                          </p:val>
                                        </p:tav>
                                      </p:tavLst>
                                    </p:anim>
                                  </p:childTnLst>
                                </p:cTn>
                              </p:par>
                              <p:par>
                                <p:cTn id="49" presetID="2" presetClass="entr" presetSubtype="4" fill="hold" nodeType="withEffect">
                                  <p:stCondLst>
                                    <p:cond delay="0"/>
                                  </p:stCondLst>
                                  <p:childTnLst>
                                    <p:set>
                                      <p:cBhvr>
                                        <p:cTn id="50" dur="1" fill="hold">
                                          <p:stCondLst>
                                            <p:cond delay="0"/>
                                          </p:stCondLst>
                                        </p:cTn>
                                        <p:tgtEl>
                                          <p:spTgt spid="2">
                                            <p:txEl>
                                              <p:pRg st="6" end="6"/>
                                            </p:txEl>
                                          </p:spTgt>
                                        </p:tgtEl>
                                        <p:attrNameLst>
                                          <p:attrName>style.visibility</p:attrName>
                                        </p:attrNameLst>
                                      </p:cBhvr>
                                      <p:to>
                                        <p:strVal val="visible"/>
                                      </p:to>
                                    </p:set>
                                    <p:anim calcmode="lin" valueType="num">
                                      <p:cBhvr additive="base">
                                        <p:cTn id="51" dur="500" fill="hold"/>
                                        <p:tgtEl>
                                          <p:spTgt spid="2">
                                            <p:txEl>
                                              <p:pRg st="6" end="6"/>
                                            </p:txEl>
                                          </p:spTgt>
                                        </p:tgtEl>
                                        <p:attrNameLst>
                                          <p:attrName>ppt_x</p:attrName>
                                        </p:attrNameLst>
                                      </p:cBhvr>
                                      <p:tavLst>
                                        <p:tav tm="0">
                                          <p:val>
                                            <p:strVal val="#ppt_x"/>
                                          </p:val>
                                        </p:tav>
                                        <p:tav tm="100000">
                                          <p:val>
                                            <p:strVal val="#ppt_x"/>
                                          </p:val>
                                        </p:tav>
                                      </p:tavLst>
                                    </p:anim>
                                    <p:anim calcmode="lin" valueType="num">
                                      <p:cBhvr additive="base">
                                        <p:cTn id="52" dur="500" fill="hold"/>
                                        <p:tgtEl>
                                          <p:spTgt spid="2">
                                            <p:txEl>
                                              <p:pRg st="6" end="6"/>
                                            </p:txEl>
                                          </p:spTgt>
                                        </p:tgtEl>
                                        <p:attrNameLst>
                                          <p:attrName>ppt_y</p:attrName>
                                        </p:attrNameLst>
                                      </p:cBhvr>
                                      <p:tavLst>
                                        <p:tav tm="0">
                                          <p:val>
                                            <p:strVal val="1+#ppt_h/2"/>
                                          </p:val>
                                        </p:tav>
                                        <p:tav tm="100000">
                                          <p:val>
                                            <p:strVal val="#ppt_y"/>
                                          </p:val>
                                        </p:tav>
                                      </p:tavLst>
                                    </p:anim>
                                  </p:childTnLst>
                                </p:cTn>
                              </p:par>
                              <p:par>
                                <p:cTn id="53" presetID="2" presetClass="entr" presetSubtype="4" fill="hold" nodeType="withEffect">
                                  <p:stCondLst>
                                    <p:cond delay="0"/>
                                  </p:stCondLst>
                                  <p:childTnLst>
                                    <p:set>
                                      <p:cBhvr>
                                        <p:cTn id="54" dur="1" fill="hold">
                                          <p:stCondLst>
                                            <p:cond delay="0"/>
                                          </p:stCondLst>
                                        </p:cTn>
                                        <p:tgtEl>
                                          <p:spTgt spid="2">
                                            <p:txEl>
                                              <p:pRg st="7" end="7"/>
                                            </p:txEl>
                                          </p:spTgt>
                                        </p:tgtEl>
                                        <p:attrNameLst>
                                          <p:attrName>style.visibility</p:attrName>
                                        </p:attrNameLst>
                                      </p:cBhvr>
                                      <p:to>
                                        <p:strVal val="visible"/>
                                      </p:to>
                                    </p:set>
                                    <p:anim calcmode="lin" valueType="num">
                                      <p:cBhvr additive="base">
                                        <p:cTn id="55" dur="500" fill="hold"/>
                                        <p:tgtEl>
                                          <p:spTgt spid="2">
                                            <p:txEl>
                                              <p:pRg st="7" end="7"/>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2">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7" fill="hold" nodeType="clickPar">
                      <p:stCondLst>
                        <p:cond delay="indefinite"/>
                      </p:stCondLst>
                      <p:childTnLst>
                        <p:par>
                          <p:cTn id="58" fill="hold" nodeType="withGroup">
                            <p:stCondLst>
                              <p:cond delay="0"/>
                            </p:stCondLst>
                            <p:childTnLst>
                              <p:par>
                                <p:cTn id="59" presetID="4" presetClass="entr" presetSubtype="16" fill="hold" nodeType="clickEffect">
                                  <p:stCondLst>
                                    <p:cond delay="0"/>
                                  </p:stCondLst>
                                  <p:childTnLst>
                                    <p:set>
                                      <p:cBhvr>
                                        <p:cTn id="60" dur="1" fill="hold">
                                          <p:stCondLst>
                                            <p:cond delay="0"/>
                                          </p:stCondLst>
                                        </p:cTn>
                                        <p:tgtEl>
                                          <p:spTgt spid="3">
                                            <p:txEl>
                                              <p:pRg st="0" end="0"/>
                                            </p:txEl>
                                          </p:spTgt>
                                        </p:tgtEl>
                                        <p:attrNameLst>
                                          <p:attrName>style.visibility</p:attrName>
                                        </p:attrNameLst>
                                      </p:cBhvr>
                                      <p:to>
                                        <p:strVal val="visible"/>
                                      </p:to>
                                    </p:set>
                                    <p:animEffect transition="in" filter="box(in)">
                                      <p:cBhvr>
                                        <p:cTn id="61" dur="500"/>
                                        <p:tgtEl>
                                          <p:spTgt spid="3">
                                            <p:txEl>
                                              <p:pRg st="0" end="0"/>
                                            </p:txEl>
                                          </p:spTgt>
                                        </p:tgtEl>
                                      </p:cBhvr>
                                    </p:animEffect>
                                  </p:childTnLst>
                                </p:cTn>
                              </p:par>
                              <p:par>
                                <p:cTn id="62" presetID="4" presetClass="entr" presetSubtype="16" fill="hold" nodeType="withEffect">
                                  <p:stCondLst>
                                    <p:cond delay="0"/>
                                  </p:stCondLst>
                                  <p:childTnLst>
                                    <p:set>
                                      <p:cBhvr>
                                        <p:cTn id="63" dur="1" fill="hold">
                                          <p:stCondLst>
                                            <p:cond delay="0"/>
                                          </p:stCondLst>
                                        </p:cTn>
                                        <p:tgtEl>
                                          <p:spTgt spid="3">
                                            <p:txEl>
                                              <p:pRg st="1" end="1"/>
                                            </p:txEl>
                                          </p:spTgt>
                                        </p:tgtEl>
                                        <p:attrNameLst>
                                          <p:attrName>style.visibility</p:attrName>
                                        </p:attrNameLst>
                                      </p:cBhvr>
                                      <p:to>
                                        <p:strVal val="visible"/>
                                      </p:to>
                                    </p:set>
                                    <p:animEffect transition="in" filter="box(in)">
                                      <p:cBhvr>
                                        <p:cTn id="64" dur="500"/>
                                        <p:tgtEl>
                                          <p:spTgt spid="3">
                                            <p:txEl>
                                              <p:pRg st="1" end="1"/>
                                            </p:txEl>
                                          </p:spTgt>
                                        </p:tgtEl>
                                      </p:cBhvr>
                                    </p:animEffect>
                                  </p:childTnLst>
                                </p:cTn>
                              </p:par>
                              <p:par>
                                <p:cTn id="65" presetID="4" presetClass="entr" presetSubtype="16" fill="hold" nodeType="withEffect">
                                  <p:stCondLst>
                                    <p:cond delay="0"/>
                                  </p:stCondLst>
                                  <p:childTnLst>
                                    <p:set>
                                      <p:cBhvr>
                                        <p:cTn id="66" dur="1" fill="hold">
                                          <p:stCondLst>
                                            <p:cond delay="0"/>
                                          </p:stCondLst>
                                        </p:cTn>
                                        <p:tgtEl>
                                          <p:spTgt spid="3">
                                            <p:txEl>
                                              <p:pRg st="2" end="2"/>
                                            </p:txEl>
                                          </p:spTgt>
                                        </p:tgtEl>
                                        <p:attrNameLst>
                                          <p:attrName>style.visibility</p:attrName>
                                        </p:attrNameLst>
                                      </p:cBhvr>
                                      <p:to>
                                        <p:strVal val="visible"/>
                                      </p:to>
                                    </p:set>
                                    <p:animEffect transition="in" filter="box(in)">
                                      <p:cBhvr>
                                        <p:cTn id="67" dur="500"/>
                                        <p:tgtEl>
                                          <p:spTgt spid="3">
                                            <p:txEl>
                                              <p:pRg st="2" end="2"/>
                                            </p:txEl>
                                          </p:spTgt>
                                        </p:tgtEl>
                                      </p:cBhvr>
                                    </p:animEffect>
                                  </p:childTnLst>
                                </p:cTn>
                              </p:par>
                              <p:par>
                                <p:cTn id="68" presetID="4" presetClass="entr" presetSubtype="16" fill="hold" nodeType="withEffect">
                                  <p:stCondLst>
                                    <p:cond delay="0"/>
                                  </p:stCondLst>
                                  <p:childTnLst>
                                    <p:set>
                                      <p:cBhvr>
                                        <p:cTn id="69" dur="1" fill="hold">
                                          <p:stCondLst>
                                            <p:cond delay="0"/>
                                          </p:stCondLst>
                                        </p:cTn>
                                        <p:tgtEl>
                                          <p:spTgt spid="3">
                                            <p:txEl>
                                              <p:pRg st="3" end="3"/>
                                            </p:txEl>
                                          </p:spTgt>
                                        </p:tgtEl>
                                        <p:attrNameLst>
                                          <p:attrName>style.visibility</p:attrName>
                                        </p:attrNameLst>
                                      </p:cBhvr>
                                      <p:to>
                                        <p:strVal val="visible"/>
                                      </p:to>
                                    </p:set>
                                    <p:animEffect transition="in" filter="box(in)">
                                      <p:cBhvr>
                                        <p:cTn id="70" dur="500"/>
                                        <p:tgtEl>
                                          <p:spTgt spid="3">
                                            <p:txEl>
                                              <p:pRg st="3" end="3"/>
                                            </p:txEl>
                                          </p:spTgt>
                                        </p:tgtEl>
                                      </p:cBhvr>
                                    </p:animEffect>
                                  </p:childTnLst>
                                </p:cTn>
                              </p:par>
                              <p:par>
                                <p:cTn id="71" presetID="4" presetClass="entr" presetSubtype="16" fill="hold" nodeType="withEffect">
                                  <p:stCondLst>
                                    <p:cond delay="0"/>
                                  </p:stCondLst>
                                  <p:childTnLst>
                                    <p:set>
                                      <p:cBhvr>
                                        <p:cTn id="72" dur="1" fill="hold">
                                          <p:stCondLst>
                                            <p:cond delay="0"/>
                                          </p:stCondLst>
                                        </p:cTn>
                                        <p:tgtEl>
                                          <p:spTgt spid="3">
                                            <p:txEl>
                                              <p:pRg st="4" end="4"/>
                                            </p:txEl>
                                          </p:spTgt>
                                        </p:tgtEl>
                                        <p:attrNameLst>
                                          <p:attrName>style.visibility</p:attrName>
                                        </p:attrNameLst>
                                      </p:cBhvr>
                                      <p:to>
                                        <p:strVal val="visible"/>
                                      </p:to>
                                    </p:set>
                                    <p:animEffect transition="in" filter="box(in)">
                                      <p:cBhvr>
                                        <p:cTn id="73" dur="500"/>
                                        <p:tgtEl>
                                          <p:spTgt spid="3">
                                            <p:txEl>
                                              <p:pRg st="4" end="4"/>
                                            </p:txEl>
                                          </p:spTgt>
                                        </p:tgtEl>
                                      </p:cBhvr>
                                    </p:animEffect>
                                  </p:childTnLst>
                                </p:cTn>
                              </p:par>
                              <p:par>
                                <p:cTn id="74" presetID="4" presetClass="entr" presetSubtype="16" fill="hold" nodeType="withEffect">
                                  <p:stCondLst>
                                    <p:cond delay="0"/>
                                  </p:stCondLst>
                                  <p:childTnLst>
                                    <p:set>
                                      <p:cBhvr>
                                        <p:cTn id="75" dur="1" fill="hold">
                                          <p:stCondLst>
                                            <p:cond delay="0"/>
                                          </p:stCondLst>
                                        </p:cTn>
                                        <p:tgtEl>
                                          <p:spTgt spid="3">
                                            <p:txEl>
                                              <p:pRg st="5" end="5"/>
                                            </p:txEl>
                                          </p:spTgt>
                                        </p:tgtEl>
                                        <p:attrNameLst>
                                          <p:attrName>style.visibility</p:attrName>
                                        </p:attrNameLst>
                                      </p:cBhvr>
                                      <p:to>
                                        <p:strVal val="visible"/>
                                      </p:to>
                                    </p:set>
                                    <p:animEffect transition="in" filter="box(in)">
                                      <p:cBhvr>
                                        <p:cTn id="76" dur="500"/>
                                        <p:tgtEl>
                                          <p:spTgt spid="3">
                                            <p:txEl>
                                              <p:pRg st="5" end="5"/>
                                            </p:txEl>
                                          </p:spTgt>
                                        </p:tgtEl>
                                      </p:cBhvr>
                                    </p:animEffect>
                                  </p:childTnLst>
                                </p:cTn>
                              </p:par>
                              <p:par>
                                <p:cTn id="77" presetID="4" presetClass="entr" presetSubtype="16" fill="hold" nodeType="withEffect">
                                  <p:stCondLst>
                                    <p:cond delay="0"/>
                                  </p:stCondLst>
                                  <p:childTnLst>
                                    <p:set>
                                      <p:cBhvr>
                                        <p:cTn id="78" dur="1" fill="hold">
                                          <p:stCondLst>
                                            <p:cond delay="0"/>
                                          </p:stCondLst>
                                        </p:cTn>
                                        <p:tgtEl>
                                          <p:spTgt spid="3">
                                            <p:txEl>
                                              <p:pRg st="6" end="6"/>
                                            </p:txEl>
                                          </p:spTgt>
                                        </p:tgtEl>
                                        <p:attrNameLst>
                                          <p:attrName>style.visibility</p:attrName>
                                        </p:attrNameLst>
                                      </p:cBhvr>
                                      <p:to>
                                        <p:strVal val="visible"/>
                                      </p:to>
                                    </p:set>
                                    <p:animEffect transition="in" filter="box(in)">
                                      <p:cBhvr>
                                        <p:cTn id="79" dur="500"/>
                                        <p:tgtEl>
                                          <p:spTgt spid="3">
                                            <p:txEl>
                                              <p:pRg st="6" end="6"/>
                                            </p:txEl>
                                          </p:spTgt>
                                        </p:tgtEl>
                                      </p:cBhvr>
                                    </p:animEffect>
                                  </p:childTnLst>
                                </p:cTn>
                              </p:par>
                              <p:par>
                                <p:cTn id="80" presetID="4" presetClass="entr" presetSubtype="16" fill="hold" nodeType="withEffect">
                                  <p:stCondLst>
                                    <p:cond delay="0"/>
                                  </p:stCondLst>
                                  <p:childTnLst>
                                    <p:set>
                                      <p:cBhvr>
                                        <p:cTn id="81" dur="1" fill="hold">
                                          <p:stCondLst>
                                            <p:cond delay="0"/>
                                          </p:stCondLst>
                                        </p:cTn>
                                        <p:tgtEl>
                                          <p:spTgt spid="3">
                                            <p:txEl>
                                              <p:pRg st="7" end="7"/>
                                            </p:txEl>
                                          </p:spTgt>
                                        </p:tgtEl>
                                        <p:attrNameLst>
                                          <p:attrName>style.visibility</p:attrName>
                                        </p:attrNameLst>
                                      </p:cBhvr>
                                      <p:to>
                                        <p:strVal val="visible"/>
                                      </p:to>
                                    </p:set>
                                    <p:animEffect transition="in" filter="box(in)">
                                      <p:cBhvr>
                                        <p:cTn id="82" dur="500"/>
                                        <p:tgtEl>
                                          <p:spTgt spid="3">
                                            <p:txEl>
                                              <p:pRg st="7" end="7"/>
                                            </p:txEl>
                                          </p:spTgt>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nodeType="clickEffect">
                                  <p:stCondLst>
                                    <p:cond delay="0"/>
                                  </p:stCondLst>
                                  <p:childTnLst>
                                    <p:set>
                                      <p:cBhvr>
                                        <p:cTn id="86" dur="1" fill="hold">
                                          <p:stCondLst>
                                            <p:cond delay="0"/>
                                          </p:stCondLst>
                                        </p:cTn>
                                        <p:tgtEl>
                                          <p:spTgt spid="7">
                                            <p:txEl>
                                              <p:pRg st="0" end="0"/>
                                            </p:txEl>
                                          </p:spTgt>
                                        </p:tgtEl>
                                        <p:attrNameLst>
                                          <p:attrName>style.visibility</p:attrName>
                                        </p:attrNameLst>
                                      </p:cBhvr>
                                      <p:to>
                                        <p:strVal val="visible"/>
                                      </p:to>
                                    </p:set>
                                    <p:animEffect transition="in" filter="blinds(horizontal)">
                                      <p:cBhvr>
                                        <p:cTn id="87" dur="500"/>
                                        <p:tgtEl>
                                          <p:spTgt spid="7">
                                            <p:txEl>
                                              <p:pRg st="0" end="0"/>
                                            </p:txEl>
                                          </p:spTgt>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3" presetClass="entr" presetSubtype="10" fill="hold" nodeType="clickEffect">
                                  <p:stCondLst>
                                    <p:cond delay="0"/>
                                  </p:stCondLst>
                                  <p:childTnLst>
                                    <p:set>
                                      <p:cBhvr>
                                        <p:cTn id="91" dur="1" fill="hold">
                                          <p:stCondLst>
                                            <p:cond delay="0"/>
                                          </p:stCondLst>
                                        </p:cTn>
                                        <p:tgtEl>
                                          <p:spTgt spid="7">
                                            <p:txEl>
                                              <p:pRg st="1" end="1"/>
                                            </p:txEl>
                                          </p:spTgt>
                                        </p:tgtEl>
                                        <p:attrNameLst>
                                          <p:attrName>style.visibility</p:attrName>
                                        </p:attrNameLst>
                                      </p:cBhvr>
                                      <p:to>
                                        <p:strVal val="visible"/>
                                      </p:to>
                                    </p:set>
                                    <p:animEffect transition="in" filter="blinds(horizontal)">
                                      <p:cBhvr>
                                        <p:cTn id="9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4B2DF782-ECF7-EE4F-AAF5-9D904780FC6E}"/>
              </a:ext>
            </a:extLst>
          </p:cNvPr>
          <p:cNvSpPr/>
          <p:nvPr/>
        </p:nvSpPr>
        <p:spPr>
          <a:xfrm>
            <a:off x="1223963" y="1681163"/>
            <a:ext cx="5256212" cy="1871662"/>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dirty="0"/>
          </a:p>
        </p:txBody>
      </p:sp>
      <p:grpSp>
        <p:nvGrpSpPr>
          <p:cNvPr id="16387" name="组合 48">
            <a:extLst>
              <a:ext uri="{FF2B5EF4-FFF2-40B4-BE49-F238E27FC236}">
                <a16:creationId xmlns:a16="http://schemas.microsoft.com/office/drawing/2014/main" id="{FEBC8EE3-2DF5-FB41-9036-12E25D18E318}"/>
              </a:ext>
            </a:extLst>
          </p:cNvPr>
          <p:cNvGrpSpPr>
            <a:grpSpLocks/>
          </p:cNvGrpSpPr>
          <p:nvPr/>
        </p:nvGrpSpPr>
        <p:grpSpPr bwMode="auto">
          <a:xfrm>
            <a:off x="3563938" y="2489200"/>
            <a:ext cx="576262" cy="792163"/>
            <a:chOff x="2411760" y="2348880"/>
            <a:chExt cx="576064" cy="792088"/>
          </a:xfrm>
        </p:grpSpPr>
        <p:grpSp>
          <p:nvGrpSpPr>
            <p:cNvPr id="16396" name="组合 46">
              <a:extLst>
                <a:ext uri="{FF2B5EF4-FFF2-40B4-BE49-F238E27FC236}">
                  <a16:creationId xmlns:a16="http://schemas.microsoft.com/office/drawing/2014/main" id="{1B3C0188-3D69-384A-A24B-10DC72AB76ED}"/>
                </a:ext>
              </a:extLst>
            </p:cNvPr>
            <p:cNvGrpSpPr>
              <a:grpSpLocks/>
            </p:cNvGrpSpPr>
            <p:nvPr/>
          </p:nvGrpSpPr>
          <p:grpSpPr bwMode="auto">
            <a:xfrm>
              <a:off x="2411760" y="2348880"/>
              <a:ext cx="576064" cy="792088"/>
              <a:chOff x="2267744" y="3861048"/>
              <a:chExt cx="576064" cy="792088"/>
            </a:xfrm>
          </p:grpSpPr>
          <p:sp>
            <p:nvSpPr>
              <p:cNvPr id="44" name="矩形 43">
                <a:extLst>
                  <a:ext uri="{FF2B5EF4-FFF2-40B4-BE49-F238E27FC236}">
                    <a16:creationId xmlns:a16="http://schemas.microsoft.com/office/drawing/2014/main" id="{8EDDD40E-D30A-C744-908A-3518DA025992}"/>
                  </a:ext>
                </a:extLst>
              </p:cNvPr>
              <p:cNvSpPr/>
              <p:nvPr/>
            </p:nvSpPr>
            <p:spPr>
              <a:xfrm>
                <a:off x="2267744" y="3861048"/>
                <a:ext cx="576064" cy="79208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6" name="椭圆 45">
                <a:extLst>
                  <a:ext uri="{FF2B5EF4-FFF2-40B4-BE49-F238E27FC236}">
                    <a16:creationId xmlns:a16="http://schemas.microsoft.com/office/drawing/2014/main" id="{CD80B2CE-2E31-7743-ADE1-28A06309CA0F}"/>
                  </a:ext>
                </a:extLst>
              </p:cNvPr>
              <p:cNvSpPr/>
              <p:nvPr/>
            </p:nvSpPr>
            <p:spPr>
              <a:xfrm>
                <a:off x="2339156" y="4253124"/>
                <a:ext cx="144413" cy="144448"/>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48" name="矩形 47">
              <a:extLst>
                <a:ext uri="{FF2B5EF4-FFF2-40B4-BE49-F238E27FC236}">
                  <a16:creationId xmlns:a16="http://schemas.microsoft.com/office/drawing/2014/main" id="{9D005928-3266-324E-B6F3-605B17AD9F1A}"/>
                </a:ext>
              </a:extLst>
            </p:cNvPr>
            <p:cNvSpPr/>
            <p:nvPr/>
          </p:nvSpPr>
          <p:spPr>
            <a:xfrm>
              <a:off x="2627586" y="2493329"/>
              <a:ext cx="288826" cy="142861"/>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pic>
        <p:nvPicPr>
          <p:cNvPr id="16388" name="图片 55">
            <a:extLst>
              <a:ext uri="{FF2B5EF4-FFF2-40B4-BE49-F238E27FC236}">
                <a16:creationId xmlns:a16="http://schemas.microsoft.com/office/drawing/2014/main" id="{DB6D0E0F-F619-C04F-B141-2F634F1FAE8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3860800"/>
            <a:ext cx="787400"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图片 57">
            <a:extLst>
              <a:ext uri="{FF2B5EF4-FFF2-40B4-BE49-F238E27FC236}">
                <a16:creationId xmlns:a16="http://schemas.microsoft.com/office/drawing/2014/main" id="{9DBBD307-0EF1-8546-BEC3-625CA000C0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425" y="3860800"/>
            <a:ext cx="696913"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文本框 59">
            <a:extLst>
              <a:ext uri="{FF2B5EF4-FFF2-40B4-BE49-F238E27FC236}">
                <a16:creationId xmlns:a16="http://schemas.microsoft.com/office/drawing/2014/main" id="{CA2E96A0-D08E-AF45-8DEA-3AA7E092343C}"/>
              </a:ext>
            </a:extLst>
          </p:cNvPr>
          <p:cNvSpPr txBox="1"/>
          <p:nvPr/>
        </p:nvSpPr>
        <p:spPr>
          <a:xfrm>
            <a:off x="1133475" y="3860800"/>
            <a:ext cx="414338" cy="369888"/>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P1</a:t>
            </a:r>
            <a:endParaRPr lang="zh-CN" altLang="en-US" dirty="0"/>
          </a:p>
        </p:txBody>
      </p:sp>
      <p:sp>
        <p:nvSpPr>
          <p:cNvPr id="61" name="文本框 60">
            <a:extLst>
              <a:ext uri="{FF2B5EF4-FFF2-40B4-BE49-F238E27FC236}">
                <a16:creationId xmlns:a16="http://schemas.microsoft.com/office/drawing/2014/main" id="{97D86F8C-35BB-5643-920B-58D68D32B8BA}"/>
              </a:ext>
            </a:extLst>
          </p:cNvPr>
          <p:cNvSpPr txBox="1"/>
          <p:nvPr/>
        </p:nvSpPr>
        <p:spPr>
          <a:xfrm>
            <a:off x="4932363" y="3860800"/>
            <a:ext cx="473075" cy="369888"/>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P2</a:t>
            </a:r>
            <a:endParaRPr lang="zh-CN" altLang="en-US" dirty="0"/>
          </a:p>
        </p:txBody>
      </p:sp>
      <p:sp>
        <p:nvSpPr>
          <p:cNvPr id="19" name="文本框 18">
            <a:extLst>
              <a:ext uri="{FF2B5EF4-FFF2-40B4-BE49-F238E27FC236}">
                <a16:creationId xmlns:a16="http://schemas.microsoft.com/office/drawing/2014/main" id="{69B9CB58-EA83-2642-A95C-3B289FDC6FF0}"/>
              </a:ext>
            </a:extLst>
          </p:cNvPr>
          <p:cNvSpPr txBox="1"/>
          <p:nvPr/>
        </p:nvSpPr>
        <p:spPr>
          <a:xfrm>
            <a:off x="1344613" y="3097213"/>
            <a:ext cx="1638300" cy="368300"/>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inside1=false; </a:t>
            </a:r>
            <a:endParaRPr lang="zh-CN" altLang="en-US" dirty="0"/>
          </a:p>
        </p:txBody>
      </p:sp>
      <p:sp>
        <p:nvSpPr>
          <p:cNvPr id="21" name="文本框 20">
            <a:extLst>
              <a:ext uri="{FF2B5EF4-FFF2-40B4-BE49-F238E27FC236}">
                <a16:creationId xmlns:a16="http://schemas.microsoft.com/office/drawing/2014/main" id="{5D46BAF7-B64A-4441-976B-9DCB050B27AF}"/>
              </a:ext>
            </a:extLst>
          </p:cNvPr>
          <p:cNvSpPr txBox="1"/>
          <p:nvPr/>
        </p:nvSpPr>
        <p:spPr>
          <a:xfrm>
            <a:off x="4859338" y="3084513"/>
            <a:ext cx="2089150" cy="369887"/>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inside2=false; </a:t>
            </a:r>
            <a:endParaRPr lang="zh-CN" altLang="en-US" dirty="0"/>
          </a:p>
        </p:txBody>
      </p:sp>
      <p:pic>
        <p:nvPicPr>
          <p:cNvPr id="16394" name="图片 4">
            <a:extLst>
              <a:ext uri="{FF2B5EF4-FFF2-40B4-BE49-F238E27FC236}">
                <a16:creationId xmlns:a16="http://schemas.microsoft.com/office/drawing/2014/main" id="{890568E7-8EFB-AB48-B56A-D34FBA61757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2463" y="4213225"/>
            <a:ext cx="1319212"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文本框 22">
            <a:extLst>
              <a:ext uri="{FF2B5EF4-FFF2-40B4-BE49-F238E27FC236}">
                <a16:creationId xmlns:a16="http://schemas.microsoft.com/office/drawing/2014/main" id="{D0E3484F-22E2-D54A-A9C4-6283E3834313}"/>
              </a:ext>
            </a:extLst>
          </p:cNvPr>
          <p:cNvSpPr txBox="1"/>
          <p:nvPr/>
        </p:nvSpPr>
        <p:spPr>
          <a:xfrm>
            <a:off x="3182938" y="4941888"/>
            <a:ext cx="1552575" cy="706437"/>
          </a:xfrm>
          <a:prstGeom prst="rect">
            <a:avLst/>
          </a:prstGeom>
          <a:noFill/>
        </p:spPr>
        <p:txBody>
          <a:bodyPr>
            <a:spAutoFit/>
          </a:bodyPr>
          <a:lstStyle/>
          <a:p>
            <a:pPr>
              <a:defRPr/>
            </a:pPr>
            <a:r>
              <a:rPr lang="en-US" altLang="zh-CN" sz="2000" b="1" kern="0" dirty="0">
                <a:solidFill>
                  <a:srgbClr val="FF0000"/>
                </a:solidFill>
                <a:latin typeface="+mn-lt"/>
                <a:ea typeface="+mn-ea"/>
              </a:rPr>
              <a:t>      turn=1</a:t>
            </a:r>
          </a:p>
          <a:p>
            <a:pPr>
              <a:defRPr/>
            </a:pPr>
            <a:r>
              <a:rPr lang="zh-CN" altLang="en-US" sz="2000" b="1" kern="0" dirty="0">
                <a:solidFill>
                  <a:srgbClr val="FF0000"/>
                </a:solidFill>
                <a:latin typeface="+mn-lt"/>
                <a:ea typeface="+mn-ea"/>
              </a:rPr>
              <a:t>或  </a:t>
            </a:r>
            <a:r>
              <a:rPr lang="en-US" altLang="zh-CN" sz="2000" b="1" kern="0" dirty="0">
                <a:solidFill>
                  <a:srgbClr val="FF0000"/>
                </a:solidFill>
                <a:latin typeface="+mn-lt"/>
                <a:ea typeface="+mn-ea"/>
              </a:rPr>
              <a:t>turn=2</a:t>
            </a:r>
            <a:endParaRPr lang="zh-CN" altLang="en-US" sz="2000" b="1" dirty="0"/>
          </a:p>
        </p:txBody>
      </p:sp>
    </p:spTree>
    <p:extLst>
      <p:ext uri="{BB962C8B-B14F-4D97-AF65-F5344CB8AC3E}">
        <p14:creationId xmlns:p14="http://schemas.microsoft.com/office/powerpoint/2010/main" val="427525403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a:extLst>
              <a:ext uri="{FF2B5EF4-FFF2-40B4-BE49-F238E27FC236}">
                <a16:creationId xmlns:a16="http://schemas.microsoft.com/office/drawing/2014/main" id="{ABFC0A20-6953-A245-BA3F-194180202AC1}"/>
              </a:ext>
            </a:extLst>
          </p:cNvPr>
          <p:cNvSpPr/>
          <p:nvPr/>
        </p:nvSpPr>
        <p:spPr>
          <a:xfrm>
            <a:off x="1223963" y="1681163"/>
            <a:ext cx="5256212" cy="1871662"/>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17411" name="组合 48">
            <a:extLst>
              <a:ext uri="{FF2B5EF4-FFF2-40B4-BE49-F238E27FC236}">
                <a16:creationId xmlns:a16="http://schemas.microsoft.com/office/drawing/2014/main" id="{A8962E2F-2A99-A247-88B1-3DD9797BAFDC}"/>
              </a:ext>
            </a:extLst>
          </p:cNvPr>
          <p:cNvGrpSpPr>
            <a:grpSpLocks/>
          </p:cNvGrpSpPr>
          <p:nvPr/>
        </p:nvGrpSpPr>
        <p:grpSpPr bwMode="auto">
          <a:xfrm>
            <a:off x="3670300" y="2506663"/>
            <a:ext cx="576263" cy="792162"/>
            <a:chOff x="2411760" y="2348880"/>
            <a:chExt cx="576064" cy="792088"/>
          </a:xfrm>
        </p:grpSpPr>
        <p:grpSp>
          <p:nvGrpSpPr>
            <p:cNvPr id="17420" name="组合 46">
              <a:extLst>
                <a:ext uri="{FF2B5EF4-FFF2-40B4-BE49-F238E27FC236}">
                  <a16:creationId xmlns:a16="http://schemas.microsoft.com/office/drawing/2014/main" id="{047AB98B-14A7-7248-A3C3-1734689D8039}"/>
                </a:ext>
              </a:extLst>
            </p:cNvPr>
            <p:cNvGrpSpPr>
              <a:grpSpLocks/>
            </p:cNvGrpSpPr>
            <p:nvPr/>
          </p:nvGrpSpPr>
          <p:grpSpPr bwMode="auto">
            <a:xfrm>
              <a:off x="2411760" y="2348880"/>
              <a:ext cx="576064" cy="792088"/>
              <a:chOff x="2267744" y="3861048"/>
              <a:chExt cx="576064" cy="792088"/>
            </a:xfrm>
          </p:grpSpPr>
          <p:sp>
            <p:nvSpPr>
              <p:cNvPr id="44" name="矩形 43">
                <a:extLst>
                  <a:ext uri="{FF2B5EF4-FFF2-40B4-BE49-F238E27FC236}">
                    <a16:creationId xmlns:a16="http://schemas.microsoft.com/office/drawing/2014/main" id="{AD38C2AA-5D2D-5E47-9AF8-64B6ED176B0B}"/>
                  </a:ext>
                </a:extLst>
              </p:cNvPr>
              <p:cNvSpPr/>
              <p:nvPr/>
            </p:nvSpPr>
            <p:spPr>
              <a:xfrm>
                <a:off x="2267744" y="3861048"/>
                <a:ext cx="576064" cy="792088"/>
              </a:xfrm>
              <a:prstGeom prst="rect">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6" name="椭圆 45">
                <a:extLst>
                  <a:ext uri="{FF2B5EF4-FFF2-40B4-BE49-F238E27FC236}">
                    <a16:creationId xmlns:a16="http://schemas.microsoft.com/office/drawing/2014/main" id="{45D77B20-59A7-BA42-AA99-ADB6C039610C}"/>
                  </a:ext>
                </a:extLst>
              </p:cNvPr>
              <p:cNvSpPr/>
              <p:nvPr/>
            </p:nvSpPr>
            <p:spPr>
              <a:xfrm>
                <a:off x="2339157" y="4253123"/>
                <a:ext cx="144412" cy="144450"/>
              </a:xfrm>
              <a:prstGeom prst="ellipse">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
          <p:nvSpPr>
            <p:cNvPr id="48" name="矩形 47">
              <a:extLst>
                <a:ext uri="{FF2B5EF4-FFF2-40B4-BE49-F238E27FC236}">
                  <a16:creationId xmlns:a16="http://schemas.microsoft.com/office/drawing/2014/main" id="{50F2CB9F-39FA-5548-9092-0A3F1E417C30}"/>
                </a:ext>
              </a:extLst>
            </p:cNvPr>
            <p:cNvSpPr/>
            <p:nvPr/>
          </p:nvSpPr>
          <p:spPr>
            <a:xfrm>
              <a:off x="2627585" y="2493329"/>
              <a:ext cx="288825" cy="142862"/>
            </a:xfrm>
            <a:prstGeom prst="rect">
              <a:avLst/>
            </a:prstGeom>
            <a:solidFill>
              <a:schemeClr val="bg1"/>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pic>
        <p:nvPicPr>
          <p:cNvPr id="17412" name="图片 55">
            <a:extLst>
              <a:ext uri="{FF2B5EF4-FFF2-40B4-BE49-F238E27FC236}">
                <a16:creationId xmlns:a16="http://schemas.microsoft.com/office/drawing/2014/main" id="{52A1995D-01E3-C843-B69A-526D9C3524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47813" y="3860800"/>
            <a:ext cx="787400"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413" name="图片 57">
            <a:extLst>
              <a:ext uri="{FF2B5EF4-FFF2-40B4-BE49-F238E27FC236}">
                <a16:creationId xmlns:a16="http://schemas.microsoft.com/office/drawing/2014/main" id="{9E8FAF69-14ED-8B4B-A318-24A3C51DED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32425" y="3860800"/>
            <a:ext cx="696913" cy="1262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文本框 59">
            <a:extLst>
              <a:ext uri="{FF2B5EF4-FFF2-40B4-BE49-F238E27FC236}">
                <a16:creationId xmlns:a16="http://schemas.microsoft.com/office/drawing/2014/main" id="{014D0DF3-465F-1A48-81B6-928B189BBD9E}"/>
              </a:ext>
            </a:extLst>
          </p:cNvPr>
          <p:cNvSpPr txBox="1"/>
          <p:nvPr/>
        </p:nvSpPr>
        <p:spPr>
          <a:xfrm>
            <a:off x="1133475" y="3860800"/>
            <a:ext cx="414338" cy="369888"/>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P1</a:t>
            </a:r>
            <a:endParaRPr lang="zh-CN" altLang="en-US" dirty="0"/>
          </a:p>
        </p:txBody>
      </p:sp>
      <p:sp>
        <p:nvSpPr>
          <p:cNvPr id="61" name="文本框 60">
            <a:extLst>
              <a:ext uri="{FF2B5EF4-FFF2-40B4-BE49-F238E27FC236}">
                <a16:creationId xmlns:a16="http://schemas.microsoft.com/office/drawing/2014/main" id="{37975E4E-21E0-BB40-B263-C1A0AC70E48C}"/>
              </a:ext>
            </a:extLst>
          </p:cNvPr>
          <p:cNvSpPr txBox="1"/>
          <p:nvPr/>
        </p:nvSpPr>
        <p:spPr>
          <a:xfrm>
            <a:off x="4932363" y="3860800"/>
            <a:ext cx="473075" cy="369888"/>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P2</a:t>
            </a:r>
            <a:endParaRPr lang="zh-CN" altLang="en-US" dirty="0"/>
          </a:p>
        </p:txBody>
      </p:sp>
      <p:pic>
        <p:nvPicPr>
          <p:cNvPr id="17416" name="图片 4">
            <a:extLst>
              <a:ext uri="{FF2B5EF4-FFF2-40B4-BE49-F238E27FC236}">
                <a16:creationId xmlns:a16="http://schemas.microsoft.com/office/drawing/2014/main" id="{846FD3E6-18D6-6449-9F17-6E04ED837B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92463" y="4213225"/>
            <a:ext cx="1319212" cy="557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 name="文本框 22">
            <a:extLst>
              <a:ext uri="{FF2B5EF4-FFF2-40B4-BE49-F238E27FC236}">
                <a16:creationId xmlns:a16="http://schemas.microsoft.com/office/drawing/2014/main" id="{5122B7C4-3034-7943-9F9B-0DA509E09B62}"/>
              </a:ext>
            </a:extLst>
          </p:cNvPr>
          <p:cNvSpPr txBox="1"/>
          <p:nvPr/>
        </p:nvSpPr>
        <p:spPr>
          <a:xfrm>
            <a:off x="3182938" y="4941888"/>
            <a:ext cx="1552575" cy="706437"/>
          </a:xfrm>
          <a:prstGeom prst="rect">
            <a:avLst/>
          </a:prstGeom>
          <a:noFill/>
        </p:spPr>
        <p:txBody>
          <a:bodyPr>
            <a:spAutoFit/>
          </a:bodyPr>
          <a:lstStyle/>
          <a:p>
            <a:pPr>
              <a:defRPr/>
            </a:pPr>
            <a:r>
              <a:rPr lang="en-US" altLang="zh-CN" sz="2000" b="1" kern="0" dirty="0">
                <a:solidFill>
                  <a:srgbClr val="FF0000"/>
                </a:solidFill>
                <a:latin typeface="+mn-lt"/>
                <a:ea typeface="+mn-ea"/>
              </a:rPr>
              <a:t>      turn=1</a:t>
            </a:r>
          </a:p>
          <a:p>
            <a:pPr>
              <a:defRPr/>
            </a:pPr>
            <a:r>
              <a:rPr lang="zh-CN" altLang="en-US" sz="2000" b="1" kern="0" dirty="0">
                <a:solidFill>
                  <a:srgbClr val="FF0000"/>
                </a:solidFill>
                <a:latin typeface="+mn-lt"/>
                <a:ea typeface="+mn-ea"/>
              </a:rPr>
              <a:t>或  </a:t>
            </a:r>
            <a:r>
              <a:rPr lang="en-US" altLang="zh-CN" sz="2000" b="1" kern="0" dirty="0">
                <a:solidFill>
                  <a:srgbClr val="FF0000"/>
                </a:solidFill>
                <a:latin typeface="+mn-lt"/>
                <a:ea typeface="+mn-ea"/>
              </a:rPr>
              <a:t>turn=2</a:t>
            </a:r>
            <a:endParaRPr lang="zh-CN" altLang="en-US" sz="2000" b="1" dirty="0"/>
          </a:p>
        </p:txBody>
      </p:sp>
      <p:sp>
        <p:nvSpPr>
          <p:cNvPr id="20" name="文本框 19">
            <a:extLst>
              <a:ext uri="{FF2B5EF4-FFF2-40B4-BE49-F238E27FC236}">
                <a16:creationId xmlns:a16="http://schemas.microsoft.com/office/drawing/2014/main" id="{D460C477-30BB-8B4E-BF50-55120E8BA34D}"/>
              </a:ext>
            </a:extLst>
          </p:cNvPr>
          <p:cNvSpPr txBox="1"/>
          <p:nvPr/>
        </p:nvSpPr>
        <p:spPr>
          <a:xfrm>
            <a:off x="1344613" y="3097213"/>
            <a:ext cx="1638300" cy="368300"/>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inside1=true; </a:t>
            </a:r>
            <a:endParaRPr lang="zh-CN" altLang="en-US" dirty="0"/>
          </a:p>
        </p:txBody>
      </p:sp>
      <p:sp>
        <p:nvSpPr>
          <p:cNvPr id="21" name="文本框 20">
            <a:extLst>
              <a:ext uri="{FF2B5EF4-FFF2-40B4-BE49-F238E27FC236}">
                <a16:creationId xmlns:a16="http://schemas.microsoft.com/office/drawing/2014/main" id="{E758E35F-82C9-8545-9AB4-D6DD1C7D0DAC}"/>
              </a:ext>
            </a:extLst>
          </p:cNvPr>
          <p:cNvSpPr txBox="1"/>
          <p:nvPr/>
        </p:nvSpPr>
        <p:spPr>
          <a:xfrm>
            <a:off x="4859338" y="3084513"/>
            <a:ext cx="2089150" cy="369887"/>
          </a:xfrm>
          <a:prstGeom prst="rect">
            <a:avLst/>
          </a:prstGeom>
          <a:noFill/>
        </p:spPr>
        <p:txBody>
          <a:bodyPr>
            <a:spAutoFit/>
          </a:bodyPr>
          <a:lstStyle/>
          <a:p>
            <a:pPr>
              <a:defRPr/>
            </a:pPr>
            <a:r>
              <a:rPr lang="en-US" altLang="zh-CN" dirty="0">
                <a:effectLst>
                  <a:outerShdw blurRad="38100" dist="38100" dir="2700000" algn="tl">
                    <a:srgbClr val="000000"/>
                  </a:outerShdw>
                </a:effectLst>
                <a:latin typeface="华文新魏" pitchFamily="2" charset="-122"/>
                <a:ea typeface="华文新魏" pitchFamily="2" charset="-122"/>
              </a:rPr>
              <a:t>inside2=true; </a:t>
            </a:r>
            <a:endParaRPr lang="zh-CN" altLang="en-US" dirty="0"/>
          </a:p>
        </p:txBody>
      </p:sp>
    </p:spTree>
    <p:extLst>
      <p:ext uri="{BB962C8B-B14F-4D97-AF65-F5344CB8AC3E}">
        <p14:creationId xmlns:p14="http://schemas.microsoft.com/office/powerpoint/2010/main" val="24411489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E09882D9-8802-FB4B-88A1-0AE4E0AB7916}"/>
              </a:ext>
            </a:extLst>
          </p:cNvPr>
          <p:cNvSpPr>
            <a:spLocks noGrp="1" noChangeArrowheads="1"/>
          </p:cNvSpPr>
          <p:nvPr>
            <p:ph type="title" idx="4294967295"/>
          </p:nvPr>
        </p:nvSpPr>
        <p:spPr>
          <a:xfrm>
            <a:off x="0" y="304800"/>
            <a:ext cx="8229600" cy="1143000"/>
          </a:xfrm>
        </p:spPr>
        <p:txBody>
          <a:bodyPr/>
          <a:lstStyle/>
          <a:p>
            <a:pPr eaLnBrk="1" hangingPunct="1"/>
            <a:r>
              <a:rPr lang="zh-CN" altLang="en-US" sz="3600" dirty="0">
                <a:latin typeface="Microsoft YaHei" panose="020B0503020204020204" pitchFamily="34" charset="-122"/>
                <a:ea typeface="Microsoft YaHei" panose="020B0503020204020204" pitchFamily="34" charset="-122"/>
              </a:rPr>
              <a:t>实现临界区管理的硬件设施</a:t>
            </a:r>
          </a:p>
        </p:txBody>
      </p:sp>
      <p:sp>
        <p:nvSpPr>
          <p:cNvPr id="10243" name="Rectangle 3">
            <a:extLst>
              <a:ext uri="{FF2B5EF4-FFF2-40B4-BE49-F238E27FC236}">
                <a16:creationId xmlns:a16="http://schemas.microsoft.com/office/drawing/2014/main" id="{943FA9F0-5DA1-6C42-AFFB-C85B141E8467}"/>
              </a:ext>
            </a:extLst>
          </p:cNvPr>
          <p:cNvSpPr>
            <a:spLocks noGrp="1" noChangeArrowheads="1"/>
          </p:cNvSpPr>
          <p:nvPr>
            <p:ph type="body" idx="4294967295"/>
          </p:nvPr>
        </p:nvSpPr>
        <p:spPr>
          <a:xfrm>
            <a:off x="2133600" y="1462088"/>
            <a:ext cx="7010400" cy="4703762"/>
          </a:xfrm>
        </p:spPr>
        <p:txBody>
          <a:bodyPr>
            <a:normAutofit/>
          </a:bodyPr>
          <a:lstStyle/>
          <a:p>
            <a:pPr marL="0" indent="0" eaLnBrk="1" hangingPunct="1">
              <a:lnSpc>
                <a:spcPct val="80000"/>
              </a:lnSpc>
              <a:buFont typeface="Wingdings" pitchFamily="2" charset="2"/>
              <a:buNone/>
            </a:pPr>
            <a:r>
              <a:rPr lang="zh-CN" altLang="en-US" sz="3600" dirty="0">
                <a:latin typeface="Microsoft YaHei" panose="020B0503020204020204" pitchFamily="34" charset="-122"/>
                <a:ea typeface="Microsoft YaHei" panose="020B0503020204020204" pitchFamily="34" charset="-122"/>
              </a:rPr>
              <a:t>出现与时间有关错误的原因？</a:t>
            </a:r>
            <a:endParaRPr lang="en-US" altLang="zh-CN" sz="3600" dirty="0">
              <a:latin typeface="Microsoft YaHei" panose="020B0503020204020204" pitchFamily="34" charset="-122"/>
              <a:ea typeface="Microsoft YaHei" panose="020B0503020204020204" pitchFamily="34" charset="-122"/>
            </a:endParaRPr>
          </a:p>
          <a:p>
            <a:pPr marL="0" indent="0" eaLnBrk="1" hangingPunct="1">
              <a:lnSpc>
                <a:spcPct val="80000"/>
              </a:lnSpc>
              <a:buFont typeface="Wingdings" pitchFamily="2" charset="2"/>
              <a:buNone/>
            </a:pPr>
            <a:r>
              <a:rPr lang="zh-CN" altLang="en-US" sz="3600" dirty="0">
                <a:latin typeface="Microsoft YaHei" panose="020B0503020204020204" pitchFamily="34" charset="-122"/>
                <a:ea typeface="Microsoft YaHei" panose="020B0503020204020204" pitchFamily="34" charset="-122"/>
              </a:rPr>
              <a:t>如何解决？</a:t>
            </a:r>
            <a:endParaRPr lang="en-US" altLang="zh-CN" sz="3600" dirty="0">
              <a:latin typeface="Microsoft YaHei" panose="020B0503020204020204" pitchFamily="34" charset="-122"/>
              <a:ea typeface="Microsoft YaHei" panose="020B0503020204020204" pitchFamily="34" charset="-122"/>
            </a:endParaRPr>
          </a:p>
          <a:p>
            <a:pPr marL="0" indent="0" eaLnBrk="1" hangingPunct="1">
              <a:lnSpc>
                <a:spcPct val="80000"/>
              </a:lnSpc>
              <a:buFont typeface="Wingdings" pitchFamily="2" charset="2"/>
              <a:buNone/>
            </a:pPr>
            <a:r>
              <a:rPr lang="en-US" altLang="zh-CN" sz="3600" dirty="0">
                <a:latin typeface="Microsoft YaHei" panose="020B0503020204020204" pitchFamily="34" charset="-122"/>
                <a:ea typeface="Microsoft YaHei" panose="020B0503020204020204" pitchFamily="34" charset="-122"/>
              </a:rPr>
              <a:t> </a:t>
            </a:r>
          </a:p>
          <a:p>
            <a:pPr marL="0" indent="0" eaLnBrk="1" hangingPunct="1">
              <a:lnSpc>
                <a:spcPct val="80000"/>
              </a:lnSpc>
            </a:pPr>
            <a:r>
              <a:rPr lang="zh-CN" altLang="en-US" sz="3600" dirty="0">
                <a:latin typeface="Microsoft YaHei" panose="020B0503020204020204" pitchFamily="34" charset="-122"/>
                <a:ea typeface="Microsoft YaHei" panose="020B0503020204020204" pitchFamily="34" charset="-122"/>
              </a:rPr>
              <a:t>关中断</a:t>
            </a:r>
          </a:p>
          <a:p>
            <a:pPr marL="0" indent="0" eaLnBrk="1" hangingPunct="1">
              <a:lnSpc>
                <a:spcPct val="80000"/>
              </a:lnSpc>
            </a:pPr>
            <a:endParaRPr lang="zh-CN" altLang="en-US" sz="3600" dirty="0">
              <a:latin typeface="Microsoft YaHei" panose="020B0503020204020204" pitchFamily="34" charset="-122"/>
              <a:ea typeface="Microsoft YaHei" panose="020B0503020204020204" pitchFamily="34" charset="-122"/>
            </a:endParaRPr>
          </a:p>
          <a:p>
            <a:pPr marL="0" indent="0" eaLnBrk="1" hangingPunct="1">
              <a:lnSpc>
                <a:spcPct val="80000"/>
              </a:lnSpc>
            </a:pPr>
            <a:r>
              <a:rPr lang="zh-CN" altLang="en-US" sz="3600" dirty="0">
                <a:latin typeface="Microsoft YaHei" panose="020B0503020204020204" pitchFamily="34" charset="-122"/>
                <a:ea typeface="Microsoft YaHei" panose="020B0503020204020204" pitchFamily="34" charset="-122"/>
              </a:rPr>
              <a:t> 测试并建立指令</a:t>
            </a:r>
          </a:p>
          <a:p>
            <a:pPr marL="0" indent="0" eaLnBrk="1" hangingPunct="1">
              <a:lnSpc>
                <a:spcPct val="80000"/>
              </a:lnSpc>
            </a:pPr>
            <a:endParaRPr lang="zh-CN" altLang="en-US" sz="3600" dirty="0">
              <a:latin typeface="Microsoft YaHei" panose="020B0503020204020204" pitchFamily="34" charset="-122"/>
              <a:ea typeface="Microsoft YaHei" panose="020B0503020204020204" pitchFamily="34" charset="-122"/>
            </a:endParaRPr>
          </a:p>
          <a:p>
            <a:pPr marL="0" indent="0" eaLnBrk="1" hangingPunct="1">
              <a:lnSpc>
                <a:spcPct val="80000"/>
              </a:lnSpc>
            </a:pPr>
            <a:r>
              <a:rPr lang="zh-CN" altLang="en-US" sz="3600" dirty="0">
                <a:latin typeface="Microsoft YaHei" panose="020B0503020204020204" pitchFamily="34" charset="-122"/>
                <a:ea typeface="Microsoft YaHei" panose="020B0503020204020204" pitchFamily="34" charset="-122"/>
              </a:rPr>
              <a:t> 对换指令</a:t>
            </a:r>
          </a:p>
          <a:p>
            <a:pPr marL="0" indent="0" eaLnBrk="1" hangingPunct="1">
              <a:lnSpc>
                <a:spcPct val="80000"/>
              </a:lnSpc>
            </a:pPr>
            <a:endParaRPr lang="en-US" altLang="zh-CN" sz="36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92240181"/>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0242"/>
                                        </p:tgtEl>
                                        <p:attrNameLst>
                                          <p:attrName>style.visibility</p:attrName>
                                        </p:attrNameLst>
                                      </p:cBhvr>
                                      <p:to>
                                        <p:strVal val="visible"/>
                                      </p:to>
                                    </p:set>
                                    <p:animEffect transition="in" filter="blinds(horizontal)">
                                      <p:cBhvr>
                                        <p:cTn id="7" dur="500"/>
                                        <p:tgtEl>
                                          <p:spTgt spid="102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0243">
                                            <p:txEl>
                                              <p:pRg st="0" end="0"/>
                                            </p:txEl>
                                          </p:spTgt>
                                        </p:tgtEl>
                                        <p:attrNameLst>
                                          <p:attrName>style.visibility</p:attrName>
                                        </p:attrNameLst>
                                      </p:cBhvr>
                                      <p:to>
                                        <p:strVal val="visible"/>
                                      </p:to>
                                    </p:set>
                                    <p:animEffect transition="in" filter="blinds(horizontal)">
                                      <p:cBhvr>
                                        <p:cTn id="12" dur="500"/>
                                        <p:tgtEl>
                                          <p:spTgt spid="1024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0243">
                                            <p:txEl>
                                              <p:pRg st="1" end="1"/>
                                            </p:txEl>
                                          </p:spTgt>
                                        </p:tgtEl>
                                        <p:attrNameLst>
                                          <p:attrName>style.visibility</p:attrName>
                                        </p:attrNameLst>
                                      </p:cBhvr>
                                      <p:to>
                                        <p:strVal val="visible"/>
                                      </p:to>
                                    </p:set>
                                    <p:animEffect transition="in" filter="blinds(horizontal)">
                                      <p:cBhvr>
                                        <p:cTn id="17" dur="500"/>
                                        <p:tgtEl>
                                          <p:spTgt spid="10243">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0243">
                                            <p:txEl>
                                              <p:pRg st="2" end="2"/>
                                            </p:txEl>
                                          </p:spTgt>
                                        </p:tgtEl>
                                        <p:attrNameLst>
                                          <p:attrName>style.visibility</p:attrName>
                                        </p:attrNameLst>
                                      </p:cBhvr>
                                      <p:to>
                                        <p:strVal val="visible"/>
                                      </p:to>
                                    </p:set>
                                    <p:animEffect transition="in" filter="blinds(horizontal)">
                                      <p:cBhvr>
                                        <p:cTn id="22" dur="500"/>
                                        <p:tgtEl>
                                          <p:spTgt spid="10243">
                                            <p:txEl>
                                              <p:pRg st="2" end="2"/>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0243">
                                            <p:txEl>
                                              <p:pRg st="3" end="3"/>
                                            </p:txEl>
                                          </p:spTgt>
                                        </p:tgtEl>
                                        <p:attrNameLst>
                                          <p:attrName>style.visibility</p:attrName>
                                        </p:attrNameLst>
                                      </p:cBhvr>
                                      <p:to>
                                        <p:strVal val="visible"/>
                                      </p:to>
                                    </p:set>
                                    <p:animEffect transition="in" filter="blinds(horizontal)">
                                      <p:cBhvr>
                                        <p:cTn id="27" dur="500"/>
                                        <p:tgtEl>
                                          <p:spTgt spid="10243">
                                            <p:txEl>
                                              <p:pRg st="3" end="3"/>
                                            </p:txEl>
                                          </p:spTgt>
                                        </p:tgtEl>
                                      </p:cBhvr>
                                    </p:animEffect>
                                  </p:childTnLst>
                                </p:cTn>
                              </p:par>
                              <p:par>
                                <p:cTn id="28" presetID="3" presetClass="entr" presetSubtype="10" fill="hold" nodeType="withEffect">
                                  <p:stCondLst>
                                    <p:cond delay="0"/>
                                  </p:stCondLst>
                                  <p:childTnLst>
                                    <p:set>
                                      <p:cBhvr>
                                        <p:cTn id="29" dur="1" fill="hold">
                                          <p:stCondLst>
                                            <p:cond delay="0"/>
                                          </p:stCondLst>
                                        </p:cTn>
                                        <p:tgtEl>
                                          <p:spTgt spid="10243">
                                            <p:txEl>
                                              <p:pRg st="5" end="5"/>
                                            </p:txEl>
                                          </p:spTgt>
                                        </p:tgtEl>
                                        <p:attrNameLst>
                                          <p:attrName>style.visibility</p:attrName>
                                        </p:attrNameLst>
                                      </p:cBhvr>
                                      <p:to>
                                        <p:strVal val="visible"/>
                                      </p:to>
                                    </p:set>
                                    <p:animEffect transition="in" filter="blinds(horizontal)">
                                      <p:cBhvr>
                                        <p:cTn id="30" dur="500"/>
                                        <p:tgtEl>
                                          <p:spTgt spid="10243">
                                            <p:txEl>
                                              <p:pRg st="5" end="5"/>
                                            </p:txEl>
                                          </p:spTgt>
                                        </p:tgtEl>
                                      </p:cBhvr>
                                    </p:animEffect>
                                  </p:childTnLst>
                                </p:cTn>
                              </p:par>
                              <p:par>
                                <p:cTn id="31" presetID="3" presetClass="entr" presetSubtype="10" fill="hold" nodeType="withEffect">
                                  <p:stCondLst>
                                    <p:cond delay="0"/>
                                  </p:stCondLst>
                                  <p:childTnLst>
                                    <p:set>
                                      <p:cBhvr>
                                        <p:cTn id="32" dur="1" fill="hold">
                                          <p:stCondLst>
                                            <p:cond delay="0"/>
                                          </p:stCondLst>
                                        </p:cTn>
                                        <p:tgtEl>
                                          <p:spTgt spid="10243">
                                            <p:txEl>
                                              <p:pRg st="7" end="7"/>
                                            </p:txEl>
                                          </p:spTgt>
                                        </p:tgtEl>
                                        <p:attrNameLst>
                                          <p:attrName>style.visibility</p:attrName>
                                        </p:attrNameLst>
                                      </p:cBhvr>
                                      <p:to>
                                        <p:strVal val="visible"/>
                                      </p:to>
                                    </p:set>
                                    <p:animEffect transition="in" filter="blinds(horizontal)">
                                      <p:cBhvr>
                                        <p:cTn id="33" dur="500"/>
                                        <p:tgtEl>
                                          <p:spTgt spid="1024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4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EDEA6084-D586-5243-9E35-2FDF9BB7B6CF}"/>
              </a:ext>
            </a:extLst>
          </p:cNvPr>
          <p:cNvSpPr>
            <a:spLocks noGrp="1" noChangeArrowheads="1"/>
          </p:cNvSpPr>
          <p:nvPr>
            <p:ph type="title" idx="4294967295"/>
          </p:nvPr>
        </p:nvSpPr>
        <p:spPr>
          <a:xfrm>
            <a:off x="0" y="115888"/>
            <a:ext cx="7772400" cy="1143000"/>
          </a:xfrm>
        </p:spPr>
        <p:txBody>
          <a:bodyPr/>
          <a:lstStyle/>
          <a:p>
            <a:pPr eaLnBrk="1" hangingPunct="1"/>
            <a:r>
              <a:rPr lang="zh-CN" altLang="en-US" sz="4800">
                <a:latin typeface="Microsoft YaHei" panose="020B0503020204020204" pitchFamily="34" charset="-122"/>
                <a:ea typeface="Microsoft YaHei" panose="020B0503020204020204" pitchFamily="34" charset="-122"/>
              </a:rPr>
              <a:t>关中断</a:t>
            </a:r>
          </a:p>
        </p:txBody>
      </p:sp>
      <p:sp>
        <p:nvSpPr>
          <p:cNvPr id="11267" name="Rectangle 3">
            <a:extLst>
              <a:ext uri="{FF2B5EF4-FFF2-40B4-BE49-F238E27FC236}">
                <a16:creationId xmlns:a16="http://schemas.microsoft.com/office/drawing/2014/main" id="{75FED0B3-F329-204A-9FCB-7CA480762458}"/>
              </a:ext>
            </a:extLst>
          </p:cNvPr>
          <p:cNvSpPr>
            <a:spLocks noGrp="1" noChangeArrowheads="1"/>
          </p:cNvSpPr>
          <p:nvPr>
            <p:ph type="body" idx="4294967295"/>
          </p:nvPr>
        </p:nvSpPr>
        <p:spPr>
          <a:xfrm>
            <a:off x="1079500" y="1412875"/>
            <a:ext cx="8064500" cy="4464050"/>
          </a:xfrm>
        </p:spPr>
        <p:txBody>
          <a:bodyPr>
            <a:normAutofit lnSpcReduction="10000"/>
          </a:bodyPr>
          <a:lstStyle/>
          <a:p>
            <a:pPr algn="just" eaLnBrk="1" hangingPunct="1">
              <a:lnSpc>
                <a:spcPct val="80000"/>
              </a:lnSpc>
            </a:pPr>
            <a:r>
              <a:rPr lang="zh-CN" altLang="en-US" sz="3600" dirty="0">
                <a:latin typeface="Microsoft YaHei" panose="020B0503020204020204" pitchFamily="34" charset="-122"/>
                <a:ea typeface="Microsoft YaHei" panose="020B0503020204020204" pitchFamily="34" charset="-122"/>
              </a:rPr>
              <a:t>实现互斥的最简单方法</a:t>
            </a:r>
          </a:p>
          <a:p>
            <a:pPr algn="just" eaLnBrk="1" hangingPunct="1">
              <a:lnSpc>
                <a:spcPct val="80000"/>
              </a:lnSpc>
              <a:buFont typeface="Wingdings" pitchFamily="2" charset="2"/>
              <a:buNone/>
            </a:pPr>
            <a:r>
              <a:rPr lang="zh-CN" altLang="en-US" sz="3600" dirty="0">
                <a:latin typeface="Microsoft YaHei" panose="020B0503020204020204" pitchFamily="34" charset="-122"/>
                <a:ea typeface="Microsoft YaHei" panose="020B0503020204020204" pitchFamily="34" charset="-122"/>
              </a:rPr>
              <a:t>          进程进入临界区时关中断（进程无法切换），退出临界区时开中断。</a:t>
            </a:r>
          </a:p>
          <a:p>
            <a:pPr algn="just" eaLnBrk="1" hangingPunct="1">
              <a:lnSpc>
                <a:spcPct val="80000"/>
              </a:lnSpc>
              <a:buFont typeface="Wingdings" pitchFamily="2" charset="2"/>
              <a:buNone/>
            </a:pPr>
            <a:endParaRPr lang="zh-CN" altLang="en-US" sz="3600" dirty="0">
              <a:latin typeface="Microsoft YaHei" panose="020B0503020204020204" pitchFamily="34" charset="-122"/>
              <a:ea typeface="Microsoft YaHei" panose="020B0503020204020204" pitchFamily="34" charset="-122"/>
            </a:endParaRPr>
          </a:p>
          <a:p>
            <a:pPr algn="just" eaLnBrk="1" hangingPunct="1">
              <a:lnSpc>
                <a:spcPct val="80000"/>
              </a:lnSpc>
            </a:pPr>
            <a:r>
              <a:rPr lang="zh-CN" altLang="en-US" sz="3600" dirty="0">
                <a:latin typeface="Microsoft YaHei" panose="020B0503020204020204" pitchFamily="34" charset="-122"/>
                <a:ea typeface="Microsoft YaHei" panose="020B0503020204020204" pitchFamily="34" charset="-122"/>
              </a:rPr>
              <a:t>关中断适用场合</a:t>
            </a:r>
          </a:p>
          <a:p>
            <a:pPr algn="just" eaLnBrk="1" hangingPunct="1">
              <a:lnSpc>
                <a:spcPct val="80000"/>
              </a:lnSpc>
              <a:buFont typeface="Wingdings" pitchFamily="2" charset="2"/>
              <a:buNone/>
            </a:pPr>
            <a:r>
              <a:rPr lang="zh-CN" altLang="en-US" sz="3600" dirty="0">
                <a:latin typeface="Microsoft YaHei" panose="020B0503020204020204" pitchFamily="34" charset="-122"/>
                <a:ea typeface="Microsoft YaHei" panose="020B0503020204020204" pitchFamily="34" charset="-122"/>
              </a:rPr>
              <a:t>     仅适合临界区很短</a:t>
            </a:r>
          </a:p>
          <a:p>
            <a:pPr algn="just" eaLnBrk="1" hangingPunct="1">
              <a:lnSpc>
                <a:spcPct val="80000"/>
              </a:lnSpc>
              <a:buFont typeface="Wingdings" pitchFamily="2" charset="2"/>
              <a:buNone/>
            </a:pPr>
            <a:r>
              <a:rPr lang="zh-CN" altLang="en-US" sz="3600" dirty="0">
                <a:latin typeface="Microsoft YaHei" panose="020B0503020204020204" pitchFamily="34" charset="-122"/>
                <a:ea typeface="Microsoft YaHei" panose="020B0503020204020204" pitchFamily="34" charset="-122"/>
              </a:rPr>
              <a:t>     仅适用于单处理器（核）</a:t>
            </a:r>
          </a:p>
          <a:p>
            <a:pPr algn="just" eaLnBrk="1" hangingPunct="1">
              <a:lnSpc>
                <a:spcPct val="80000"/>
              </a:lnSpc>
              <a:buFont typeface="Wingdings" pitchFamily="2" charset="2"/>
              <a:buNone/>
            </a:pPr>
            <a:r>
              <a:rPr lang="zh-CN" altLang="en-US" sz="3600" dirty="0">
                <a:latin typeface="Microsoft YaHei" panose="020B0503020204020204" pitchFamily="34" charset="-122"/>
                <a:ea typeface="Microsoft YaHei" panose="020B0503020204020204" pitchFamily="34" charset="-122"/>
              </a:rPr>
              <a:t>     仅适合操作系统用，不合适给用户用</a:t>
            </a:r>
          </a:p>
          <a:p>
            <a:pPr algn="just" eaLnBrk="1" hangingPunct="1">
              <a:lnSpc>
                <a:spcPct val="80000"/>
              </a:lnSpc>
              <a:buFont typeface="Wingdings" pitchFamily="2" charset="2"/>
              <a:buNone/>
            </a:pPr>
            <a:endParaRPr lang="en-US" altLang="zh-CN" sz="36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611866052"/>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blinds(horizontal)">
                                      <p:cBhvr>
                                        <p:cTn id="7" dur="500"/>
                                        <p:tgtEl>
                                          <p:spTgt spid="1126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11267">
                                            <p:txEl>
                                              <p:pRg st="0" end="0"/>
                                            </p:txEl>
                                          </p:spTgt>
                                        </p:tgtEl>
                                        <p:attrNameLst>
                                          <p:attrName>style.visibility</p:attrName>
                                        </p:attrNameLst>
                                      </p:cBhvr>
                                      <p:to>
                                        <p:strVal val="visible"/>
                                      </p:to>
                                    </p:set>
                                    <p:animEffect transition="in" filter="blinds(horizontal)">
                                      <p:cBhvr>
                                        <p:cTn id="12" dur="500"/>
                                        <p:tgtEl>
                                          <p:spTgt spid="11267">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4" fill="hold" nodeType="clickEffect">
                                  <p:stCondLst>
                                    <p:cond delay="0"/>
                                  </p:stCondLst>
                                  <p:childTnLst>
                                    <p:set>
                                      <p:cBhvr>
                                        <p:cTn id="16" dur="1" fill="hold">
                                          <p:stCondLst>
                                            <p:cond delay="0"/>
                                          </p:stCondLst>
                                        </p:cTn>
                                        <p:tgtEl>
                                          <p:spTgt spid="11267">
                                            <p:txEl>
                                              <p:pRg st="1" end="1"/>
                                            </p:txEl>
                                          </p:spTgt>
                                        </p:tgtEl>
                                        <p:attrNameLst>
                                          <p:attrName>style.visibility</p:attrName>
                                        </p:attrNameLst>
                                      </p:cBhvr>
                                      <p:to>
                                        <p:strVal val="visible"/>
                                      </p:to>
                                    </p:set>
                                    <p:anim calcmode="lin" valueType="num">
                                      <p:cBhvr additive="base">
                                        <p:cTn id="17" dur="500" fill="hold"/>
                                        <p:tgtEl>
                                          <p:spTgt spid="11267">
                                            <p:txEl>
                                              <p:pRg st="1" end="1"/>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12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1267">
                                            <p:txEl>
                                              <p:pRg st="3" end="3"/>
                                            </p:txEl>
                                          </p:spTgt>
                                        </p:tgtEl>
                                        <p:attrNameLst>
                                          <p:attrName>style.visibility</p:attrName>
                                        </p:attrNameLst>
                                      </p:cBhvr>
                                      <p:to>
                                        <p:strVal val="visible"/>
                                      </p:to>
                                    </p:set>
                                    <p:animEffect transition="in" filter="blinds(horizontal)">
                                      <p:cBhvr>
                                        <p:cTn id="23" dur="500"/>
                                        <p:tgtEl>
                                          <p:spTgt spid="11267">
                                            <p:txEl>
                                              <p:pRg st="3" end="3"/>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11267">
                                            <p:txEl>
                                              <p:pRg st="4" end="4"/>
                                            </p:txEl>
                                          </p:spTgt>
                                        </p:tgtEl>
                                        <p:attrNameLst>
                                          <p:attrName>style.visibility</p:attrName>
                                        </p:attrNameLst>
                                      </p:cBhvr>
                                      <p:to>
                                        <p:strVal val="visible"/>
                                      </p:to>
                                    </p:set>
                                    <p:animEffect transition="in" filter="blinds(horizontal)">
                                      <p:cBhvr>
                                        <p:cTn id="28" dur="500"/>
                                        <p:tgtEl>
                                          <p:spTgt spid="11267">
                                            <p:txEl>
                                              <p:pRg st="4" end="4"/>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11267">
                                            <p:txEl>
                                              <p:pRg st="5" end="5"/>
                                            </p:txEl>
                                          </p:spTgt>
                                        </p:tgtEl>
                                        <p:attrNameLst>
                                          <p:attrName>style.visibility</p:attrName>
                                        </p:attrNameLst>
                                      </p:cBhvr>
                                      <p:to>
                                        <p:strVal val="visible"/>
                                      </p:to>
                                    </p:set>
                                    <p:anim calcmode="lin" valueType="num">
                                      <p:cBhvr additive="base">
                                        <p:cTn id="33" dur="500" fill="hold"/>
                                        <p:tgtEl>
                                          <p:spTgt spid="11267">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126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11267">
                                            <p:txEl>
                                              <p:pRg st="6" end="6"/>
                                            </p:txEl>
                                          </p:spTgt>
                                        </p:tgtEl>
                                        <p:attrNameLst>
                                          <p:attrName>style.visibility</p:attrName>
                                        </p:attrNameLst>
                                      </p:cBhvr>
                                      <p:to>
                                        <p:strVal val="visible"/>
                                      </p:to>
                                    </p:set>
                                    <p:animEffect transition="in" filter="blinds(horizontal)">
                                      <p:cBhvr>
                                        <p:cTn id="39" dur="500"/>
                                        <p:tgtEl>
                                          <p:spTgt spid="1126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A2475C13-284A-A94A-8182-6EE4B5535596}"/>
              </a:ext>
            </a:extLst>
          </p:cNvPr>
          <p:cNvSpPr>
            <a:spLocks noGrp="1" noChangeArrowheads="1"/>
          </p:cNvSpPr>
          <p:nvPr>
            <p:ph type="title" idx="4294967295"/>
          </p:nvPr>
        </p:nvSpPr>
        <p:spPr>
          <a:xfrm>
            <a:off x="609600" y="260350"/>
            <a:ext cx="8534400" cy="914400"/>
          </a:xfrm>
        </p:spPr>
        <p:txBody>
          <a:bodyPr/>
          <a:lstStyle/>
          <a:p>
            <a:pPr eaLnBrk="1" hangingPunct="1"/>
            <a:r>
              <a:rPr lang="zh-CN" altLang="en-US" sz="4800">
                <a:latin typeface="华文新魏" panose="02010800040101010101" pitchFamily="2" charset="-122"/>
                <a:ea typeface="华文新魏" panose="02010800040101010101" pitchFamily="2" charset="-122"/>
              </a:rPr>
              <a:t>测试并建立指令</a:t>
            </a:r>
            <a:endParaRPr lang="en-US" altLang="zh-CN" sz="4800">
              <a:latin typeface="华文新魏" panose="02010800040101010101" pitchFamily="2" charset="-122"/>
              <a:ea typeface="华文新魏" panose="02010800040101010101" pitchFamily="2" charset="-122"/>
            </a:endParaRPr>
          </a:p>
        </p:txBody>
      </p:sp>
      <p:sp>
        <p:nvSpPr>
          <p:cNvPr id="12291" name="Rectangle 3">
            <a:extLst>
              <a:ext uri="{FF2B5EF4-FFF2-40B4-BE49-F238E27FC236}">
                <a16:creationId xmlns:a16="http://schemas.microsoft.com/office/drawing/2014/main" id="{C236B259-AD9A-AE4A-B142-27B7D50A9C74}"/>
              </a:ext>
            </a:extLst>
          </p:cNvPr>
          <p:cNvSpPr>
            <a:spLocks noGrp="1" noChangeArrowheads="1"/>
          </p:cNvSpPr>
          <p:nvPr>
            <p:ph type="body" idx="4294967295"/>
          </p:nvPr>
        </p:nvSpPr>
        <p:spPr>
          <a:xfrm>
            <a:off x="395288" y="1174750"/>
            <a:ext cx="8353425" cy="5257800"/>
          </a:xfrm>
        </p:spPr>
        <p:txBody>
          <a:bodyPr>
            <a:normAutofit/>
          </a:bodyPr>
          <a:lstStyle/>
          <a:p>
            <a:pPr algn="just" eaLnBrk="1" hangingPunct="1">
              <a:lnSpc>
                <a:spcPct val="88000"/>
              </a:lnSpc>
              <a:buFont typeface="Wingdings" pitchFamily="2" charset="2"/>
              <a:buNone/>
            </a:pPr>
            <a:r>
              <a:rPr lang="en-US" altLang="zh-CN" sz="2400" b="1">
                <a:latin typeface="隶书" pitchFamily="49" charset="-122"/>
                <a:ea typeface="隶书" pitchFamily="49" charset="-122"/>
              </a:rPr>
              <a:t>        </a:t>
            </a:r>
            <a:r>
              <a:rPr lang="en-US" altLang="zh-CN">
                <a:solidFill>
                  <a:schemeClr val="tx2"/>
                </a:solidFill>
                <a:latin typeface="华文新魏" panose="02010800040101010101" pitchFamily="2" charset="-122"/>
                <a:ea typeface="华文新魏" panose="02010800040101010101" pitchFamily="2" charset="-122"/>
              </a:rPr>
              <a:t>TS</a:t>
            </a:r>
            <a:r>
              <a:rPr lang="zh-CN" altLang="en-US">
                <a:solidFill>
                  <a:schemeClr val="tx2"/>
                </a:solidFill>
                <a:latin typeface="华文新魏" panose="02010800040101010101" pitchFamily="2" charset="-122"/>
                <a:ea typeface="华文新魏" panose="02010800040101010101" pitchFamily="2" charset="-122"/>
              </a:rPr>
              <a:t>指令的处理过程</a:t>
            </a:r>
          </a:p>
          <a:p>
            <a:pPr eaLnBrk="1" hangingPunct="1">
              <a:lnSpc>
                <a:spcPct val="80000"/>
              </a:lnSpc>
            </a:pPr>
            <a:r>
              <a:rPr lang="zh-CN" altLang="en-US" sz="2800" b="1">
                <a:latin typeface="华文新魏" panose="02010800040101010101" pitchFamily="2" charset="-122"/>
                <a:ea typeface="华文新魏" panose="02010800040101010101" pitchFamily="2" charset="-122"/>
              </a:rPr>
              <a:t>       </a:t>
            </a:r>
            <a:r>
              <a:rPr lang="en-GB" altLang="zh-CN" sz="2400" b="1"/>
              <a:t>bool TS(bool &amp;x) {</a:t>
            </a:r>
          </a:p>
          <a:p>
            <a:pPr eaLnBrk="1" hangingPunct="1">
              <a:lnSpc>
                <a:spcPct val="80000"/>
              </a:lnSpc>
            </a:pPr>
            <a:r>
              <a:rPr lang="en-GB" altLang="zh-CN" sz="2400" b="1"/>
              <a:t>	 if(x) {</a:t>
            </a:r>
          </a:p>
          <a:p>
            <a:pPr eaLnBrk="1" hangingPunct="1">
              <a:lnSpc>
                <a:spcPct val="80000"/>
              </a:lnSpc>
            </a:pPr>
            <a:r>
              <a:rPr lang="en-GB" altLang="zh-CN" sz="2400" b="1"/>
              <a:t>	    x=false; 		</a:t>
            </a:r>
          </a:p>
          <a:p>
            <a:pPr eaLnBrk="1" hangingPunct="1">
              <a:lnSpc>
                <a:spcPct val="80000"/>
              </a:lnSpc>
            </a:pPr>
            <a:r>
              <a:rPr lang="en-GB" altLang="zh-CN" sz="2400" b="1"/>
              <a:t>	    return true;</a:t>
            </a:r>
          </a:p>
          <a:p>
            <a:pPr eaLnBrk="1" hangingPunct="1">
              <a:lnSpc>
                <a:spcPct val="80000"/>
              </a:lnSpc>
            </a:pPr>
            <a:r>
              <a:rPr lang="en-GB" altLang="zh-CN" sz="2400" b="1"/>
              <a:t>	   }</a:t>
            </a:r>
          </a:p>
          <a:p>
            <a:pPr eaLnBrk="1" hangingPunct="1">
              <a:lnSpc>
                <a:spcPct val="80000"/>
              </a:lnSpc>
            </a:pPr>
            <a:r>
              <a:rPr lang="en-GB" altLang="zh-CN" sz="2400" b="1"/>
              <a:t>	else</a:t>
            </a:r>
          </a:p>
          <a:p>
            <a:pPr eaLnBrk="1" hangingPunct="1">
              <a:lnSpc>
                <a:spcPct val="80000"/>
              </a:lnSpc>
            </a:pPr>
            <a:r>
              <a:rPr lang="en-GB" altLang="zh-CN" sz="2400" b="1"/>
              <a:t>	  return false;</a:t>
            </a:r>
          </a:p>
          <a:p>
            <a:pPr eaLnBrk="1" hangingPunct="1">
              <a:lnSpc>
                <a:spcPct val="80000"/>
              </a:lnSpc>
            </a:pPr>
            <a:r>
              <a:rPr lang="en-GB" altLang="zh-CN" sz="2400" b="1"/>
              <a:t>        }</a:t>
            </a:r>
            <a:endParaRPr lang="en-US" altLang="zh-CN" sz="2800">
              <a:latin typeface="华文新魏" panose="02010800040101010101" pitchFamily="2" charset="-122"/>
              <a:ea typeface="华文新魏" panose="02010800040101010101" pitchFamily="2" charset="-122"/>
            </a:endParaRPr>
          </a:p>
          <a:p>
            <a:pPr algn="just" eaLnBrk="1" hangingPunct="1">
              <a:lnSpc>
                <a:spcPct val="88000"/>
              </a:lnSpc>
              <a:buFont typeface="Wingdings" pitchFamily="2" charset="2"/>
              <a:buNone/>
            </a:pPr>
            <a:r>
              <a:rPr lang="en-US" altLang="zh-CN" sz="2800">
                <a:latin typeface="华文新魏" panose="02010800040101010101" pitchFamily="2" charset="-122"/>
                <a:ea typeface="华文新魏" panose="02010800040101010101" pitchFamily="2" charset="-122"/>
              </a:rPr>
              <a:t>   </a:t>
            </a:r>
            <a:r>
              <a:rPr lang="zh-CN" altLang="en-US" sz="2800">
                <a:latin typeface="华文新魏" panose="02010800040101010101" pitchFamily="2" charset="-122"/>
                <a:ea typeface="华文新魏" panose="02010800040101010101" pitchFamily="2" charset="-122"/>
              </a:rPr>
              <a:t>机器指令</a:t>
            </a:r>
            <a:r>
              <a:rPr lang="en-US" altLang="zh-CN" sz="2800">
                <a:latin typeface="华文新魏" panose="02010800040101010101" pitchFamily="2" charset="-122"/>
                <a:ea typeface="华文新魏" panose="02010800040101010101" pitchFamily="2" charset="-122"/>
              </a:rPr>
              <a:t>TS</a:t>
            </a:r>
            <a:r>
              <a:rPr lang="zh-CN" altLang="en-US" sz="2800">
                <a:latin typeface="华文新魏" panose="02010800040101010101" pitchFamily="2" charset="-122"/>
                <a:ea typeface="华文新魏" panose="02010800040101010101" pitchFamily="2" charset="-122"/>
              </a:rPr>
              <a:t>（</a:t>
            </a:r>
            <a:r>
              <a:rPr lang="en-US" altLang="zh-CN" sz="2800">
                <a:latin typeface="华文新魏" panose="02010800040101010101" pitchFamily="2" charset="-122"/>
                <a:ea typeface="华文新魏" panose="02010800040101010101" pitchFamily="2" charset="-122"/>
              </a:rPr>
              <a:t>Test and Set)</a:t>
            </a:r>
            <a:r>
              <a:rPr lang="zh-CN" altLang="en-US" sz="2800">
                <a:latin typeface="华文新魏" panose="02010800040101010101" pitchFamily="2" charset="-122"/>
                <a:ea typeface="华文新魏" panose="02010800040101010101" pitchFamily="2" charset="-122"/>
              </a:rPr>
              <a:t>指令管理临界区时，可</a:t>
            </a:r>
            <a:r>
              <a:rPr lang="zh-CN" altLang="en-US" sz="2800">
                <a:solidFill>
                  <a:srgbClr val="FF9900"/>
                </a:solidFill>
                <a:latin typeface="华文新魏" panose="02010800040101010101" pitchFamily="2" charset="-122"/>
                <a:ea typeface="华文新魏" panose="02010800040101010101" pitchFamily="2" charset="-122"/>
              </a:rPr>
              <a:t>把一个临区与一个布尔变量</a:t>
            </a:r>
            <a:r>
              <a:rPr lang="en-US" altLang="zh-CN" sz="2800">
                <a:solidFill>
                  <a:srgbClr val="FF9900"/>
                </a:solidFill>
                <a:latin typeface="华文新魏" panose="02010800040101010101" pitchFamily="2" charset="-122"/>
                <a:ea typeface="华文新魏" panose="02010800040101010101" pitchFamily="2" charset="-122"/>
              </a:rPr>
              <a:t>s</a:t>
            </a:r>
            <a:r>
              <a:rPr lang="zh-CN" altLang="en-US" sz="2800">
                <a:solidFill>
                  <a:srgbClr val="FF9900"/>
                </a:solidFill>
                <a:latin typeface="华文新魏" panose="02010800040101010101" pitchFamily="2" charset="-122"/>
                <a:ea typeface="华文新魏" panose="02010800040101010101" pitchFamily="2" charset="-122"/>
              </a:rPr>
              <a:t>相连</a:t>
            </a:r>
            <a:r>
              <a:rPr lang="zh-CN" altLang="en-US" sz="2800">
                <a:latin typeface="华文新魏" panose="02010800040101010101" pitchFamily="2" charset="-122"/>
                <a:ea typeface="华文新魏" panose="02010800040101010101" pitchFamily="2" charset="-122"/>
              </a:rPr>
              <a:t>，由于变量</a:t>
            </a:r>
            <a:r>
              <a:rPr lang="en-US" altLang="zh-CN" sz="2800">
                <a:latin typeface="华文新魏" panose="02010800040101010101" pitchFamily="2" charset="-122"/>
                <a:ea typeface="华文新魏" panose="02010800040101010101" pitchFamily="2" charset="-122"/>
              </a:rPr>
              <a:t>s</a:t>
            </a:r>
            <a:r>
              <a:rPr lang="zh-CN" altLang="en-US" sz="2800">
                <a:latin typeface="华文新魏" panose="02010800040101010101" pitchFamily="2" charset="-122"/>
                <a:ea typeface="华文新魏" panose="02010800040101010101" pitchFamily="2" charset="-122"/>
              </a:rPr>
              <a:t>代表了临界资源的状态（</a:t>
            </a:r>
            <a:r>
              <a:rPr lang="en-US" altLang="zh-CN" sz="2800">
                <a:latin typeface="华文新魏" panose="02010800040101010101" pitchFamily="2" charset="-122"/>
                <a:ea typeface="华文新魏" panose="02010800040101010101" pitchFamily="2" charset="-122"/>
              </a:rPr>
              <a:t>true</a:t>
            </a:r>
            <a:r>
              <a:rPr lang="zh-CN" altLang="en-US" sz="2800">
                <a:latin typeface="华文新魏" panose="02010800040101010101" pitchFamily="2" charset="-122"/>
                <a:ea typeface="华文新魏" panose="02010800040101010101" pitchFamily="2" charset="-122"/>
              </a:rPr>
              <a:t>表示可用），可把它看成一把锁。 </a:t>
            </a:r>
          </a:p>
        </p:txBody>
      </p:sp>
    </p:spTree>
    <p:extLst>
      <p:ext uri="{BB962C8B-B14F-4D97-AF65-F5344CB8AC3E}">
        <p14:creationId xmlns:p14="http://schemas.microsoft.com/office/powerpoint/2010/main" val="2532432809"/>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2290"/>
                                        </p:tgtEl>
                                        <p:attrNameLst>
                                          <p:attrName>style.visibility</p:attrName>
                                        </p:attrNameLst>
                                      </p:cBhvr>
                                      <p:to>
                                        <p:strVal val="visible"/>
                                      </p:to>
                                    </p:set>
                                    <p:animEffect transition="in" filter="blinds(horizontal)">
                                      <p:cBhvr>
                                        <p:cTn id="7" dur="500"/>
                                        <p:tgtEl>
                                          <p:spTgt spid="1229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nodeType="clickEffect">
                                  <p:stCondLst>
                                    <p:cond delay="0"/>
                                  </p:stCondLst>
                                  <p:childTnLst>
                                    <p:set>
                                      <p:cBhvr>
                                        <p:cTn id="11" dur="1" fill="hold">
                                          <p:stCondLst>
                                            <p:cond delay="0"/>
                                          </p:stCondLst>
                                        </p:cTn>
                                        <p:tgtEl>
                                          <p:spTgt spid="12291">
                                            <p:txEl>
                                              <p:pRg st="0" end="0"/>
                                            </p:txEl>
                                          </p:spTgt>
                                        </p:tgtEl>
                                        <p:attrNameLst>
                                          <p:attrName>style.visibility</p:attrName>
                                        </p:attrNameLst>
                                      </p:cBhvr>
                                      <p:to>
                                        <p:strVal val="visible"/>
                                      </p:to>
                                    </p:set>
                                    <p:anim calcmode="lin" valueType="num">
                                      <p:cBhvr additive="base">
                                        <p:cTn id="12" dur="500" fill="hold"/>
                                        <p:tgtEl>
                                          <p:spTgt spid="12291">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12291">
                                            <p:txEl>
                                              <p:pRg st="0" end="0"/>
                                            </p:txEl>
                                          </p:spTgt>
                                        </p:tgtEl>
                                        <p:attrNameLst>
                                          <p:attrName>ppt_y</p:attrName>
                                        </p:attrNameLst>
                                      </p:cBhvr>
                                      <p:tavLst>
                                        <p:tav tm="0">
                                          <p:val>
                                            <p:strVal val="1+#ppt_h/2"/>
                                          </p:val>
                                        </p:tav>
                                        <p:tav tm="100000">
                                          <p:val>
                                            <p:strVal val="#ppt_y"/>
                                          </p:val>
                                        </p:tav>
                                      </p:tavLst>
                                    </p:anim>
                                  </p:childTnLst>
                                </p:cTn>
                              </p:par>
                              <p:par>
                                <p:cTn id="14" presetID="2" presetClass="entr" presetSubtype="4" fill="hold" nodeType="withEffect">
                                  <p:stCondLst>
                                    <p:cond delay="0"/>
                                  </p:stCondLst>
                                  <p:childTnLst>
                                    <p:set>
                                      <p:cBhvr>
                                        <p:cTn id="15" dur="1" fill="hold">
                                          <p:stCondLst>
                                            <p:cond delay="0"/>
                                          </p:stCondLst>
                                        </p:cTn>
                                        <p:tgtEl>
                                          <p:spTgt spid="12291">
                                            <p:txEl>
                                              <p:pRg st="1" end="1"/>
                                            </p:txEl>
                                          </p:spTgt>
                                        </p:tgtEl>
                                        <p:attrNameLst>
                                          <p:attrName>style.visibility</p:attrName>
                                        </p:attrNameLst>
                                      </p:cBhvr>
                                      <p:to>
                                        <p:strVal val="visible"/>
                                      </p:to>
                                    </p:set>
                                    <p:anim calcmode="lin" valueType="num">
                                      <p:cBhvr additive="base">
                                        <p:cTn id="16" dur="500" fill="hold"/>
                                        <p:tgtEl>
                                          <p:spTgt spid="12291">
                                            <p:txEl>
                                              <p:pRg st="1" end="1"/>
                                            </p:txEl>
                                          </p:spTgt>
                                        </p:tgtEl>
                                        <p:attrNameLst>
                                          <p:attrName>ppt_x</p:attrName>
                                        </p:attrNameLst>
                                      </p:cBhvr>
                                      <p:tavLst>
                                        <p:tav tm="0">
                                          <p:val>
                                            <p:strVal val="#ppt_x"/>
                                          </p:val>
                                        </p:tav>
                                        <p:tav tm="100000">
                                          <p:val>
                                            <p:strVal val="#ppt_x"/>
                                          </p:val>
                                        </p:tav>
                                      </p:tavLst>
                                    </p:anim>
                                    <p:anim calcmode="lin" valueType="num">
                                      <p:cBhvr additive="base">
                                        <p:cTn id="17" dur="500" fill="hold"/>
                                        <p:tgtEl>
                                          <p:spTgt spid="12291">
                                            <p:txEl>
                                              <p:pRg st="1" end="1"/>
                                            </p:txEl>
                                          </p:spTgt>
                                        </p:tgtEl>
                                        <p:attrNameLst>
                                          <p:attrName>ppt_y</p:attrName>
                                        </p:attrNameLst>
                                      </p:cBhvr>
                                      <p:tavLst>
                                        <p:tav tm="0">
                                          <p:val>
                                            <p:strVal val="1+#ppt_h/2"/>
                                          </p:val>
                                        </p:tav>
                                        <p:tav tm="100000">
                                          <p:val>
                                            <p:strVal val="#ppt_y"/>
                                          </p:val>
                                        </p:tav>
                                      </p:tavLst>
                                    </p:anim>
                                  </p:childTnLst>
                                </p:cTn>
                              </p:par>
                              <p:par>
                                <p:cTn id="18" presetID="2" presetClass="entr" presetSubtype="4" fill="hold" nodeType="withEffect">
                                  <p:stCondLst>
                                    <p:cond delay="0"/>
                                  </p:stCondLst>
                                  <p:childTnLst>
                                    <p:set>
                                      <p:cBhvr>
                                        <p:cTn id="19" dur="1" fill="hold">
                                          <p:stCondLst>
                                            <p:cond delay="0"/>
                                          </p:stCondLst>
                                        </p:cTn>
                                        <p:tgtEl>
                                          <p:spTgt spid="12291">
                                            <p:txEl>
                                              <p:pRg st="2" end="2"/>
                                            </p:txEl>
                                          </p:spTgt>
                                        </p:tgtEl>
                                        <p:attrNameLst>
                                          <p:attrName>style.visibility</p:attrName>
                                        </p:attrNameLst>
                                      </p:cBhvr>
                                      <p:to>
                                        <p:strVal val="visible"/>
                                      </p:to>
                                    </p:set>
                                    <p:anim calcmode="lin" valueType="num">
                                      <p:cBhvr additive="base">
                                        <p:cTn id="20" dur="500" fill="hold"/>
                                        <p:tgtEl>
                                          <p:spTgt spid="12291">
                                            <p:txEl>
                                              <p:pRg st="2" end="2"/>
                                            </p:txEl>
                                          </p:spTgt>
                                        </p:tgtEl>
                                        <p:attrNameLst>
                                          <p:attrName>ppt_x</p:attrName>
                                        </p:attrNameLst>
                                      </p:cBhvr>
                                      <p:tavLst>
                                        <p:tav tm="0">
                                          <p:val>
                                            <p:strVal val="#ppt_x"/>
                                          </p:val>
                                        </p:tav>
                                        <p:tav tm="100000">
                                          <p:val>
                                            <p:strVal val="#ppt_x"/>
                                          </p:val>
                                        </p:tav>
                                      </p:tavLst>
                                    </p:anim>
                                    <p:anim calcmode="lin" valueType="num">
                                      <p:cBhvr additive="base">
                                        <p:cTn id="21" dur="500" fill="hold"/>
                                        <p:tgtEl>
                                          <p:spTgt spid="12291">
                                            <p:txEl>
                                              <p:pRg st="2" end="2"/>
                                            </p:txEl>
                                          </p:spTgt>
                                        </p:tgtEl>
                                        <p:attrNameLst>
                                          <p:attrName>ppt_y</p:attrName>
                                        </p:attrNameLst>
                                      </p:cBhvr>
                                      <p:tavLst>
                                        <p:tav tm="0">
                                          <p:val>
                                            <p:strVal val="1+#ppt_h/2"/>
                                          </p:val>
                                        </p:tav>
                                        <p:tav tm="100000">
                                          <p:val>
                                            <p:strVal val="#ppt_y"/>
                                          </p:val>
                                        </p:tav>
                                      </p:tavLst>
                                    </p:anim>
                                  </p:childTnLst>
                                </p:cTn>
                              </p:par>
                              <p:par>
                                <p:cTn id="22" presetID="2" presetClass="entr" presetSubtype="4" fill="hold" nodeType="withEffect">
                                  <p:stCondLst>
                                    <p:cond delay="0"/>
                                  </p:stCondLst>
                                  <p:childTnLst>
                                    <p:set>
                                      <p:cBhvr>
                                        <p:cTn id="23" dur="1" fill="hold">
                                          <p:stCondLst>
                                            <p:cond delay="0"/>
                                          </p:stCondLst>
                                        </p:cTn>
                                        <p:tgtEl>
                                          <p:spTgt spid="12291">
                                            <p:txEl>
                                              <p:pRg st="3" end="3"/>
                                            </p:txEl>
                                          </p:spTgt>
                                        </p:tgtEl>
                                        <p:attrNameLst>
                                          <p:attrName>style.visibility</p:attrName>
                                        </p:attrNameLst>
                                      </p:cBhvr>
                                      <p:to>
                                        <p:strVal val="visible"/>
                                      </p:to>
                                    </p:set>
                                    <p:anim calcmode="lin" valueType="num">
                                      <p:cBhvr additive="base">
                                        <p:cTn id="24" dur="500" fill="hold"/>
                                        <p:tgtEl>
                                          <p:spTgt spid="12291">
                                            <p:txEl>
                                              <p:pRg st="3" end="3"/>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12291">
                                            <p:txEl>
                                              <p:pRg st="3" end="3"/>
                                            </p:txEl>
                                          </p:spTgt>
                                        </p:tgtEl>
                                        <p:attrNameLst>
                                          <p:attrName>ppt_y</p:attrName>
                                        </p:attrNameLst>
                                      </p:cBhvr>
                                      <p:tavLst>
                                        <p:tav tm="0">
                                          <p:val>
                                            <p:strVal val="1+#ppt_h/2"/>
                                          </p:val>
                                        </p:tav>
                                        <p:tav tm="100000">
                                          <p:val>
                                            <p:strVal val="#ppt_y"/>
                                          </p:val>
                                        </p:tav>
                                      </p:tavLst>
                                    </p:anim>
                                  </p:childTnLst>
                                </p:cTn>
                              </p:par>
                              <p:par>
                                <p:cTn id="26" presetID="2" presetClass="entr" presetSubtype="4" fill="hold" nodeType="withEffect">
                                  <p:stCondLst>
                                    <p:cond delay="0"/>
                                  </p:stCondLst>
                                  <p:childTnLst>
                                    <p:set>
                                      <p:cBhvr>
                                        <p:cTn id="27" dur="1" fill="hold">
                                          <p:stCondLst>
                                            <p:cond delay="0"/>
                                          </p:stCondLst>
                                        </p:cTn>
                                        <p:tgtEl>
                                          <p:spTgt spid="12291">
                                            <p:txEl>
                                              <p:pRg st="4" end="4"/>
                                            </p:txEl>
                                          </p:spTgt>
                                        </p:tgtEl>
                                        <p:attrNameLst>
                                          <p:attrName>style.visibility</p:attrName>
                                        </p:attrNameLst>
                                      </p:cBhvr>
                                      <p:to>
                                        <p:strVal val="visible"/>
                                      </p:to>
                                    </p:set>
                                    <p:anim calcmode="lin" valueType="num">
                                      <p:cBhvr additive="base">
                                        <p:cTn id="28" dur="500" fill="hold"/>
                                        <p:tgtEl>
                                          <p:spTgt spid="12291">
                                            <p:txEl>
                                              <p:pRg st="4" end="4"/>
                                            </p:txEl>
                                          </p:spTgt>
                                        </p:tgtEl>
                                        <p:attrNameLst>
                                          <p:attrName>ppt_x</p:attrName>
                                        </p:attrNameLst>
                                      </p:cBhvr>
                                      <p:tavLst>
                                        <p:tav tm="0">
                                          <p:val>
                                            <p:strVal val="#ppt_x"/>
                                          </p:val>
                                        </p:tav>
                                        <p:tav tm="100000">
                                          <p:val>
                                            <p:strVal val="#ppt_x"/>
                                          </p:val>
                                        </p:tav>
                                      </p:tavLst>
                                    </p:anim>
                                    <p:anim calcmode="lin" valueType="num">
                                      <p:cBhvr additive="base">
                                        <p:cTn id="29" dur="500" fill="hold"/>
                                        <p:tgtEl>
                                          <p:spTgt spid="12291">
                                            <p:txEl>
                                              <p:pRg st="4" end="4"/>
                                            </p:txEl>
                                          </p:spTgt>
                                        </p:tgtEl>
                                        <p:attrNameLst>
                                          <p:attrName>ppt_y</p:attrName>
                                        </p:attrNameLst>
                                      </p:cBhvr>
                                      <p:tavLst>
                                        <p:tav tm="0">
                                          <p:val>
                                            <p:strVal val="1+#ppt_h/2"/>
                                          </p:val>
                                        </p:tav>
                                        <p:tav tm="100000">
                                          <p:val>
                                            <p:strVal val="#ppt_y"/>
                                          </p:val>
                                        </p:tav>
                                      </p:tavLst>
                                    </p:anim>
                                  </p:childTnLst>
                                </p:cTn>
                              </p:par>
                              <p:par>
                                <p:cTn id="30" presetID="2" presetClass="entr" presetSubtype="4" fill="hold" nodeType="withEffect">
                                  <p:stCondLst>
                                    <p:cond delay="0"/>
                                  </p:stCondLst>
                                  <p:childTnLst>
                                    <p:set>
                                      <p:cBhvr>
                                        <p:cTn id="31" dur="1" fill="hold">
                                          <p:stCondLst>
                                            <p:cond delay="0"/>
                                          </p:stCondLst>
                                        </p:cTn>
                                        <p:tgtEl>
                                          <p:spTgt spid="12291">
                                            <p:txEl>
                                              <p:pRg st="5" end="5"/>
                                            </p:txEl>
                                          </p:spTgt>
                                        </p:tgtEl>
                                        <p:attrNameLst>
                                          <p:attrName>style.visibility</p:attrName>
                                        </p:attrNameLst>
                                      </p:cBhvr>
                                      <p:to>
                                        <p:strVal val="visible"/>
                                      </p:to>
                                    </p:set>
                                    <p:anim calcmode="lin" valueType="num">
                                      <p:cBhvr additive="base">
                                        <p:cTn id="32" dur="500" fill="hold"/>
                                        <p:tgtEl>
                                          <p:spTgt spid="12291">
                                            <p:txEl>
                                              <p:pRg st="5" end="5"/>
                                            </p:txEl>
                                          </p:spTgt>
                                        </p:tgtEl>
                                        <p:attrNameLst>
                                          <p:attrName>ppt_x</p:attrName>
                                        </p:attrNameLst>
                                      </p:cBhvr>
                                      <p:tavLst>
                                        <p:tav tm="0">
                                          <p:val>
                                            <p:strVal val="#ppt_x"/>
                                          </p:val>
                                        </p:tav>
                                        <p:tav tm="100000">
                                          <p:val>
                                            <p:strVal val="#ppt_x"/>
                                          </p:val>
                                        </p:tav>
                                      </p:tavLst>
                                    </p:anim>
                                    <p:anim calcmode="lin" valueType="num">
                                      <p:cBhvr additive="base">
                                        <p:cTn id="33" dur="500" fill="hold"/>
                                        <p:tgtEl>
                                          <p:spTgt spid="12291">
                                            <p:txEl>
                                              <p:pRg st="5" end="5"/>
                                            </p:txEl>
                                          </p:spTgt>
                                        </p:tgtEl>
                                        <p:attrNameLst>
                                          <p:attrName>ppt_y</p:attrName>
                                        </p:attrNameLst>
                                      </p:cBhvr>
                                      <p:tavLst>
                                        <p:tav tm="0">
                                          <p:val>
                                            <p:strVal val="1+#ppt_h/2"/>
                                          </p:val>
                                        </p:tav>
                                        <p:tav tm="100000">
                                          <p:val>
                                            <p:strVal val="#ppt_y"/>
                                          </p:val>
                                        </p:tav>
                                      </p:tavLst>
                                    </p:anim>
                                  </p:childTnLst>
                                </p:cTn>
                              </p:par>
                              <p:par>
                                <p:cTn id="34" presetID="2" presetClass="entr" presetSubtype="4" fill="hold" nodeType="withEffect">
                                  <p:stCondLst>
                                    <p:cond delay="0"/>
                                  </p:stCondLst>
                                  <p:childTnLst>
                                    <p:set>
                                      <p:cBhvr>
                                        <p:cTn id="35" dur="1" fill="hold">
                                          <p:stCondLst>
                                            <p:cond delay="0"/>
                                          </p:stCondLst>
                                        </p:cTn>
                                        <p:tgtEl>
                                          <p:spTgt spid="12291">
                                            <p:txEl>
                                              <p:pRg st="6" end="6"/>
                                            </p:txEl>
                                          </p:spTgt>
                                        </p:tgtEl>
                                        <p:attrNameLst>
                                          <p:attrName>style.visibility</p:attrName>
                                        </p:attrNameLst>
                                      </p:cBhvr>
                                      <p:to>
                                        <p:strVal val="visible"/>
                                      </p:to>
                                    </p:set>
                                    <p:anim calcmode="lin" valueType="num">
                                      <p:cBhvr additive="base">
                                        <p:cTn id="36" dur="500" fill="hold"/>
                                        <p:tgtEl>
                                          <p:spTgt spid="12291">
                                            <p:txEl>
                                              <p:pRg st="6" end="6"/>
                                            </p:txEl>
                                          </p:spTgt>
                                        </p:tgtEl>
                                        <p:attrNameLst>
                                          <p:attrName>ppt_x</p:attrName>
                                        </p:attrNameLst>
                                      </p:cBhvr>
                                      <p:tavLst>
                                        <p:tav tm="0">
                                          <p:val>
                                            <p:strVal val="#ppt_x"/>
                                          </p:val>
                                        </p:tav>
                                        <p:tav tm="100000">
                                          <p:val>
                                            <p:strVal val="#ppt_x"/>
                                          </p:val>
                                        </p:tav>
                                      </p:tavLst>
                                    </p:anim>
                                    <p:anim calcmode="lin" valueType="num">
                                      <p:cBhvr additive="base">
                                        <p:cTn id="37" dur="500" fill="hold"/>
                                        <p:tgtEl>
                                          <p:spTgt spid="12291">
                                            <p:txEl>
                                              <p:pRg st="6" end="6"/>
                                            </p:txEl>
                                          </p:spTgt>
                                        </p:tgtEl>
                                        <p:attrNameLst>
                                          <p:attrName>ppt_y</p:attrName>
                                        </p:attrNameLst>
                                      </p:cBhvr>
                                      <p:tavLst>
                                        <p:tav tm="0">
                                          <p:val>
                                            <p:strVal val="1+#ppt_h/2"/>
                                          </p:val>
                                        </p:tav>
                                        <p:tav tm="100000">
                                          <p:val>
                                            <p:strVal val="#ppt_y"/>
                                          </p:val>
                                        </p:tav>
                                      </p:tavLst>
                                    </p:anim>
                                  </p:childTnLst>
                                </p:cTn>
                              </p:par>
                              <p:par>
                                <p:cTn id="38" presetID="2" presetClass="entr" presetSubtype="4" fill="hold" nodeType="withEffect">
                                  <p:stCondLst>
                                    <p:cond delay="0"/>
                                  </p:stCondLst>
                                  <p:childTnLst>
                                    <p:set>
                                      <p:cBhvr>
                                        <p:cTn id="39" dur="1" fill="hold">
                                          <p:stCondLst>
                                            <p:cond delay="0"/>
                                          </p:stCondLst>
                                        </p:cTn>
                                        <p:tgtEl>
                                          <p:spTgt spid="12291">
                                            <p:txEl>
                                              <p:pRg st="7" end="7"/>
                                            </p:txEl>
                                          </p:spTgt>
                                        </p:tgtEl>
                                        <p:attrNameLst>
                                          <p:attrName>style.visibility</p:attrName>
                                        </p:attrNameLst>
                                      </p:cBhvr>
                                      <p:to>
                                        <p:strVal val="visible"/>
                                      </p:to>
                                    </p:set>
                                    <p:anim calcmode="lin" valueType="num">
                                      <p:cBhvr additive="base">
                                        <p:cTn id="40" dur="500" fill="hold"/>
                                        <p:tgtEl>
                                          <p:spTgt spid="12291">
                                            <p:txEl>
                                              <p:pRg st="7" end="7"/>
                                            </p:txEl>
                                          </p:spTgt>
                                        </p:tgtEl>
                                        <p:attrNameLst>
                                          <p:attrName>ppt_x</p:attrName>
                                        </p:attrNameLst>
                                      </p:cBhvr>
                                      <p:tavLst>
                                        <p:tav tm="0">
                                          <p:val>
                                            <p:strVal val="#ppt_x"/>
                                          </p:val>
                                        </p:tav>
                                        <p:tav tm="100000">
                                          <p:val>
                                            <p:strVal val="#ppt_x"/>
                                          </p:val>
                                        </p:tav>
                                      </p:tavLst>
                                    </p:anim>
                                    <p:anim calcmode="lin" valueType="num">
                                      <p:cBhvr additive="base">
                                        <p:cTn id="41" dur="500" fill="hold"/>
                                        <p:tgtEl>
                                          <p:spTgt spid="12291">
                                            <p:txEl>
                                              <p:pRg st="7" end="7"/>
                                            </p:txEl>
                                          </p:spTgt>
                                        </p:tgtEl>
                                        <p:attrNameLst>
                                          <p:attrName>ppt_y</p:attrName>
                                        </p:attrNameLst>
                                      </p:cBhvr>
                                      <p:tavLst>
                                        <p:tav tm="0">
                                          <p:val>
                                            <p:strVal val="1+#ppt_h/2"/>
                                          </p:val>
                                        </p:tav>
                                        <p:tav tm="100000">
                                          <p:val>
                                            <p:strVal val="#ppt_y"/>
                                          </p:val>
                                        </p:tav>
                                      </p:tavLst>
                                    </p:anim>
                                  </p:childTnLst>
                                </p:cTn>
                              </p:par>
                              <p:par>
                                <p:cTn id="42" presetID="2" presetClass="entr" presetSubtype="4" fill="hold" nodeType="withEffect">
                                  <p:stCondLst>
                                    <p:cond delay="0"/>
                                  </p:stCondLst>
                                  <p:childTnLst>
                                    <p:set>
                                      <p:cBhvr>
                                        <p:cTn id="43" dur="1" fill="hold">
                                          <p:stCondLst>
                                            <p:cond delay="0"/>
                                          </p:stCondLst>
                                        </p:cTn>
                                        <p:tgtEl>
                                          <p:spTgt spid="12291">
                                            <p:txEl>
                                              <p:pRg st="8" end="8"/>
                                            </p:txEl>
                                          </p:spTgt>
                                        </p:tgtEl>
                                        <p:attrNameLst>
                                          <p:attrName>style.visibility</p:attrName>
                                        </p:attrNameLst>
                                      </p:cBhvr>
                                      <p:to>
                                        <p:strVal val="visible"/>
                                      </p:to>
                                    </p:set>
                                    <p:anim calcmode="lin" valueType="num">
                                      <p:cBhvr additive="base">
                                        <p:cTn id="44" dur="500" fill="hold"/>
                                        <p:tgtEl>
                                          <p:spTgt spid="12291">
                                            <p:txEl>
                                              <p:pRg st="8" end="8"/>
                                            </p:txEl>
                                          </p:spTgt>
                                        </p:tgtEl>
                                        <p:attrNameLst>
                                          <p:attrName>ppt_x</p:attrName>
                                        </p:attrNameLst>
                                      </p:cBhvr>
                                      <p:tavLst>
                                        <p:tav tm="0">
                                          <p:val>
                                            <p:strVal val="#ppt_x"/>
                                          </p:val>
                                        </p:tav>
                                        <p:tav tm="100000">
                                          <p:val>
                                            <p:strVal val="#ppt_x"/>
                                          </p:val>
                                        </p:tav>
                                      </p:tavLst>
                                    </p:anim>
                                    <p:anim calcmode="lin" valueType="num">
                                      <p:cBhvr additive="base">
                                        <p:cTn id="45" dur="500" fill="hold"/>
                                        <p:tgtEl>
                                          <p:spTgt spid="1229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46" fill="hold" nodeType="clickPar">
                      <p:stCondLst>
                        <p:cond delay="indefinite"/>
                      </p:stCondLst>
                      <p:childTnLst>
                        <p:par>
                          <p:cTn id="47" fill="hold" nodeType="withGroup">
                            <p:stCondLst>
                              <p:cond delay="0"/>
                            </p:stCondLst>
                            <p:childTnLst>
                              <p:par>
                                <p:cTn id="48" presetID="2" presetClass="entr" presetSubtype="4" fill="hold" nodeType="clickEffect">
                                  <p:stCondLst>
                                    <p:cond delay="0"/>
                                  </p:stCondLst>
                                  <p:childTnLst>
                                    <p:set>
                                      <p:cBhvr>
                                        <p:cTn id="49" dur="1" fill="hold">
                                          <p:stCondLst>
                                            <p:cond delay="0"/>
                                          </p:stCondLst>
                                        </p:cTn>
                                        <p:tgtEl>
                                          <p:spTgt spid="12291">
                                            <p:txEl>
                                              <p:pRg st="9" end="9"/>
                                            </p:txEl>
                                          </p:spTgt>
                                        </p:tgtEl>
                                        <p:attrNameLst>
                                          <p:attrName>style.visibility</p:attrName>
                                        </p:attrNameLst>
                                      </p:cBhvr>
                                      <p:to>
                                        <p:strVal val="visible"/>
                                      </p:to>
                                    </p:set>
                                    <p:anim calcmode="lin" valueType="num">
                                      <p:cBhvr additive="base">
                                        <p:cTn id="50" dur="500" fill="hold"/>
                                        <p:tgtEl>
                                          <p:spTgt spid="12291">
                                            <p:txEl>
                                              <p:pRg st="9" end="9"/>
                                            </p:txEl>
                                          </p:spTgt>
                                        </p:tgtEl>
                                        <p:attrNameLst>
                                          <p:attrName>ppt_x</p:attrName>
                                        </p:attrNameLst>
                                      </p:cBhvr>
                                      <p:tavLst>
                                        <p:tav tm="0">
                                          <p:val>
                                            <p:strVal val="#ppt_x"/>
                                          </p:val>
                                        </p:tav>
                                        <p:tav tm="100000">
                                          <p:val>
                                            <p:strVal val="#ppt_x"/>
                                          </p:val>
                                        </p:tav>
                                      </p:tavLst>
                                    </p:anim>
                                    <p:anim calcmode="lin" valueType="num">
                                      <p:cBhvr additive="base">
                                        <p:cTn id="51" dur="500" fill="hold"/>
                                        <p:tgtEl>
                                          <p:spTgt spid="12291">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0"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图片 3">
            <a:extLst>
              <a:ext uri="{FF2B5EF4-FFF2-40B4-BE49-F238E27FC236}">
                <a16:creationId xmlns:a16="http://schemas.microsoft.com/office/drawing/2014/main" id="{78DEF16B-EC97-C043-94E1-CE06DCBE95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95963" y="2039938"/>
            <a:ext cx="3073400" cy="277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507" name="图片 5">
            <a:extLst>
              <a:ext uri="{FF2B5EF4-FFF2-40B4-BE49-F238E27FC236}">
                <a16:creationId xmlns:a16="http://schemas.microsoft.com/office/drawing/2014/main" id="{6C7B7456-2EF2-B747-B1D3-10C073E4AD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7950" y="1363663"/>
            <a:ext cx="5160963" cy="413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2">
            <a:extLst>
              <a:ext uri="{FF2B5EF4-FFF2-40B4-BE49-F238E27FC236}">
                <a16:creationId xmlns:a16="http://schemas.microsoft.com/office/drawing/2014/main" id="{8EE78F36-DDA7-9A43-AD0C-B986F7159C54}"/>
              </a:ext>
            </a:extLst>
          </p:cNvPr>
          <p:cNvSpPr txBox="1">
            <a:spLocks noChangeArrowheads="1"/>
          </p:cNvSpPr>
          <p:nvPr/>
        </p:nvSpPr>
        <p:spPr bwMode="auto">
          <a:xfrm>
            <a:off x="0" y="260350"/>
            <a:ext cx="9144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514350" indent="-171450" defTabSz="68580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857250" indent="-171450" defTabSz="6858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200150" indent="-171450" defTabSz="6858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1543050" indent="-171450" defTabSz="6858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000250" indent="-17145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457450" indent="-17145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2914650" indent="-17145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371850" indent="-17145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spcBef>
                <a:spcPct val="0"/>
              </a:spcBef>
              <a:buFontTx/>
              <a:buNone/>
            </a:pPr>
            <a:r>
              <a:rPr lang="en-US" altLang="zh-CN" sz="4800">
                <a:latin typeface="华文新魏" panose="02010800040101010101" pitchFamily="2" charset="-122"/>
                <a:ea typeface="华文新魏" panose="02010800040101010101" pitchFamily="2" charset="-122"/>
              </a:rPr>
              <a:t>TS</a:t>
            </a:r>
            <a:r>
              <a:rPr lang="zh-CN" altLang="en-US" sz="4800">
                <a:latin typeface="华文新魏" panose="02010800040101010101" pitchFamily="2" charset="-122"/>
                <a:ea typeface="华文新魏" panose="02010800040101010101" pitchFamily="2" charset="-122"/>
              </a:rPr>
              <a:t>指令实现进程互斥：上锁</a:t>
            </a:r>
            <a:endParaRPr lang="en-US" altLang="zh-CN" sz="480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14945630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21506"/>
                                        </p:tgtEl>
                                        <p:attrNameLst>
                                          <p:attrName>style.visibility</p:attrName>
                                        </p:attrNameLst>
                                      </p:cBhvr>
                                      <p:to>
                                        <p:strVal val="visible"/>
                                      </p:to>
                                    </p:set>
                                    <p:animEffect transition="in" filter="fade">
                                      <p:cBhvr>
                                        <p:cTn id="12" dur="500"/>
                                        <p:tgtEl>
                                          <p:spTgt spid="2150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21507"/>
                                        </p:tgtEl>
                                        <p:attrNameLst>
                                          <p:attrName>style.visibility</p:attrName>
                                        </p:attrNameLst>
                                      </p:cBhvr>
                                      <p:to>
                                        <p:strVal val="visible"/>
                                      </p:to>
                                    </p:set>
                                    <p:animEffect transition="in" filter="fade">
                                      <p:cBhvr>
                                        <p:cTn id="17" dur="500"/>
                                        <p:tgtEl>
                                          <p:spTgt spid="215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2B23EB05-E2CA-5849-948F-D9F2B6736696}"/>
              </a:ext>
            </a:extLst>
          </p:cNvPr>
          <p:cNvSpPr txBox="1">
            <a:spLocks noChangeArrowheads="1"/>
          </p:cNvSpPr>
          <p:nvPr/>
        </p:nvSpPr>
        <p:spPr bwMode="auto">
          <a:xfrm>
            <a:off x="179388" y="1339850"/>
            <a:ext cx="5472112" cy="3817938"/>
          </a:xfrm>
          <a:prstGeom prst="rect">
            <a:avLst/>
          </a:prstGeom>
          <a:noFill/>
          <a:ln w="9525">
            <a:noFill/>
            <a:miter lim="800000"/>
            <a:headEnd/>
            <a:tailEnd/>
          </a:ln>
          <a:effectLst/>
        </p:spPr>
        <p:txBody>
          <a:bodyPr/>
          <a:lstStyle>
            <a:lvl1pPr marL="342900" indent="-342900">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spcBef>
                <a:spcPct val="20000"/>
              </a:spcBef>
              <a:buClr>
                <a:schemeClr val="hlink"/>
              </a:buClr>
              <a:buSzPct val="80000"/>
              <a:buFont typeface="Wingdings" pitchFamily="2" charset="2"/>
              <a:buChar char="Ø"/>
            </a:pPr>
            <a:r>
              <a:rPr lang="en-US" altLang="zh-CN" sz="2400">
                <a:latin typeface="华文新魏" panose="02010800040101010101" pitchFamily="2" charset="-122"/>
                <a:ea typeface="华文新魏" panose="02010800040101010101" pitchFamily="2" charset="-122"/>
              </a:rPr>
              <a:t>//</a:t>
            </a:r>
            <a:r>
              <a:rPr lang="zh-CN" altLang="en-US" sz="2400">
                <a:latin typeface="华文新魏" panose="02010800040101010101" pitchFamily="2" charset="-122"/>
                <a:ea typeface="华文新魏" panose="02010800040101010101" pitchFamily="2" charset="-122"/>
              </a:rPr>
              <a:t>对换指令实现进程互斥</a:t>
            </a:r>
          </a:p>
          <a:p>
            <a:pPr eaLnBrk="1" hangingPunct="1">
              <a:spcBef>
                <a:spcPct val="20000"/>
              </a:spcBef>
              <a:buClr>
                <a:schemeClr val="hlink"/>
              </a:buClr>
              <a:buSzPct val="80000"/>
              <a:buFont typeface="Wingdings" pitchFamily="2" charset="2"/>
              <a:buChar char="Ø"/>
            </a:pPr>
            <a:r>
              <a:rPr lang="en-US" altLang="zh-CN" sz="2400">
                <a:latin typeface="华文新魏" panose="02010800040101010101" pitchFamily="2" charset="-122"/>
                <a:ea typeface="华文新魏" panose="02010800040101010101" pitchFamily="2" charset="-122"/>
              </a:rPr>
              <a:t>bool lock=false;</a:t>
            </a:r>
          </a:p>
          <a:p>
            <a:pPr eaLnBrk="1" hangingPunct="1">
              <a:spcBef>
                <a:spcPct val="20000"/>
              </a:spcBef>
              <a:buClr>
                <a:schemeClr val="hlink"/>
              </a:buClr>
              <a:buSzPct val="80000"/>
              <a:buFont typeface="Wingdings" pitchFamily="2" charset="2"/>
              <a:buChar char="Ø"/>
            </a:pPr>
            <a:r>
              <a:rPr lang="en-US" altLang="zh-CN" sz="2400">
                <a:latin typeface="华文新魏" panose="02010800040101010101" pitchFamily="2" charset="-122"/>
                <a:ea typeface="华文新魏" panose="02010800040101010101" pitchFamily="2" charset="-122"/>
              </a:rPr>
              <a:t>cobegin</a:t>
            </a:r>
          </a:p>
          <a:p>
            <a:pPr eaLnBrk="1" hangingPunct="1">
              <a:spcBef>
                <a:spcPct val="20000"/>
              </a:spcBef>
              <a:buClr>
                <a:schemeClr val="hlink"/>
              </a:buClr>
              <a:buSzPct val="80000"/>
              <a:buFont typeface="Wingdings" pitchFamily="2" charset="2"/>
              <a:buChar char="Ø"/>
            </a:pPr>
            <a:r>
              <a:rPr lang="en-US" altLang="zh-CN" sz="2400">
                <a:latin typeface="华文新魏" panose="02010800040101010101" pitchFamily="2" charset="-122"/>
                <a:ea typeface="华文新魏" panose="02010800040101010101" pitchFamily="2" charset="-122"/>
              </a:rPr>
              <a:t>Process Pi( ){  //i=1,2,...,n</a:t>
            </a:r>
          </a:p>
          <a:p>
            <a:pPr eaLnBrk="1" hangingPunct="1">
              <a:spcBef>
                <a:spcPct val="20000"/>
              </a:spcBef>
              <a:buClr>
                <a:schemeClr val="hlink"/>
              </a:buClr>
              <a:buSzPct val="80000"/>
              <a:buFont typeface="Wingdings" pitchFamily="2" charset="2"/>
              <a:buChar char="Ø"/>
            </a:pPr>
            <a:r>
              <a:rPr lang="en-US" altLang="zh-CN" sz="2400">
                <a:latin typeface="华文新魏" panose="02010800040101010101" pitchFamily="2" charset="-122"/>
                <a:ea typeface="华文新魏" panose="02010800040101010101" pitchFamily="2" charset="-122"/>
              </a:rPr>
              <a:t>        bool keyi=true;</a:t>
            </a:r>
          </a:p>
          <a:p>
            <a:pPr eaLnBrk="1" hangingPunct="1">
              <a:spcBef>
                <a:spcPct val="20000"/>
              </a:spcBef>
              <a:buClr>
                <a:schemeClr val="hlink"/>
              </a:buClr>
              <a:buSzPct val="80000"/>
              <a:buFont typeface="Wingdings" pitchFamily="2" charset="2"/>
              <a:buChar char="Ø"/>
            </a:pPr>
            <a:r>
              <a:rPr lang="en-US" altLang="zh-CN" sz="2400">
                <a:latin typeface="华文新魏" panose="02010800040101010101" pitchFamily="2" charset="-122"/>
                <a:ea typeface="华文新魏" panose="02010800040101010101" pitchFamily="2" charset="-122"/>
              </a:rPr>
              <a:t>  	  do {</a:t>
            </a:r>
          </a:p>
          <a:p>
            <a:pPr eaLnBrk="1" hangingPunct="1">
              <a:spcBef>
                <a:spcPct val="20000"/>
              </a:spcBef>
              <a:buClr>
                <a:schemeClr val="hlink"/>
              </a:buClr>
              <a:buSzPct val="80000"/>
              <a:buFont typeface="Wingdings" pitchFamily="2" charset="2"/>
              <a:buChar char="Ø"/>
            </a:pPr>
            <a:r>
              <a:rPr lang="en-US" altLang="zh-CN" sz="2400">
                <a:latin typeface="华文新魏" panose="02010800040101010101" pitchFamily="2" charset="-122"/>
                <a:ea typeface="华文新魏" panose="02010800040101010101" pitchFamily="2" charset="-122"/>
              </a:rPr>
              <a:t>              SWAP(keyi, lock);</a:t>
            </a:r>
          </a:p>
          <a:p>
            <a:pPr eaLnBrk="1" hangingPunct="1">
              <a:spcBef>
                <a:spcPct val="20000"/>
              </a:spcBef>
              <a:buClr>
                <a:schemeClr val="hlink"/>
              </a:buClr>
              <a:buSzPct val="80000"/>
              <a:buFont typeface="Wingdings" pitchFamily="2" charset="2"/>
              <a:buChar char="Ø"/>
            </a:pPr>
            <a:r>
              <a:rPr lang="en-US" altLang="zh-CN" sz="2400">
                <a:latin typeface="华文新魏" panose="02010800040101010101" pitchFamily="2" charset="-122"/>
                <a:ea typeface="华文新魏" panose="02010800040101010101" pitchFamily="2" charset="-122"/>
              </a:rPr>
              <a:t>         }while(keyi);                 //</a:t>
            </a:r>
            <a:r>
              <a:rPr lang="zh-CN" altLang="en-US" sz="2400">
                <a:latin typeface="华文新魏" panose="02010800040101010101" pitchFamily="2" charset="-122"/>
                <a:ea typeface="华文新魏" panose="02010800040101010101" pitchFamily="2" charset="-122"/>
              </a:rPr>
              <a:t>上锁</a:t>
            </a:r>
          </a:p>
          <a:p>
            <a:pPr eaLnBrk="1" hangingPunct="1">
              <a:spcBef>
                <a:spcPct val="20000"/>
              </a:spcBef>
              <a:buClr>
                <a:schemeClr val="hlink"/>
              </a:buClr>
              <a:buSzPct val="80000"/>
              <a:buFont typeface="Wingdings" pitchFamily="2" charset="2"/>
              <a:buChar char="Ø"/>
            </a:pPr>
            <a:r>
              <a:rPr lang="zh-CN" altLang="en-US" sz="2400">
                <a:latin typeface="华文新魏" panose="02010800040101010101" pitchFamily="2" charset="-122"/>
                <a:ea typeface="华文新魏" panose="02010800040101010101" pitchFamily="2" charset="-122"/>
              </a:rPr>
              <a:t>	  </a:t>
            </a:r>
            <a:r>
              <a:rPr lang="en-US" altLang="zh-CN" sz="2400">
                <a:latin typeface="华文新魏" panose="02010800040101010101" pitchFamily="2" charset="-122"/>
                <a:ea typeface="华文新魏" panose="02010800040101010101" pitchFamily="2" charset="-122"/>
              </a:rPr>
              <a:t>{</a:t>
            </a:r>
            <a:r>
              <a:rPr lang="zh-CN" altLang="en-US" sz="2400">
                <a:solidFill>
                  <a:srgbClr val="FF9900"/>
                </a:solidFill>
                <a:latin typeface="华文新魏" panose="02010800040101010101" pitchFamily="2" charset="-122"/>
                <a:ea typeface="华文新魏" panose="02010800040101010101" pitchFamily="2" charset="-122"/>
              </a:rPr>
              <a:t>临界区</a:t>
            </a:r>
            <a:r>
              <a:rPr lang="en-US" altLang="zh-CN" sz="2400">
                <a:latin typeface="华文新魏" panose="02010800040101010101" pitchFamily="2" charset="-122"/>
                <a:ea typeface="华文新魏" panose="02010800040101010101" pitchFamily="2" charset="-122"/>
              </a:rPr>
              <a:t>};</a:t>
            </a:r>
          </a:p>
          <a:p>
            <a:pPr eaLnBrk="1" hangingPunct="1">
              <a:spcBef>
                <a:spcPct val="20000"/>
              </a:spcBef>
              <a:buClr>
                <a:schemeClr val="hlink"/>
              </a:buClr>
              <a:buSzPct val="80000"/>
              <a:buFont typeface="Wingdings" pitchFamily="2" charset="2"/>
              <a:buChar char="Ø"/>
            </a:pPr>
            <a:r>
              <a:rPr lang="en-US" altLang="zh-CN" sz="2400">
                <a:latin typeface="华文新魏" panose="02010800040101010101" pitchFamily="2" charset="-122"/>
                <a:ea typeface="华文新魏" panose="02010800040101010101" pitchFamily="2" charset="-122"/>
              </a:rPr>
              <a:t>	  SWAP(keyi, lock);      //</a:t>
            </a:r>
            <a:r>
              <a:rPr lang="zh-CN" altLang="en-US" sz="2400">
                <a:latin typeface="华文新魏" panose="02010800040101010101" pitchFamily="2" charset="-122"/>
                <a:ea typeface="华文新魏" panose="02010800040101010101" pitchFamily="2" charset="-122"/>
              </a:rPr>
              <a:t>开锁</a:t>
            </a:r>
          </a:p>
          <a:p>
            <a:pPr eaLnBrk="1" hangingPunct="1">
              <a:spcBef>
                <a:spcPct val="20000"/>
              </a:spcBef>
              <a:buClr>
                <a:schemeClr val="hlink"/>
              </a:buClr>
              <a:buSzPct val="80000"/>
              <a:buFont typeface="Wingdings" pitchFamily="2" charset="2"/>
              <a:buChar char="Ø"/>
            </a:pPr>
            <a:r>
              <a:rPr lang="en-US" altLang="zh-CN" sz="2400">
                <a:latin typeface="华文新魏" panose="02010800040101010101" pitchFamily="2" charset="-122"/>
                <a:ea typeface="华文新魏" panose="02010800040101010101" pitchFamily="2" charset="-122"/>
              </a:rPr>
              <a:t>}</a:t>
            </a:r>
          </a:p>
          <a:p>
            <a:pPr eaLnBrk="1" hangingPunct="1">
              <a:spcBef>
                <a:spcPct val="20000"/>
              </a:spcBef>
              <a:buClr>
                <a:schemeClr val="hlink"/>
              </a:buClr>
              <a:buSzPct val="80000"/>
              <a:buFont typeface="Wingdings" pitchFamily="2" charset="2"/>
              <a:buChar char="Ø"/>
            </a:pPr>
            <a:r>
              <a:rPr lang="en-US" altLang="zh-CN" sz="2400">
                <a:latin typeface="华文新魏" panose="02010800040101010101" pitchFamily="2" charset="-122"/>
                <a:ea typeface="华文新魏" panose="02010800040101010101" pitchFamily="2" charset="-122"/>
              </a:rPr>
              <a:t>coend</a:t>
            </a:r>
          </a:p>
        </p:txBody>
      </p:sp>
      <p:sp>
        <p:nvSpPr>
          <p:cNvPr id="3" name="Rectangle 3">
            <a:extLst>
              <a:ext uri="{FF2B5EF4-FFF2-40B4-BE49-F238E27FC236}">
                <a16:creationId xmlns:a16="http://schemas.microsoft.com/office/drawing/2014/main" id="{6A7582FA-CF34-6F4E-A3FC-53C6B7308BF9}"/>
              </a:ext>
            </a:extLst>
          </p:cNvPr>
          <p:cNvSpPr txBox="1">
            <a:spLocks noChangeArrowheads="1"/>
          </p:cNvSpPr>
          <p:nvPr/>
        </p:nvSpPr>
        <p:spPr bwMode="auto">
          <a:xfrm>
            <a:off x="4787900" y="1449388"/>
            <a:ext cx="4462463" cy="406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71450" indent="-171450" defTabSz="685800">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514350" indent="-171450" defTabSz="68580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857250" indent="-171450" defTabSz="6858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200150" indent="-171450" defTabSz="6858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1543050" indent="-171450" defTabSz="6858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000250" indent="-17145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457450" indent="-17145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2914650" indent="-17145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371850" indent="-17145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just" eaLnBrk="1" hangingPunct="1">
              <a:lnSpc>
                <a:spcPct val="88000"/>
              </a:lnSpc>
              <a:buFont typeface="Wingdings" pitchFamily="2" charset="2"/>
              <a:buNone/>
            </a:pPr>
            <a:r>
              <a:rPr lang="en-US" altLang="zh-CN" sz="2400"/>
              <a:t> </a:t>
            </a:r>
            <a:r>
              <a:rPr lang="en-US" altLang="zh-CN" sz="2400">
                <a:latin typeface="华文新魏" panose="02010800040101010101" pitchFamily="2" charset="-122"/>
                <a:ea typeface="华文新魏" panose="02010800040101010101" pitchFamily="2" charset="-122"/>
              </a:rPr>
              <a:t>void SWAP(bool &amp;a,bool &amp;b) {</a:t>
            </a:r>
          </a:p>
          <a:p>
            <a:pPr eaLnBrk="1" hangingPunct="1"/>
            <a:r>
              <a:rPr lang="en-US" altLang="zh-CN" sz="2400">
                <a:latin typeface="华文新魏" panose="02010800040101010101" pitchFamily="2" charset="-122"/>
                <a:ea typeface="华文新魏" panose="02010800040101010101" pitchFamily="2" charset="-122"/>
              </a:rPr>
              <a:t>	         bool temp=a;</a:t>
            </a:r>
          </a:p>
          <a:p>
            <a:pPr eaLnBrk="1" hangingPunct="1"/>
            <a:r>
              <a:rPr lang="en-US" altLang="zh-CN" sz="2400">
                <a:latin typeface="华文新魏" panose="02010800040101010101" pitchFamily="2" charset="-122"/>
                <a:ea typeface="华文新魏" panose="02010800040101010101" pitchFamily="2" charset="-122"/>
              </a:rPr>
              <a:t>	         a=b;</a:t>
            </a:r>
          </a:p>
          <a:p>
            <a:pPr eaLnBrk="1" hangingPunct="1"/>
            <a:r>
              <a:rPr lang="en-US" altLang="zh-CN" sz="2400">
                <a:latin typeface="华文新魏" panose="02010800040101010101" pitchFamily="2" charset="-122"/>
                <a:ea typeface="华文新魏" panose="02010800040101010101" pitchFamily="2" charset="-122"/>
              </a:rPr>
              <a:t>      	         b=temp;</a:t>
            </a:r>
          </a:p>
          <a:p>
            <a:pPr eaLnBrk="1" hangingPunct="1"/>
            <a:r>
              <a:rPr lang="en-US" altLang="zh-CN" sz="2400">
                <a:latin typeface="华文新魏" panose="02010800040101010101" pitchFamily="2" charset="-122"/>
                <a:ea typeface="华文新魏" panose="02010800040101010101" pitchFamily="2" charset="-122"/>
              </a:rPr>
              <a:t>	}</a:t>
            </a:r>
            <a:endParaRPr lang="en-US" altLang="zh-CN" sz="2400">
              <a:solidFill>
                <a:srgbClr val="800000"/>
              </a:solidFill>
              <a:latin typeface="华文新魏" panose="02010800040101010101" pitchFamily="2" charset="-122"/>
              <a:ea typeface="华文新魏" panose="02010800040101010101" pitchFamily="2" charset="-122"/>
            </a:endParaRPr>
          </a:p>
          <a:p>
            <a:pPr algn="just" eaLnBrk="1" hangingPunct="1">
              <a:lnSpc>
                <a:spcPct val="88000"/>
              </a:lnSpc>
              <a:buFont typeface="Wingdings" pitchFamily="2" charset="2"/>
              <a:buNone/>
            </a:pPr>
            <a:endParaRPr lang="en-US" altLang="zh-CN" sz="2400">
              <a:solidFill>
                <a:srgbClr val="800000"/>
              </a:solidFill>
              <a:latin typeface="华文新魏" panose="02010800040101010101" pitchFamily="2" charset="-122"/>
              <a:ea typeface="华文新魏" panose="02010800040101010101" pitchFamily="2" charset="-122"/>
            </a:endParaRPr>
          </a:p>
        </p:txBody>
      </p:sp>
      <p:sp>
        <p:nvSpPr>
          <p:cNvPr id="4" name="Rectangle 2">
            <a:extLst>
              <a:ext uri="{FF2B5EF4-FFF2-40B4-BE49-F238E27FC236}">
                <a16:creationId xmlns:a16="http://schemas.microsoft.com/office/drawing/2014/main" id="{985C6FBB-775B-F646-9D24-076B08464ABC}"/>
              </a:ext>
            </a:extLst>
          </p:cNvPr>
          <p:cNvSpPr txBox="1">
            <a:spLocks noChangeArrowheads="1"/>
          </p:cNvSpPr>
          <p:nvPr/>
        </p:nvSpPr>
        <p:spPr bwMode="auto">
          <a:xfrm>
            <a:off x="0" y="260350"/>
            <a:ext cx="91440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685800">
              <a:lnSpc>
                <a:spcPct val="90000"/>
              </a:lnSpc>
              <a:spcBef>
                <a:spcPts val="750"/>
              </a:spcBef>
              <a:buFont typeface="Arial" panose="020B0604020202020204" pitchFamily="34" charset="0"/>
              <a:buChar char="•"/>
              <a:defRPr sz="2100">
                <a:solidFill>
                  <a:schemeClr val="tx1"/>
                </a:solidFill>
                <a:latin typeface="等线" panose="02010600030101010101" pitchFamily="2" charset="-122"/>
                <a:ea typeface="等线" panose="02010600030101010101" pitchFamily="2" charset="-122"/>
              </a:defRPr>
            </a:lvl1pPr>
            <a:lvl2pPr marL="514350" indent="-171450" defTabSz="685800">
              <a:lnSpc>
                <a:spcPct val="90000"/>
              </a:lnSpc>
              <a:spcBef>
                <a:spcPts val="375"/>
              </a:spcBef>
              <a:buFont typeface="Arial" panose="020B0604020202020204" pitchFamily="34" charset="0"/>
              <a:buChar char="•"/>
              <a:defRPr>
                <a:solidFill>
                  <a:schemeClr val="tx1"/>
                </a:solidFill>
                <a:latin typeface="等线" panose="02010600030101010101" pitchFamily="2" charset="-122"/>
                <a:ea typeface="等线" panose="02010600030101010101" pitchFamily="2" charset="-122"/>
              </a:defRPr>
            </a:lvl2pPr>
            <a:lvl3pPr marL="857250" indent="-171450" defTabSz="685800">
              <a:lnSpc>
                <a:spcPct val="90000"/>
              </a:lnSpc>
              <a:spcBef>
                <a:spcPts val="375"/>
              </a:spcBef>
              <a:buFont typeface="Arial" panose="020B0604020202020204" pitchFamily="34" charset="0"/>
              <a:buChar char="•"/>
              <a:defRPr sz="1500">
                <a:solidFill>
                  <a:schemeClr val="tx1"/>
                </a:solidFill>
                <a:latin typeface="等线" panose="02010600030101010101" pitchFamily="2" charset="-122"/>
                <a:ea typeface="等线" panose="02010600030101010101" pitchFamily="2" charset="-122"/>
              </a:defRPr>
            </a:lvl3pPr>
            <a:lvl4pPr marL="1200150" indent="-171450" defTabSz="6858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4pPr>
            <a:lvl5pPr marL="1543050" indent="-171450" defTabSz="685800">
              <a:lnSpc>
                <a:spcPct val="90000"/>
              </a:lnSpc>
              <a:spcBef>
                <a:spcPts val="375"/>
              </a:spcBef>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5pPr>
            <a:lvl6pPr marL="2000250" indent="-17145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6pPr>
            <a:lvl7pPr marL="2457450" indent="-17145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7pPr>
            <a:lvl8pPr marL="2914650" indent="-17145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8pPr>
            <a:lvl9pPr marL="3371850" indent="-171450" defTabSz="6858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等线" panose="02010600030101010101" pitchFamily="2" charset="-122"/>
                <a:ea typeface="等线" panose="02010600030101010101" pitchFamily="2" charset="-122"/>
              </a:defRPr>
            </a:lvl9pPr>
          </a:lstStyle>
          <a:p>
            <a:pPr algn="ctr" eaLnBrk="1" hangingPunct="1">
              <a:spcBef>
                <a:spcPct val="0"/>
              </a:spcBef>
              <a:buFontTx/>
              <a:buNone/>
            </a:pPr>
            <a:r>
              <a:rPr lang="zh-CN" altLang="en-US" sz="4800">
                <a:latin typeface="华文新魏" panose="02010800040101010101" pitchFamily="2" charset="-122"/>
                <a:ea typeface="华文新魏" panose="02010800040101010101" pitchFamily="2" charset="-122"/>
              </a:rPr>
              <a:t>对换指令实现进程互斥：上锁</a:t>
            </a:r>
            <a:endParaRPr lang="en-US" altLang="zh-CN" sz="4800">
              <a:latin typeface="华文新魏" panose="02010800040101010101" pitchFamily="2" charset="-122"/>
              <a:ea typeface="华文新魏" panose="02010800040101010101" pitchFamily="2" charset="-122"/>
            </a:endParaRPr>
          </a:p>
        </p:txBody>
      </p:sp>
    </p:spTree>
    <p:extLst>
      <p:ext uri="{BB962C8B-B14F-4D97-AF65-F5344CB8AC3E}">
        <p14:creationId xmlns:p14="http://schemas.microsoft.com/office/powerpoint/2010/main" val="4045385675"/>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linds(horizontal)">
                                      <p:cBhvr>
                                        <p:cTn id="15" dur="500"/>
                                        <p:tgtEl>
                                          <p:spTgt spid="3">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3">
                                            <p:txEl>
                                              <p:pRg st="2" end="2"/>
                                            </p:txEl>
                                          </p:spTgt>
                                        </p:tgtEl>
                                        <p:attrNameLst>
                                          <p:attrName>style.visibility</p:attrName>
                                        </p:attrNameLst>
                                      </p:cBhvr>
                                      <p:to>
                                        <p:strVal val="visible"/>
                                      </p:to>
                                    </p:set>
                                    <p:animEffect transition="in" filter="blinds(horizontal)">
                                      <p:cBhvr>
                                        <p:cTn id="18" dur="500"/>
                                        <p:tgtEl>
                                          <p:spTgt spid="3">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blinds(horizontal)">
                                      <p:cBhvr>
                                        <p:cTn id="21" dur="500"/>
                                        <p:tgtEl>
                                          <p:spTgt spid="3">
                                            <p:txEl>
                                              <p:pRg st="3" end="3"/>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3">
                                            <p:txEl>
                                              <p:pRg st="4" end="4"/>
                                            </p:txEl>
                                          </p:spTgt>
                                        </p:tgtEl>
                                        <p:attrNameLst>
                                          <p:attrName>style.visibility</p:attrName>
                                        </p:attrNameLst>
                                      </p:cBhvr>
                                      <p:to>
                                        <p:strVal val="visible"/>
                                      </p:to>
                                    </p:set>
                                    <p:animEffect transition="in" filter="blinds(horizontal)">
                                      <p:cBhvr>
                                        <p:cTn id="24" dur="500"/>
                                        <p:tgtEl>
                                          <p:spTgt spid="3">
                                            <p:txEl>
                                              <p:pRg st="4" end="4"/>
                                            </p:txEl>
                                          </p:spTgt>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2">
                                            <p:txEl>
                                              <p:pRg st="0" end="0"/>
                                            </p:txEl>
                                          </p:spTgt>
                                        </p:tgtEl>
                                        <p:attrNameLst>
                                          <p:attrName>style.visibility</p:attrName>
                                        </p:attrNameLst>
                                      </p:cBhvr>
                                      <p:to>
                                        <p:strVal val="visible"/>
                                      </p:to>
                                    </p:set>
                                    <p:animEffect transition="in" filter="blinds(horizontal)">
                                      <p:cBhvr>
                                        <p:cTn id="29" dur="500"/>
                                        <p:tgtEl>
                                          <p:spTgt spid="2">
                                            <p:txEl>
                                              <p:pRg st="0" end="0"/>
                                            </p:txEl>
                                          </p:spTgt>
                                        </p:tgtEl>
                                      </p:cBhvr>
                                    </p:animEffect>
                                  </p:childTnLst>
                                </p:cTn>
                              </p:par>
                              <p:par>
                                <p:cTn id="30" presetID="3" presetClass="entr" presetSubtype="10" fill="hold" nodeType="withEffect">
                                  <p:stCondLst>
                                    <p:cond delay="0"/>
                                  </p:stCondLst>
                                  <p:childTnLst>
                                    <p:set>
                                      <p:cBhvr>
                                        <p:cTn id="31" dur="1" fill="hold">
                                          <p:stCondLst>
                                            <p:cond delay="0"/>
                                          </p:stCondLst>
                                        </p:cTn>
                                        <p:tgtEl>
                                          <p:spTgt spid="2">
                                            <p:txEl>
                                              <p:pRg st="1" end="1"/>
                                            </p:txEl>
                                          </p:spTgt>
                                        </p:tgtEl>
                                        <p:attrNameLst>
                                          <p:attrName>style.visibility</p:attrName>
                                        </p:attrNameLst>
                                      </p:cBhvr>
                                      <p:to>
                                        <p:strVal val="visible"/>
                                      </p:to>
                                    </p:set>
                                    <p:animEffect transition="in" filter="blinds(horizontal)">
                                      <p:cBhvr>
                                        <p:cTn id="32" dur="500"/>
                                        <p:tgtEl>
                                          <p:spTgt spid="2">
                                            <p:txEl>
                                              <p:pRg st="1" end="1"/>
                                            </p:txEl>
                                          </p:spTgt>
                                        </p:tgtEl>
                                      </p:cBhvr>
                                    </p:animEffect>
                                  </p:childTnLst>
                                </p:cTn>
                              </p:par>
                              <p:par>
                                <p:cTn id="33" presetID="3" presetClass="entr" presetSubtype="10" fill="hold" nodeType="withEffect">
                                  <p:stCondLst>
                                    <p:cond delay="0"/>
                                  </p:stCondLst>
                                  <p:childTnLst>
                                    <p:set>
                                      <p:cBhvr>
                                        <p:cTn id="34" dur="1" fill="hold">
                                          <p:stCondLst>
                                            <p:cond delay="0"/>
                                          </p:stCondLst>
                                        </p:cTn>
                                        <p:tgtEl>
                                          <p:spTgt spid="2">
                                            <p:txEl>
                                              <p:pRg st="2" end="2"/>
                                            </p:txEl>
                                          </p:spTgt>
                                        </p:tgtEl>
                                        <p:attrNameLst>
                                          <p:attrName>style.visibility</p:attrName>
                                        </p:attrNameLst>
                                      </p:cBhvr>
                                      <p:to>
                                        <p:strVal val="visible"/>
                                      </p:to>
                                    </p:set>
                                    <p:animEffect transition="in" filter="blinds(horizontal)">
                                      <p:cBhvr>
                                        <p:cTn id="35" dur="500"/>
                                        <p:tgtEl>
                                          <p:spTgt spid="2">
                                            <p:txEl>
                                              <p:pRg st="2" end="2"/>
                                            </p:txEl>
                                          </p:spTgt>
                                        </p:tgtEl>
                                      </p:cBhvr>
                                    </p:animEffect>
                                  </p:childTnLst>
                                </p:cTn>
                              </p:par>
                              <p:par>
                                <p:cTn id="36" presetID="3" presetClass="entr" presetSubtype="10" fill="hold" nodeType="withEffect">
                                  <p:stCondLst>
                                    <p:cond delay="0"/>
                                  </p:stCondLst>
                                  <p:childTnLst>
                                    <p:set>
                                      <p:cBhvr>
                                        <p:cTn id="37" dur="1" fill="hold">
                                          <p:stCondLst>
                                            <p:cond delay="0"/>
                                          </p:stCondLst>
                                        </p:cTn>
                                        <p:tgtEl>
                                          <p:spTgt spid="2">
                                            <p:txEl>
                                              <p:pRg st="3" end="3"/>
                                            </p:txEl>
                                          </p:spTgt>
                                        </p:tgtEl>
                                        <p:attrNameLst>
                                          <p:attrName>style.visibility</p:attrName>
                                        </p:attrNameLst>
                                      </p:cBhvr>
                                      <p:to>
                                        <p:strVal val="visible"/>
                                      </p:to>
                                    </p:set>
                                    <p:animEffect transition="in" filter="blinds(horizontal)">
                                      <p:cBhvr>
                                        <p:cTn id="38" dur="500"/>
                                        <p:tgtEl>
                                          <p:spTgt spid="2">
                                            <p:txEl>
                                              <p:pRg st="3" end="3"/>
                                            </p:txEl>
                                          </p:spTgt>
                                        </p:tgtEl>
                                      </p:cBhvr>
                                    </p:animEffect>
                                  </p:childTnLst>
                                </p:cTn>
                              </p:par>
                              <p:par>
                                <p:cTn id="39" presetID="3" presetClass="entr" presetSubtype="10" fill="hold" nodeType="withEffect">
                                  <p:stCondLst>
                                    <p:cond delay="0"/>
                                  </p:stCondLst>
                                  <p:childTnLst>
                                    <p:set>
                                      <p:cBhvr>
                                        <p:cTn id="40" dur="1" fill="hold">
                                          <p:stCondLst>
                                            <p:cond delay="0"/>
                                          </p:stCondLst>
                                        </p:cTn>
                                        <p:tgtEl>
                                          <p:spTgt spid="2">
                                            <p:txEl>
                                              <p:pRg st="4" end="4"/>
                                            </p:txEl>
                                          </p:spTgt>
                                        </p:tgtEl>
                                        <p:attrNameLst>
                                          <p:attrName>style.visibility</p:attrName>
                                        </p:attrNameLst>
                                      </p:cBhvr>
                                      <p:to>
                                        <p:strVal val="visible"/>
                                      </p:to>
                                    </p:set>
                                    <p:animEffect transition="in" filter="blinds(horizontal)">
                                      <p:cBhvr>
                                        <p:cTn id="41" dur="500"/>
                                        <p:tgtEl>
                                          <p:spTgt spid="2">
                                            <p:txEl>
                                              <p:pRg st="4" end="4"/>
                                            </p:txEl>
                                          </p:spTgt>
                                        </p:tgtEl>
                                      </p:cBhvr>
                                    </p:animEffect>
                                  </p:childTnLst>
                                </p:cTn>
                              </p:par>
                              <p:par>
                                <p:cTn id="42" presetID="3" presetClass="entr" presetSubtype="10" fill="hold" nodeType="withEffect">
                                  <p:stCondLst>
                                    <p:cond delay="0"/>
                                  </p:stCondLst>
                                  <p:childTnLst>
                                    <p:set>
                                      <p:cBhvr>
                                        <p:cTn id="43" dur="1" fill="hold">
                                          <p:stCondLst>
                                            <p:cond delay="0"/>
                                          </p:stCondLst>
                                        </p:cTn>
                                        <p:tgtEl>
                                          <p:spTgt spid="2">
                                            <p:txEl>
                                              <p:pRg st="5" end="5"/>
                                            </p:txEl>
                                          </p:spTgt>
                                        </p:tgtEl>
                                        <p:attrNameLst>
                                          <p:attrName>style.visibility</p:attrName>
                                        </p:attrNameLst>
                                      </p:cBhvr>
                                      <p:to>
                                        <p:strVal val="visible"/>
                                      </p:to>
                                    </p:set>
                                    <p:animEffect transition="in" filter="blinds(horizontal)">
                                      <p:cBhvr>
                                        <p:cTn id="44" dur="500"/>
                                        <p:tgtEl>
                                          <p:spTgt spid="2">
                                            <p:txEl>
                                              <p:pRg st="5" end="5"/>
                                            </p:txEl>
                                          </p:spTgt>
                                        </p:tgtEl>
                                      </p:cBhvr>
                                    </p:animEffect>
                                  </p:childTnLst>
                                </p:cTn>
                              </p:par>
                              <p:par>
                                <p:cTn id="45" presetID="3" presetClass="entr" presetSubtype="10" fill="hold" nodeType="withEffect">
                                  <p:stCondLst>
                                    <p:cond delay="0"/>
                                  </p:stCondLst>
                                  <p:childTnLst>
                                    <p:set>
                                      <p:cBhvr>
                                        <p:cTn id="46" dur="1" fill="hold">
                                          <p:stCondLst>
                                            <p:cond delay="0"/>
                                          </p:stCondLst>
                                        </p:cTn>
                                        <p:tgtEl>
                                          <p:spTgt spid="2">
                                            <p:txEl>
                                              <p:pRg st="6" end="6"/>
                                            </p:txEl>
                                          </p:spTgt>
                                        </p:tgtEl>
                                        <p:attrNameLst>
                                          <p:attrName>style.visibility</p:attrName>
                                        </p:attrNameLst>
                                      </p:cBhvr>
                                      <p:to>
                                        <p:strVal val="visible"/>
                                      </p:to>
                                    </p:set>
                                    <p:animEffect transition="in" filter="blinds(horizontal)">
                                      <p:cBhvr>
                                        <p:cTn id="47" dur="500"/>
                                        <p:tgtEl>
                                          <p:spTgt spid="2">
                                            <p:txEl>
                                              <p:pRg st="6" end="6"/>
                                            </p:txEl>
                                          </p:spTgt>
                                        </p:tgtEl>
                                      </p:cBhvr>
                                    </p:animEffect>
                                  </p:childTnLst>
                                </p:cTn>
                              </p:par>
                              <p:par>
                                <p:cTn id="48" presetID="3" presetClass="entr" presetSubtype="10" fill="hold" nodeType="withEffect">
                                  <p:stCondLst>
                                    <p:cond delay="0"/>
                                  </p:stCondLst>
                                  <p:childTnLst>
                                    <p:set>
                                      <p:cBhvr>
                                        <p:cTn id="49" dur="1" fill="hold">
                                          <p:stCondLst>
                                            <p:cond delay="0"/>
                                          </p:stCondLst>
                                        </p:cTn>
                                        <p:tgtEl>
                                          <p:spTgt spid="2">
                                            <p:txEl>
                                              <p:pRg st="7" end="7"/>
                                            </p:txEl>
                                          </p:spTgt>
                                        </p:tgtEl>
                                        <p:attrNameLst>
                                          <p:attrName>style.visibility</p:attrName>
                                        </p:attrNameLst>
                                      </p:cBhvr>
                                      <p:to>
                                        <p:strVal val="visible"/>
                                      </p:to>
                                    </p:set>
                                    <p:animEffect transition="in" filter="blinds(horizontal)">
                                      <p:cBhvr>
                                        <p:cTn id="50" dur="500"/>
                                        <p:tgtEl>
                                          <p:spTgt spid="2">
                                            <p:txEl>
                                              <p:pRg st="7" end="7"/>
                                            </p:txEl>
                                          </p:spTgt>
                                        </p:tgtEl>
                                      </p:cBhvr>
                                    </p:animEffect>
                                  </p:childTnLst>
                                </p:cTn>
                              </p:par>
                              <p:par>
                                <p:cTn id="51" presetID="3" presetClass="entr" presetSubtype="10" fill="hold" nodeType="withEffect">
                                  <p:stCondLst>
                                    <p:cond delay="0"/>
                                  </p:stCondLst>
                                  <p:childTnLst>
                                    <p:set>
                                      <p:cBhvr>
                                        <p:cTn id="52" dur="1" fill="hold">
                                          <p:stCondLst>
                                            <p:cond delay="0"/>
                                          </p:stCondLst>
                                        </p:cTn>
                                        <p:tgtEl>
                                          <p:spTgt spid="2">
                                            <p:txEl>
                                              <p:pRg st="8" end="8"/>
                                            </p:txEl>
                                          </p:spTgt>
                                        </p:tgtEl>
                                        <p:attrNameLst>
                                          <p:attrName>style.visibility</p:attrName>
                                        </p:attrNameLst>
                                      </p:cBhvr>
                                      <p:to>
                                        <p:strVal val="visible"/>
                                      </p:to>
                                    </p:set>
                                    <p:animEffect transition="in" filter="blinds(horizontal)">
                                      <p:cBhvr>
                                        <p:cTn id="53" dur="500"/>
                                        <p:tgtEl>
                                          <p:spTgt spid="2">
                                            <p:txEl>
                                              <p:pRg st="8" end="8"/>
                                            </p:txEl>
                                          </p:spTgt>
                                        </p:tgtEl>
                                      </p:cBhvr>
                                    </p:animEffect>
                                  </p:childTnLst>
                                </p:cTn>
                              </p:par>
                              <p:par>
                                <p:cTn id="54" presetID="3" presetClass="entr" presetSubtype="10" fill="hold" nodeType="withEffect">
                                  <p:stCondLst>
                                    <p:cond delay="0"/>
                                  </p:stCondLst>
                                  <p:childTnLst>
                                    <p:set>
                                      <p:cBhvr>
                                        <p:cTn id="55" dur="1" fill="hold">
                                          <p:stCondLst>
                                            <p:cond delay="0"/>
                                          </p:stCondLst>
                                        </p:cTn>
                                        <p:tgtEl>
                                          <p:spTgt spid="2">
                                            <p:txEl>
                                              <p:pRg st="9" end="9"/>
                                            </p:txEl>
                                          </p:spTgt>
                                        </p:tgtEl>
                                        <p:attrNameLst>
                                          <p:attrName>style.visibility</p:attrName>
                                        </p:attrNameLst>
                                      </p:cBhvr>
                                      <p:to>
                                        <p:strVal val="visible"/>
                                      </p:to>
                                    </p:set>
                                    <p:animEffect transition="in" filter="blinds(horizontal)">
                                      <p:cBhvr>
                                        <p:cTn id="56" dur="500"/>
                                        <p:tgtEl>
                                          <p:spTgt spid="2">
                                            <p:txEl>
                                              <p:pRg st="9" end="9"/>
                                            </p:txEl>
                                          </p:spTgt>
                                        </p:tgtEl>
                                      </p:cBhvr>
                                    </p:animEffect>
                                  </p:childTnLst>
                                </p:cTn>
                              </p:par>
                              <p:par>
                                <p:cTn id="57" presetID="3" presetClass="entr" presetSubtype="10" fill="hold" nodeType="withEffect">
                                  <p:stCondLst>
                                    <p:cond delay="0"/>
                                  </p:stCondLst>
                                  <p:childTnLst>
                                    <p:set>
                                      <p:cBhvr>
                                        <p:cTn id="58" dur="1" fill="hold">
                                          <p:stCondLst>
                                            <p:cond delay="0"/>
                                          </p:stCondLst>
                                        </p:cTn>
                                        <p:tgtEl>
                                          <p:spTgt spid="2">
                                            <p:txEl>
                                              <p:pRg st="10" end="10"/>
                                            </p:txEl>
                                          </p:spTgt>
                                        </p:tgtEl>
                                        <p:attrNameLst>
                                          <p:attrName>style.visibility</p:attrName>
                                        </p:attrNameLst>
                                      </p:cBhvr>
                                      <p:to>
                                        <p:strVal val="visible"/>
                                      </p:to>
                                    </p:set>
                                    <p:animEffect transition="in" filter="blinds(horizontal)">
                                      <p:cBhvr>
                                        <p:cTn id="59" dur="500"/>
                                        <p:tgtEl>
                                          <p:spTgt spid="2">
                                            <p:txEl>
                                              <p:pRg st="10" end="10"/>
                                            </p:txEl>
                                          </p:spTgt>
                                        </p:tgtEl>
                                      </p:cBhvr>
                                    </p:animEffect>
                                  </p:childTnLst>
                                </p:cTn>
                              </p:par>
                              <p:par>
                                <p:cTn id="60" presetID="3" presetClass="entr" presetSubtype="10" fill="hold" nodeType="withEffect">
                                  <p:stCondLst>
                                    <p:cond delay="0"/>
                                  </p:stCondLst>
                                  <p:childTnLst>
                                    <p:set>
                                      <p:cBhvr>
                                        <p:cTn id="61" dur="1" fill="hold">
                                          <p:stCondLst>
                                            <p:cond delay="0"/>
                                          </p:stCondLst>
                                        </p:cTn>
                                        <p:tgtEl>
                                          <p:spTgt spid="2">
                                            <p:txEl>
                                              <p:pRg st="11" end="11"/>
                                            </p:txEl>
                                          </p:spTgt>
                                        </p:tgtEl>
                                        <p:attrNameLst>
                                          <p:attrName>style.visibility</p:attrName>
                                        </p:attrNameLst>
                                      </p:cBhvr>
                                      <p:to>
                                        <p:strVal val="visible"/>
                                      </p:to>
                                    </p:set>
                                    <p:animEffect transition="in" filter="blinds(horizontal)">
                                      <p:cBhvr>
                                        <p:cTn id="62" dur="500"/>
                                        <p:tgtEl>
                                          <p:spTgt spid="2">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6" name="Text Box 4">
            <a:extLst>
              <a:ext uri="{FF2B5EF4-FFF2-40B4-BE49-F238E27FC236}">
                <a16:creationId xmlns:a16="http://schemas.microsoft.com/office/drawing/2014/main" id="{1F192114-2E64-E140-96CC-2B0E4867F05A}"/>
              </a:ext>
            </a:extLst>
          </p:cNvPr>
          <p:cNvSpPr txBox="1">
            <a:spLocks noChangeArrowheads="1"/>
          </p:cNvSpPr>
          <p:nvPr/>
        </p:nvSpPr>
        <p:spPr bwMode="auto">
          <a:xfrm>
            <a:off x="611188" y="260350"/>
            <a:ext cx="8012112" cy="612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eaLnBrk="0" fontAlgn="base" hangingPunct="0">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r>
              <a:rPr lang="zh-CN" altLang="en-US" sz="2800" dirty="0">
                <a:latin typeface="Microsoft YaHei" panose="020B0503020204020204" pitchFamily="34" charset="-122"/>
                <a:ea typeface="Microsoft YaHei" panose="020B0503020204020204" pitchFamily="34" charset="-122"/>
              </a:rPr>
              <a:t>以上这些软件算法和硬件设施所实现的互斥方案都是正确的，但都是</a:t>
            </a:r>
            <a:r>
              <a:rPr lang="zh-CN" altLang="en-US" sz="2800" dirty="0">
                <a:solidFill>
                  <a:srgbClr val="FF9900"/>
                </a:solidFill>
                <a:latin typeface="Microsoft YaHei" panose="020B0503020204020204" pitchFamily="34" charset="-122"/>
                <a:ea typeface="Microsoft YaHei" panose="020B0503020204020204" pitchFamily="34" charset="-122"/>
              </a:rPr>
              <a:t>忙等待</a:t>
            </a:r>
            <a:r>
              <a:rPr lang="zh-CN" altLang="en-US" sz="2800" dirty="0">
                <a:latin typeface="Microsoft YaHei" panose="020B0503020204020204" pitchFamily="34" charset="-122"/>
                <a:ea typeface="Microsoft YaHei" panose="020B0503020204020204" pitchFamily="34" charset="-122"/>
              </a:rPr>
              <a:t>方案。</a:t>
            </a:r>
          </a:p>
          <a:p>
            <a:pPr eaLnBrk="1" hangingPunct="1"/>
            <a:endParaRPr lang="zh-CN" altLang="en-US" sz="2800" dirty="0">
              <a:latin typeface="Microsoft YaHei" panose="020B0503020204020204" pitchFamily="34" charset="-122"/>
              <a:ea typeface="Microsoft YaHei" panose="020B0503020204020204" pitchFamily="34" charset="-122"/>
            </a:endParaRPr>
          </a:p>
          <a:p>
            <a:pPr eaLnBrk="1" hangingPunct="1"/>
            <a:r>
              <a:rPr lang="zh-CN" altLang="en-US" sz="2800" dirty="0">
                <a:latin typeface="Microsoft YaHei" panose="020B0503020204020204" pitchFamily="34" charset="-122"/>
                <a:ea typeface="Microsoft YaHei" panose="020B0503020204020204" pitchFamily="34" charset="-122"/>
              </a:rPr>
              <a:t>即都是这种工作模式：当一个进程想要进入临界区时，先检查是否允许进入，如果不允许，则该进程将</a:t>
            </a:r>
            <a:r>
              <a:rPr lang="zh-CN" altLang="en-US" sz="2800" dirty="0">
                <a:solidFill>
                  <a:srgbClr val="FF9900"/>
                </a:solidFill>
                <a:latin typeface="Microsoft YaHei" panose="020B0503020204020204" pitchFamily="34" charset="-122"/>
                <a:ea typeface="Microsoft YaHei" panose="020B0503020204020204" pitchFamily="34" charset="-122"/>
              </a:rPr>
              <a:t>原地等待（注意是在运行中</a:t>
            </a:r>
            <a:r>
              <a:rPr lang="en-US" altLang="zh-CN" sz="2800" dirty="0">
                <a:solidFill>
                  <a:srgbClr val="FF9900"/>
                </a:solidFill>
                <a:latin typeface="Microsoft YaHei" panose="020B0503020204020204" pitchFamily="34" charset="-122"/>
                <a:ea typeface="Microsoft YaHei" panose="020B0503020204020204" pitchFamily="34" charset="-122"/>
              </a:rPr>
              <a:t>while</a:t>
            </a:r>
            <a:r>
              <a:rPr lang="zh-CN" altLang="en-US" sz="2800" dirty="0">
                <a:solidFill>
                  <a:srgbClr val="FF9900"/>
                </a:solidFill>
                <a:latin typeface="Microsoft YaHei" panose="020B0503020204020204" pitchFamily="34" charset="-122"/>
                <a:ea typeface="Microsoft YaHei" panose="020B0503020204020204" pitchFamily="34" charset="-122"/>
              </a:rPr>
              <a:t>循环）</a:t>
            </a:r>
            <a:r>
              <a:rPr lang="zh-CN" altLang="en-US" sz="2800" dirty="0">
                <a:latin typeface="Microsoft YaHei" panose="020B0503020204020204" pitchFamily="34" charset="-122"/>
                <a:ea typeface="Microsoft YaHei" panose="020B0503020204020204" pitchFamily="34" charset="-122"/>
              </a:rPr>
              <a:t>，直到允许为止。</a:t>
            </a:r>
          </a:p>
          <a:p>
            <a:pPr eaLnBrk="1" hangingPunct="1"/>
            <a:endParaRPr lang="zh-CN" altLang="en-US" sz="2800" dirty="0">
              <a:latin typeface="Microsoft YaHei" panose="020B0503020204020204" pitchFamily="34" charset="-122"/>
              <a:ea typeface="Microsoft YaHei" panose="020B0503020204020204" pitchFamily="34" charset="-122"/>
            </a:endParaRPr>
          </a:p>
          <a:p>
            <a:pPr eaLnBrk="1" hangingPunct="1"/>
            <a:r>
              <a:rPr lang="zh-CN" altLang="en-US" sz="2800" dirty="0">
                <a:latin typeface="Microsoft YaHei" panose="020B0503020204020204" pitchFamily="34" charset="-122"/>
                <a:ea typeface="Microsoft YaHei" panose="020B0503020204020204" pitchFamily="34" charset="-122"/>
              </a:rPr>
              <a:t>忙等待方案的问题：</a:t>
            </a:r>
          </a:p>
          <a:p>
            <a:pPr eaLnBrk="1" hangingPunct="1"/>
            <a:r>
              <a:rPr lang="zh-CN" altLang="en-US" sz="2800" dirty="0">
                <a:latin typeface="Microsoft YaHei" panose="020B0503020204020204" pitchFamily="34" charset="-122"/>
                <a:ea typeface="Microsoft YaHei" panose="020B0503020204020204" pitchFamily="34" charset="-122"/>
              </a:rPr>
              <a:t>     </a:t>
            </a:r>
            <a:r>
              <a:rPr lang="zh-CN" altLang="en-US" sz="2800" dirty="0">
                <a:solidFill>
                  <a:srgbClr val="FF9900"/>
                </a:solidFill>
                <a:latin typeface="Microsoft YaHei" panose="020B0503020204020204" pitchFamily="34" charset="-122"/>
                <a:ea typeface="Microsoft YaHei" panose="020B0503020204020204" pitchFamily="34" charset="-122"/>
              </a:rPr>
              <a:t>浪费</a:t>
            </a:r>
            <a:r>
              <a:rPr lang="en-US" altLang="zh-CN" sz="2800" dirty="0">
                <a:solidFill>
                  <a:srgbClr val="FF9900"/>
                </a:solidFill>
                <a:latin typeface="Microsoft YaHei" panose="020B0503020204020204" pitchFamily="34" charset="-122"/>
                <a:ea typeface="Microsoft YaHei" panose="020B0503020204020204" pitchFamily="34" charset="-122"/>
              </a:rPr>
              <a:t>CPU</a:t>
            </a:r>
            <a:r>
              <a:rPr lang="zh-CN" altLang="en-US" sz="2800" dirty="0">
                <a:solidFill>
                  <a:srgbClr val="FF9900"/>
                </a:solidFill>
                <a:latin typeface="Microsoft YaHei" panose="020B0503020204020204" pitchFamily="34" charset="-122"/>
                <a:ea typeface="Microsoft YaHei" panose="020B0503020204020204" pitchFamily="34" charset="-122"/>
              </a:rPr>
              <a:t>时间</a:t>
            </a:r>
          </a:p>
          <a:p>
            <a:pPr eaLnBrk="1" hangingPunct="1"/>
            <a:r>
              <a:rPr lang="zh-CN" altLang="en-US" sz="2800" dirty="0">
                <a:latin typeface="Microsoft YaHei" panose="020B0503020204020204" pitchFamily="34" charset="-122"/>
                <a:ea typeface="Microsoft YaHei" panose="020B0503020204020204" pitchFamily="34" charset="-122"/>
              </a:rPr>
              <a:t>     如果进程有优先级，有可能造成</a:t>
            </a:r>
            <a:r>
              <a:rPr lang="zh-CN" altLang="en-US" sz="2800" dirty="0">
                <a:solidFill>
                  <a:srgbClr val="FF9900"/>
                </a:solidFill>
                <a:latin typeface="Microsoft YaHei" panose="020B0503020204020204" pitchFamily="34" charset="-122"/>
                <a:ea typeface="Microsoft YaHei" panose="020B0503020204020204" pitchFamily="34" charset="-122"/>
              </a:rPr>
              <a:t>无限等待</a:t>
            </a:r>
            <a:r>
              <a:rPr lang="zh-CN" altLang="en-US" sz="2800" dirty="0">
                <a:latin typeface="Microsoft YaHei" panose="020B0503020204020204" pitchFamily="34" charset="-122"/>
                <a:ea typeface="Microsoft YaHei" panose="020B0503020204020204" pitchFamily="34" charset="-122"/>
              </a:rPr>
              <a:t>（死锁）。</a:t>
            </a:r>
          </a:p>
          <a:p>
            <a:pPr eaLnBrk="1" hangingPunct="1"/>
            <a:endParaRPr lang="zh-CN" altLang="en-US" sz="2800" dirty="0">
              <a:latin typeface="Microsoft YaHei" panose="020B0503020204020204" pitchFamily="34" charset="-122"/>
              <a:ea typeface="Microsoft YaHei" panose="020B0503020204020204" pitchFamily="34" charset="-122"/>
            </a:endParaRPr>
          </a:p>
          <a:p>
            <a:pPr eaLnBrk="1" hangingPunct="1"/>
            <a:r>
              <a:rPr lang="zh-CN" altLang="en-US" sz="2800" dirty="0">
                <a:latin typeface="Microsoft YaHei" panose="020B0503020204020204" pitchFamily="34" charset="-122"/>
                <a:ea typeface="Microsoft YaHei" panose="020B0503020204020204" pitchFamily="34" charset="-122"/>
              </a:rPr>
              <a:t>因此，需要</a:t>
            </a:r>
            <a:r>
              <a:rPr lang="zh-CN" altLang="en-US" sz="2800" dirty="0">
                <a:solidFill>
                  <a:srgbClr val="FF9900"/>
                </a:solidFill>
                <a:latin typeface="Microsoft YaHei" panose="020B0503020204020204" pitchFamily="34" charset="-122"/>
                <a:ea typeface="Microsoft YaHei" panose="020B0503020204020204" pitchFamily="34" charset="-122"/>
              </a:rPr>
              <a:t>非忙等待</a:t>
            </a:r>
            <a:r>
              <a:rPr lang="zh-CN" altLang="en-US" sz="2800" dirty="0">
                <a:latin typeface="Microsoft YaHei" panose="020B0503020204020204" pitchFamily="34" charset="-122"/>
                <a:ea typeface="Microsoft YaHei" panose="020B0503020204020204" pitchFamily="34" charset="-122"/>
              </a:rPr>
              <a:t>方案。   </a:t>
            </a:r>
          </a:p>
        </p:txBody>
      </p:sp>
    </p:spTree>
    <p:extLst>
      <p:ext uri="{BB962C8B-B14F-4D97-AF65-F5344CB8AC3E}">
        <p14:creationId xmlns:p14="http://schemas.microsoft.com/office/powerpoint/2010/main" val="4046428047"/>
      </p:ext>
    </p:extLst>
  </p:cSld>
  <p:clrMapOvr>
    <a:masterClrMapping/>
  </p:clrMapOvr>
  <p:transition spd="slow"/>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3796">
                                            <p:txEl>
                                              <p:pRg st="0" end="0"/>
                                            </p:txEl>
                                          </p:spTgt>
                                        </p:tgtEl>
                                        <p:attrNameLst>
                                          <p:attrName>style.visibility</p:attrName>
                                        </p:attrNameLst>
                                      </p:cBhvr>
                                      <p:to>
                                        <p:strVal val="visible"/>
                                      </p:to>
                                    </p:set>
                                    <p:animEffect transition="in" filter="blinds(horizontal)">
                                      <p:cBhvr>
                                        <p:cTn id="7" dur="500"/>
                                        <p:tgtEl>
                                          <p:spTgt spid="3379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3796">
                                            <p:txEl>
                                              <p:pRg st="2" end="2"/>
                                            </p:txEl>
                                          </p:spTgt>
                                        </p:tgtEl>
                                        <p:attrNameLst>
                                          <p:attrName>style.visibility</p:attrName>
                                        </p:attrNameLst>
                                      </p:cBhvr>
                                      <p:to>
                                        <p:strVal val="visible"/>
                                      </p:to>
                                    </p:set>
                                    <p:animEffect transition="in" filter="blinds(horizontal)">
                                      <p:cBhvr>
                                        <p:cTn id="12" dur="500"/>
                                        <p:tgtEl>
                                          <p:spTgt spid="33796">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33796">
                                            <p:txEl>
                                              <p:pRg st="4" end="4"/>
                                            </p:txEl>
                                          </p:spTgt>
                                        </p:tgtEl>
                                        <p:attrNameLst>
                                          <p:attrName>style.visibility</p:attrName>
                                        </p:attrNameLst>
                                      </p:cBhvr>
                                      <p:to>
                                        <p:strVal val="visible"/>
                                      </p:to>
                                    </p:set>
                                    <p:animEffect transition="in" filter="blinds(horizontal)">
                                      <p:cBhvr>
                                        <p:cTn id="17" dur="500"/>
                                        <p:tgtEl>
                                          <p:spTgt spid="33796">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33796">
                                            <p:txEl>
                                              <p:pRg st="5" end="5"/>
                                            </p:txEl>
                                          </p:spTgt>
                                        </p:tgtEl>
                                        <p:attrNameLst>
                                          <p:attrName>style.visibility</p:attrName>
                                        </p:attrNameLst>
                                      </p:cBhvr>
                                      <p:to>
                                        <p:strVal val="visible"/>
                                      </p:to>
                                    </p:set>
                                    <p:animEffect transition="in" filter="blinds(horizontal)">
                                      <p:cBhvr>
                                        <p:cTn id="22" dur="500"/>
                                        <p:tgtEl>
                                          <p:spTgt spid="33796">
                                            <p:txEl>
                                              <p:pRg st="5" end="5"/>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33796">
                                            <p:txEl>
                                              <p:pRg st="6" end="6"/>
                                            </p:txEl>
                                          </p:spTgt>
                                        </p:tgtEl>
                                        <p:attrNameLst>
                                          <p:attrName>style.visibility</p:attrName>
                                        </p:attrNameLst>
                                      </p:cBhvr>
                                      <p:to>
                                        <p:strVal val="visible"/>
                                      </p:to>
                                    </p:set>
                                    <p:animEffect transition="in" filter="blinds(horizontal)">
                                      <p:cBhvr>
                                        <p:cTn id="27" dur="500"/>
                                        <p:tgtEl>
                                          <p:spTgt spid="33796">
                                            <p:txEl>
                                              <p:pRg st="6" end="6"/>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3796">
                                            <p:txEl>
                                              <p:pRg st="8" end="8"/>
                                            </p:txEl>
                                          </p:spTgt>
                                        </p:tgtEl>
                                        <p:attrNameLst>
                                          <p:attrName>style.visibility</p:attrName>
                                        </p:attrNameLst>
                                      </p:cBhvr>
                                      <p:to>
                                        <p:strVal val="visible"/>
                                      </p:to>
                                    </p:set>
                                    <p:animEffect transition="in" filter="blinds(horizontal)">
                                      <p:cBhvr>
                                        <p:cTn id="32" dur="500"/>
                                        <p:tgtEl>
                                          <p:spTgt spid="33796">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页脚占位符 3">
            <a:extLst>
              <a:ext uri="{FF2B5EF4-FFF2-40B4-BE49-F238E27FC236}">
                <a16:creationId xmlns:a16="http://schemas.microsoft.com/office/drawing/2014/main" id="{CE3A5AC6-0009-BF46-8556-A772BC741F8D}"/>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20A30E1E-2A29-134D-8C08-36C941266111}" type="slidenum">
              <a:rPr altLang="en-US" smtClean="0"/>
              <a:pPr algn="ctr"/>
              <a:t>39</a:t>
            </a:fld>
            <a:endParaRPr lang="en-US" altLang="en-US"/>
          </a:p>
        </p:txBody>
      </p:sp>
      <p:sp>
        <p:nvSpPr>
          <p:cNvPr id="27650" name="Rectangle 1027">
            <a:extLst>
              <a:ext uri="{FF2B5EF4-FFF2-40B4-BE49-F238E27FC236}">
                <a16:creationId xmlns:a16="http://schemas.microsoft.com/office/drawing/2014/main" id="{620945BF-F787-EB43-8067-6FAB7E9CF884}"/>
              </a:ext>
            </a:extLst>
          </p:cNvPr>
          <p:cNvSpPr>
            <a:spLocks noGrp="1" noChangeArrowheads="1"/>
          </p:cNvSpPr>
          <p:nvPr>
            <p:ph idx="1"/>
          </p:nvPr>
        </p:nvSpPr>
        <p:spPr>
          <a:xfrm>
            <a:off x="914400" y="1778000"/>
            <a:ext cx="7543800" cy="4229100"/>
          </a:xfrm>
        </p:spPr>
        <p:txBody>
          <a:bodyPr/>
          <a:lstStyle/>
          <a:p>
            <a:pPr eaLnBrk="1" hangingPunct="1">
              <a:buClr>
                <a:srgbClr val="CC3300"/>
              </a:buClr>
              <a:buFontTx/>
              <a:buBlip>
                <a:blip r:embed="rId2"/>
              </a:buBlip>
            </a:pPr>
            <a:r>
              <a:rPr lang="zh-CN" altLang="en-US"/>
              <a:t> </a:t>
            </a:r>
            <a:r>
              <a:rPr lang="zh-CN" altLang="en-US" sz="2800"/>
              <a:t>基本概念</a:t>
            </a:r>
          </a:p>
          <a:p>
            <a:pPr lvl="1" eaLnBrk="1" hangingPunct="1">
              <a:lnSpc>
                <a:spcPct val="150000"/>
              </a:lnSpc>
              <a:spcBef>
                <a:spcPct val="0"/>
              </a:spcBef>
              <a:buClr>
                <a:srgbClr val="CC3300"/>
              </a:buClr>
              <a:buFont typeface="Wingdings" pitchFamily="2" charset="2"/>
              <a:buChar char="Ø"/>
            </a:pPr>
            <a:r>
              <a:rPr lang="zh-CN" altLang="en-US"/>
              <a:t> </a:t>
            </a:r>
            <a:r>
              <a:rPr lang="zh-CN" altLang="en-US" sz="2400"/>
              <a:t>同步机制</a:t>
            </a:r>
            <a:endParaRPr lang="en-US" altLang="zh-CN" sz="2400"/>
          </a:p>
          <a:p>
            <a:pPr lvl="2" eaLnBrk="1" hangingPunct="1">
              <a:lnSpc>
                <a:spcPct val="150000"/>
              </a:lnSpc>
              <a:spcBef>
                <a:spcPct val="0"/>
              </a:spcBef>
              <a:buClr>
                <a:srgbClr val="CC3300"/>
              </a:buClr>
              <a:buSzPct val="80000"/>
              <a:buFont typeface="Wingdings" pitchFamily="2" charset="2"/>
              <a:buChar char="n"/>
            </a:pPr>
            <a:r>
              <a:rPr lang="en-US" altLang="zh-CN">
                <a:latin typeface="隶书" pitchFamily="49" charset="-122"/>
              </a:rPr>
              <a:t>OS</a:t>
            </a:r>
            <a:r>
              <a:rPr lang="zh-CN" altLang="en-US">
                <a:latin typeface="隶书" pitchFamily="49" charset="-122"/>
              </a:rPr>
              <a:t>从进程管理者角度来处理进程间同步互斥</a:t>
            </a:r>
            <a:endParaRPr lang="en-US" altLang="zh-CN">
              <a:latin typeface="隶书" pitchFamily="49" charset="-122"/>
            </a:endParaRPr>
          </a:p>
          <a:p>
            <a:pPr lvl="2" eaLnBrk="1" hangingPunct="1">
              <a:lnSpc>
                <a:spcPct val="150000"/>
              </a:lnSpc>
              <a:spcBef>
                <a:spcPct val="0"/>
              </a:spcBef>
              <a:buClr>
                <a:srgbClr val="CC3300"/>
              </a:buClr>
              <a:buSzPct val="80000"/>
              <a:buFontTx/>
              <a:buNone/>
            </a:pPr>
            <a:r>
              <a:rPr lang="en-US" altLang="zh-CN">
                <a:latin typeface="隶书" pitchFamily="49" charset="-122"/>
              </a:rPr>
              <a:t>  </a:t>
            </a:r>
            <a:r>
              <a:rPr lang="zh-CN" altLang="en-US">
                <a:latin typeface="隶书" pitchFamily="49" charset="-122"/>
              </a:rPr>
              <a:t>问题的机制。</a:t>
            </a:r>
          </a:p>
          <a:p>
            <a:pPr lvl="1" eaLnBrk="1" hangingPunct="1">
              <a:lnSpc>
                <a:spcPct val="150000"/>
              </a:lnSpc>
              <a:spcBef>
                <a:spcPct val="0"/>
              </a:spcBef>
              <a:buClr>
                <a:srgbClr val="CC3300"/>
              </a:buClr>
              <a:buFont typeface="Wingdings" pitchFamily="2" charset="2"/>
              <a:buChar char="Ø"/>
            </a:pPr>
            <a:r>
              <a:rPr lang="zh-CN" altLang="en-US" sz="2400">
                <a:latin typeface="隶书" pitchFamily="49" charset="-122"/>
              </a:rPr>
              <a:t> 同步机制方法</a:t>
            </a:r>
          </a:p>
          <a:p>
            <a:pPr lvl="2" eaLnBrk="1" hangingPunct="1">
              <a:lnSpc>
                <a:spcPct val="150000"/>
              </a:lnSpc>
              <a:spcBef>
                <a:spcPct val="0"/>
              </a:spcBef>
              <a:buClr>
                <a:srgbClr val="C00000"/>
              </a:buClr>
              <a:buSzPct val="80000"/>
              <a:buFont typeface="Wingdings" pitchFamily="2" charset="2"/>
              <a:buChar char="n"/>
            </a:pPr>
            <a:r>
              <a:rPr lang="zh-CN" altLang="en-US">
                <a:latin typeface="隶书" pitchFamily="49" charset="-122"/>
              </a:rPr>
              <a:t>信号量</a:t>
            </a:r>
            <a:r>
              <a:rPr lang="en-US" altLang="zh-CN">
                <a:latin typeface="隶书" pitchFamily="49" charset="-122"/>
              </a:rPr>
              <a:t>P、V</a:t>
            </a:r>
            <a:r>
              <a:rPr lang="zh-CN" altLang="en-US">
                <a:latin typeface="隶书" pitchFamily="49" charset="-122"/>
              </a:rPr>
              <a:t>操作；</a:t>
            </a:r>
            <a:endParaRPr lang="en-US" altLang="zh-CN">
              <a:latin typeface="隶书" pitchFamily="49" charset="-122"/>
            </a:endParaRPr>
          </a:p>
          <a:p>
            <a:pPr lvl="2" eaLnBrk="1" hangingPunct="1">
              <a:lnSpc>
                <a:spcPct val="150000"/>
              </a:lnSpc>
              <a:spcBef>
                <a:spcPct val="0"/>
              </a:spcBef>
              <a:buClr>
                <a:srgbClr val="C00000"/>
              </a:buClr>
              <a:buSzPct val="80000"/>
              <a:buFont typeface="Wingdings" pitchFamily="2" charset="2"/>
              <a:buChar char="n"/>
            </a:pPr>
            <a:r>
              <a:rPr lang="zh-CN" altLang="en-US">
                <a:latin typeface="隶书" pitchFamily="49" charset="-122"/>
              </a:rPr>
              <a:t>管程；</a:t>
            </a:r>
            <a:endParaRPr lang="en-US" altLang="zh-CN">
              <a:latin typeface="隶书" pitchFamily="49" charset="-122"/>
            </a:endParaRPr>
          </a:p>
          <a:p>
            <a:pPr lvl="2" eaLnBrk="1" hangingPunct="1">
              <a:lnSpc>
                <a:spcPct val="150000"/>
              </a:lnSpc>
              <a:spcBef>
                <a:spcPct val="0"/>
              </a:spcBef>
              <a:buClr>
                <a:srgbClr val="C00000"/>
              </a:buClr>
              <a:buSzPct val="80000"/>
              <a:buFont typeface="Wingdings" pitchFamily="2" charset="2"/>
              <a:buChar char="n"/>
            </a:pPr>
            <a:r>
              <a:rPr lang="zh-CN" altLang="en-US">
                <a:latin typeface="隶书" pitchFamily="49" charset="-122"/>
              </a:rPr>
              <a:t>条件临界域等</a:t>
            </a:r>
          </a:p>
          <a:p>
            <a:pPr eaLnBrk="1" hangingPunct="1">
              <a:lnSpc>
                <a:spcPct val="80000"/>
              </a:lnSpc>
              <a:buFontTx/>
              <a:buNone/>
            </a:pPr>
            <a:endParaRPr lang="zh-CN" altLang="en-US"/>
          </a:p>
        </p:txBody>
      </p:sp>
      <p:sp>
        <p:nvSpPr>
          <p:cNvPr id="27651" name="Rectangle 1028">
            <a:extLst>
              <a:ext uri="{FF2B5EF4-FFF2-40B4-BE49-F238E27FC236}">
                <a16:creationId xmlns:a16="http://schemas.microsoft.com/office/drawing/2014/main" id="{46FB7389-C8E2-DF4A-9452-06E7D94AE4AB}"/>
              </a:ext>
            </a:extLst>
          </p:cNvPr>
          <p:cNvSpPr>
            <a:spLocks noGrp="1" noChangeArrowheads="1"/>
          </p:cNvSpPr>
          <p:nvPr>
            <p:ph type="title"/>
          </p:nvPr>
        </p:nvSpPr>
        <p:spPr/>
        <p:txBody>
          <a:bodyPr/>
          <a:lstStyle/>
          <a:p>
            <a:pPr eaLnBrk="1" hangingPunct="1"/>
            <a:r>
              <a:rPr lang="zh-CN" altLang="en-US">
                <a:latin typeface="隶书" pitchFamily="49" charset="-122"/>
              </a:rPr>
              <a:t>同步机制</a:t>
            </a:r>
          </a:p>
        </p:txBody>
      </p:sp>
    </p:spTree>
    <p:extLst>
      <p:ext uri="{BB962C8B-B14F-4D97-AF65-F5344CB8AC3E}">
        <p14:creationId xmlns:p14="http://schemas.microsoft.com/office/powerpoint/2010/main" val="105333158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页脚占位符 3">
            <a:extLst>
              <a:ext uri="{FF2B5EF4-FFF2-40B4-BE49-F238E27FC236}">
                <a16:creationId xmlns:a16="http://schemas.microsoft.com/office/drawing/2014/main" id="{302C4AD4-1419-ED48-A68F-BC6D37126E4D}"/>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7A9CF298-48F6-C745-B03D-B2A89EB89975}" type="slidenum">
              <a:rPr altLang="en-US" smtClean="0"/>
              <a:pPr algn="ctr"/>
              <a:t>40</a:t>
            </a:fld>
            <a:endParaRPr lang="en-US" altLang="en-US"/>
          </a:p>
        </p:txBody>
      </p:sp>
      <p:sp>
        <p:nvSpPr>
          <p:cNvPr id="28674" name="Rectangle 3">
            <a:extLst>
              <a:ext uri="{FF2B5EF4-FFF2-40B4-BE49-F238E27FC236}">
                <a16:creationId xmlns:a16="http://schemas.microsoft.com/office/drawing/2014/main" id="{2F53FE6A-B97C-F14B-98D4-0DA8663EFC4D}"/>
              </a:ext>
            </a:extLst>
          </p:cNvPr>
          <p:cNvSpPr>
            <a:spLocks noGrp="1" noChangeArrowheads="1"/>
          </p:cNvSpPr>
          <p:nvPr>
            <p:ph idx="1"/>
          </p:nvPr>
        </p:nvSpPr>
        <p:spPr>
          <a:xfrm>
            <a:off x="914400" y="1892300"/>
            <a:ext cx="7543800" cy="4203700"/>
          </a:xfrm>
        </p:spPr>
        <p:txBody>
          <a:bodyPr/>
          <a:lstStyle/>
          <a:p>
            <a:pPr eaLnBrk="1" hangingPunct="1">
              <a:buClr>
                <a:srgbClr val="CC3300"/>
              </a:buClr>
              <a:buFontTx/>
              <a:buBlip>
                <a:blip r:embed="rId2"/>
              </a:buBlip>
            </a:pPr>
            <a:r>
              <a:rPr lang="zh-CN" altLang="en-US"/>
              <a:t> 信号量定义</a:t>
            </a:r>
          </a:p>
          <a:p>
            <a:pPr lvl="1" eaLnBrk="1" hangingPunct="1">
              <a:buClr>
                <a:srgbClr val="CC3300"/>
              </a:buClr>
              <a:buFont typeface="Wingdings" pitchFamily="2" charset="2"/>
              <a:buChar char="Ø"/>
            </a:pPr>
            <a:r>
              <a:rPr lang="zh-CN" altLang="en-US">
                <a:latin typeface="宋体" panose="02010600030101010101" pitchFamily="2" charset="-122"/>
              </a:rPr>
              <a:t> 信号量表示资源的实体，是一个与队列有关的整型变量。</a:t>
            </a:r>
          </a:p>
          <a:p>
            <a:pPr lvl="1" eaLnBrk="1" hangingPunct="1">
              <a:buClr>
                <a:srgbClr val="CC3300"/>
              </a:buClr>
              <a:buFont typeface="Wingdings" pitchFamily="2" charset="2"/>
              <a:buNone/>
            </a:pPr>
            <a:r>
              <a:rPr lang="zh-CN" altLang="en-US">
                <a:latin typeface="宋体" panose="02010600030101010101" pitchFamily="2" charset="-122"/>
              </a:rPr>
              <a:t>   </a:t>
            </a:r>
            <a:r>
              <a:rPr lang="en-US" altLang="zh-CN" sz="2400"/>
              <a:t>struct semaphore </a:t>
            </a:r>
          </a:p>
          <a:p>
            <a:pPr lvl="1" eaLnBrk="1" hangingPunct="1">
              <a:buClr>
                <a:srgbClr val="CC3300"/>
              </a:buClr>
              <a:buFont typeface="Wingdings" pitchFamily="2" charset="2"/>
              <a:buNone/>
            </a:pPr>
            <a:r>
              <a:rPr lang="en-US" altLang="zh-CN" sz="2400"/>
              <a:t>      {</a:t>
            </a:r>
          </a:p>
          <a:p>
            <a:pPr lvl="1" eaLnBrk="1" hangingPunct="1">
              <a:buClr>
                <a:srgbClr val="CC3300"/>
              </a:buClr>
              <a:buFont typeface="Wingdings" pitchFamily="2" charset="2"/>
              <a:buNone/>
            </a:pPr>
            <a:r>
              <a:rPr lang="en-US" altLang="zh-CN" sz="2400"/>
              <a:t>	      int value;</a:t>
            </a:r>
          </a:p>
          <a:p>
            <a:pPr lvl="1" eaLnBrk="1" hangingPunct="1">
              <a:buClr>
                <a:srgbClr val="CC3300"/>
              </a:buClr>
              <a:buFont typeface="Wingdings" pitchFamily="2" charset="2"/>
              <a:buNone/>
            </a:pPr>
            <a:r>
              <a:rPr lang="en-US" altLang="zh-CN" sz="2400"/>
              <a:t>	      pointer_PCB queue; //</a:t>
            </a:r>
            <a:r>
              <a:rPr lang="zh-CN" altLang="en-US" sz="2400"/>
              <a:t>阻塞在该信号量的各个进</a:t>
            </a:r>
            <a:endParaRPr lang="en-US" altLang="zh-CN" sz="2400"/>
          </a:p>
          <a:p>
            <a:pPr lvl="1" eaLnBrk="1" hangingPunct="1">
              <a:buClr>
                <a:srgbClr val="CC3300"/>
              </a:buClr>
              <a:buFont typeface="Wingdings" pitchFamily="2" charset="2"/>
              <a:buNone/>
            </a:pPr>
            <a:r>
              <a:rPr lang="en-US" altLang="zh-CN" sz="2400"/>
              <a:t>                                              </a:t>
            </a:r>
            <a:r>
              <a:rPr lang="zh-CN" altLang="en-US" sz="2400"/>
              <a:t>程的标识</a:t>
            </a:r>
          </a:p>
          <a:p>
            <a:pPr lvl="1" eaLnBrk="1" hangingPunct="1">
              <a:buClr>
                <a:srgbClr val="CC3300"/>
              </a:buClr>
              <a:buFont typeface="Wingdings" pitchFamily="2" charset="2"/>
              <a:buNone/>
            </a:pPr>
            <a:r>
              <a:rPr lang="zh-CN" altLang="en-US" sz="2400"/>
              <a:t>      }</a:t>
            </a:r>
          </a:p>
        </p:txBody>
      </p:sp>
      <p:sp>
        <p:nvSpPr>
          <p:cNvPr id="190468" name="Rectangle 4">
            <a:extLst>
              <a:ext uri="{FF2B5EF4-FFF2-40B4-BE49-F238E27FC236}">
                <a16:creationId xmlns:a16="http://schemas.microsoft.com/office/drawing/2014/main" id="{E96E1B25-AA61-E24C-B5F7-EE3870BCDE2F}"/>
              </a:ext>
            </a:extLst>
          </p:cNvPr>
          <p:cNvSpPr>
            <a:spLocks noGrp="1" noChangeArrowheads="1"/>
          </p:cNvSpPr>
          <p:nvPr>
            <p:ph type="title"/>
          </p:nvPr>
        </p:nvSpPr>
        <p:spPr>
          <a:ln>
            <a:miter/>
          </a:ln>
        </p:spPr>
        <p:txBody>
          <a:bodyPr/>
          <a:lstStyle/>
          <a:p>
            <a:pPr eaLnBrk="1" hangingPunct="1">
              <a:defRPr/>
            </a:pPr>
            <a:r>
              <a:rPr kumimoji="1" lang="zh-CN" altLang="en-US" dirty="0">
                <a:latin typeface="隶书" panose="02010509060101010101" pitchFamily="49" charset="-122"/>
              </a:rPr>
              <a:t>信号量</a:t>
            </a:r>
            <a:r>
              <a:rPr kumimoji="1" lang="zh-CN" altLang="en-US" sz="2400" dirty="0">
                <a:latin typeface="+mn-lt"/>
              </a:rPr>
              <a:t>（</a:t>
            </a:r>
            <a:r>
              <a:rPr kumimoji="1" lang="en-US" altLang="zh-CN" sz="2400" dirty="0">
                <a:latin typeface="+mn-lt"/>
              </a:rPr>
              <a:t>1/3</a:t>
            </a:r>
            <a:r>
              <a:rPr kumimoji="1" lang="zh-CN" altLang="en-US" sz="2400" dirty="0">
                <a:latin typeface="+mn-lt"/>
              </a:rPr>
              <a:t>）</a:t>
            </a:r>
          </a:p>
        </p:txBody>
      </p:sp>
    </p:spTree>
    <p:extLst>
      <p:ext uri="{BB962C8B-B14F-4D97-AF65-F5344CB8AC3E}">
        <p14:creationId xmlns:p14="http://schemas.microsoft.com/office/powerpoint/2010/main" val="27477429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页脚占位符 3">
            <a:extLst>
              <a:ext uri="{FF2B5EF4-FFF2-40B4-BE49-F238E27FC236}">
                <a16:creationId xmlns:a16="http://schemas.microsoft.com/office/drawing/2014/main" id="{FC196894-9990-CA43-ADA2-40DCB0FB777D}"/>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C27535DB-961A-F84E-8F5C-404C63268B79}" type="slidenum">
              <a:rPr altLang="en-US" smtClean="0"/>
              <a:pPr algn="ctr"/>
              <a:t>41</a:t>
            </a:fld>
            <a:endParaRPr lang="en-US" altLang="en-US"/>
          </a:p>
        </p:txBody>
      </p:sp>
      <p:sp>
        <p:nvSpPr>
          <p:cNvPr id="29698" name="Rectangle 3">
            <a:extLst>
              <a:ext uri="{FF2B5EF4-FFF2-40B4-BE49-F238E27FC236}">
                <a16:creationId xmlns:a16="http://schemas.microsoft.com/office/drawing/2014/main" id="{5F665E40-8227-6C44-BEAF-999349703698}"/>
              </a:ext>
            </a:extLst>
          </p:cNvPr>
          <p:cNvSpPr>
            <a:spLocks noGrp="1" noChangeArrowheads="1"/>
          </p:cNvSpPr>
          <p:nvPr>
            <p:ph idx="1"/>
          </p:nvPr>
        </p:nvSpPr>
        <p:spPr>
          <a:xfrm>
            <a:off x="914400" y="1866900"/>
            <a:ext cx="7543800" cy="4229100"/>
          </a:xfrm>
        </p:spPr>
        <p:txBody>
          <a:bodyPr/>
          <a:lstStyle/>
          <a:p>
            <a:pPr eaLnBrk="1" hangingPunct="1">
              <a:lnSpc>
                <a:spcPct val="150000"/>
              </a:lnSpc>
              <a:spcBef>
                <a:spcPct val="0"/>
              </a:spcBef>
              <a:buClr>
                <a:srgbClr val="CC3300"/>
              </a:buClr>
              <a:buFont typeface="Wingdings" pitchFamily="2" charset="2"/>
              <a:buChar char="Ø"/>
            </a:pPr>
            <a:r>
              <a:rPr lang="zh-CN" altLang="en-US" sz="2800">
                <a:latin typeface="宋体" panose="02010600030101010101" pitchFamily="2" charset="-122"/>
              </a:rPr>
              <a:t>信号量说明：</a:t>
            </a:r>
            <a:r>
              <a:rPr lang="en-US" altLang="zh-CN" sz="2800"/>
              <a:t>semaphore s;</a:t>
            </a:r>
            <a:endParaRPr lang="en-US" altLang="zh-CN" sz="2800">
              <a:latin typeface="宋体" panose="02010600030101010101" pitchFamily="2" charset="-122"/>
            </a:endParaRPr>
          </a:p>
          <a:p>
            <a:pPr lvl="1" eaLnBrk="1" hangingPunct="1">
              <a:lnSpc>
                <a:spcPct val="150000"/>
              </a:lnSpc>
              <a:spcBef>
                <a:spcPct val="0"/>
              </a:spcBef>
              <a:buClr>
                <a:srgbClr val="C00000"/>
              </a:buClr>
              <a:buSzPct val="80000"/>
              <a:buFont typeface="Wingdings" pitchFamily="2" charset="2"/>
              <a:buChar char="n"/>
            </a:pPr>
            <a:r>
              <a:rPr lang="zh-CN" altLang="en-US" sz="2400">
                <a:latin typeface="隶书" pitchFamily="49" charset="-122"/>
              </a:rPr>
              <a:t>信号量只能通过</a:t>
            </a:r>
            <a:r>
              <a:rPr lang="zh-CN" altLang="en-US" sz="2400">
                <a:solidFill>
                  <a:srgbClr val="0000FF"/>
                </a:solidFill>
                <a:latin typeface="隶书" pitchFamily="49" charset="-122"/>
              </a:rPr>
              <a:t>初始化</a:t>
            </a:r>
            <a:r>
              <a:rPr lang="zh-CN" altLang="en-US" sz="2400">
                <a:latin typeface="隶书" pitchFamily="49" charset="-122"/>
              </a:rPr>
              <a:t>和</a:t>
            </a:r>
            <a:r>
              <a:rPr lang="en-US" altLang="zh-CN" sz="2400">
                <a:solidFill>
                  <a:srgbClr val="0000FF"/>
                </a:solidFill>
                <a:latin typeface="隶书" pitchFamily="49" charset="-122"/>
              </a:rPr>
              <a:t>P/V</a:t>
            </a:r>
            <a:r>
              <a:rPr lang="zh-CN" altLang="en-US" sz="2400">
                <a:solidFill>
                  <a:srgbClr val="0000FF"/>
                </a:solidFill>
                <a:latin typeface="隶书" pitchFamily="49" charset="-122"/>
              </a:rPr>
              <a:t>原语</a:t>
            </a:r>
            <a:r>
              <a:rPr lang="zh-CN" altLang="en-US" sz="2400">
                <a:latin typeface="隶书" pitchFamily="49" charset="-122"/>
              </a:rPr>
              <a:t>来访问；</a:t>
            </a:r>
            <a:endParaRPr lang="en-US" altLang="zh-CN" sz="2400">
              <a:latin typeface="隶书" pitchFamily="49" charset="-122"/>
            </a:endParaRPr>
          </a:p>
          <a:p>
            <a:pPr lvl="1" eaLnBrk="1" hangingPunct="1">
              <a:lnSpc>
                <a:spcPct val="150000"/>
              </a:lnSpc>
              <a:spcBef>
                <a:spcPct val="0"/>
              </a:spcBef>
              <a:buClr>
                <a:srgbClr val="C00000"/>
              </a:buClr>
              <a:buSzPct val="80000"/>
              <a:buFont typeface="Wingdings" pitchFamily="2" charset="2"/>
              <a:buChar char="n"/>
            </a:pPr>
            <a:r>
              <a:rPr lang="zh-CN" altLang="en-US" sz="2400">
                <a:latin typeface="隶书" pitchFamily="49" charset="-122"/>
              </a:rPr>
              <a:t>访问信号量的进程，不受进程调度的打断。</a:t>
            </a:r>
          </a:p>
          <a:p>
            <a:pPr eaLnBrk="1" hangingPunct="1">
              <a:lnSpc>
                <a:spcPct val="150000"/>
              </a:lnSpc>
              <a:spcBef>
                <a:spcPct val="0"/>
              </a:spcBef>
              <a:buClr>
                <a:srgbClr val="CC3300"/>
              </a:buClr>
              <a:buFont typeface="Wingdings" pitchFamily="2" charset="2"/>
              <a:buChar char="Ø"/>
            </a:pPr>
            <a:r>
              <a:rPr lang="zh-CN" altLang="en-US" sz="2800">
                <a:latin typeface="隶书" pitchFamily="49" charset="-122"/>
              </a:rPr>
              <a:t>信号量物理含义</a:t>
            </a:r>
            <a:endParaRPr lang="en-US" altLang="zh-CN" sz="2800">
              <a:latin typeface="隶书" pitchFamily="49" charset="-122"/>
            </a:endParaRPr>
          </a:p>
          <a:p>
            <a:pPr eaLnBrk="1" hangingPunct="1">
              <a:lnSpc>
                <a:spcPct val="150000"/>
              </a:lnSpc>
              <a:spcBef>
                <a:spcPct val="0"/>
              </a:spcBef>
              <a:buClr>
                <a:srgbClr val="CC3300"/>
              </a:buClr>
              <a:buFontTx/>
              <a:buNone/>
            </a:pPr>
            <a:r>
              <a:rPr lang="en-US" altLang="zh-CN" sz="2800">
                <a:latin typeface="隶书" pitchFamily="49" charset="-122"/>
              </a:rPr>
              <a:t>     </a:t>
            </a:r>
            <a:r>
              <a:rPr lang="en-US" altLang="zh-CN" sz="2400"/>
              <a:t>S&gt;0</a:t>
            </a:r>
            <a:r>
              <a:rPr lang="zh-CN" altLang="en-US" sz="2400"/>
              <a:t>：</a:t>
            </a:r>
            <a:r>
              <a:rPr lang="en-US" altLang="zh-CN" sz="2400">
                <a:latin typeface="隶书" pitchFamily="49" charset="-122"/>
              </a:rPr>
              <a:t> </a:t>
            </a:r>
            <a:r>
              <a:rPr lang="zh-CN" altLang="en-US" sz="2400">
                <a:latin typeface="隶书" pitchFamily="49" charset="-122"/>
              </a:rPr>
              <a:t>表示有</a:t>
            </a:r>
            <a:r>
              <a:rPr lang="en-US" altLang="zh-CN" sz="2400"/>
              <a:t>S</a:t>
            </a:r>
            <a:r>
              <a:rPr lang="zh-CN" altLang="en-US" sz="2400">
                <a:latin typeface="隶书" pitchFamily="49" charset="-122"/>
              </a:rPr>
              <a:t>个资源可用</a:t>
            </a:r>
          </a:p>
          <a:p>
            <a:pPr eaLnBrk="1" hangingPunct="1">
              <a:lnSpc>
                <a:spcPct val="150000"/>
              </a:lnSpc>
              <a:spcBef>
                <a:spcPct val="0"/>
              </a:spcBef>
              <a:buFontTx/>
              <a:buNone/>
            </a:pPr>
            <a:r>
              <a:rPr lang="zh-CN" altLang="en-US" sz="2400">
                <a:latin typeface="隶书" pitchFamily="49" charset="-122"/>
              </a:rPr>
              <a:t>      </a:t>
            </a:r>
            <a:r>
              <a:rPr lang="en-US" altLang="zh-CN" sz="2400"/>
              <a:t>S=0</a:t>
            </a:r>
            <a:r>
              <a:rPr lang="zh-CN" altLang="en-US" sz="2400"/>
              <a:t>：</a:t>
            </a:r>
            <a:r>
              <a:rPr lang="en-US" altLang="zh-CN" sz="2400">
                <a:latin typeface="隶书" pitchFamily="49" charset="-122"/>
              </a:rPr>
              <a:t> </a:t>
            </a:r>
            <a:r>
              <a:rPr lang="zh-CN" altLang="en-US" sz="2400">
                <a:latin typeface="隶书" pitchFamily="49" charset="-122"/>
              </a:rPr>
              <a:t>表示无资源可用</a:t>
            </a:r>
          </a:p>
          <a:p>
            <a:pPr eaLnBrk="1" hangingPunct="1">
              <a:lnSpc>
                <a:spcPct val="150000"/>
              </a:lnSpc>
              <a:spcBef>
                <a:spcPct val="0"/>
              </a:spcBef>
              <a:buFontTx/>
              <a:buNone/>
            </a:pPr>
            <a:r>
              <a:rPr lang="zh-CN" altLang="en-US" sz="2400">
                <a:latin typeface="隶书" pitchFamily="49" charset="-122"/>
              </a:rPr>
              <a:t>      </a:t>
            </a:r>
            <a:r>
              <a:rPr lang="en-US" altLang="zh-CN" sz="2400"/>
              <a:t>S&lt;0</a:t>
            </a:r>
            <a:r>
              <a:rPr lang="zh-CN" altLang="en-US" sz="2400"/>
              <a:t>：</a:t>
            </a:r>
            <a:r>
              <a:rPr lang="en-US" altLang="zh-CN" sz="2400">
                <a:latin typeface="隶书" pitchFamily="49" charset="-122"/>
              </a:rPr>
              <a:t> </a:t>
            </a:r>
            <a:r>
              <a:rPr lang="zh-CN" altLang="en-US" sz="2400">
                <a:latin typeface="隶书" pitchFamily="49" charset="-122"/>
              </a:rPr>
              <a:t>表示</a:t>
            </a:r>
            <a:r>
              <a:rPr lang="en-US" altLang="zh-CN" sz="2400"/>
              <a:t>S</a:t>
            </a:r>
            <a:r>
              <a:rPr lang="zh-CN" altLang="en-US" sz="2400">
                <a:latin typeface="隶书" pitchFamily="49" charset="-122"/>
              </a:rPr>
              <a:t>等待队列中的进程个数</a:t>
            </a:r>
          </a:p>
          <a:p>
            <a:pPr eaLnBrk="1" hangingPunct="1">
              <a:buClr>
                <a:srgbClr val="CC3300"/>
              </a:buClr>
              <a:buFont typeface="Wingdings" pitchFamily="2" charset="2"/>
              <a:buChar char="ü"/>
            </a:pPr>
            <a:endParaRPr lang="zh-CN" altLang="en-US" sz="2400">
              <a:latin typeface="隶书" pitchFamily="49" charset="-122"/>
            </a:endParaRPr>
          </a:p>
        </p:txBody>
      </p:sp>
      <p:sp>
        <p:nvSpPr>
          <p:cNvPr id="6" name="Rectangle 4">
            <a:extLst>
              <a:ext uri="{FF2B5EF4-FFF2-40B4-BE49-F238E27FC236}">
                <a16:creationId xmlns:a16="http://schemas.microsoft.com/office/drawing/2014/main" id="{A51034E8-3A9C-814A-ABC4-B29D88DEAB19}"/>
              </a:ext>
            </a:extLst>
          </p:cNvPr>
          <p:cNvSpPr>
            <a:spLocks noGrp="1" noChangeArrowheads="1"/>
          </p:cNvSpPr>
          <p:nvPr>
            <p:ph type="title"/>
          </p:nvPr>
        </p:nvSpPr>
        <p:spPr>
          <a:ln>
            <a:miter/>
          </a:ln>
        </p:spPr>
        <p:txBody>
          <a:bodyPr/>
          <a:lstStyle/>
          <a:p>
            <a:pPr eaLnBrk="1" hangingPunct="1">
              <a:defRPr/>
            </a:pPr>
            <a:r>
              <a:rPr kumimoji="1" lang="zh-CN" altLang="en-US" dirty="0">
                <a:latin typeface="隶书" panose="02010509060101010101" pitchFamily="49" charset="-122"/>
              </a:rPr>
              <a:t>信号量</a:t>
            </a:r>
            <a:r>
              <a:rPr kumimoji="1" lang="zh-CN" altLang="en-US" sz="2400" dirty="0">
                <a:latin typeface="+mn-lt"/>
              </a:rPr>
              <a:t>（</a:t>
            </a:r>
            <a:r>
              <a:rPr kumimoji="1" lang="en-US" altLang="zh-CN" sz="2400" dirty="0">
                <a:latin typeface="+mn-lt"/>
              </a:rPr>
              <a:t>2/3</a:t>
            </a:r>
            <a:r>
              <a:rPr kumimoji="1" lang="zh-CN" altLang="en-US" sz="2400" dirty="0">
                <a:latin typeface="+mn-lt"/>
              </a:rPr>
              <a:t>）</a:t>
            </a:r>
          </a:p>
        </p:txBody>
      </p:sp>
    </p:spTree>
    <p:extLst>
      <p:ext uri="{BB962C8B-B14F-4D97-AF65-F5344CB8AC3E}">
        <p14:creationId xmlns:p14="http://schemas.microsoft.com/office/powerpoint/2010/main" val="78883451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页脚占位符 3">
            <a:extLst>
              <a:ext uri="{FF2B5EF4-FFF2-40B4-BE49-F238E27FC236}">
                <a16:creationId xmlns:a16="http://schemas.microsoft.com/office/drawing/2014/main" id="{90025265-F9E9-244E-9316-ADA495FC3B52}"/>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A8600A84-A099-564E-87EE-5B95FAF15045}" type="slidenum">
              <a:rPr altLang="en-US" smtClean="0"/>
              <a:pPr algn="ctr"/>
              <a:t>42</a:t>
            </a:fld>
            <a:endParaRPr lang="en-US" altLang="en-US"/>
          </a:p>
        </p:txBody>
      </p:sp>
      <p:sp>
        <p:nvSpPr>
          <p:cNvPr id="30722" name="Rectangle 3">
            <a:extLst>
              <a:ext uri="{FF2B5EF4-FFF2-40B4-BE49-F238E27FC236}">
                <a16:creationId xmlns:a16="http://schemas.microsoft.com/office/drawing/2014/main" id="{40B61581-2738-694A-84D5-680BBE1D8759}"/>
              </a:ext>
            </a:extLst>
          </p:cNvPr>
          <p:cNvSpPr>
            <a:spLocks noGrp="1" noChangeArrowheads="1"/>
          </p:cNvSpPr>
          <p:nvPr>
            <p:ph idx="1"/>
          </p:nvPr>
        </p:nvSpPr>
        <p:spPr>
          <a:xfrm>
            <a:off x="1206500" y="1828800"/>
            <a:ext cx="7251700" cy="4267200"/>
          </a:xfrm>
        </p:spPr>
        <p:txBody>
          <a:bodyPr/>
          <a:lstStyle/>
          <a:p>
            <a:pPr eaLnBrk="1" hangingPunct="1">
              <a:lnSpc>
                <a:spcPct val="150000"/>
              </a:lnSpc>
              <a:spcBef>
                <a:spcPct val="0"/>
              </a:spcBef>
              <a:buClr>
                <a:srgbClr val="CC3300"/>
              </a:buClr>
              <a:buFont typeface="Wingdings" pitchFamily="2" charset="2"/>
              <a:buChar char="Ø"/>
            </a:pPr>
            <a:r>
              <a:rPr lang="zh-CN" altLang="en-US" sz="2800">
                <a:latin typeface="宋体" panose="02010600030101010101" pitchFamily="2" charset="-122"/>
              </a:rPr>
              <a:t>信号量使用</a:t>
            </a:r>
            <a:endParaRPr lang="en-US" altLang="zh-CN" sz="2800">
              <a:latin typeface="宋体" panose="02010600030101010101" pitchFamily="2" charset="-122"/>
            </a:endParaRPr>
          </a:p>
          <a:p>
            <a:pPr lvl="1" eaLnBrk="1" hangingPunct="1">
              <a:lnSpc>
                <a:spcPct val="150000"/>
              </a:lnSpc>
              <a:spcBef>
                <a:spcPct val="0"/>
              </a:spcBef>
              <a:buClr>
                <a:srgbClr val="CC3300"/>
              </a:buClr>
              <a:buSzPct val="80000"/>
              <a:buFont typeface="Wingdings" pitchFamily="2" charset="2"/>
              <a:buChar char="n"/>
            </a:pPr>
            <a:r>
              <a:rPr lang="en-US" altLang="zh-CN" sz="2400">
                <a:latin typeface="宋体" panose="02010600030101010101" pitchFamily="2" charset="-122"/>
              </a:rPr>
              <a:t>OS</a:t>
            </a:r>
            <a:r>
              <a:rPr lang="zh-CN" altLang="en-US" sz="2400">
                <a:latin typeface="宋体" panose="02010600030101010101" pitchFamily="2" charset="-122"/>
              </a:rPr>
              <a:t>利用信号量对进程和资源进行控制和管理</a:t>
            </a:r>
          </a:p>
          <a:p>
            <a:pPr lvl="1" eaLnBrk="1" hangingPunct="1">
              <a:lnSpc>
                <a:spcPct val="150000"/>
              </a:lnSpc>
              <a:spcBef>
                <a:spcPct val="0"/>
              </a:spcBef>
              <a:buClr>
                <a:srgbClr val="CC3300"/>
              </a:buClr>
              <a:buSzPct val="80000"/>
              <a:buFont typeface="Wingdings" pitchFamily="2" charset="2"/>
              <a:buChar char="n"/>
            </a:pPr>
            <a:r>
              <a:rPr lang="zh-CN" altLang="en-US" sz="2400">
                <a:solidFill>
                  <a:srgbClr val="000099"/>
                </a:solidFill>
                <a:latin typeface="宋体" panose="02010600030101010101" pitchFamily="2" charset="-122"/>
              </a:rPr>
              <a:t>公用信号量</a:t>
            </a:r>
            <a:r>
              <a:rPr lang="zh-CN" altLang="en-US" sz="2400">
                <a:latin typeface="宋体" panose="02010600030101010101" pitchFamily="2" charset="-122"/>
              </a:rPr>
              <a:t>用来实现进程间的互斥，初值为1，允许其所联系的一组进程对它执行</a:t>
            </a:r>
            <a:r>
              <a:rPr lang="en-US" altLang="zh-CN" sz="2400">
                <a:latin typeface="宋体" panose="02010600030101010101" pitchFamily="2" charset="-122"/>
              </a:rPr>
              <a:t>P/V</a:t>
            </a:r>
            <a:r>
              <a:rPr lang="zh-CN" altLang="en-US" sz="2400">
                <a:latin typeface="宋体" panose="02010600030101010101" pitchFamily="2" charset="-122"/>
              </a:rPr>
              <a:t>操作</a:t>
            </a:r>
          </a:p>
          <a:p>
            <a:pPr lvl="1" eaLnBrk="1" hangingPunct="1">
              <a:lnSpc>
                <a:spcPct val="150000"/>
              </a:lnSpc>
              <a:spcBef>
                <a:spcPct val="0"/>
              </a:spcBef>
              <a:buClr>
                <a:srgbClr val="CC3300"/>
              </a:buClr>
              <a:buSzPct val="80000"/>
              <a:buFont typeface="Wingdings" pitchFamily="2" charset="2"/>
              <a:buChar char="n"/>
            </a:pPr>
            <a:r>
              <a:rPr lang="zh-CN" altLang="en-US" sz="2400">
                <a:solidFill>
                  <a:srgbClr val="000099"/>
                </a:solidFill>
                <a:latin typeface="宋体" panose="02010600030101010101" pitchFamily="2" charset="-122"/>
              </a:rPr>
              <a:t>私用信号量</a:t>
            </a:r>
            <a:r>
              <a:rPr lang="zh-CN" altLang="en-US" sz="2400">
                <a:latin typeface="宋体" panose="02010600030101010101" pitchFamily="2" charset="-122"/>
              </a:rPr>
              <a:t>用来实现进程间的同步，初值为0或者某个正整数，仅允许拥有它的进程对其执行</a:t>
            </a:r>
            <a:r>
              <a:rPr lang="en-US" altLang="zh-CN" sz="2400">
                <a:latin typeface="宋体" panose="02010600030101010101" pitchFamily="2" charset="-122"/>
              </a:rPr>
              <a:t>P/V</a:t>
            </a:r>
            <a:r>
              <a:rPr lang="zh-CN" altLang="en-US" sz="2400">
                <a:latin typeface="宋体" panose="02010600030101010101" pitchFamily="2" charset="-122"/>
              </a:rPr>
              <a:t>操作。</a:t>
            </a:r>
          </a:p>
        </p:txBody>
      </p:sp>
      <p:sp>
        <p:nvSpPr>
          <p:cNvPr id="6" name="Rectangle 4">
            <a:extLst>
              <a:ext uri="{FF2B5EF4-FFF2-40B4-BE49-F238E27FC236}">
                <a16:creationId xmlns:a16="http://schemas.microsoft.com/office/drawing/2014/main" id="{046E6808-0C25-0A49-921D-445D3CC43F24}"/>
              </a:ext>
            </a:extLst>
          </p:cNvPr>
          <p:cNvSpPr>
            <a:spLocks noGrp="1" noChangeArrowheads="1"/>
          </p:cNvSpPr>
          <p:nvPr>
            <p:ph type="title"/>
          </p:nvPr>
        </p:nvSpPr>
        <p:spPr>
          <a:ln>
            <a:miter/>
          </a:ln>
        </p:spPr>
        <p:txBody>
          <a:bodyPr/>
          <a:lstStyle/>
          <a:p>
            <a:pPr eaLnBrk="1" hangingPunct="1">
              <a:defRPr/>
            </a:pPr>
            <a:r>
              <a:rPr kumimoji="1" lang="zh-CN" altLang="en-US" dirty="0">
                <a:latin typeface="隶书" panose="02010509060101010101" pitchFamily="49" charset="-122"/>
              </a:rPr>
              <a:t>信号量</a:t>
            </a:r>
            <a:r>
              <a:rPr kumimoji="1" lang="zh-CN" altLang="en-US" sz="2400" dirty="0">
                <a:latin typeface="+mn-lt"/>
              </a:rPr>
              <a:t>（</a:t>
            </a:r>
            <a:r>
              <a:rPr kumimoji="1" lang="en-US" altLang="zh-CN" sz="2400" dirty="0">
                <a:latin typeface="+mn-lt"/>
              </a:rPr>
              <a:t>3/3</a:t>
            </a:r>
            <a:r>
              <a:rPr kumimoji="1" lang="zh-CN" altLang="en-US" sz="2400" dirty="0">
                <a:latin typeface="+mn-lt"/>
              </a:rPr>
              <a:t>）</a:t>
            </a:r>
          </a:p>
        </p:txBody>
      </p:sp>
    </p:spTree>
    <p:extLst>
      <p:ext uri="{BB962C8B-B14F-4D97-AF65-F5344CB8AC3E}">
        <p14:creationId xmlns:p14="http://schemas.microsoft.com/office/powerpoint/2010/main" val="49888144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页脚占位符 3">
            <a:extLst>
              <a:ext uri="{FF2B5EF4-FFF2-40B4-BE49-F238E27FC236}">
                <a16:creationId xmlns:a16="http://schemas.microsoft.com/office/drawing/2014/main" id="{F9D3C521-FB7E-8B47-990B-EDC34BA121E7}"/>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89EB49F6-D5C2-CB44-BE70-25DF1ECB2BED}" type="slidenum">
              <a:rPr altLang="en-US" smtClean="0"/>
              <a:pPr algn="ctr"/>
              <a:t>43</a:t>
            </a:fld>
            <a:endParaRPr lang="en-US" altLang="en-US"/>
          </a:p>
        </p:txBody>
      </p:sp>
      <p:sp>
        <p:nvSpPr>
          <p:cNvPr id="31746" name="Rectangle 3">
            <a:extLst>
              <a:ext uri="{FF2B5EF4-FFF2-40B4-BE49-F238E27FC236}">
                <a16:creationId xmlns:a16="http://schemas.microsoft.com/office/drawing/2014/main" id="{E4C09AB5-3835-0445-B274-88FE7F577E5E}"/>
              </a:ext>
            </a:extLst>
          </p:cNvPr>
          <p:cNvSpPr>
            <a:spLocks noGrp="1" noChangeArrowheads="1"/>
          </p:cNvSpPr>
          <p:nvPr>
            <p:ph idx="1"/>
          </p:nvPr>
        </p:nvSpPr>
        <p:spPr>
          <a:xfrm>
            <a:off x="914400" y="1930400"/>
            <a:ext cx="7543800" cy="4165600"/>
          </a:xfrm>
        </p:spPr>
        <p:txBody>
          <a:bodyPr/>
          <a:lstStyle/>
          <a:p>
            <a:pPr eaLnBrk="1" hangingPunct="1">
              <a:buClr>
                <a:srgbClr val="CC3300"/>
              </a:buClr>
              <a:buFontTx/>
              <a:buBlip>
                <a:blip r:embed="rId2"/>
              </a:buBlip>
            </a:pPr>
            <a:r>
              <a:rPr lang="en-US" altLang="zh-CN">
                <a:latin typeface="隶书" pitchFamily="49" charset="-122"/>
              </a:rPr>
              <a:t> </a:t>
            </a:r>
            <a:r>
              <a:rPr lang="en-US" altLang="zh-CN"/>
              <a:t>P/V</a:t>
            </a:r>
            <a:r>
              <a:rPr lang="zh-CN" altLang="en-US"/>
              <a:t>机制</a:t>
            </a:r>
            <a:endParaRPr lang="zh-CN" altLang="en-US">
              <a:latin typeface="隶书" pitchFamily="49" charset="-122"/>
            </a:endParaRPr>
          </a:p>
          <a:p>
            <a:pPr lvl="1" eaLnBrk="1" hangingPunct="1">
              <a:buClr>
                <a:srgbClr val="CC3300"/>
              </a:buClr>
              <a:buFont typeface="Wingdings" pitchFamily="2" charset="2"/>
              <a:buChar char="Ø"/>
            </a:pPr>
            <a:r>
              <a:rPr lang="zh-CN" altLang="en-US">
                <a:latin typeface="隶书" pitchFamily="49" charset="-122"/>
              </a:rPr>
              <a:t> </a:t>
            </a:r>
            <a:r>
              <a:rPr lang="zh-CN" altLang="en-US" sz="2400">
                <a:latin typeface="隶书" pitchFamily="49" charset="-122"/>
              </a:rPr>
              <a:t>定义在信号量上的两个操作，是一种卓有成效的</a:t>
            </a:r>
            <a:endParaRPr lang="en-US" altLang="zh-CN" sz="2400">
              <a:latin typeface="隶书" pitchFamily="49" charset="-122"/>
            </a:endParaRPr>
          </a:p>
          <a:p>
            <a:pPr lvl="1" eaLnBrk="1" hangingPunct="1">
              <a:buClr>
                <a:srgbClr val="CC3300"/>
              </a:buClr>
              <a:buFontTx/>
              <a:buNone/>
            </a:pPr>
            <a:r>
              <a:rPr lang="en-US" altLang="zh-CN" sz="2400">
                <a:latin typeface="隶书" pitchFamily="49" charset="-122"/>
              </a:rPr>
              <a:t>  </a:t>
            </a:r>
            <a:r>
              <a:rPr lang="zh-CN" altLang="en-US" sz="2400">
                <a:latin typeface="隶书" pitchFamily="49" charset="-122"/>
              </a:rPr>
              <a:t> 进程同步机制。</a:t>
            </a:r>
            <a:endParaRPr lang="en-US" altLang="zh-CN" sz="2400">
              <a:latin typeface="隶书" pitchFamily="49" charset="-122"/>
            </a:endParaRPr>
          </a:p>
          <a:p>
            <a:pPr lvl="1" eaLnBrk="1" hangingPunct="1">
              <a:buClr>
                <a:srgbClr val="CC3300"/>
              </a:buClr>
              <a:buFont typeface="Wingdings" pitchFamily="2" charset="2"/>
              <a:buChar char="Ø"/>
            </a:pPr>
            <a:r>
              <a:rPr lang="zh-CN" altLang="en-US" sz="2400"/>
              <a:t>1965</a:t>
            </a:r>
            <a:r>
              <a:rPr lang="zh-CN" altLang="en-US" sz="2400">
                <a:latin typeface="隶书" pitchFamily="49" charset="-122"/>
              </a:rPr>
              <a:t>年，荷兰学者</a:t>
            </a:r>
            <a:r>
              <a:rPr lang="en-US" altLang="zh-CN" sz="2400"/>
              <a:t>Dijkstra</a:t>
            </a:r>
            <a:r>
              <a:rPr lang="zh-CN" altLang="en-US" sz="2400">
                <a:latin typeface="隶书" pitchFamily="49" charset="-122"/>
              </a:rPr>
              <a:t>提出。</a:t>
            </a:r>
          </a:p>
          <a:p>
            <a:pPr lvl="1" eaLnBrk="1" hangingPunct="1">
              <a:buClr>
                <a:srgbClr val="CC3300"/>
              </a:buClr>
              <a:buFont typeface="Wingdings" pitchFamily="2" charset="2"/>
              <a:buChar char="ü"/>
            </a:pPr>
            <a:endParaRPr lang="zh-CN" altLang="en-US" sz="2400">
              <a:latin typeface="隶书" pitchFamily="49" charset="-122"/>
            </a:endParaRPr>
          </a:p>
        </p:txBody>
      </p:sp>
      <p:sp>
        <p:nvSpPr>
          <p:cNvPr id="6" name="Rectangle 4">
            <a:extLst>
              <a:ext uri="{FF2B5EF4-FFF2-40B4-BE49-F238E27FC236}">
                <a16:creationId xmlns:a16="http://schemas.microsoft.com/office/drawing/2014/main" id="{83EEA0F1-AEBC-5341-AEED-38D61FE33B25}"/>
              </a:ext>
            </a:extLst>
          </p:cNvPr>
          <p:cNvSpPr>
            <a:spLocks noGrp="1" noChangeArrowheads="1"/>
          </p:cNvSpPr>
          <p:nvPr>
            <p:ph type="title"/>
          </p:nvPr>
        </p:nvSpPr>
        <p:spPr>
          <a:ln>
            <a:miter/>
          </a:ln>
        </p:spPr>
        <p:txBody>
          <a:bodyPr/>
          <a:lstStyle/>
          <a:p>
            <a:pPr eaLnBrk="1" hangingPunct="1">
              <a:defRPr/>
            </a:pPr>
            <a:r>
              <a:rPr kumimoji="1" lang="en-US" altLang="zh-CN" sz="4000" dirty="0">
                <a:latin typeface="+mn-lt"/>
              </a:rPr>
              <a:t>P/V</a:t>
            </a:r>
            <a:r>
              <a:rPr kumimoji="1" lang="zh-CN" altLang="en-US" sz="4000" dirty="0">
                <a:latin typeface="隶书" panose="02010509060101010101" pitchFamily="49" charset="-122"/>
              </a:rPr>
              <a:t>机制</a:t>
            </a:r>
            <a:r>
              <a:rPr kumimoji="1" lang="zh-CN" altLang="en-US" sz="2400" dirty="0">
                <a:latin typeface="+mn-lt"/>
              </a:rPr>
              <a:t>（</a:t>
            </a:r>
            <a:r>
              <a:rPr kumimoji="1" lang="en-US" altLang="zh-CN" sz="2400" dirty="0">
                <a:latin typeface="+mn-lt"/>
              </a:rPr>
              <a:t>1/6</a:t>
            </a:r>
            <a:r>
              <a:rPr kumimoji="1" lang="zh-CN" altLang="en-US" sz="2400" dirty="0">
                <a:latin typeface="+mn-lt"/>
              </a:rPr>
              <a:t>）</a:t>
            </a:r>
          </a:p>
        </p:txBody>
      </p:sp>
    </p:spTree>
    <p:extLst>
      <p:ext uri="{BB962C8B-B14F-4D97-AF65-F5344CB8AC3E}">
        <p14:creationId xmlns:p14="http://schemas.microsoft.com/office/powerpoint/2010/main" val="29288863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页脚占位符 3">
            <a:extLst>
              <a:ext uri="{FF2B5EF4-FFF2-40B4-BE49-F238E27FC236}">
                <a16:creationId xmlns:a16="http://schemas.microsoft.com/office/drawing/2014/main" id="{6E28AF05-0EBB-DF44-9551-0030BAED2FD6}"/>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5E87FCE0-1126-4E48-AA27-D0BE6FA59C08}" type="slidenum">
              <a:rPr altLang="en-US" smtClean="0"/>
              <a:pPr algn="ctr"/>
              <a:t>44</a:t>
            </a:fld>
            <a:endParaRPr lang="en-US" altLang="en-US"/>
          </a:p>
        </p:txBody>
      </p:sp>
      <p:sp>
        <p:nvSpPr>
          <p:cNvPr id="32770" name="Rectangle 3">
            <a:extLst>
              <a:ext uri="{FF2B5EF4-FFF2-40B4-BE49-F238E27FC236}">
                <a16:creationId xmlns:a16="http://schemas.microsoft.com/office/drawing/2014/main" id="{952663B2-00B9-5D4E-8260-2BD9976B0EC9}"/>
              </a:ext>
            </a:extLst>
          </p:cNvPr>
          <p:cNvSpPr>
            <a:spLocks noGrp="1" noChangeArrowheads="1"/>
          </p:cNvSpPr>
          <p:nvPr>
            <p:ph idx="1"/>
          </p:nvPr>
        </p:nvSpPr>
        <p:spPr/>
        <p:txBody>
          <a:bodyPr/>
          <a:lstStyle/>
          <a:p>
            <a:pPr eaLnBrk="1" hangingPunct="1">
              <a:buClr>
                <a:srgbClr val="CC3300"/>
              </a:buClr>
              <a:buFontTx/>
              <a:buBlip>
                <a:blip r:embed="rId2"/>
              </a:buBlip>
            </a:pPr>
            <a:r>
              <a:rPr lang="en-US" altLang="zh-CN">
                <a:latin typeface="隶书" pitchFamily="49" charset="-122"/>
              </a:rPr>
              <a:t> </a:t>
            </a:r>
            <a:r>
              <a:rPr lang="en-US" altLang="zh-CN"/>
              <a:t>P</a:t>
            </a:r>
            <a:r>
              <a:rPr lang="zh-CN" altLang="en-US">
                <a:latin typeface="隶书" pitchFamily="49" charset="-122"/>
              </a:rPr>
              <a:t>原语</a:t>
            </a:r>
            <a:r>
              <a:rPr lang="en-US" altLang="zh-CN" sz="2800"/>
              <a:t>P（S）</a:t>
            </a:r>
          </a:p>
          <a:p>
            <a:pPr lvl="2" eaLnBrk="1" hangingPunct="1">
              <a:lnSpc>
                <a:spcPct val="150000"/>
              </a:lnSpc>
              <a:spcBef>
                <a:spcPct val="0"/>
              </a:spcBef>
              <a:buFont typeface="Wingdings" pitchFamily="2" charset="2"/>
              <a:buAutoNum type="circleNumDbPlain"/>
            </a:pPr>
            <a:r>
              <a:rPr lang="en-US" altLang="zh-CN" sz="2000">
                <a:latin typeface="宋体" panose="02010600030101010101" pitchFamily="2" charset="-122"/>
              </a:rPr>
              <a:t>  </a:t>
            </a:r>
            <a:r>
              <a:rPr lang="en-US" altLang="zh-CN"/>
              <a:t>S=S-1</a:t>
            </a:r>
          </a:p>
          <a:p>
            <a:pPr lvl="2" eaLnBrk="1" hangingPunct="1">
              <a:lnSpc>
                <a:spcPct val="150000"/>
              </a:lnSpc>
              <a:spcBef>
                <a:spcPct val="0"/>
              </a:spcBef>
              <a:buFont typeface="Wingdings" pitchFamily="2" charset="2"/>
              <a:buAutoNum type="circleNumDbPlain"/>
            </a:pPr>
            <a:r>
              <a:rPr lang="en-US" altLang="zh-CN">
                <a:latin typeface="隶书" pitchFamily="49" charset="-122"/>
              </a:rPr>
              <a:t> </a:t>
            </a:r>
            <a:r>
              <a:rPr lang="zh-CN" altLang="en-US">
                <a:latin typeface="隶书" pitchFamily="49" charset="-122"/>
              </a:rPr>
              <a:t>如果</a:t>
            </a:r>
            <a:r>
              <a:rPr lang="en-US" altLang="zh-CN">
                <a:solidFill>
                  <a:srgbClr val="FF0000"/>
                </a:solidFill>
              </a:rPr>
              <a:t>s&gt;=0</a:t>
            </a:r>
            <a:r>
              <a:rPr lang="en-US" altLang="zh-CN">
                <a:latin typeface="隶书" pitchFamily="49" charset="-122"/>
              </a:rPr>
              <a:t>,</a:t>
            </a:r>
            <a:r>
              <a:rPr lang="zh-CN" altLang="en-US">
                <a:latin typeface="隶书" pitchFamily="49" charset="-122"/>
              </a:rPr>
              <a:t>则调用</a:t>
            </a:r>
            <a:r>
              <a:rPr lang="en-US" altLang="zh-CN"/>
              <a:t>P(S)</a:t>
            </a:r>
            <a:r>
              <a:rPr lang="zh-CN" altLang="en-US">
                <a:latin typeface="隶书" pitchFamily="49" charset="-122"/>
              </a:rPr>
              <a:t>的进程继续运行</a:t>
            </a:r>
          </a:p>
          <a:p>
            <a:pPr lvl="2" eaLnBrk="1" hangingPunct="1">
              <a:lnSpc>
                <a:spcPct val="150000"/>
              </a:lnSpc>
              <a:spcBef>
                <a:spcPct val="0"/>
              </a:spcBef>
              <a:buFont typeface="Wingdings" pitchFamily="2" charset="2"/>
              <a:buAutoNum type="circleNumDbPlain"/>
            </a:pPr>
            <a:r>
              <a:rPr lang="zh-CN" altLang="en-US">
                <a:latin typeface="隶书" pitchFamily="49" charset="-122"/>
              </a:rPr>
              <a:t> 如果</a:t>
            </a:r>
            <a:r>
              <a:rPr lang="en-US" altLang="zh-CN">
                <a:solidFill>
                  <a:srgbClr val="FF0000"/>
                </a:solidFill>
              </a:rPr>
              <a:t>s&lt;0</a:t>
            </a:r>
            <a:r>
              <a:rPr lang="en-US" altLang="zh-CN">
                <a:latin typeface="隶书" pitchFamily="49" charset="-122"/>
              </a:rPr>
              <a:t>,</a:t>
            </a:r>
            <a:r>
              <a:rPr lang="zh-CN" altLang="en-US">
                <a:latin typeface="隶书" pitchFamily="49" charset="-122"/>
              </a:rPr>
              <a:t>则调用</a:t>
            </a:r>
            <a:r>
              <a:rPr lang="en-US" altLang="zh-CN"/>
              <a:t>P(S)</a:t>
            </a:r>
            <a:r>
              <a:rPr lang="zh-CN" altLang="en-US">
                <a:latin typeface="隶书" pitchFamily="49" charset="-122"/>
              </a:rPr>
              <a:t>的进程被阻塞，并把它</a:t>
            </a:r>
          </a:p>
          <a:p>
            <a:pPr lvl="2" eaLnBrk="1" hangingPunct="1">
              <a:lnSpc>
                <a:spcPct val="150000"/>
              </a:lnSpc>
              <a:spcBef>
                <a:spcPct val="0"/>
              </a:spcBef>
              <a:buFont typeface="Wingdings" pitchFamily="2" charset="2"/>
              <a:buNone/>
            </a:pPr>
            <a:r>
              <a:rPr lang="zh-CN" altLang="en-US">
                <a:latin typeface="隶书" pitchFamily="49" charset="-122"/>
              </a:rPr>
              <a:t>   插入到等待信号量</a:t>
            </a:r>
            <a:r>
              <a:rPr lang="en-US" altLang="zh-CN"/>
              <a:t>S</a:t>
            </a:r>
            <a:r>
              <a:rPr lang="zh-CN" altLang="en-US">
                <a:latin typeface="隶书" pitchFamily="49" charset="-122"/>
              </a:rPr>
              <a:t>的阻塞队列中。</a:t>
            </a:r>
          </a:p>
          <a:p>
            <a:pPr lvl="2" eaLnBrk="1" hangingPunct="1">
              <a:lnSpc>
                <a:spcPct val="80000"/>
              </a:lnSpc>
              <a:buFont typeface="Wingdings" pitchFamily="2" charset="2"/>
              <a:buNone/>
            </a:pPr>
            <a:endParaRPr lang="zh-CN" altLang="en-US">
              <a:latin typeface="隶书" pitchFamily="49" charset="-122"/>
            </a:endParaRPr>
          </a:p>
          <a:p>
            <a:pPr eaLnBrk="1" hangingPunct="1">
              <a:lnSpc>
                <a:spcPct val="80000"/>
              </a:lnSpc>
              <a:buFontTx/>
              <a:buNone/>
            </a:pPr>
            <a:r>
              <a:rPr lang="zh-CN" altLang="en-US" sz="2800">
                <a:latin typeface="隶书" pitchFamily="49" charset="-122"/>
              </a:rPr>
              <a:t>   </a:t>
            </a:r>
            <a:r>
              <a:rPr lang="zh-CN" altLang="en-US" sz="2800">
                <a:solidFill>
                  <a:srgbClr val="000099"/>
                </a:solidFill>
                <a:latin typeface="隶书" pitchFamily="49" charset="-122"/>
              </a:rPr>
              <a:t>执行</a:t>
            </a:r>
            <a:r>
              <a:rPr lang="en-US" altLang="zh-CN" sz="2800">
                <a:solidFill>
                  <a:srgbClr val="000099"/>
                </a:solidFill>
              </a:rPr>
              <a:t>P</a:t>
            </a:r>
            <a:r>
              <a:rPr lang="zh-CN" altLang="en-US" sz="2800">
                <a:solidFill>
                  <a:srgbClr val="000099"/>
                </a:solidFill>
                <a:latin typeface="隶书" pitchFamily="49" charset="-122"/>
              </a:rPr>
              <a:t>操作意味着申请分配一个单位的资源</a:t>
            </a:r>
          </a:p>
          <a:p>
            <a:pPr eaLnBrk="1" hangingPunct="1"/>
            <a:endParaRPr lang="zh-CN" altLang="en-US"/>
          </a:p>
        </p:txBody>
      </p:sp>
      <p:sp>
        <p:nvSpPr>
          <p:cNvPr id="6" name="Rectangle 4">
            <a:extLst>
              <a:ext uri="{FF2B5EF4-FFF2-40B4-BE49-F238E27FC236}">
                <a16:creationId xmlns:a16="http://schemas.microsoft.com/office/drawing/2014/main" id="{BF2236C9-2F0A-A849-B4A1-C65FAF64F533}"/>
              </a:ext>
            </a:extLst>
          </p:cNvPr>
          <p:cNvSpPr>
            <a:spLocks noGrp="1" noChangeArrowheads="1"/>
          </p:cNvSpPr>
          <p:nvPr>
            <p:ph type="title"/>
          </p:nvPr>
        </p:nvSpPr>
        <p:spPr>
          <a:ln>
            <a:miter/>
          </a:ln>
        </p:spPr>
        <p:txBody>
          <a:bodyPr/>
          <a:lstStyle/>
          <a:p>
            <a:pPr eaLnBrk="1" hangingPunct="1">
              <a:defRPr/>
            </a:pPr>
            <a:r>
              <a:rPr kumimoji="1" lang="en-US" altLang="zh-CN" sz="4000" dirty="0">
                <a:latin typeface="+mn-lt"/>
              </a:rPr>
              <a:t>P/V</a:t>
            </a:r>
            <a:r>
              <a:rPr kumimoji="1" lang="zh-CN" altLang="en-US" sz="4000" dirty="0">
                <a:latin typeface="隶书" panose="02010509060101010101" pitchFamily="49" charset="-122"/>
              </a:rPr>
              <a:t>机制</a:t>
            </a:r>
            <a:r>
              <a:rPr kumimoji="1" lang="zh-CN" altLang="en-US" sz="2400" dirty="0">
                <a:latin typeface="+mn-lt"/>
              </a:rPr>
              <a:t>（</a:t>
            </a:r>
            <a:r>
              <a:rPr kumimoji="1" lang="en-US" altLang="zh-CN" sz="2400" dirty="0">
                <a:latin typeface="+mn-lt"/>
              </a:rPr>
              <a:t>2/6</a:t>
            </a:r>
            <a:r>
              <a:rPr kumimoji="1" lang="zh-CN" altLang="en-US" sz="2400" dirty="0">
                <a:latin typeface="+mn-lt"/>
              </a:rPr>
              <a:t>）</a:t>
            </a:r>
          </a:p>
        </p:txBody>
      </p:sp>
    </p:spTree>
    <p:extLst>
      <p:ext uri="{BB962C8B-B14F-4D97-AF65-F5344CB8AC3E}">
        <p14:creationId xmlns:p14="http://schemas.microsoft.com/office/powerpoint/2010/main" val="29060983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页脚占位符 3">
            <a:extLst>
              <a:ext uri="{FF2B5EF4-FFF2-40B4-BE49-F238E27FC236}">
                <a16:creationId xmlns:a16="http://schemas.microsoft.com/office/drawing/2014/main" id="{8207386C-86D9-A549-B13E-3A13E532B496}"/>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655176C1-BEA1-E74A-BDB7-F65E76B4E741}" type="slidenum">
              <a:rPr altLang="en-US" smtClean="0"/>
              <a:pPr algn="ctr"/>
              <a:t>45</a:t>
            </a:fld>
            <a:endParaRPr lang="en-US" altLang="en-US"/>
          </a:p>
        </p:txBody>
      </p:sp>
      <p:sp>
        <p:nvSpPr>
          <p:cNvPr id="33794" name="Rectangle 3">
            <a:extLst>
              <a:ext uri="{FF2B5EF4-FFF2-40B4-BE49-F238E27FC236}">
                <a16:creationId xmlns:a16="http://schemas.microsoft.com/office/drawing/2014/main" id="{D0320430-C986-6143-BDC5-1818A564E74F}"/>
              </a:ext>
            </a:extLst>
          </p:cNvPr>
          <p:cNvSpPr>
            <a:spLocks noGrp="1" noChangeArrowheads="1"/>
          </p:cNvSpPr>
          <p:nvPr>
            <p:ph idx="1"/>
          </p:nvPr>
        </p:nvSpPr>
        <p:spPr>
          <a:xfrm>
            <a:off x="914400" y="1854200"/>
            <a:ext cx="7543800" cy="4241800"/>
          </a:xfrm>
        </p:spPr>
        <p:txBody>
          <a:bodyPr/>
          <a:lstStyle/>
          <a:p>
            <a:pPr eaLnBrk="1" hangingPunct="1">
              <a:buClr>
                <a:srgbClr val="CC3300"/>
              </a:buClr>
              <a:buFontTx/>
              <a:buBlip>
                <a:blip r:embed="rId2"/>
              </a:buBlip>
            </a:pPr>
            <a:r>
              <a:rPr lang="en-US" altLang="zh-CN" sz="2800"/>
              <a:t>V</a:t>
            </a:r>
            <a:r>
              <a:rPr lang="zh-CN" altLang="en-US" sz="2800">
                <a:latin typeface="隶书" pitchFamily="49" charset="-122"/>
              </a:rPr>
              <a:t>原语</a:t>
            </a:r>
            <a:r>
              <a:rPr lang="en-US" altLang="zh-CN" sz="2800"/>
              <a:t>V(S)</a:t>
            </a:r>
            <a:r>
              <a:rPr lang="en-US" altLang="zh-CN" sz="2800">
                <a:latin typeface="隶书" pitchFamily="49" charset="-122"/>
              </a:rPr>
              <a:t>  </a:t>
            </a:r>
          </a:p>
          <a:p>
            <a:pPr lvl="2" eaLnBrk="1" hangingPunct="1">
              <a:lnSpc>
                <a:spcPct val="150000"/>
              </a:lnSpc>
              <a:spcBef>
                <a:spcPct val="0"/>
              </a:spcBef>
              <a:buFont typeface="Monotype Sorts" pitchFamily="2" charset="2"/>
              <a:buAutoNum type="circleNumDbPlain"/>
            </a:pPr>
            <a:r>
              <a:rPr lang="en-US" altLang="zh-CN" sz="2800"/>
              <a:t>  </a:t>
            </a:r>
            <a:r>
              <a:rPr lang="en-US" altLang="zh-CN"/>
              <a:t>S=S＋1</a:t>
            </a:r>
          </a:p>
          <a:p>
            <a:pPr lvl="2" eaLnBrk="1" hangingPunct="1">
              <a:lnSpc>
                <a:spcPct val="150000"/>
              </a:lnSpc>
              <a:spcBef>
                <a:spcPct val="0"/>
              </a:spcBef>
              <a:buFont typeface="Wingdings" pitchFamily="2" charset="2"/>
              <a:buAutoNum type="circleNumDbPlain"/>
            </a:pPr>
            <a:r>
              <a:rPr lang="en-US" altLang="zh-CN"/>
              <a:t>  </a:t>
            </a:r>
            <a:r>
              <a:rPr lang="zh-CN" altLang="en-US"/>
              <a:t>如果</a:t>
            </a:r>
            <a:r>
              <a:rPr lang="en-US" altLang="zh-CN">
                <a:solidFill>
                  <a:srgbClr val="FF0000"/>
                </a:solidFill>
              </a:rPr>
              <a:t>s&gt;0</a:t>
            </a:r>
            <a:r>
              <a:rPr lang="en-US" altLang="zh-CN"/>
              <a:t>,</a:t>
            </a:r>
            <a:r>
              <a:rPr lang="zh-CN" altLang="en-US"/>
              <a:t>则调用</a:t>
            </a:r>
            <a:r>
              <a:rPr lang="en-US" altLang="zh-CN"/>
              <a:t>V(S)</a:t>
            </a:r>
            <a:r>
              <a:rPr lang="zh-CN" altLang="en-US"/>
              <a:t>的进程继续运行</a:t>
            </a:r>
          </a:p>
          <a:p>
            <a:pPr lvl="2" eaLnBrk="1" hangingPunct="1">
              <a:lnSpc>
                <a:spcPct val="150000"/>
              </a:lnSpc>
              <a:spcBef>
                <a:spcPct val="0"/>
              </a:spcBef>
              <a:buFont typeface="Wingdings" pitchFamily="2" charset="2"/>
              <a:buAutoNum type="circleNumDbPlain"/>
            </a:pPr>
            <a:r>
              <a:rPr lang="zh-CN" altLang="en-US"/>
              <a:t>  如果</a:t>
            </a:r>
            <a:r>
              <a:rPr lang="en-US" altLang="zh-CN">
                <a:solidFill>
                  <a:srgbClr val="FF0000"/>
                </a:solidFill>
              </a:rPr>
              <a:t>s&lt;＝0</a:t>
            </a:r>
            <a:r>
              <a:rPr lang="en-US" altLang="zh-CN"/>
              <a:t>,</a:t>
            </a:r>
            <a:r>
              <a:rPr lang="zh-CN" altLang="en-US"/>
              <a:t>则从等待信号量</a:t>
            </a:r>
            <a:r>
              <a:rPr lang="en-US" altLang="zh-CN"/>
              <a:t>s</a:t>
            </a:r>
            <a:r>
              <a:rPr lang="zh-CN" altLang="en-US"/>
              <a:t>的阻塞队列中</a:t>
            </a:r>
          </a:p>
          <a:p>
            <a:pPr lvl="2" eaLnBrk="1" hangingPunct="1">
              <a:lnSpc>
                <a:spcPct val="150000"/>
              </a:lnSpc>
              <a:spcBef>
                <a:spcPct val="0"/>
              </a:spcBef>
              <a:buFont typeface="Wingdings" pitchFamily="2" charset="2"/>
              <a:buNone/>
            </a:pPr>
            <a:r>
              <a:rPr lang="zh-CN" altLang="en-US"/>
              <a:t>    唤醒头一个进程到就绪队列中，然后调用</a:t>
            </a:r>
          </a:p>
          <a:p>
            <a:pPr lvl="2" eaLnBrk="1" hangingPunct="1">
              <a:lnSpc>
                <a:spcPct val="150000"/>
              </a:lnSpc>
              <a:spcBef>
                <a:spcPct val="0"/>
              </a:spcBef>
              <a:buFont typeface="Wingdings" pitchFamily="2" charset="2"/>
              <a:buNone/>
            </a:pPr>
            <a:r>
              <a:rPr lang="en-US" altLang="zh-CN"/>
              <a:t>     v(s)</a:t>
            </a:r>
            <a:r>
              <a:rPr lang="zh-CN" altLang="en-US"/>
              <a:t>的进程继续运行。</a:t>
            </a:r>
          </a:p>
          <a:p>
            <a:pPr lvl="2" eaLnBrk="1" hangingPunct="1">
              <a:lnSpc>
                <a:spcPct val="80000"/>
              </a:lnSpc>
              <a:buFont typeface="Wingdings" pitchFamily="2" charset="2"/>
              <a:buNone/>
            </a:pPr>
            <a:endParaRPr lang="zh-CN" altLang="en-US" sz="2800">
              <a:latin typeface="隶书" pitchFamily="49" charset="-122"/>
            </a:endParaRPr>
          </a:p>
          <a:p>
            <a:pPr eaLnBrk="1" hangingPunct="1">
              <a:lnSpc>
                <a:spcPct val="80000"/>
              </a:lnSpc>
              <a:buFont typeface="Wingdings" pitchFamily="2" charset="2"/>
              <a:buNone/>
            </a:pPr>
            <a:r>
              <a:rPr lang="zh-CN" altLang="en-US" sz="2800">
                <a:latin typeface="隶书" pitchFamily="49" charset="-122"/>
              </a:rPr>
              <a:t>   </a:t>
            </a:r>
            <a:r>
              <a:rPr lang="zh-CN" altLang="en-US" sz="2800">
                <a:solidFill>
                  <a:srgbClr val="000099"/>
                </a:solidFill>
                <a:latin typeface="隶书" pitchFamily="49" charset="-122"/>
              </a:rPr>
              <a:t>执行</a:t>
            </a:r>
            <a:r>
              <a:rPr lang="en-US" altLang="zh-CN" sz="2800">
                <a:solidFill>
                  <a:srgbClr val="000099"/>
                </a:solidFill>
                <a:latin typeface="隶书" pitchFamily="49" charset="-122"/>
              </a:rPr>
              <a:t>V</a:t>
            </a:r>
            <a:r>
              <a:rPr lang="zh-CN" altLang="en-US" sz="2800">
                <a:solidFill>
                  <a:srgbClr val="000099"/>
                </a:solidFill>
                <a:latin typeface="隶书" pitchFamily="49" charset="-122"/>
              </a:rPr>
              <a:t>操作意味着释放一个单位的资源</a:t>
            </a:r>
            <a:endParaRPr lang="zh-CN" altLang="en-US">
              <a:latin typeface="隶书" pitchFamily="49" charset="-122"/>
            </a:endParaRPr>
          </a:p>
        </p:txBody>
      </p:sp>
      <p:sp>
        <p:nvSpPr>
          <p:cNvPr id="6" name="Rectangle 4">
            <a:extLst>
              <a:ext uri="{FF2B5EF4-FFF2-40B4-BE49-F238E27FC236}">
                <a16:creationId xmlns:a16="http://schemas.microsoft.com/office/drawing/2014/main" id="{69301540-04A0-EC4A-B5AD-C2ED034F06FC}"/>
              </a:ext>
            </a:extLst>
          </p:cNvPr>
          <p:cNvSpPr>
            <a:spLocks noGrp="1" noChangeArrowheads="1"/>
          </p:cNvSpPr>
          <p:nvPr>
            <p:ph type="title"/>
          </p:nvPr>
        </p:nvSpPr>
        <p:spPr>
          <a:ln>
            <a:miter/>
          </a:ln>
        </p:spPr>
        <p:txBody>
          <a:bodyPr/>
          <a:lstStyle/>
          <a:p>
            <a:pPr eaLnBrk="1" hangingPunct="1">
              <a:defRPr/>
            </a:pPr>
            <a:r>
              <a:rPr kumimoji="1" lang="en-US" altLang="zh-CN" sz="4000" dirty="0">
                <a:latin typeface="+mn-lt"/>
              </a:rPr>
              <a:t>P/V</a:t>
            </a:r>
            <a:r>
              <a:rPr kumimoji="1" lang="zh-CN" altLang="en-US" sz="4000" dirty="0">
                <a:latin typeface="隶书" panose="02010509060101010101" pitchFamily="49" charset="-122"/>
              </a:rPr>
              <a:t>机制</a:t>
            </a:r>
            <a:r>
              <a:rPr kumimoji="1" lang="zh-CN" altLang="en-US" sz="2400" dirty="0">
                <a:latin typeface="+mn-lt"/>
              </a:rPr>
              <a:t>（</a:t>
            </a:r>
            <a:r>
              <a:rPr kumimoji="1" lang="en-US" altLang="zh-CN" sz="2400" dirty="0">
                <a:latin typeface="+mn-lt"/>
              </a:rPr>
              <a:t>3/6</a:t>
            </a:r>
            <a:r>
              <a:rPr kumimoji="1" lang="zh-CN" altLang="en-US" sz="2400" dirty="0">
                <a:latin typeface="+mn-lt"/>
              </a:rPr>
              <a:t>）</a:t>
            </a:r>
          </a:p>
        </p:txBody>
      </p:sp>
    </p:spTree>
    <p:extLst>
      <p:ext uri="{BB962C8B-B14F-4D97-AF65-F5344CB8AC3E}">
        <p14:creationId xmlns:p14="http://schemas.microsoft.com/office/powerpoint/2010/main" val="305281232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页脚占位符 3">
            <a:extLst>
              <a:ext uri="{FF2B5EF4-FFF2-40B4-BE49-F238E27FC236}">
                <a16:creationId xmlns:a16="http://schemas.microsoft.com/office/drawing/2014/main" id="{343AB459-810E-E944-8FB0-970E070A368F}"/>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45DD481D-B77B-DA4E-AEF7-FC7179F7B655}" type="slidenum">
              <a:rPr altLang="en-US" smtClean="0"/>
              <a:pPr algn="ctr"/>
              <a:t>46</a:t>
            </a:fld>
            <a:endParaRPr lang="en-US" altLang="en-US"/>
          </a:p>
        </p:txBody>
      </p:sp>
      <p:sp>
        <p:nvSpPr>
          <p:cNvPr id="34818" name="Rectangle 3">
            <a:extLst>
              <a:ext uri="{FF2B5EF4-FFF2-40B4-BE49-F238E27FC236}">
                <a16:creationId xmlns:a16="http://schemas.microsoft.com/office/drawing/2014/main" id="{9743BBFC-C5BE-DC46-A47A-6371E2BEDE02}"/>
              </a:ext>
            </a:extLst>
          </p:cNvPr>
          <p:cNvSpPr>
            <a:spLocks noGrp="1" noChangeArrowheads="1"/>
          </p:cNvSpPr>
          <p:nvPr>
            <p:ph idx="1"/>
          </p:nvPr>
        </p:nvSpPr>
        <p:spPr>
          <a:xfrm>
            <a:off x="952500" y="1854200"/>
            <a:ext cx="7886700" cy="4241800"/>
          </a:xfrm>
        </p:spPr>
        <p:txBody>
          <a:bodyPr/>
          <a:lstStyle/>
          <a:p>
            <a:pPr eaLnBrk="1" hangingPunct="1">
              <a:buClr>
                <a:srgbClr val="CC3300"/>
              </a:buClr>
              <a:buFontTx/>
              <a:buBlip>
                <a:blip r:embed="rId2"/>
              </a:buBlip>
            </a:pPr>
            <a:r>
              <a:rPr lang="zh-CN" altLang="en-US" sz="3600">
                <a:latin typeface="隶书" pitchFamily="49" charset="-122"/>
              </a:rPr>
              <a:t> </a:t>
            </a:r>
            <a:r>
              <a:rPr lang="en-US" altLang="zh-CN" sz="2800"/>
              <a:t>P/V</a:t>
            </a:r>
            <a:r>
              <a:rPr lang="zh-CN" altLang="en-US" sz="2800"/>
              <a:t>机制优缺点</a:t>
            </a:r>
          </a:p>
          <a:p>
            <a:pPr lvl="1" eaLnBrk="1" hangingPunct="1">
              <a:buClr>
                <a:srgbClr val="CC3300"/>
              </a:buClr>
              <a:buFont typeface="Wingdings" pitchFamily="2" charset="2"/>
              <a:buChar char="§"/>
            </a:pPr>
            <a:r>
              <a:rPr lang="zh-CN" altLang="en-US" sz="2400"/>
              <a:t> 简单，而且表达能力强</a:t>
            </a:r>
          </a:p>
          <a:p>
            <a:pPr lvl="1" eaLnBrk="1" hangingPunct="1">
              <a:buClr>
                <a:srgbClr val="CC3300"/>
              </a:buClr>
              <a:buFont typeface="Wingdings" pitchFamily="2" charset="2"/>
              <a:buChar char="§"/>
            </a:pPr>
            <a:r>
              <a:rPr lang="zh-CN" altLang="en-US" sz="2400"/>
              <a:t> 不够安全，使用不当会出现死锁；</a:t>
            </a:r>
          </a:p>
          <a:p>
            <a:pPr lvl="1" eaLnBrk="1" hangingPunct="1">
              <a:buClr>
                <a:srgbClr val="CC3300"/>
              </a:buClr>
              <a:buFont typeface="Wingdings" pitchFamily="2" charset="2"/>
              <a:buChar char="§"/>
            </a:pPr>
            <a:r>
              <a:rPr lang="zh-CN" altLang="en-US" sz="2400"/>
              <a:t> 遇到复杂同步互斥问题时实现复杂</a:t>
            </a:r>
            <a:endParaRPr lang="en-US" altLang="zh-CN" sz="2400"/>
          </a:p>
          <a:p>
            <a:pPr eaLnBrk="1" hangingPunct="1">
              <a:buClr>
                <a:srgbClr val="CC3300"/>
              </a:buClr>
              <a:buFontTx/>
              <a:buBlip>
                <a:blip r:embed="rId2"/>
              </a:buBlip>
            </a:pPr>
            <a:r>
              <a:rPr lang="en-US" altLang="zh-CN" sz="2800"/>
              <a:t>P/V</a:t>
            </a:r>
            <a:r>
              <a:rPr lang="zh-CN" altLang="en-US" sz="2800"/>
              <a:t>操作必须成对出现</a:t>
            </a:r>
          </a:p>
          <a:p>
            <a:pPr lvl="1" eaLnBrk="1" hangingPunct="1">
              <a:buClr>
                <a:srgbClr val="C00000"/>
              </a:buClr>
              <a:buSzPct val="80000"/>
              <a:buFont typeface="Wingdings" pitchFamily="2" charset="2"/>
              <a:buChar char="n"/>
            </a:pPr>
            <a:r>
              <a:rPr lang="zh-CN" altLang="en-US" sz="2000"/>
              <a:t> </a:t>
            </a:r>
            <a:r>
              <a:rPr lang="zh-CN" altLang="en-US" sz="2400"/>
              <a:t>当为互斥操作时，它们同处于同一进程</a:t>
            </a:r>
          </a:p>
          <a:p>
            <a:pPr lvl="1" eaLnBrk="1" hangingPunct="1">
              <a:buClr>
                <a:srgbClr val="C00000"/>
              </a:buClr>
              <a:buSzPct val="80000"/>
              <a:buFont typeface="Wingdings" pitchFamily="2" charset="2"/>
              <a:buChar char="n"/>
            </a:pPr>
            <a:r>
              <a:rPr lang="zh-CN" altLang="en-US" sz="2400"/>
              <a:t>当为同步操作时，则不在同一进程中出现</a:t>
            </a:r>
          </a:p>
          <a:p>
            <a:pPr lvl="1" eaLnBrk="1" hangingPunct="1">
              <a:buClr>
                <a:srgbClr val="C00000"/>
              </a:buClr>
              <a:buSzPct val="80000"/>
              <a:buFont typeface="Wingdings" pitchFamily="2" charset="2"/>
              <a:buChar char="n"/>
            </a:pPr>
            <a:r>
              <a:rPr lang="zh-CN" altLang="en-US" sz="2400"/>
              <a:t>如果</a:t>
            </a:r>
            <a:r>
              <a:rPr lang="en-US" altLang="zh-CN" sz="2400"/>
              <a:t>P(S1)</a:t>
            </a:r>
            <a:r>
              <a:rPr lang="zh-CN" altLang="en-US" sz="2400"/>
              <a:t>和</a:t>
            </a:r>
            <a:r>
              <a:rPr lang="en-US" altLang="zh-CN" sz="2400"/>
              <a:t>P(S2)</a:t>
            </a:r>
            <a:r>
              <a:rPr lang="zh-CN" altLang="en-US" sz="2400"/>
              <a:t>两个操作在一起，那么</a:t>
            </a:r>
            <a:r>
              <a:rPr lang="en-US" altLang="zh-CN" sz="2400"/>
              <a:t>P</a:t>
            </a:r>
            <a:r>
              <a:rPr lang="zh-CN" altLang="en-US" sz="2400"/>
              <a:t>操作顺序至关重要。</a:t>
            </a:r>
          </a:p>
          <a:p>
            <a:pPr lvl="1" eaLnBrk="1" hangingPunct="1">
              <a:buClr>
                <a:srgbClr val="CC3300"/>
              </a:buClr>
              <a:buFont typeface="Wingdings" pitchFamily="2" charset="2"/>
              <a:buChar char="§"/>
            </a:pPr>
            <a:endParaRPr lang="zh-CN" altLang="en-US">
              <a:latin typeface="隶书" pitchFamily="49" charset="-122"/>
            </a:endParaRPr>
          </a:p>
        </p:txBody>
      </p:sp>
      <p:sp>
        <p:nvSpPr>
          <p:cNvPr id="6" name="Rectangle 4">
            <a:extLst>
              <a:ext uri="{FF2B5EF4-FFF2-40B4-BE49-F238E27FC236}">
                <a16:creationId xmlns:a16="http://schemas.microsoft.com/office/drawing/2014/main" id="{B3556937-3434-5347-AD06-4EE637DBCA5C}"/>
              </a:ext>
            </a:extLst>
          </p:cNvPr>
          <p:cNvSpPr>
            <a:spLocks noGrp="1" noChangeArrowheads="1"/>
          </p:cNvSpPr>
          <p:nvPr>
            <p:ph type="title"/>
          </p:nvPr>
        </p:nvSpPr>
        <p:spPr>
          <a:ln>
            <a:miter/>
          </a:ln>
        </p:spPr>
        <p:txBody>
          <a:bodyPr/>
          <a:lstStyle/>
          <a:p>
            <a:pPr eaLnBrk="1" hangingPunct="1">
              <a:defRPr/>
            </a:pPr>
            <a:r>
              <a:rPr kumimoji="1" lang="en-US" altLang="zh-CN" sz="4000" dirty="0">
                <a:latin typeface="+mn-lt"/>
              </a:rPr>
              <a:t>P/V</a:t>
            </a:r>
            <a:r>
              <a:rPr kumimoji="1" lang="zh-CN" altLang="en-US" sz="4000" dirty="0">
                <a:latin typeface="隶书" panose="02010509060101010101" pitchFamily="49" charset="-122"/>
              </a:rPr>
              <a:t>机制</a:t>
            </a:r>
            <a:r>
              <a:rPr kumimoji="1" lang="zh-CN" altLang="en-US" sz="2400" dirty="0">
                <a:latin typeface="+mn-lt"/>
              </a:rPr>
              <a:t>（</a:t>
            </a:r>
            <a:r>
              <a:rPr kumimoji="1" lang="en-US" altLang="zh-CN" sz="2400" dirty="0">
                <a:latin typeface="+mn-lt"/>
              </a:rPr>
              <a:t>4/6</a:t>
            </a:r>
            <a:r>
              <a:rPr kumimoji="1" lang="zh-CN" altLang="en-US" sz="2400" dirty="0">
                <a:latin typeface="+mn-lt"/>
              </a:rPr>
              <a:t>）</a:t>
            </a:r>
          </a:p>
        </p:txBody>
      </p:sp>
    </p:spTree>
    <p:extLst>
      <p:ext uri="{BB962C8B-B14F-4D97-AF65-F5344CB8AC3E}">
        <p14:creationId xmlns:p14="http://schemas.microsoft.com/office/powerpoint/2010/main" val="394804152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页脚占位符 3">
            <a:extLst>
              <a:ext uri="{FF2B5EF4-FFF2-40B4-BE49-F238E27FC236}">
                <a16:creationId xmlns:a16="http://schemas.microsoft.com/office/drawing/2014/main" id="{CA770435-C060-224C-9615-FFAC58D93BF7}"/>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2D0C3E3B-13D1-8643-AC7A-65F41970AC03}" type="slidenum">
              <a:rPr altLang="en-US" smtClean="0"/>
              <a:pPr algn="ctr"/>
              <a:t>47</a:t>
            </a:fld>
            <a:endParaRPr lang="en-US" altLang="en-US"/>
          </a:p>
        </p:txBody>
      </p:sp>
      <p:sp>
        <p:nvSpPr>
          <p:cNvPr id="35842" name="Rectangle 3">
            <a:extLst>
              <a:ext uri="{FF2B5EF4-FFF2-40B4-BE49-F238E27FC236}">
                <a16:creationId xmlns:a16="http://schemas.microsoft.com/office/drawing/2014/main" id="{495329C0-D9A6-F04D-9145-30B3DC72EE7E}"/>
              </a:ext>
            </a:extLst>
          </p:cNvPr>
          <p:cNvSpPr>
            <a:spLocks noGrp="1" noChangeArrowheads="1"/>
          </p:cNvSpPr>
          <p:nvPr>
            <p:ph idx="1"/>
          </p:nvPr>
        </p:nvSpPr>
        <p:spPr>
          <a:xfrm>
            <a:off x="914400" y="1879600"/>
            <a:ext cx="7543800" cy="4216400"/>
          </a:xfrm>
        </p:spPr>
        <p:txBody>
          <a:bodyPr/>
          <a:lstStyle/>
          <a:p>
            <a:pPr eaLnBrk="1" hangingPunct="1">
              <a:buClr>
                <a:srgbClr val="CC3300"/>
              </a:buClr>
              <a:buFontTx/>
              <a:buBlip>
                <a:blip r:embed="rId3"/>
              </a:buBlip>
            </a:pPr>
            <a:r>
              <a:rPr lang="en-US" altLang="zh-CN" sz="2800"/>
              <a:t> P/V</a:t>
            </a:r>
            <a:r>
              <a:rPr lang="zh-CN" altLang="en-US" sz="2800">
                <a:latin typeface="黑体" panose="02010609060101010101" pitchFamily="49" charset="-122"/>
              </a:rPr>
              <a:t>操作应用</a:t>
            </a:r>
            <a:endParaRPr lang="en-US" altLang="zh-CN" sz="2800">
              <a:latin typeface="黑体" panose="02010609060101010101" pitchFamily="49" charset="-122"/>
            </a:endParaRPr>
          </a:p>
          <a:p>
            <a:pPr lvl="1" eaLnBrk="1" hangingPunct="1">
              <a:buClr>
                <a:srgbClr val="CC3300"/>
              </a:buClr>
              <a:buFont typeface="Wingdings" pitchFamily="2" charset="2"/>
              <a:buChar char="Ø"/>
            </a:pPr>
            <a:r>
              <a:rPr lang="zh-CN" altLang="en-US">
                <a:latin typeface="黑体" panose="02010609060101010101" pitchFamily="49" charset="-122"/>
              </a:rPr>
              <a:t> 实现进程互斥</a:t>
            </a:r>
          </a:p>
          <a:p>
            <a:pPr lvl="2" eaLnBrk="1" hangingPunct="1">
              <a:buClr>
                <a:srgbClr val="CC3300"/>
              </a:buClr>
              <a:buFont typeface="Wingdings" pitchFamily="2" charset="2"/>
              <a:buChar char="§"/>
            </a:pPr>
            <a:r>
              <a:rPr lang="zh-CN" altLang="en-US" sz="2000"/>
              <a:t>为临界资源设置一个互斥信号量</a:t>
            </a:r>
            <a:r>
              <a:rPr lang="en-US" altLang="zh-CN" sz="2000"/>
              <a:t>mutex，</a:t>
            </a:r>
            <a:r>
              <a:rPr lang="zh-CN" altLang="en-US" sz="2000"/>
              <a:t>初值为1；</a:t>
            </a:r>
          </a:p>
          <a:p>
            <a:pPr lvl="2" eaLnBrk="1" hangingPunct="1">
              <a:buClr>
                <a:srgbClr val="CC3300"/>
              </a:buClr>
              <a:buFont typeface="Wingdings" pitchFamily="2" charset="2"/>
              <a:buChar char="§"/>
            </a:pPr>
            <a:r>
              <a:rPr lang="zh-CN" altLang="en-US" sz="2000"/>
              <a:t>在每个进程中，将临界区代码置于</a:t>
            </a:r>
            <a:r>
              <a:rPr lang="en-US" altLang="zh-CN" sz="2000"/>
              <a:t>P(mutex)</a:t>
            </a:r>
            <a:r>
              <a:rPr lang="zh-CN" altLang="en-US" sz="2000"/>
              <a:t>和</a:t>
            </a:r>
            <a:r>
              <a:rPr lang="en-US" altLang="zh-CN" sz="2000"/>
              <a:t>V(mutex)</a:t>
            </a:r>
            <a:r>
              <a:rPr lang="zh-CN" altLang="en-US" sz="2000"/>
              <a:t>原语之间。</a:t>
            </a:r>
          </a:p>
          <a:p>
            <a:pPr eaLnBrk="1" hangingPunct="1"/>
            <a:endParaRPr lang="zh-CN" altLang="en-US"/>
          </a:p>
        </p:txBody>
      </p:sp>
      <p:sp>
        <p:nvSpPr>
          <p:cNvPr id="6" name="Rectangle 4">
            <a:extLst>
              <a:ext uri="{FF2B5EF4-FFF2-40B4-BE49-F238E27FC236}">
                <a16:creationId xmlns:a16="http://schemas.microsoft.com/office/drawing/2014/main" id="{F90ADB2B-4176-4342-A89F-4931FBBC7E83}"/>
              </a:ext>
            </a:extLst>
          </p:cNvPr>
          <p:cNvSpPr>
            <a:spLocks noGrp="1" noChangeArrowheads="1"/>
          </p:cNvSpPr>
          <p:nvPr>
            <p:ph type="title"/>
          </p:nvPr>
        </p:nvSpPr>
        <p:spPr>
          <a:ln>
            <a:miter/>
          </a:ln>
        </p:spPr>
        <p:txBody>
          <a:bodyPr/>
          <a:lstStyle/>
          <a:p>
            <a:pPr eaLnBrk="1" hangingPunct="1">
              <a:defRPr/>
            </a:pPr>
            <a:r>
              <a:rPr kumimoji="1" lang="en-US" altLang="zh-CN" sz="4000" dirty="0">
                <a:latin typeface="+mn-lt"/>
              </a:rPr>
              <a:t>P/V</a:t>
            </a:r>
            <a:r>
              <a:rPr kumimoji="1" lang="zh-CN" altLang="en-US" sz="4000" dirty="0">
                <a:latin typeface="隶书" panose="02010509060101010101" pitchFamily="49" charset="-122"/>
              </a:rPr>
              <a:t>机制</a:t>
            </a:r>
            <a:r>
              <a:rPr kumimoji="1" lang="zh-CN" altLang="en-US" sz="2400" dirty="0">
                <a:latin typeface="+mn-lt"/>
              </a:rPr>
              <a:t>（</a:t>
            </a:r>
            <a:r>
              <a:rPr kumimoji="1" lang="en-US" altLang="zh-CN" sz="2400" dirty="0">
                <a:latin typeface="+mn-lt"/>
              </a:rPr>
              <a:t>5/6</a:t>
            </a:r>
            <a:r>
              <a:rPr kumimoji="1" lang="zh-CN" altLang="en-US" sz="2400" dirty="0">
                <a:latin typeface="+mn-lt"/>
              </a:rPr>
              <a:t>）</a:t>
            </a:r>
          </a:p>
        </p:txBody>
      </p:sp>
      <p:graphicFrame>
        <p:nvGraphicFramePr>
          <p:cNvPr id="35844" name="Object 2048">
            <a:extLst>
              <a:ext uri="{FF2B5EF4-FFF2-40B4-BE49-F238E27FC236}">
                <a16:creationId xmlns:a16="http://schemas.microsoft.com/office/drawing/2014/main" id="{F32F195A-F365-5A4A-9618-CE24D78E6B94}"/>
              </a:ext>
            </a:extLst>
          </p:cNvPr>
          <p:cNvGraphicFramePr>
            <a:graphicFrameLocks/>
          </p:cNvGraphicFramePr>
          <p:nvPr/>
        </p:nvGraphicFramePr>
        <p:xfrm>
          <a:off x="2233613" y="4089400"/>
          <a:ext cx="4675187" cy="2184400"/>
        </p:xfrm>
        <a:graphic>
          <a:graphicData uri="http://schemas.openxmlformats.org/presentationml/2006/ole">
            <mc:AlternateContent xmlns:mc="http://schemas.openxmlformats.org/markup-compatibility/2006">
              <mc:Choice xmlns:v="urn:schemas-microsoft-com:vml" Requires="v">
                <p:oleObj spid="_x0000_s105474" r:id="rId4" imgW="10490200" imgH="5765800" progId="Visio.Drawing.6">
                  <p:embed/>
                </p:oleObj>
              </mc:Choice>
              <mc:Fallback>
                <p:oleObj r:id="rId4" imgW="10490200" imgH="5765800" progId="Visio.Drawing.6">
                  <p:embed/>
                  <p:pic>
                    <p:nvPicPr>
                      <p:cNvPr id="35844" name="Object 2048">
                        <a:extLst>
                          <a:ext uri="{FF2B5EF4-FFF2-40B4-BE49-F238E27FC236}">
                            <a16:creationId xmlns:a16="http://schemas.microsoft.com/office/drawing/2014/main" id="{F32F195A-F365-5A4A-9618-CE24D78E6B9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33613" y="4089400"/>
                        <a:ext cx="4675187" cy="2184400"/>
                      </a:xfrm>
                      <a:prstGeom prst="rect">
                        <a:avLst/>
                      </a:prstGeom>
                      <a:noFill/>
                      <a:ln w="19050">
                        <a:solidFill>
                          <a:srgbClr val="CC33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0217655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页脚占位符 3">
            <a:extLst>
              <a:ext uri="{FF2B5EF4-FFF2-40B4-BE49-F238E27FC236}">
                <a16:creationId xmlns:a16="http://schemas.microsoft.com/office/drawing/2014/main" id="{2280F5A8-9270-7C4B-87A0-4549A855F9ED}"/>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C62420BF-A77E-4448-A3E7-B0AED984A815}" type="slidenum">
              <a:rPr altLang="en-US" smtClean="0"/>
              <a:pPr algn="ctr"/>
              <a:t>48</a:t>
            </a:fld>
            <a:endParaRPr lang="en-US" altLang="en-US"/>
          </a:p>
        </p:txBody>
      </p:sp>
      <p:sp>
        <p:nvSpPr>
          <p:cNvPr id="36866" name="Rectangle 1027">
            <a:extLst>
              <a:ext uri="{FF2B5EF4-FFF2-40B4-BE49-F238E27FC236}">
                <a16:creationId xmlns:a16="http://schemas.microsoft.com/office/drawing/2014/main" id="{926597F0-046D-E044-8B7B-C6F0E4FBCB89}"/>
              </a:ext>
            </a:extLst>
          </p:cNvPr>
          <p:cNvSpPr>
            <a:spLocks noGrp="1" noChangeArrowheads="1"/>
          </p:cNvSpPr>
          <p:nvPr>
            <p:ph idx="1"/>
          </p:nvPr>
        </p:nvSpPr>
        <p:spPr>
          <a:xfrm>
            <a:off x="914400" y="1841500"/>
            <a:ext cx="7543800" cy="4114800"/>
          </a:xfrm>
        </p:spPr>
        <p:txBody>
          <a:bodyPr/>
          <a:lstStyle/>
          <a:p>
            <a:pPr eaLnBrk="1" hangingPunct="1">
              <a:lnSpc>
                <a:spcPct val="150000"/>
              </a:lnSpc>
              <a:spcBef>
                <a:spcPct val="0"/>
              </a:spcBef>
              <a:buClr>
                <a:srgbClr val="CC3300"/>
              </a:buClr>
              <a:buFont typeface="Wingdings" pitchFamily="2" charset="2"/>
              <a:buChar char="Ø"/>
            </a:pPr>
            <a:r>
              <a:rPr lang="zh-CN" altLang="en-US">
                <a:latin typeface="黑体" panose="02010609060101010101" pitchFamily="49" charset="-122"/>
              </a:rPr>
              <a:t> </a:t>
            </a:r>
            <a:r>
              <a:rPr lang="zh-CN" altLang="en-US" sz="2800">
                <a:latin typeface="黑体" panose="02010609060101010101" pitchFamily="49" charset="-122"/>
              </a:rPr>
              <a:t>实现进程同步</a:t>
            </a:r>
          </a:p>
          <a:p>
            <a:pPr lvl="1" eaLnBrk="1" hangingPunct="1">
              <a:lnSpc>
                <a:spcPct val="150000"/>
              </a:lnSpc>
              <a:spcBef>
                <a:spcPct val="0"/>
              </a:spcBef>
              <a:buClr>
                <a:srgbClr val="CC3300"/>
              </a:buClr>
              <a:buFont typeface="Wingdings" pitchFamily="2" charset="2"/>
              <a:buChar char="§"/>
            </a:pPr>
            <a:r>
              <a:rPr lang="zh-CN" altLang="en-US" sz="2400"/>
              <a:t>前驱关系，为每个前趋关系设置一个同步信号量</a:t>
            </a:r>
            <a:r>
              <a:rPr lang="en-US" altLang="zh-CN" sz="2400"/>
              <a:t>S12，</a:t>
            </a:r>
            <a:r>
              <a:rPr lang="zh-CN" altLang="en-US" sz="2400"/>
              <a:t>其初值为0。</a:t>
            </a:r>
          </a:p>
          <a:p>
            <a:pPr eaLnBrk="1" hangingPunct="1"/>
            <a:endParaRPr lang="zh-CN" altLang="en-US" sz="2800">
              <a:latin typeface="隶书" pitchFamily="49" charset="-122"/>
            </a:endParaRPr>
          </a:p>
          <a:p>
            <a:pPr eaLnBrk="1" hangingPunct="1">
              <a:buClr>
                <a:srgbClr val="CC3300"/>
              </a:buClr>
              <a:buFont typeface="Wingdings" pitchFamily="2" charset="2"/>
              <a:buChar char="Ø"/>
            </a:pPr>
            <a:endParaRPr lang="zh-CN" altLang="en-US" sz="3600">
              <a:latin typeface="黑体" panose="02010609060101010101" pitchFamily="49" charset="-122"/>
            </a:endParaRPr>
          </a:p>
        </p:txBody>
      </p:sp>
      <p:sp>
        <p:nvSpPr>
          <p:cNvPr id="6" name="Rectangle 4">
            <a:extLst>
              <a:ext uri="{FF2B5EF4-FFF2-40B4-BE49-F238E27FC236}">
                <a16:creationId xmlns:a16="http://schemas.microsoft.com/office/drawing/2014/main" id="{60529CF1-E120-134D-B25D-4A2C7EBBB893}"/>
              </a:ext>
            </a:extLst>
          </p:cNvPr>
          <p:cNvSpPr>
            <a:spLocks noGrp="1" noChangeArrowheads="1"/>
          </p:cNvSpPr>
          <p:nvPr>
            <p:ph type="title"/>
          </p:nvPr>
        </p:nvSpPr>
        <p:spPr>
          <a:ln>
            <a:miter/>
          </a:ln>
        </p:spPr>
        <p:txBody>
          <a:bodyPr/>
          <a:lstStyle/>
          <a:p>
            <a:pPr eaLnBrk="1" hangingPunct="1">
              <a:defRPr/>
            </a:pPr>
            <a:r>
              <a:rPr kumimoji="1" lang="en-US" altLang="zh-CN" sz="4000" dirty="0">
                <a:latin typeface="+mn-lt"/>
              </a:rPr>
              <a:t>P/V</a:t>
            </a:r>
            <a:r>
              <a:rPr kumimoji="1" lang="zh-CN" altLang="en-US" sz="4000" dirty="0">
                <a:latin typeface="隶书" panose="02010509060101010101" pitchFamily="49" charset="-122"/>
              </a:rPr>
              <a:t>机制</a:t>
            </a:r>
            <a:r>
              <a:rPr kumimoji="1" lang="zh-CN" altLang="en-US" sz="2400" dirty="0">
                <a:latin typeface="+mn-lt"/>
              </a:rPr>
              <a:t>（</a:t>
            </a:r>
            <a:r>
              <a:rPr kumimoji="1" lang="en-US" altLang="zh-CN" sz="2400" dirty="0">
                <a:latin typeface="+mn-lt"/>
              </a:rPr>
              <a:t>6/6</a:t>
            </a:r>
            <a:r>
              <a:rPr kumimoji="1" lang="zh-CN" altLang="en-US" sz="2400" dirty="0">
                <a:latin typeface="+mn-lt"/>
              </a:rPr>
              <a:t>）</a:t>
            </a:r>
          </a:p>
        </p:txBody>
      </p:sp>
      <p:graphicFrame>
        <p:nvGraphicFramePr>
          <p:cNvPr id="36868" name="Object 2048">
            <a:extLst>
              <a:ext uri="{FF2B5EF4-FFF2-40B4-BE49-F238E27FC236}">
                <a16:creationId xmlns:a16="http://schemas.microsoft.com/office/drawing/2014/main" id="{D3E18726-3459-464E-BDD9-AD1AB54959B6}"/>
              </a:ext>
            </a:extLst>
          </p:cNvPr>
          <p:cNvGraphicFramePr>
            <a:graphicFrameLocks/>
          </p:cNvGraphicFramePr>
          <p:nvPr/>
        </p:nvGraphicFramePr>
        <p:xfrm>
          <a:off x="2082800" y="3937000"/>
          <a:ext cx="5638800" cy="1847850"/>
        </p:xfrm>
        <a:graphic>
          <a:graphicData uri="http://schemas.openxmlformats.org/presentationml/2006/ole">
            <mc:AlternateContent xmlns:mc="http://schemas.openxmlformats.org/markup-compatibility/2006">
              <mc:Choice xmlns:v="urn:schemas-microsoft-com:vml" Requires="v">
                <p:oleObj spid="_x0000_s106498" r:id="rId3" imgW="14960600" imgH="5664200" progId="Visio.Drawing.6">
                  <p:embed/>
                </p:oleObj>
              </mc:Choice>
              <mc:Fallback>
                <p:oleObj r:id="rId3" imgW="14960600" imgH="5664200" progId="Visio.Drawing.6">
                  <p:embed/>
                  <p:pic>
                    <p:nvPicPr>
                      <p:cNvPr id="36868" name="Object 2048">
                        <a:extLst>
                          <a:ext uri="{FF2B5EF4-FFF2-40B4-BE49-F238E27FC236}">
                            <a16:creationId xmlns:a16="http://schemas.microsoft.com/office/drawing/2014/main" id="{D3E18726-3459-464E-BDD9-AD1AB54959B6}"/>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82800" y="3937000"/>
                        <a:ext cx="5638800" cy="1847850"/>
                      </a:xfrm>
                      <a:prstGeom prst="rect">
                        <a:avLst/>
                      </a:prstGeom>
                      <a:noFill/>
                      <a:ln w="19050">
                        <a:solidFill>
                          <a:srgbClr val="CC33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6212371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页脚占位符 3">
            <a:extLst>
              <a:ext uri="{FF2B5EF4-FFF2-40B4-BE49-F238E27FC236}">
                <a16:creationId xmlns:a16="http://schemas.microsoft.com/office/drawing/2014/main" id="{E9E24ADE-9077-B14C-BE18-250965F99EC7}"/>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85075C6A-18CC-6E49-A24E-99BABF5FBE3C}" type="slidenum">
              <a:rPr altLang="en-US" smtClean="0"/>
              <a:pPr algn="ctr"/>
              <a:t>49</a:t>
            </a:fld>
            <a:endParaRPr lang="en-US" altLang="en-US"/>
          </a:p>
        </p:txBody>
      </p:sp>
      <p:sp>
        <p:nvSpPr>
          <p:cNvPr id="40963" name="Rectangle 2">
            <a:extLst>
              <a:ext uri="{FF2B5EF4-FFF2-40B4-BE49-F238E27FC236}">
                <a16:creationId xmlns:a16="http://schemas.microsoft.com/office/drawing/2014/main" id="{93C696AF-8C01-EA44-9083-32607040461C}"/>
              </a:ext>
            </a:extLst>
          </p:cNvPr>
          <p:cNvSpPr>
            <a:spLocks noGrp="1" noChangeArrowheads="1"/>
          </p:cNvSpPr>
          <p:nvPr>
            <p:ph type="title"/>
          </p:nvPr>
        </p:nvSpPr>
        <p:spPr>
          <a:ln>
            <a:miter/>
          </a:ln>
        </p:spPr>
        <p:txBody>
          <a:bodyPr/>
          <a:lstStyle/>
          <a:p>
            <a:pPr eaLnBrk="1" hangingPunct="1"/>
            <a:r>
              <a:rPr lang="en-US" altLang="zh-CN" sz="4000"/>
              <a:t>7.4 </a:t>
            </a:r>
            <a:r>
              <a:rPr lang="zh-CN" altLang="en-US" sz="4000">
                <a:latin typeface="隶书" pitchFamily="49" charset="-122"/>
              </a:rPr>
              <a:t>典型同步问题</a:t>
            </a:r>
          </a:p>
        </p:txBody>
      </p:sp>
      <p:sp>
        <p:nvSpPr>
          <p:cNvPr id="37891" name="Rectangle 3">
            <a:extLst>
              <a:ext uri="{FF2B5EF4-FFF2-40B4-BE49-F238E27FC236}">
                <a16:creationId xmlns:a16="http://schemas.microsoft.com/office/drawing/2014/main" id="{0648391F-48BD-A846-A5F4-E0AB66AF44B3}"/>
              </a:ext>
            </a:extLst>
          </p:cNvPr>
          <p:cNvSpPr>
            <a:spLocks noGrp="1" noChangeArrowheads="1"/>
          </p:cNvSpPr>
          <p:nvPr>
            <p:ph idx="1"/>
          </p:nvPr>
        </p:nvSpPr>
        <p:spPr>
          <a:xfrm>
            <a:off x="1104900" y="1905000"/>
            <a:ext cx="7543800" cy="4114800"/>
          </a:xfrm>
        </p:spPr>
        <p:txBody>
          <a:bodyPr/>
          <a:lstStyle/>
          <a:p>
            <a:pPr eaLnBrk="1" hangingPunct="1">
              <a:lnSpc>
                <a:spcPct val="150000"/>
              </a:lnSpc>
              <a:spcBef>
                <a:spcPct val="0"/>
              </a:spcBef>
              <a:buFontTx/>
              <a:buBlip>
                <a:blip r:embed="rId2"/>
              </a:buBlip>
            </a:pPr>
            <a:r>
              <a:rPr lang="zh-CN" altLang="en-US">
                <a:latin typeface="隶书" pitchFamily="49" charset="-122"/>
              </a:rPr>
              <a:t> 生产者－消费者问题</a:t>
            </a:r>
            <a:endParaRPr lang="en-US" altLang="zh-CN">
              <a:latin typeface="隶书" pitchFamily="49" charset="-122"/>
            </a:endParaRPr>
          </a:p>
          <a:p>
            <a:pPr eaLnBrk="1" hangingPunct="1">
              <a:lnSpc>
                <a:spcPct val="150000"/>
              </a:lnSpc>
              <a:spcBef>
                <a:spcPct val="0"/>
              </a:spcBef>
              <a:buFontTx/>
              <a:buBlip>
                <a:blip r:embed="rId2"/>
              </a:buBlip>
            </a:pPr>
            <a:r>
              <a:rPr lang="zh-CN" altLang="en-US">
                <a:latin typeface="隶书" pitchFamily="49" charset="-122"/>
              </a:rPr>
              <a:t> 读者写者问题</a:t>
            </a:r>
          </a:p>
          <a:p>
            <a:pPr eaLnBrk="1" hangingPunct="1">
              <a:lnSpc>
                <a:spcPct val="150000"/>
              </a:lnSpc>
              <a:spcBef>
                <a:spcPct val="0"/>
              </a:spcBef>
              <a:buFontTx/>
              <a:buBlip>
                <a:blip r:embed="rId2"/>
              </a:buBlip>
            </a:pPr>
            <a:r>
              <a:rPr lang="zh-CN" altLang="en-US">
                <a:latin typeface="隶书" pitchFamily="49" charset="-122"/>
              </a:rPr>
              <a:t> 哲学家就餐问题</a:t>
            </a:r>
          </a:p>
        </p:txBody>
      </p:sp>
    </p:spTree>
    <p:extLst>
      <p:ext uri="{BB962C8B-B14F-4D97-AF65-F5344CB8AC3E}">
        <p14:creationId xmlns:p14="http://schemas.microsoft.com/office/powerpoint/2010/main" val="406389281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页脚占位符 3">
            <a:extLst>
              <a:ext uri="{FF2B5EF4-FFF2-40B4-BE49-F238E27FC236}">
                <a16:creationId xmlns:a16="http://schemas.microsoft.com/office/drawing/2014/main" id="{D0936BC2-8E68-B64C-8252-66AA0BDC1A4C}"/>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05619F16-A2F8-DC46-B5E8-6B2C06783A84}" type="slidenum">
              <a:rPr altLang="en-US" smtClean="0"/>
              <a:pPr algn="ctr"/>
              <a:t>50</a:t>
            </a:fld>
            <a:endParaRPr lang="en-US" altLang="en-US"/>
          </a:p>
        </p:txBody>
      </p:sp>
      <p:sp>
        <p:nvSpPr>
          <p:cNvPr id="38914" name="Rectangle 3">
            <a:extLst>
              <a:ext uri="{FF2B5EF4-FFF2-40B4-BE49-F238E27FC236}">
                <a16:creationId xmlns:a16="http://schemas.microsoft.com/office/drawing/2014/main" id="{232D6818-303D-7E4D-BA5D-4DAC96415E36}"/>
              </a:ext>
            </a:extLst>
          </p:cNvPr>
          <p:cNvSpPr>
            <a:spLocks noGrp="1" noChangeArrowheads="1"/>
          </p:cNvSpPr>
          <p:nvPr>
            <p:ph idx="1"/>
          </p:nvPr>
        </p:nvSpPr>
        <p:spPr>
          <a:xfrm>
            <a:off x="914400" y="1828800"/>
            <a:ext cx="7543800" cy="4267200"/>
          </a:xfrm>
        </p:spPr>
        <p:txBody>
          <a:bodyPr/>
          <a:lstStyle/>
          <a:p>
            <a:pPr eaLnBrk="1" hangingPunct="1">
              <a:buClr>
                <a:srgbClr val="CC3300"/>
              </a:buClr>
              <a:buFontTx/>
              <a:buBlip>
                <a:blip r:embed="rId3"/>
              </a:buBlip>
            </a:pPr>
            <a:r>
              <a:rPr lang="zh-CN" altLang="en-US" sz="2800"/>
              <a:t>问题描述</a:t>
            </a:r>
            <a:endParaRPr lang="en-US" altLang="zh-CN" sz="2800">
              <a:latin typeface="隶书" pitchFamily="49" charset="-122"/>
            </a:endParaRPr>
          </a:p>
          <a:p>
            <a:pPr lvl="1" eaLnBrk="1" hangingPunct="1">
              <a:buClr>
                <a:srgbClr val="CC3300"/>
              </a:buClr>
              <a:buFont typeface="Wingdings" pitchFamily="2" charset="2"/>
              <a:buChar char="Ø"/>
            </a:pPr>
            <a:r>
              <a:rPr lang="zh-CN" altLang="en-US" sz="2400">
                <a:latin typeface="隶书" pitchFamily="49" charset="-122"/>
              </a:rPr>
              <a:t>若干进程通过有限的共享缓冲区交换数据</a:t>
            </a:r>
            <a:r>
              <a:rPr lang="en-US" altLang="zh-CN" sz="2400">
                <a:latin typeface="隶书" pitchFamily="49" charset="-122"/>
              </a:rPr>
              <a:t>;</a:t>
            </a:r>
          </a:p>
          <a:p>
            <a:pPr lvl="1" eaLnBrk="1" hangingPunct="1">
              <a:buClr>
                <a:srgbClr val="CC3300"/>
              </a:buClr>
              <a:buFont typeface="Wingdings" pitchFamily="2" charset="2"/>
              <a:buChar char="Ø"/>
            </a:pPr>
            <a:r>
              <a:rPr lang="zh-CN" altLang="en-US" sz="2400">
                <a:latin typeface="隶书" pitchFamily="49" charset="-122"/>
              </a:rPr>
              <a:t>共享缓冲区共有</a:t>
            </a:r>
            <a:r>
              <a:rPr lang="en-US" altLang="zh-CN" sz="2400">
                <a:latin typeface="隶书" pitchFamily="49" charset="-122"/>
              </a:rPr>
              <a:t>N</a:t>
            </a:r>
            <a:r>
              <a:rPr lang="zh-CN" altLang="en-US" sz="2400">
                <a:latin typeface="隶书" pitchFamily="49" charset="-122"/>
              </a:rPr>
              <a:t>个；</a:t>
            </a:r>
            <a:endParaRPr lang="en-US" altLang="zh-CN" sz="2400">
              <a:latin typeface="隶书" pitchFamily="49" charset="-122"/>
            </a:endParaRPr>
          </a:p>
          <a:p>
            <a:pPr lvl="1" eaLnBrk="1" hangingPunct="1">
              <a:buClr>
                <a:srgbClr val="CC3300"/>
              </a:buClr>
              <a:buFont typeface="Wingdings" pitchFamily="2" charset="2"/>
              <a:buChar char="Ø"/>
            </a:pPr>
            <a:r>
              <a:rPr lang="zh-CN" altLang="en-US" sz="2400">
                <a:latin typeface="隶书" pitchFamily="49" charset="-122"/>
              </a:rPr>
              <a:t>任何时刻只能有一个进程对共享缓冲区进行操作。</a:t>
            </a:r>
          </a:p>
          <a:p>
            <a:pPr lvl="1" eaLnBrk="1" hangingPunct="1">
              <a:buClr>
                <a:srgbClr val="CC3300"/>
              </a:buClr>
              <a:buFont typeface="Wingdings" pitchFamily="2" charset="2"/>
              <a:buNone/>
            </a:pPr>
            <a:endParaRPr lang="zh-CN" altLang="en-US"/>
          </a:p>
        </p:txBody>
      </p:sp>
      <p:sp>
        <p:nvSpPr>
          <p:cNvPr id="46084" name="Rectangle 4">
            <a:extLst>
              <a:ext uri="{FF2B5EF4-FFF2-40B4-BE49-F238E27FC236}">
                <a16:creationId xmlns:a16="http://schemas.microsoft.com/office/drawing/2014/main" id="{4FA4C2D6-D60B-E743-A62C-6B76A868071B}"/>
              </a:ext>
            </a:extLst>
          </p:cNvPr>
          <p:cNvSpPr>
            <a:spLocks noGrp="1" noChangeArrowheads="1"/>
          </p:cNvSpPr>
          <p:nvPr>
            <p:ph type="title"/>
          </p:nvPr>
        </p:nvSpPr>
        <p:spPr>
          <a:ln>
            <a:miter/>
          </a:ln>
        </p:spPr>
        <p:txBody>
          <a:bodyPr/>
          <a:lstStyle/>
          <a:p>
            <a:pPr eaLnBrk="1" hangingPunct="1"/>
            <a:r>
              <a:rPr lang="zh-CN" altLang="en-US">
                <a:latin typeface="隶书" pitchFamily="49" charset="-122"/>
              </a:rPr>
              <a:t>生产者</a:t>
            </a:r>
            <a:r>
              <a:rPr lang="en-US" altLang="zh-CN"/>
              <a:t>-</a:t>
            </a:r>
            <a:r>
              <a:rPr lang="zh-CN" altLang="en-US">
                <a:latin typeface="隶书" pitchFamily="49" charset="-122"/>
              </a:rPr>
              <a:t>消费者问题</a:t>
            </a:r>
            <a:r>
              <a:rPr lang="zh-CN" altLang="en-US" sz="2400"/>
              <a:t>（</a:t>
            </a:r>
            <a:r>
              <a:rPr lang="en-US" altLang="zh-CN" sz="2400"/>
              <a:t>1/2</a:t>
            </a:r>
            <a:r>
              <a:rPr lang="zh-CN" altLang="en-US" sz="2400"/>
              <a:t>）</a:t>
            </a:r>
          </a:p>
        </p:txBody>
      </p:sp>
      <p:graphicFrame>
        <p:nvGraphicFramePr>
          <p:cNvPr id="38916" name="Object 0">
            <a:extLst>
              <a:ext uri="{FF2B5EF4-FFF2-40B4-BE49-F238E27FC236}">
                <a16:creationId xmlns:a16="http://schemas.microsoft.com/office/drawing/2014/main" id="{DE23D2B6-A265-184F-9C04-91B27D30B2C9}"/>
              </a:ext>
            </a:extLst>
          </p:cNvPr>
          <p:cNvGraphicFramePr>
            <a:graphicFrameLocks/>
          </p:cNvGraphicFramePr>
          <p:nvPr/>
        </p:nvGraphicFramePr>
        <p:xfrm>
          <a:off x="1384300" y="3860800"/>
          <a:ext cx="6375400" cy="2168525"/>
        </p:xfrm>
        <a:graphic>
          <a:graphicData uri="http://schemas.openxmlformats.org/presentationml/2006/ole">
            <mc:AlternateContent xmlns:mc="http://schemas.openxmlformats.org/markup-compatibility/2006">
              <mc:Choice xmlns:v="urn:schemas-microsoft-com:vml" Requires="v">
                <p:oleObj spid="_x0000_s108546" r:id="rId4" imgW="27495500" imgH="7861300" progId="Visio.Drawing.6">
                  <p:embed/>
                </p:oleObj>
              </mc:Choice>
              <mc:Fallback>
                <p:oleObj r:id="rId4" imgW="27495500" imgH="7861300" progId="Visio.Drawing.6">
                  <p:embed/>
                  <p:pic>
                    <p:nvPicPr>
                      <p:cNvPr id="38916" name="Object 0">
                        <a:extLst>
                          <a:ext uri="{FF2B5EF4-FFF2-40B4-BE49-F238E27FC236}">
                            <a16:creationId xmlns:a16="http://schemas.microsoft.com/office/drawing/2014/main" id="{DE23D2B6-A265-184F-9C04-91B27D30B2C9}"/>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384300" y="3860800"/>
                        <a:ext cx="6375400" cy="2168525"/>
                      </a:xfrm>
                      <a:prstGeom prst="rect">
                        <a:avLst/>
                      </a:prstGeom>
                      <a:noFill/>
                      <a:ln w="19050">
                        <a:solidFill>
                          <a:srgbClr val="CC33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8325011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页脚占位符 3">
            <a:extLst>
              <a:ext uri="{FF2B5EF4-FFF2-40B4-BE49-F238E27FC236}">
                <a16:creationId xmlns:a16="http://schemas.microsoft.com/office/drawing/2014/main" id="{B0C0EAAC-FF8D-3B4C-9079-488FD2110597}"/>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30EFADDF-ADF3-EC47-8E1D-BC99CEFFBA6D}" type="slidenum">
              <a:rPr altLang="en-US" smtClean="0"/>
              <a:pPr algn="ctr"/>
              <a:t>51</a:t>
            </a:fld>
            <a:endParaRPr lang="en-US" altLang="en-US"/>
          </a:p>
        </p:txBody>
      </p:sp>
      <p:sp>
        <p:nvSpPr>
          <p:cNvPr id="39938" name="Rectangle 3">
            <a:extLst>
              <a:ext uri="{FF2B5EF4-FFF2-40B4-BE49-F238E27FC236}">
                <a16:creationId xmlns:a16="http://schemas.microsoft.com/office/drawing/2014/main" id="{EFC9CAD8-5C5D-DB4D-9A23-7B49B31AEE21}"/>
              </a:ext>
            </a:extLst>
          </p:cNvPr>
          <p:cNvSpPr>
            <a:spLocks noGrp="1" noChangeArrowheads="1"/>
          </p:cNvSpPr>
          <p:nvPr>
            <p:ph idx="1"/>
          </p:nvPr>
        </p:nvSpPr>
        <p:spPr>
          <a:xfrm>
            <a:off x="914400" y="1828800"/>
            <a:ext cx="7543800" cy="4267200"/>
          </a:xfrm>
        </p:spPr>
        <p:txBody>
          <a:bodyPr/>
          <a:lstStyle/>
          <a:p>
            <a:pPr eaLnBrk="1" hangingPunct="1">
              <a:lnSpc>
                <a:spcPts val="3363"/>
              </a:lnSpc>
              <a:buClr>
                <a:srgbClr val="CC3300"/>
              </a:buClr>
              <a:buFontTx/>
              <a:buBlip>
                <a:blip r:embed="rId4"/>
              </a:buBlip>
            </a:pPr>
            <a:r>
              <a:rPr lang="zh-CN" altLang="en-US" sz="2800"/>
              <a:t> 信号量确定</a:t>
            </a:r>
          </a:p>
          <a:p>
            <a:pPr lvl="1" eaLnBrk="1" hangingPunct="1">
              <a:lnSpc>
                <a:spcPts val="3363"/>
              </a:lnSpc>
              <a:spcBef>
                <a:spcPct val="0"/>
              </a:spcBef>
              <a:buClr>
                <a:srgbClr val="CC3300"/>
              </a:buClr>
              <a:buFont typeface="Wingdings" pitchFamily="2" charset="2"/>
              <a:buChar char="Ø"/>
            </a:pPr>
            <a:r>
              <a:rPr lang="en-US" altLang="zh-CN" sz="2400"/>
              <a:t>full</a:t>
            </a:r>
            <a:r>
              <a:rPr lang="zh-CN" altLang="en-US" sz="2400"/>
              <a:t>是“满”数目，初值为0；</a:t>
            </a:r>
            <a:endParaRPr lang="en-US" altLang="zh-CN" sz="2400"/>
          </a:p>
          <a:p>
            <a:pPr lvl="1" eaLnBrk="1" hangingPunct="1">
              <a:lnSpc>
                <a:spcPts val="3363"/>
              </a:lnSpc>
              <a:spcBef>
                <a:spcPct val="0"/>
              </a:spcBef>
              <a:buClr>
                <a:srgbClr val="CC3300"/>
              </a:buClr>
              <a:buFont typeface="Wingdings" pitchFamily="2" charset="2"/>
              <a:buChar char="Ø"/>
            </a:pPr>
            <a:r>
              <a:rPr lang="en-US" altLang="zh-CN" sz="2400"/>
              <a:t>empty</a:t>
            </a:r>
            <a:r>
              <a:rPr lang="zh-CN" altLang="en-US" sz="2400"/>
              <a:t>是“空”数目，初值为</a:t>
            </a:r>
            <a:r>
              <a:rPr lang="en-US" altLang="zh-CN" sz="2400"/>
              <a:t>N。</a:t>
            </a:r>
          </a:p>
          <a:p>
            <a:pPr lvl="1" eaLnBrk="1" hangingPunct="1">
              <a:lnSpc>
                <a:spcPts val="3363"/>
              </a:lnSpc>
              <a:spcBef>
                <a:spcPct val="0"/>
              </a:spcBef>
              <a:buClr>
                <a:srgbClr val="CC3300"/>
              </a:buClr>
              <a:buFont typeface="Wingdings" pitchFamily="2" charset="2"/>
              <a:buChar char="Ø"/>
            </a:pPr>
            <a:r>
              <a:rPr lang="en-US" altLang="zh-CN" sz="2400"/>
              <a:t>mutex</a:t>
            </a:r>
            <a:r>
              <a:rPr lang="zh-CN" altLang="en-US" sz="2400"/>
              <a:t>用于访问缓冲区时的</a:t>
            </a:r>
            <a:r>
              <a:rPr lang="zh-CN" altLang="en-US" sz="2400">
                <a:solidFill>
                  <a:srgbClr val="FF0000"/>
                </a:solidFill>
              </a:rPr>
              <a:t>互斥</a:t>
            </a:r>
            <a:r>
              <a:rPr lang="zh-CN" altLang="en-US" sz="2400"/>
              <a:t>，初值为1</a:t>
            </a:r>
          </a:p>
        </p:txBody>
      </p:sp>
      <p:sp>
        <p:nvSpPr>
          <p:cNvPr id="6" name="Rectangle 4">
            <a:extLst>
              <a:ext uri="{FF2B5EF4-FFF2-40B4-BE49-F238E27FC236}">
                <a16:creationId xmlns:a16="http://schemas.microsoft.com/office/drawing/2014/main" id="{8D213CC0-4481-B44D-A36D-073C09E670FC}"/>
              </a:ext>
            </a:extLst>
          </p:cNvPr>
          <p:cNvSpPr>
            <a:spLocks noGrp="1" noChangeArrowheads="1"/>
          </p:cNvSpPr>
          <p:nvPr>
            <p:ph type="title"/>
          </p:nvPr>
        </p:nvSpPr>
        <p:spPr>
          <a:ln>
            <a:miter/>
          </a:ln>
        </p:spPr>
        <p:txBody>
          <a:bodyPr/>
          <a:lstStyle/>
          <a:p>
            <a:pPr eaLnBrk="1" hangingPunct="1"/>
            <a:r>
              <a:rPr lang="zh-CN" altLang="en-US">
                <a:latin typeface="隶书" pitchFamily="49" charset="-122"/>
              </a:rPr>
              <a:t>生产者</a:t>
            </a:r>
            <a:r>
              <a:rPr lang="en-US" altLang="zh-CN"/>
              <a:t>-</a:t>
            </a:r>
            <a:r>
              <a:rPr lang="zh-CN" altLang="en-US">
                <a:latin typeface="隶书" pitchFamily="49" charset="-122"/>
              </a:rPr>
              <a:t>消费者问题</a:t>
            </a:r>
            <a:r>
              <a:rPr lang="zh-CN" altLang="en-US" sz="2400"/>
              <a:t>（</a:t>
            </a:r>
            <a:r>
              <a:rPr lang="en-US" altLang="zh-CN" sz="2400"/>
              <a:t>2/2</a:t>
            </a:r>
            <a:r>
              <a:rPr lang="zh-CN" altLang="en-US" sz="2400"/>
              <a:t>）</a:t>
            </a:r>
          </a:p>
        </p:txBody>
      </p:sp>
      <p:graphicFrame>
        <p:nvGraphicFramePr>
          <p:cNvPr id="39940" name="Object 0">
            <a:extLst>
              <a:ext uri="{FF2B5EF4-FFF2-40B4-BE49-F238E27FC236}">
                <a16:creationId xmlns:a16="http://schemas.microsoft.com/office/drawing/2014/main" id="{422D4AAC-3657-A34B-A6B6-1B111FC0B89B}"/>
              </a:ext>
            </a:extLst>
          </p:cNvPr>
          <p:cNvGraphicFramePr>
            <a:graphicFrameLocks/>
          </p:cNvGraphicFramePr>
          <p:nvPr/>
        </p:nvGraphicFramePr>
        <p:xfrm>
          <a:off x="1028700" y="3721100"/>
          <a:ext cx="7543800" cy="2324100"/>
        </p:xfrm>
        <a:graphic>
          <a:graphicData uri="http://schemas.openxmlformats.org/presentationml/2006/ole">
            <mc:AlternateContent xmlns:mc="http://schemas.openxmlformats.org/markup-compatibility/2006">
              <mc:Choice xmlns:v="urn:schemas-microsoft-com:vml" Requires="v">
                <p:oleObj spid="_x0000_s110594" r:id="rId5" imgW="24396700" imgH="7048500" progId="Visio.Drawing.6">
                  <p:embed/>
                </p:oleObj>
              </mc:Choice>
              <mc:Fallback>
                <p:oleObj r:id="rId5" imgW="24396700" imgH="7048500" progId="Visio.Drawing.6">
                  <p:embed/>
                  <p:pic>
                    <p:nvPicPr>
                      <p:cNvPr id="39940" name="Object 0">
                        <a:extLst>
                          <a:ext uri="{FF2B5EF4-FFF2-40B4-BE49-F238E27FC236}">
                            <a16:creationId xmlns:a16="http://schemas.microsoft.com/office/drawing/2014/main" id="{422D4AAC-3657-A34B-A6B6-1B111FC0B89B}"/>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28700" y="3721100"/>
                        <a:ext cx="7543800" cy="2324100"/>
                      </a:xfrm>
                      <a:prstGeom prst="rect">
                        <a:avLst/>
                      </a:prstGeom>
                      <a:noFill/>
                      <a:ln w="19050">
                        <a:solidFill>
                          <a:srgbClr val="CC3300"/>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57943290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页脚占位符 3">
            <a:extLst>
              <a:ext uri="{FF2B5EF4-FFF2-40B4-BE49-F238E27FC236}">
                <a16:creationId xmlns:a16="http://schemas.microsoft.com/office/drawing/2014/main" id="{7FB1840E-34D9-BE41-8325-A5E377697C0A}"/>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EE997610-9446-574F-9480-7E5A425696D2}" type="slidenum">
              <a:rPr altLang="en-US" smtClean="0"/>
              <a:pPr algn="ctr"/>
              <a:t>52</a:t>
            </a:fld>
            <a:endParaRPr lang="en-US" altLang="en-US"/>
          </a:p>
        </p:txBody>
      </p:sp>
      <p:sp>
        <p:nvSpPr>
          <p:cNvPr id="38915" name="Rectangle 3">
            <a:extLst>
              <a:ext uri="{FF2B5EF4-FFF2-40B4-BE49-F238E27FC236}">
                <a16:creationId xmlns:a16="http://schemas.microsoft.com/office/drawing/2014/main" id="{584AF6A7-CD63-9D4F-9ED5-19113499E16E}"/>
              </a:ext>
            </a:extLst>
          </p:cNvPr>
          <p:cNvSpPr>
            <a:spLocks noGrp="1" noChangeArrowheads="1"/>
          </p:cNvSpPr>
          <p:nvPr>
            <p:ph idx="1"/>
          </p:nvPr>
        </p:nvSpPr>
        <p:spPr>
          <a:xfrm>
            <a:off x="800100" y="1658938"/>
            <a:ext cx="7543800" cy="4241800"/>
          </a:xfrm>
          <a:ln>
            <a:miter/>
          </a:ln>
        </p:spPr>
        <p:txBody>
          <a:bodyPr/>
          <a:lstStyle/>
          <a:p>
            <a:pPr eaLnBrk="1" hangingPunct="1">
              <a:buClr>
                <a:srgbClr val="CC3300"/>
              </a:buClr>
              <a:buFontTx/>
              <a:buBlip>
                <a:blip r:embed="rId2"/>
              </a:buBlip>
            </a:pPr>
            <a:r>
              <a:rPr lang="zh-CN" altLang="en-US">
                <a:latin typeface="隶书" pitchFamily="49" charset="-122"/>
              </a:rPr>
              <a:t> </a:t>
            </a:r>
            <a:r>
              <a:rPr lang="zh-CN" altLang="en-US" sz="2800">
                <a:latin typeface="隶书" pitchFamily="49" charset="-122"/>
              </a:rPr>
              <a:t>问题描述</a:t>
            </a:r>
          </a:p>
          <a:p>
            <a:pPr lvl="1" eaLnBrk="1" hangingPunct="1">
              <a:lnSpc>
                <a:spcPct val="150000"/>
              </a:lnSpc>
              <a:spcBef>
                <a:spcPct val="0"/>
              </a:spcBef>
              <a:buClr>
                <a:srgbClr val="C00000"/>
              </a:buClr>
              <a:buFont typeface="Wingdings" pitchFamily="2" charset="2"/>
              <a:buChar char="Ø"/>
            </a:pPr>
            <a:r>
              <a:rPr lang="zh-CN" altLang="en-US" sz="2400">
                <a:latin typeface="隶书" pitchFamily="49" charset="-122"/>
              </a:rPr>
              <a:t>有两组并发进程: </a:t>
            </a:r>
            <a:r>
              <a:rPr lang="zh-CN" altLang="en-US" sz="2400">
                <a:solidFill>
                  <a:srgbClr val="BE2400"/>
                </a:solidFill>
                <a:latin typeface="隶书" pitchFamily="49" charset="-122"/>
              </a:rPr>
              <a:t>读者和写者</a:t>
            </a:r>
            <a:r>
              <a:rPr lang="zh-CN" altLang="en-US" sz="2400">
                <a:latin typeface="隶书" pitchFamily="49" charset="-122"/>
              </a:rPr>
              <a:t>,共享一组数据区。</a:t>
            </a:r>
          </a:p>
          <a:p>
            <a:pPr lvl="2" eaLnBrk="1" hangingPunct="1">
              <a:lnSpc>
                <a:spcPct val="150000"/>
              </a:lnSpc>
              <a:spcBef>
                <a:spcPct val="0"/>
              </a:spcBef>
              <a:buClr>
                <a:srgbClr val="C00000"/>
              </a:buClr>
              <a:buSzPct val="88000"/>
              <a:buFont typeface="Wingdings" pitchFamily="2" charset="2"/>
              <a:buChar char="n"/>
            </a:pPr>
            <a:r>
              <a:rPr lang="zh-CN" altLang="en-US">
                <a:latin typeface="隶书" pitchFamily="49" charset="-122"/>
              </a:rPr>
              <a:t>允许多个读者同时可执行读操作</a:t>
            </a:r>
          </a:p>
          <a:p>
            <a:pPr lvl="2" eaLnBrk="1" hangingPunct="1">
              <a:lnSpc>
                <a:spcPct val="150000"/>
              </a:lnSpc>
              <a:spcBef>
                <a:spcPct val="0"/>
              </a:spcBef>
              <a:buClr>
                <a:srgbClr val="C00000"/>
              </a:buClr>
              <a:buSzPct val="88000"/>
              <a:buFont typeface="Wingdings" pitchFamily="2" charset="2"/>
              <a:buChar char="n"/>
            </a:pPr>
            <a:r>
              <a:rPr lang="zh-CN" altLang="en-US">
                <a:latin typeface="隶书" pitchFamily="49" charset="-122"/>
              </a:rPr>
              <a:t>不允许读者、写者同时操作</a:t>
            </a:r>
          </a:p>
          <a:p>
            <a:pPr lvl="2" eaLnBrk="1" hangingPunct="1">
              <a:lnSpc>
                <a:spcPct val="150000"/>
              </a:lnSpc>
              <a:spcBef>
                <a:spcPct val="0"/>
              </a:spcBef>
              <a:buClr>
                <a:srgbClr val="C00000"/>
              </a:buClr>
              <a:buSzPct val="88000"/>
              <a:buFont typeface="Wingdings" pitchFamily="2" charset="2"/>
              <a:buChar char="n"/>
            </a:pPr>
            <a:r>
              <a:rPr lang="zh-CN" altLang="en-US">
                <a:latin typeface="隶书" pitchFamily="49" charset="-122"/>
              </a:rPr>
              <a:t>不允许多个写者同时操作</a:t>
            </a:r>
            <a:endParaRPr lang="en-US" altLang="zh-CN">
              <a:latin typeface="隶书" pitchFamily="49" charset="-122"/>
            </a:endParaRPr>
          </a:p>
          <a:p>
            <a:pPr eaLnBrk="1" hangingPunct="1">
              <a:lnSpc>
                <a:spcPct val="150000"/>
              </a:lnSpc>
              <a:spcBef>
                <a:spcPct val="0"/>
              </a:spcBef>
              <a:buClr>
                <a:srgbClr val="C00000"/>
              </a:buClr>
              <a:buSzPct val="88000"/>
              <a:buFontTx/>
              <a:buBlip>
                <a:blip r:embed="rId3"/>
              </a:buBlip>
            </a:pPr>
            <a:r>
              <a:rPr lang="en-US" altLang="zh-CN">
                <a:latin typeface="隶书" pitchFamily="49" charset="-122"/>
              </a:rPr>
              <a:t> </a:t>
            </a:r>
            <a:r>
              <a:rPr lang="zh-CN" altLang="en-US" sz="2800">
                <a:latin typeface="隶书" pitchFamily="49" charset="-122"/>
              </a:rPr>
              <a:t>问题分类</a:t>
            </a:r>
            <a:endParaRPr lang="en-US" altLang="zh-CN" sz="2800">
              <a:latin typeface="隶书" pitchFamily="49" charset="-122"/>
            </a:endParaRPr>
          </a:p>
          <a:p>
            <a:pPr lvl="2" eaLnBrk="1" hangingPunct="1">
              <a:lnSpc>
                <a:spcPct val="150000"/>
              </a:lnSpc>
              <a:spcBef>
                <a:spcPct val="0"/>
              </a:spcBef>
              <a:buClr>
                <a:srgbClr val="C00000"/>
              </a:buClr>
              <a:buSzPct val="88000"/>
              <a:buFont typeface="Wingdings" pitchFamily="2" charset="2"/>
              <a:buChar char="n"/>
            </a:pPr>
            <a:r>
              <a:rPr lang="en-US" altLang="zh-CN">
                <a:latin typeface="隶书" pitchFamily="49" charset="-122"/>
              </a:rPr>
              <a:t> </a:t>
            </a:r>
            <a:r>
              <a:rPr lang="zh-CN" altLang="en-US">
                <a:latin typeface="隶书" pitchFamily="49" charset="-122"/>
              </a:rPr>
              <a:t>第一类读者写者问题：</a:t>
            </a:r>
            <a:r>
              <a:rPr lang="zh-CN" altLang="en-US">
                <a:solidFill>
                  <a:srgbClr val="FF0000"/>
                </a:solidFill>
                <a:latin typeface="隶书" pitchFamily="49" charset="-122"/>
              </a:rPr>
              <a:t>读者优先</a:t>
            </a:r>
            <a:endParaRPr lang="en-US" altLang="zh-CN">
              <a:solidFill>
                <a:srgbClr val="FF0000"/>
              </a:solidFill>
              <a:latin typeface="隶书" pitchFamily="49" charset="-122"/>
            </a:endParaRPr>
          </a:p>
          <a:p>
            <a:pPr lvl="2" eaLnBrk="1" hangingPunct="1">
              <a:lnSpc>
                <a:spcPct val="150000"/>
              </a:lnSpc>
              <a:spcBef>
                <a:spcPct val="0"/>
              </a:spcBef>
              <a:buClr>
                <a:srgbClr val="C00000"/>
              </a:buClr>
              <a:buSzPct val="88000"/>
              <a:buFont typeface="Wingdings" pitchFamily="2" charset="2"/>
              <a:buChar char="n"/>
            </a:pPr>
            <a:r>
              <a:rPr lang="en-US" altLang="zh-CN">
                <a:latin typeface="隶书" pitchFamily="49" charset="-122"/>
              </a:rPr>
              <a:t> </a:t>
            </a:r>
            <a:r>
              <a:rPr lang="zh-CN" altLang="en-US">
                <a:latin typeface="隶书" pitchFamily="49" charset="-122"/>
              </a:rPr>
              <a:t>第二类读者写者问题：</a:t>
            </a:r>
            <a:r>
              <a:rPr lang="zh-CN" altLang="en-US">
                <a:solidFill>
                  <a:srgbClr val="FF0000"/>
                </a:solidFill>
                <a:latin typeface="隶书" pitchFamily="49" charset="-122"/>
              </a:rPr>
              <a:t>写者优先</a:t>
            </a:r>
          </a:p>
          <a:p>
            <a:pPr lvl="2" eaLnBrk="1" hangingPunct="1">
              <a:buClr>
                <a:srgbClr val="C00000"/>
              </a:buClr>
              <a:buSzPct val="88000"/>
              <a:buFontTx/>
              <a:buNone/>
            </a:pPr>
            <a:endParaRPr lang="zh-CN" altLang="en-US"/>
          </a:p>
        </p:txBody>
      </p:sp>
      <p:sp>
        <p:nvSpPr>
          <p:cNvPr id="41988" name="Rectangle 4">
            <a:extLst>
              <a:ext uri="{FF2B5EF4-FFF2-40B4-BE49-F238E27FC236}">
                <a16:creationId xmlns:a16="http://schemas.microsoft.com/office/drawing/2014/main" id="{67828EEC-B7BB-D943-A03F-EA71F9032CC7}"/>
              </a:ext>
            </a:extLst>
          </p:cNvPr>
          <p:cNvSpPr>
            <a:spLocks noGrp="1" noChangeArrowheads="1"/>
          </p:cNvSpPr>
          <p:nvPr>
            <p:ph type="title"/>
          </p:nvPr>
        </p:nvSpPr>
        <p:spPr>
          <a:ln>
            <a:miter/>
          </a:ln>
        </p:spPr>
        <p:txBody>
          <a:bodyPr/>
          <a:lstStyle/>
          <a:p>
            <a:pPr eaLnBrk="1" hangingPunct="1"/>
            <a:r>
              <a:rPr lang="zh-CN" altLang="en-US" sz="4000">
                <a:latin typeface="隶书" pitchFamily="49" charset="-122"/>
              </a:rPr>
              <a:t>读者写者问题</a:t>
            </a:r>
            <a:r>
              <a:rPr lang="zh-CN" altLang="en-US" sz="2400"/>
              <a:t>（</a:t>
            </a:r>
            <a:r>
              <a:rPr lang="en-US" altLang="zh-CN" sz="2400"/>
              <a:t>1/8</a:t>
            </a:r>
            <a:r>
              <a:rPr lang="zh-CN" altLang="en-US" sz="2400"/>
              <a:t>）</a:t>
            </a:r>
          </a:p>
        </p:txBody>
      </p:sp>
    </p:spTree>
    <p:extLst>
      <p:ext uri="{BB962C8B-B14F-4D97-AF65-F5344CB8AC3E}">
        <p14:creationId xmlns:p14="http://schemas.microsoft.com/office/powerpoint/2010/main" val="95084394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415DF7FE-FD5F-6344-A0A5-59ED9725139C}"/>
              </a:ext>
            </a:extLst>
          </p:cNvPr>
          <p:cNvSpPr>
            <a:spLocks noGrp="1" noChangeArrowheads="1"/>
          </p:cNvSpPr>
          <p:nvPr>
            <p:ph type="title"/>
          </p:nvPr>
        </p:nvSpPr>
        <p:spPr>
          <a:ln>
            <a:miter/>
          </a:ln>
        </p:spPr>
        <p:txBody>
          <a:bodyPr/>
          <a:lstStyle/>
          <a:p>
            <a:pPr eaLnBrk="1" hangingPunct="1"/>
            <a:r>
              <a:rPr lang="zh-CN" altLang="en-US" sz="4000">
                <a:latin typeface="隶书" pitchFamily="49" charset="-122"/>
              </a:rPr>
              <a:t>读者写者问题</a:t>
            </a:r>
            <a:r>
              <a:rPr lang="zh-CN" altLang="en-US" sz="2400"/>
              <a:t>（</a:t>
            </a:r>
            <a:r>
              <a:rPr lang="en-US" altLang="zh-CN" sz="2400"/>
              <a:t>2/8</a:t>
            </a:r>
            <a:r>
              <a:rPr lang="zh-CN" altLang="en-US" sz="2400"/>
              <a:t>）</a:t>
            </a:r>
          </a:p>
        </p:txBody>
      </p:sp>
      <p:sp>
        <p:nvSpPr>
          <p:cNvPr id="5" name="Rectangle 3">
            <a:extLst>
              <a:ext uri="{FF2B5EF4-FFF2-40B4-BE49-F238E27FC236}">
                <a16:creationId xmlns:a16="http://schemas.microsoft.com/office/drawing/2014/main" id="{110E1C79-2944-AE42-ABFE-D5E4F15F9EBB}"/>
              </a:ext>
            </a:extLst>
          </p:cNvPr>
          <p:cNvSpPr>
            <a:spLocks noGrp="1" noChangeArrowheads="1"/>
          </p:cNvSpPr>
          <p:nvPr>
            <p:ph idx="1"/>
          </p:nvPr>
        </p:nvSpPr>
        <p:spPr>
          <a:xfrm>
            <a:off x="808038" y="1924050"/>
            <a:ext cx="7543800" cy="4241800"/>
          </a:xfrm>
          <a:ln>
            <a:miter/>
          </a:ln>
        </p:spPr>
        <p:txBody>
          <a:bodyPr/>
          <a:lstStyle/>
          <a:p>
            <a:pPr eaLnBrk="1" hangingPunct="1">
              <a:buClr>
                <a:srgbClr val="CC3300"/>
              </a:buClr>
              <a:buFont typeface="Wingdings" pitchFamily="2" charset="2"/>
              <a:buChar char="Ø"/>
            </a:pPr>
            <a:r>
              <a:rPr lang="zh-CN" altLang="en-US" sz="2800"/>
              <a:t>第一类读者写者问题：</a:t>
            </a:r>
            <a:r>
              <a:rPr lang="zh-CN" altLang="en-US" sz="2800">
                <a:solidFill>
                  <a:srgbClr val="FF0000"/>
                </a:solidFill>
                <a:latin typeface="隶书" pitchFamily="49" charset="-122"/>
              </a:rPr>
              <a:t>读者优先</a:t>
            </a:r>
            <a:endParaRPr lang="en-US" altLang="zh-CN" sz="2800">
              <a:solidFill>
                <a:srgbClr val="FF0000"/>
              </a:solidFill>
              <a:latin typeface="隶书" pitchFamily="49" charset="-122"/>
            </a:endParaRPr>
          </a:p>
          <a:p>
            <a:pPr eaLnBrk="1" hangingPunct="1">
              <a:buClr>
                <a:srgbClr val="CC3300"/>
              </a:buClr>
              <a:buFontTx/>
              <a:buNone/>
            </a:pPr>
            <a:r>
              <a:rPr lang="en-US" altLang="zh-CN" sz="2800">
                <a:solidFill>
                  <a:srgbClr val="FF0000"/>
                </a:solidFill>
                <a:latin typeface="隶书" pitchFamily="49" charset="-122"/>
              </a:rPr>
              <a:t>  </a:t>
            </a:r>
            <a:r>
              <a:rPr lang="zh-CN" altLang="en-US" sz="2800">
                <a:solidFill>
                  <a:srgbClr val="FF0000"/>
                </a:solidFill>
                <a:latin typeface="隶书" pitchFamily="49" charset="-122"/>
              </a:rPr>
              <a:t>关键点：</a:t>
            </a:r>
            <a:endParaRPr lang="en-US" altLang="zh-CN" sz="2800">
              <a:solidFill>
                <a:srgbClr val="FF0000"/>
              </a:solidFill>
              <a:latin typeface="隶书" pitchFamily="49" charset="-122"/>
            </a:endParaRPr>
          </a:p>
          <a:p>
            <a:pPr lvl="1" eaLnBrk="1" hangingPunct="1">
              <a:buClr>
                <a:srgbClr val="CC3300"/>
              </a:buClr>
              <a:buFont typeface="Wingdings" pitchFamily="2" charset="2"/>
              <a:buChar char="n"/>
            </a:pPr>
            <a:r>
              <a:rPr lang="zh-CN" altLang="en-US" sz="2400">
                <a:latin typeface="隶书" pitchFamily="49" charset="-122"/>
              </a:rPr>
              <a:t>有读者在读，写者在等，若此刻有新读者到来，如何做？</a:t>
            </a:r>
            <a:r>
              <a:rPr lang="zh-CN" altLang="en-US" sz="2400">
                <a:solidFill>
                  <a:srgbClr val="FF0000"/>
                </a:solidFill>
                <a:latin typeface="隶书" pitchFamily="49" charset="-122"/>
              </a:rPr>
              <a:t>读者优先</a:t>
            </a:r>
            <a:endParaRPr lang="en-US" altLang="zh-CN" sz="2400">
              <a:solidFill>
                <a:srgbClr val="FF0000"/>
              </a:solidFill>
              <a:latin typeface="隶书" pitchFamily="49" charset="-122"/>
            </a:endParaRPr>
          </a:p>
          <a:p>
            <a:pPr lvl="1" eaLnBrk="1" hangingPunct="1">
              <a:buClr>
                <a:srgbClr val="CC3300"/>
              </a:buClr>
              <a:buFont typeface="Wingdings" pitchFamily="2" charset="2"/>
              <a:buChar char="n"/>
            </a:pPr>
            <a:r>
              <a:rPr lang="zh-CN" altLang="en-US" sz="2400">
                <a:latin typeface="隶书" pitchFamily="49" charset="-122"/>
              </a:rPr>
              <a:t>所有读者读完后，方进行写；</a:t>
            </a:r>
            <a:endParaRPr lang="en-US" altLang="zh-CN" sz="2400">
              <a:latin typeface="隶书" pitchFamily="49" charset="-122"/>
            </a:endParaRPr>
          </a:p>
          <a:p>
            <a:pPr lvl="1" eaLnBrk="1" hangingPunct="1">
              <a:buClr>
                <a:srgbClr val="CC3300"/>
              </a:buClr>
              <a:buFont typeface="Wingdings" pitchFamily="2" charset="2"/>
              <a:buChar char="n"/>
            </a:pPr>
            <a:r>
              <a:rPr lang="zh-CN" altLang="en-US" sz="2400">
                <a:latin typeface="隶书" pitchFamily="49" charset="-122"/>
              </a:rPr>
              <a:t>写者完成访问后，发现有等待者，按照</a:t>
            </a:r>
            <a:r>
              <a:rPr lang="en-US" altLang="zh-CN" sz="2400">
                <a:latin typeface="隶书" pitchFamily="49" charset="-122"/>
              </a:rPr>
              <a:t>FIFO</a:t>
            </a:r>
            <a:r>
              <a:rPr lang="zh-CN" altLang="en-US" sz="2400">
                <a:latin typeface="隶书" pitchFamily="49" charset="-122"/>
              </a:rPr>
              <a:t>或者其它原则唤醒写者或者所有读；</a:t>
            </a:r>
            <a:endParaRPr lang="en-US" altLang="zh-CN" sz="2400">
              <a:latin typeface="隶书" pitchFamily="49" charset="-122"/>
            </a:endParaRPr>
          </a:p>
          <a:p>
            <a:pPr lvl="1" eaLnBrk="1" hangingPunct="1">
              <a:buClr>
                <a:srgbClr val="CC3300"/>
              </a:buClr>
              <a:buFont typeface="Wingdings" pitchFamily="2" charset="2"/>
              <a:buChar char="n"/>
            </a:pPr>
            <a:r>
              <a:rPr lang="zh-CN" altLang="en-US" sz="2400">
                <a:latin typeface="隶书" pitchFamily="49" charset="-122"/>
              </a:rPr>
              <a:t>存在问题：读者优先可能导致写者饥饿</a:t>
            </a:r>
          </a:p>
          <a:p>
            <a:pPr lvl="1" eaLnBrk="1" hangingPunct="1">
              <a:buClr>
                <a:srgbClr val="CC3300"/>
              </a:buClr>
              <a:buFontTx/>
              <a:buNone/>
            </a:pPr>
            <a:endParaRPr lang="en-US" altLang="zh-CN">
              <a:latin typeface="隶书" pitchFamily="49" charset="-122"/>
            </a:endParaRPr>
          </a:p>
          <a:p>
            <a:pPr lvl="1" eaLnBrk="1" hangingPunct="1">
              <a:buClr>
                <a:srgbClr val="CC3300"/>
              </a:buClr>
              <a:buFontTx/>
              <a:buNone/>
            </a:pPr>
            <a:r>
              <a:rPr lang="en-US" altLang="zh-CN">
                <a:latin typeface="隶书" pitchFamily="49" charset="-122"/>
              </a:rPr>
              <a:t>     </a:t>
            </a:r>
            <a:r>
              <a:rPr lang="zh-CN" altLang="en-US">
                <a:solidFill>
                  <a:srgbClr val="0070C0"/>
                </a:solidFill>
                <a:latin typeface="隶书" pitchFamily="49" charset="-122"/>
              </a:rPr>
              <a:t>读的新数据还是旧数据？</a:t>
            </a:r>
            <a:endParaRPr lang="zh-CN" altLang="en-US">
              <a:solidFill>
                <a:srgbClr val="0070C0"/>
              </a:solidFill>
            </a:endParaRPr>
          </a:p>
        </p:txBody>
      </p:sp>
    </p:spTree>
    <p:extLst>
      <p:ext uri="{BB962C8B-B14F-4D97-AF65-F5344CB8AC3E}">
        <p14:creationId xmlns:p14="http://schemas.microsoft.com/office/powerpoint/2010/main" val="96861700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页脚占位符 3">
            <a:extLst>
              <a:ext uri="{FF2B5EF4-FFF2-40B4-BE49-F238E27FC236}">
                <a16:creationId xmlns:a16="http://schemas.microsoft.com/office/drawing/2014/main" id="{904CDD2D-8CF4-FE4F-BAE2-A4D0024B867F}"/>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F7D01421-3817-4040-93CC-1E22696ECFD9}" type="slidenum">
              <a:rPr altLang="en-US" smtClean="0"/>
              <a:pPr algn="ctr"/>
              <a:t>54</a:t>
            </a:fld>
            <a:endParaRPr lang="en-US" altLang="en-US"/>
          </a:p>
        </p:txBody>
      </p:sp>
      <p:sp>
        <p:nvSpPr>
          <p:cNvPr id="44034" name="Rectangle 3">
            <a:extLst>
              <a:ext uri="{FF2B5EF4-FFF2-40B4-BE49-F238E27FC236}">
                <a16:creationId xmlns:a16="http://schemas.microsoft.com/office/drawing/2014/main" id="{3864BC5E-0F29-704B-A8EB-4E9261ED3BE3}"/>
              </a:ext>
            </a:extLst>
          </p:cNvPr>
          <p:cNvSpPr>
            <a:spLocks noGrp="1" noChangeArrowheads="1"/>
          </p:cNvSpPr>
          <p:nvPr>
            <p:ph idx="1"/>
          </p:nvPr>
        </p:nvSpPr>
        <p:spPr>
          <a:xfrm>
            <a:off x="914400" y="1841500"/>
            <a:ext cx="7937500" cy="4254500"/>
          </a:xfrm>
        </p:spPr>
        <p:txBody>
          <a:bodyPr/>
          <a:lstStyle/>
          <a:p>
            <a:pPr eaLnBrk="1" hangingPunct="1">
              <a:buClr>
                <a:srgbClr val="CC3300"/>
              </a:buClr>
              <a:buFontTx/>
              <a:buBlip>
                <a:blip r:embed="rId2"/>
              </a:buBlip>
            </a:pPr>
            <a:r>
              <a:rPr lang="en-US" altLang="zh-CN"/>
              <a:t> </a:t>
            </a:r>
            <a:r>
              <a:rPr lang="zh-CN" altLang="en-US"/>
              <a:t>解决方法：</a:t>
            </a:r>
            <a:endParaRPr lang="en-US" altLang="zh-CN"/>
          </a:p>
          <a:p>
            <a:pPr lvl="1" eaLnBrk="1" hangingPunct="1">
              <a:buClr>
                <a:srgbClr val="CC3300"/>
              </a:buClr>
              <a:buFont typeface="Wingdings" pitchFamily="2" charset="2"/>
              <a:buChar char="Ø"/>
            </a:pPr>
            <a:r>
              <a:rPr lang="en-US" altLang="zh-CN" sz="2000"/>
              <a:t>  </a:t>
            </a:r>
            <a:r>
              <a:rPr lang="zh-CN" altLang="en-US" sz="2400"/>
              <a:t>确定临界资源</a:t>
            </a:r>
            <a:endParaRPr lang="en-US" altLang="zh-CN" sz="2400"/>
          </a:p>
          <a:p>
            <a:pPr lvl="2" eaLnBrk="1" hangingPunct="1">
              <a:lnSpc>
                <a:spcPct val="150000"/>
              </a:lnSpc>
              <a:spcBef>
                <a:spcPct val="0"/>
              </a:spcBef>
              <a:buClr>
                <a:srgbClr val="CC3300"/>
              </a:buClr>
              <a:buSzPct val="88000"/>
              <a:buFont typeface="Wingdings" pitchFamily="2" charset="2"/>
              <a:buChar char="n"/>
            </a:pPr>
            <a:r>
              <a:rPr lang="en-US" altLang="zh-CN"/>
              <a:t>readcount</a:t>
            </a:r>
            <a:r>
              <a:rPr lang="zh-CN" altLang="en-US"/>
              <a:t>初值为0，记录当前有多少个读者在访问数据。</a:t>
            </a:r>
          </a:p>
          <a:p>
            <a:pPr lvl="1" eaLnBrk="1" hangingPunct="1">
              <a:lnSpc>
                <a:spcPct val="150000"/>
              </a:lnSpc>
              <a:spcBef>
                <a:spcPct val="0"/>
              </a:spcBef>
              <a:buClr>
                <a:srgbClr val="CC3300"/>
              </a:buClr>
              <a:buFont typeface="Wingdings" pitchFamily="2" charset="2"/>
              <a:buChar char="Ø"/>
            </a:pPr>
            <a:r>
              <a:rPr lang="zh-CN" altLang="en-US" sz="2400"/>
              <a:t>信号量</a:t>
            </a:r>
            <a:endParaRPr lang="en-US" altLang="zh-CN" sz="2400"/>
          </a:p>
          <a:p>
            <a:pPr lvl="2" eaLnBrk="1" hangingPunct="1">
              <a:lnSpc>
                <a:spcPct val="150000"/>
              </a:lnSpc>
              <a:spcBef>
                <a:spcPct val="0"/>
              </a:spcBef>
              <a:buClr>
                <a:srgbClr val="CC3300"/>
              </a:buClr>
              <a:buSzPct val="88000"/>
              <a:buFont typeface="Wingdings" pitchFamily="2" charset="2"/>
              <a:buChar char="n"/>
            </a:pPr>
            <a:r>
              <a:rPr lang="en-US" altLang="zh-CN"/>
              <a:t>mutex</a:t>
            </a:r>
            <a:r>
              <a:rPr lang="zh-CN" altLang="en-US"/>
              <a:t>初值为</a:t>
            </a:r>
            <a:r>
              <a:rPr lang="en-US" altLang="zh-CN"/>
              <a:t>1</a:t>
            </a:r>
            <a:r>
              <a:rPr lang="zh-CN" altLang="en-US"/>
              <a:t>，保证读者之间互斥修改</a:t>
            </a:r>
            <a:r>
              <a:rPr lang="en-US" altLang="zh-CN"/>
              <a:t>readcount.</a:t>
            </a:r>
          </a:p>
          <a:p>
            <a:pPr lvl="2" eaLnBrk="1" hangingPunct="1">
              <a:lnSpc>
                <a:spcPct val="150000"/>
              </a:lnSpc>
              <a:spcBef>
                <a:spcPct val="0"/>
              </a:spcBef>
              <a:buClr>
                <a:srgbClr val="CC3300"/>
              </a:buClr>
              <a:buSzPct val="88000"/>
              <a:buFont typeface="Wingdings" pitchFamily="2" charset="2"/>
              <a:buChar char="n"/>
            </a:pPr>
            <a:r>
              <a:rPr lang="en-US" altLang="zh-CN"/>
              <a:t>w</a:t>
            </a:r>
            <a:r>
              <a:rPr lang="zh-CN" altLang="en-US"/>
              <a:t>初值为1，实现读者和写者公用的互斥变量。</a:t>
            </a:r>
          </a:p>
        </p:txBody>
      </p:sp>
      <p:sp>
        <p:nvSpPr>
          <p:cNvPr id="6" name="Rectangle 4">
            <a:extLst>
              <a:ext uri="{FF2B5EF4-FFF2-40B4-BE49-F238E27FC236}">
                <a16:creationId xmlns:a16="http://schemas.microsoft.com/office/drawing/2014/main" id="{B20D6DA2-E247-B545-86EB-1C8A995FFEAE}"/>
              </a:ext>
            </a:extLst>
          </p:cNvPr>
          <p:cNvSpPr>
            <a:spLocks noGrp="1" noChangeArrowheads="1"/>
          </p:cNvSpPr>
          <p:nvPr>
            <p:ph type="title"/>
          </p:nvPr>
        </p:nvSpPr>
        <p:spPr>
          <a:ln>
            <a:miter/>
          </a:ln>
        </p:spPr>
        <p:txBody>
          <a:bodyPr/>
          <a:lstStyle/>
          <a:p>
            <a:pPr eaLnBrk="1" hangingPunct="1"/>
            <a:r>
              <a:rPr lang="zh-CN" altLang="en-US" sz="4000">
                <a:latin typeface="隶书" pitchFamily="49" charset="-122"/>
              </a:rPr>
              <a:t>读者写者问题</a:t>
            </a:r>
            <a:r>
              <a:rPr lang="zh-CN" altLang="en-US" sz="2400"/>
              <a:t>（</a:t>
            </a:r>
            <a:r>
              <a:rPr lang="en-US" altLang="zh-CN" sz="2400"/>
              <a:t>3/8</a:t>
            </a:r>
            <a:r>
              <a:rPr lang="zh-CN" altLang="en-US" sz="2400"/>
              <a:t>）</a:t>
            </a:r>
          </a:p>
        </p:txBody>
      </p:sp>
    </p:spTree>
    <p:extLst>
      <p:ext uri="{BB962C8B-B14F-4D97-AF65-F5344CB8AC3E}">
        <p14:creationId xmlns:p14="http://schemas.microsoft.com/office/powerpoint/2010/main" val="232797862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页脚占位符 3">
            <a:extLst>
              <a:ext uri="{FF2B5EF4-FFF2-40B4-BE49-F238E27FC236}">
                <a16:creationId xmlns:a16="http://schemas.microsoft.com/office/drawing/2014/main" id="{D1AA4C18-C124-D848-940C-97B752CD7647}"/>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DDD4CC94-0189-3A40-8E18-0875F94CCDD2}" type="slidenum">
              <a:rPr altLang="en-US" smtClean="0"/>
              <a:pPr algn="ctr"/>
              <a:t>55</a:t>
            </a:fld>
            <a:endParaRPr lang="en-US" altLang="en-US"/>
          </a:p>
        </p:txBody>
      </p:sp>
      <p:sp>
        <p:nvSpPr>
          <p:cNvPr id="45058" name="Rectangle 5">
            <a:extLst>
              <a:ext uri="{FF2B5EF4-FFF2-40B4-BE49-F238E27FC236}">
                <a16:creationId xmlns:a16="http://schemas.microsoft.com/office/drawing/2014/main" id="{E3B31C82-902D-C54C-BB06-F3C706CCF22B}"/>
              </a:ext>
            </a:extLst>
          </p:cNvPr>
          <p:cNvSpPr>
            <a:spLocks noChangeArrowheads="1"/>
          </p:cNvSpPr>
          <p:nvPr/>
        </p:nvSpPr>
        <p:spPr bwMode="auto">
          <a:xfrm>
            <a:off x="914400" y="1905000"/>
            <a:ext cx="3810000" cy="4737100"/>
          </a:xfrm>
          <a:prstGeom prst="rect">
            <a:avLst/>
          </a:prstGeom>
          <a:noFill/>
          <a:ln w="1905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sz="6000">
                <a:solidFill>
                  <a:srgbClr val="000099"/>
                </a:solidFill>
                <a:latin typeface="Times New Roman" panose="02020603050405020304" pitchFamily="18" charset="0"/>
                <a:ea typeface="黑体" panose="02010609060101010101" pitchFamily="49" charset="-122"/>
              </a:defRPr>
            </a:lvl1pPr>
            <a:lvl2pPr eaLnBrk="0" hangingPunct="0">
              <a:defRPr sz="6000">
                <a:solidFill>
                  <a:srgbClr val="000099"/>
                </a:solidFill>
                <a:latin typeface="Times New Roman" panose="02020603050405020304" pitchFamily="18" charset="0"/>
                <a:ea typeface="黑体" panose="02010609060101010101" pitchFamily="49" charset="-122"/>
              </a:defRPr>
            </a:lvl2pPr>
            <a:lvl3pPr eaLnBrk="0" hangingPunct="0">
              <a:defRPr sz="6000">
                <a:solidFill>
                  <a:srgbClr val="000099"/>
                </a:solidFill>
                <a:latin typeface="Times New Roman" panose="02020603050405020304" pitchFamily="18" charset="0"/>
                <a:ea typeface="黑体" panose="02010609060101010101" pitchFamily="49" charset="-122"/>
              </a:defRPr>
            </a:lvl3pPr>
            <a:lvl4pPr eaLnBrk="0" hangingPunct="0">
              <a:defRPr sz="6000">
                <a:solidFill>
                  <a:srgbClr val="000099"/>
                </a:solidFill>
                <a:latin typeface="Times New Roman" panose="02020603050405020304" pitchFamily="18" charset="0"/>
                <a:ea typeface="黑体" panose="02010609060101010101" pitchFamily="49" charset="-122"/>
              </a:defRPr>
            </a:lvl4pPr>
            <a:lvl5pPr eaLnBrk="0" hangingPunct="0">
              <a:defRPr sz="6000">
                <a:solidFill>
                  <a:srgbClr val="000099"/>
                </a:solidFill>
                <a:latin typeface="Times New Roman" panose="02020603050405020304" pitchFamily="18" charset="0"/>
                <a:ea typeface="黑体" panose="02010609060101010101" pitchFamily="49" charset="-122"/>
              </a:defRPr>
            </a:lvl5pPr>
            <a:lvl6pPr eaLnBrk="0" fontAlgn="base" hangingPunct="0">
              <a:spcBef>
                <a:spcPct val="0"/>
              </a:spcBef>
              <a:spcAft>
                <a:spcPct val="0"/>
              </a:spcAft>
              <a:defRPr sz="6000">
                <a:solidFill>
                  <a:srgbClr val="000099"/>
                </a:solidFill>
                <a:latin typeface="Times New Roman" panose="02020603050405020304" pitchFamily="18" charset="0"/>
                <a:ea typeface="黑体" panose="02010609060101010101" pitchFamily="49" charset="-122"/>
              </a:defRPr>
            </a:lvl6pPr>
            <a:lvl7pPr eaLnBrk="0" fontAlgn="base" hangingPunct="0">
              <a:spcBef>
                <a:spcPct val="0"/>
              </a:spcBef>
              <a:spcAft>
                <a:spcPct val="0"/>
              </a:spcAft>
              <a:defRPr sz="6000">
                <a:solidFill>
                  <a:srgbClr val="000099"/>
                </a:solidFill>
                <a:latin typeface="Times New Roman" panose="02020603050405020304" pitchFamily="18" charset="0"/>
                <a:ea typeface="黑体" panose="02010609060101010101" pitchFamily="49" charset="-122"/>
              </a:defRPr>
            </a:lvl7pPr>
            <a:lvl8pPr eaLnBrk="0" fontAlgn="base" hangingPunct="0">
              <a:spcBef>
                <a:spcPct val="0"/>
              </a:spcBef>
              <a:spcAft>
                <a:spcPct val="0"/>
              </a:spcAft>
              <a:defRPr sz="6000">
                <a:solidFill>
                  <a:srgbClr val="000099"/>
                </a:solidFill>
                <a:latin typeface="Times New Roman" panose="02020603050405020304" pitchFamily="18" charset="0"/>
                <a:ea typeface="黑体" panose="02010609060101010101" pitchFamily="49" charset="-122"/>
              </a:defRPr>
            </a:lvl8pPr>
            <a:lvl9pPr eaLnBrk="0" fontAlgn="base" hangingPunct="0">
              <a:spcBef>
                <a:spcPct val="0"/>
              </a:spcBef>
              <a:spcAft>
                <a:spcPct val="0"/>
              </a:spcAft>
              <a:defRPr sz="6000">
                <a:solidFill>
                  <a:srgbClr val="000099"/>
                </a:solidFill>
                <a:latin typeface="Times New Roman" panose="02020603050405020304" pitchFamily="18" charset="0"/>
                <a:ea typeface="黑体" panose="02010609060101010101" pitchFamily="49" charset="-122"/>
              </a:defRPr>
            </a:lvl9pPr>
          </a:lstStyle>
          <a:p>
            <a:pPr eaLnBrk="1" hangingPunct="1">
              <a:lnSpc>
                <a:spcPct val="90000"/>
              </a:lnSpc>
            </a:pPr>
            <a:r>
              <a:rPr lang="zh-CN" altLang="en-US" sz="2400">
                <a:solidFill>
                  <a:schemeClr val="tx1"/>
                </a:solidFill>
                <a:ea typeface="隶书" pitchFamily="49" charset="-122"/>
              </a:rPr>
              <a:t>读者：</a:t>
            </a:r>
          </a:p>
          <a:p>
            <a:pPr eaLnBrk="1" hangingPunct="1">
              <a:lnSpc>
                <a:spcPts val="2400"/>
              </a:lnSpc>
            </a:pPr>
            <a:r>
              <a:rPr lang="zh-CN" altLang="en-US" sz="2000">
                <a:solidFill>
                  <a:schemeClr val="tx1"/>
                </a:solidFill>
                <a:ea typeface="隶书" pitchFamily="49" charset="-122"/>
              </a:rPr>
              <a:t>       </a:t>
            </a:r>
            <a:r>
              <a:rPr lang="en-US" altLang="zh-CN" sz="2000">
                <a:solidFill>
                  <a:schemeClr val="tx1"/>
                </a:solidFill>
                <a:ea typeface="隶书" pitchFamily="49" charset="-122"/>
              </a:rPr>
              <a:t>while (true) {</a:t>
            </a:r>
          </a:p>
          <a:p>
            <a:pPr eaLnBrk="1" hangingPunct="1">
              <a:lnSpc>
                <a:spcPts val="2400"/>
              </a:lnSpc>
            </a:pPr>
            <a:r>
              <a:rPr lang="en-US" altLang="zh-CN" sz="2000">
                <a:solidFill>
                  <a:schemeClr val="tx1"/>
                </a:solidFill>
                <a:ea typeface="隶书" pitchFamily="49" charset="-122"/>
              </a:rPr>
              <a:t>       P(mutex);</a:t>
            </a:r>
          </a:p>
          <a:p>
            <a:pPr eaLnBrk="1" hangingPunct="1">
              <a:lnSpc>
                <a:spcPts val="2400"/>
              </a:lnSpc>
            </a:pPr>
            <a:r>
              <a:rPr lang="en-US" altLang="zh-CN" sz="2000">
                <a:solidFill>
                  <a:schemeClr val="tx1"/>
                </a:solidFill>
                <a:ea typeface="隶书" pitchFamily="49" charset="-122"/>
              </a:rPr>
              <a:t>           readcount ++;</a:t>
            </a:r>
          </a:p>
          <a:p>
            <a:pPr eaLnBrk="1" hangingPunct="1">
              <a:lnSpc>
                <a:spcPts val="2400"/>
              </a:lnSpc>
            </a:pPr>
            <a:r>
              <a:rPr lang="en-US" altLang="zh-CN" sz="2000">
                <a:solidFill>
                  <a:schemeClr val="tx1"/>
                </a:solidFill>
                <a:ea typeface="隶书" pitchFamily="49" charset="-122"/>
              </a:rPr>
              <a:t>           if (readcount==1)</a:t>
            </a:r>
          </a:p>
          <a:p>
            <a:pPr eaLnBrk="1" hangingPunct="1">
              <a:lnSpc>
                <a:spcPts val="2400"/>
              </a:lnSpc>
            </a:pPr>
            <a:r>
              <a:rPr lang="en-US" altLang="zh-CN" sz="2000">
                <a:solidFill>
                  <a:schemeClr val="tx1"/>
                </a:solidFill>
                <a:ea typeface="隶书" pitchFamily="49" charset="-122"/>
              </a:rPr>
              <a:t>               P (</a:t>
            </a:r>
            <a:r>
              <a:rPr lang="en-US" altLang="zh-CN" sz="2000">
                <a:solidFill>
                  <a:srgbClr val="FF0000"/>
                </a:solidFill>
                <a:ea typeface="隶书" pitchFamily="49" charset="-122"/>
              </a:rPr>
              <a:t>w</a:t>
            </a:r>
            <a:r>
              <a:rPr lang="en-US" altLang="zh-CN" sz="2000">
                <a:solidFill>
                  <a:schemeClr val="tx1"/>
                </a:solidFill>
                <a:ea typeface="隶书" pitchFamily="49" charset="-122"/>
              </a:rPr>
              <a:t>);</a:t>
            </a:r>
          </a:p>
          <a:p>
            <a:pPr eaLnBrk="1" hangingPunct="1">
              <a:lnSpc>
                <a:spcPts val="2400"/>
              </a:lnSpc>
            </a:pPr>
            <a:r>
              <a:rPr lang="en-US" altLang="zh-CN" sz="2000">
                <a:solidFill>
                  <a:schemeClr val="tx1"/>
                </a:solidFill>
                <a:ea typeface="隶书" pitchFamily="49" charset="-122"/>
              </a:rPr>
              <a:t>       V(mutex);</a:t>
            </a:r>
          </a:p>
          <a:p>
            <a:pPr eaLnBrk="1" hangingPunct="1">
              <a:lnSpc>
                <a:spcPts val="2400"/>
              </a:lnSpc>
            </a:pPr>
            <a:r>
              <a:rPr lang="en-US" altLang="zh-CN" sz="2000">
                <a:solidFill>
                  <a:schemeClr val="tx1"/>
                </a:solidFill>
                <a:ea typeface="隶书" pitchFamily="49" charset="-122"/>
              </a:rPr>
              <a:t>          </a:t>
            </a:r>
            <a:r>
              <a:rPr lang="zh-CN" altLang="en-US" sz="2000">
                <a:solidFill>
                  <a:schemeClr val="tx1"/>
                </a:solidFill>
                <a:ea typeface="隶书" pitchFamily="49" charset="-122"/>
              </a:rPr>
              <a:t>读</a:t>
            </a:r>
          </a:p>
          <a:p>
            <a:pPr eaLnBrk="1" hangingPunct="1">
              <a:lnSpc>
                <a:spcPts val="2400"/>
              </a:lnSpc>
            </a:pPr>
            <a:r>
              <a:rPr lang="zh-CN" altLang="en-US" sz="2000">
                <a:solidFill>
                  <a:schemeClr val="tx1"/>
                </a:solidFill>
                <a:ea typeface="隶书" pitchFamily="49" charset="-122"/>
              </a:rPr>
              <a:t>       </a:t>
            </a:r>
            <a:r>
              <a:rPr lang="en-US" altLang="zh-CN" sz="2000">
                <a:solidFill>
                  <a:schemeClr val="tx1"/>
                </a:solidFill>
                <a:ea typeface="隶书" pitchFamily="49" charset="-122"/>
              </a:rPr>
              <a:t>P(mutex);</a:t>
            </a:r>
          </a:p>
          <a:p>
            <a:pPr eaLnBrk="1" hangingPunct="1">
              <a:lnSpc>
                <a:spcPts val="2400"/>
              </a:lnSpc>
            </a:pPr>
            <a:r>
              <a:rPr lang="en-US" altLang="zh-CN" sz="2000">
                <a:solidFill>
                  <a:schemeClr val="tx1"/>
                </a:solidFill>
                <a:ea typeface="隶书" pitchFamily="49" charset="-122"/>
              </a:rPr>
              <a:t>           readcount --;</a:t>
            </a:r>
          </a:p>
          <a:p>
            <a:pPr eaLnBrk="1" hangingPunct="1">
              <a:lnSpc>
                <a:spcPts val="2400"/>
              </a:lnSpc>
            </a:pPr>
            <a:r>
              <a:rPr lang="en-US" altLang="zh-CN" sz="2000">
                <a:solidFill>
                  <a:schemeClr val="tx1"/>
                </a:solidFill>
                <a:ea typeface="隶书" pitchFamily="49" charset="-122"/>
              </a:rPr>
              <a:t>           if (readcount==0)</a:t>
            </a:r>
          </a:p>
          <a:p>
            <a:pPr eaLnBrk="1" hangingPunct="1">
              <a:lnSpc>
                <a:spcPts val="2400"/>
              </a:lnSpc>
            </a:pPr>
            <a:r>
              <a:rPr lang="en-US" altLang="zh-CN" sz="2000">
                <a:solidFill>
                  <a:schemeClr val="tx1"/>
                </a:solidFill>
                <a:ea typeface="隶书" pitchFamily="49" charset="-122"/>
              </a:rPr>
              <a:t>               V(</a:t>
            </a:r>
            <a:r>
              <a:rPr lang="en-US" altLang="zh-CN" sz="2000">
                <a:solidFill>
                  <a:srgbClr val="FF0000"/>
                </a:solidFill>
                <a:ea typeface="隶书" pitchFamily="49" charset="-122"/>
              </a:rPr>
              <a:t>w</a:t>
            </a:r>
            <a:r>
              <a:rPr lang="en-US" altLang="zh-CN" sz="2000">
                <a:solidFill>
                  <a:schemeClr val="tx1"/>
                </a:solidFill>
                <a:ea typeface="隶书" pitchFamily="49" charset="-122"/>
              </a:rPr>
              <a:t>);</a:t>
            </a:r>
          </a:p>
          <a:p>
            <a:pPr eaLnBrk="1" hangingPunct="1">
              <a:lnSpc>
                <a:spcPts val="2400"/>
              </a:lnSpc>
            </a:pPr>
            <a:r>
              <a:rPr lang="en-US" altLang="zh-CN" sz="2000">
                <a:solidFill>
                  <a:schemeClr val="tx1"/>
                </a:solidFill>
                <a:ea typeface="隶书" pitchFamily="49" charset="-122"/>
              </a:rPr>
              <a:t>        V(mutex);</a:t>
            </a:r>
          </a:p>
          <a:p>
            <a:pPr eaLnBrk="1" hangingPunct="1">
              <a:lnSpc>
                <a:spcPts val="2400"/>
              </a:lnSpc>
            </a:pPr>
            <a:r>
              <a:rPr lang="en-US" altLang="zh-CN" sz="2000">
                <a:solidFill>
                  <a:schemeClr val="tx1"/>
                </a:solidFill>
                <a:ea typeface="隶书" pitchFamily="49" charset="-122"/>
              </a:rPr>
              <a:t>        };</a:t>
            </a:r>
          </a:p>
        </p:txBody>
      </p:sp>
      <p:sp>
        <p:nvSpPr>
          <p:cNvPr id="45059" name="Rectangle 6">
            <a:extLst>
              <a:ext uri="{FF2B5EF4-FFF2-40B4-BE49-F238E27FC236}">
                <a16:creationId xmlns:a16="http://schemas.microsoft.com/office/drawing/2014/main" id="{85675A8D-3531-6B4D-8D7D-AEFD7B6BD7FD}"/>
              </a:ext>
            </a:extLst>
          </p:cNvPr>
          <p:cNvSpPr>
            <a:spLocks noChangeArrowheads="1"/>
          </p:cNvSpPr>
          <p:nvPr/>
        </p:nvSpPr>
        <p:spPr bwMode="auto">
          <a:xfrm>
            <a:off x="4838700" y="1866900"/>
            <a:ext cx="3810000" cy="4724400"/>
          </a:xfrm>
          <a:prstGeom prst="rect">
            <a:avLst/>
          </a:prstGeom>
          <a:noFill/>
          <a:ln w="1905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sz="6000">
                <a:solidFill>
                  <a:srgbClr val="000099"/>
                </a:solidFill>
                <a:latin typeface="Times New Roman" panose="02020603050405020304" pitchFamily="18" charset="0"/>
                <a:ea typeface="黑体" panose="02010609060101010101" pitchFamily="49" charset="-122"/>
              </a:defRPr>
            </a:lvl1pPr>
            <a:lvl2pPr eaLnBrk="0" hangingPunct="0">
              <a:defRPr sz="6000">
                <a:solidFill>
                  <a:srgbClr val="000099"/>
                </a:solidFill>
                <a:latin typeface="Times New Roman" panose="02020603050405020304" pitchFamily="18" charset="0"/>
                <a:ea typeface="黑体" panose="02010609060101010101" pitchFamily="49" charset="-122"/>
              </a:defRPr>
            </a:lvl2pPr>
            <a:lvl3pPr eaLnBrk="0" hangingPunct="0">
              <a:defRPr sz="6000">
                <a:solidFill>
                  <a:srgbClr val="000099"/>
                </a:solidFill>
                <a:latin typeface="Times New Roman" panose="02020603050405020304" pitchFamily="18" charset="0"/>
                <a:ea typeface="黑体" panose="02010609060101010101" pitchFamily="49" charset="-122"/>
              </a:defRPr>
            </a:lvl3pPr>
            <a:lvl4pPr eaLnBrk="0" hangingPunct="0">
              <a:defRPr sz="6000">
                <a:solidFill>
                  <a:srgbClr val="000099"/>
                </a:solidFill>
                <a:latin typeface="Times New Roman" panose="02020603050405020304" pitchFamily="18" charset="0"/>
                <a:ea typeface="黑体" panose="02010609060101010101" pitchFamily="49" charset="-122"/>
              </a:defRPr>
            </a:lvl4pPr>
            <a:lvl5pPr eaLnBrk="0" hangingPunct="0">
              <a:defRPr sz="6000">
                <a:solidFill>
                  <a:srgbClr val="000099"/>
                </a:solidFill>
                <a:latin typeface="Times New Roman" panose="02020603050405020304" pitchFamily="18" charset="0"/>
                <a:ea typeface="黑体" panose="02010609060101010101" pitchFamily="49" charset="-122"/>
              </a:defRPr>
            </a:lvl5pPr>
            <a:lvl6pPr eaLnBrk="0" fontAlgn="base" hangingPunct="0">
              <a:spcBef>
                <a:spcPct val="0"/>
              </a:spcBef>
              <a:spcAft>
                <a:spcPct val="0"/>
              </a:spcAft>
              <a:defRPr sz="6000">
                <a:solidFill>
                  <a:srgbClr val="000099"/>
                </a:solidFill>
                <a:latin typeface="Times New Roman" panose="02020603050405020304" pitchFamily="18" charset="0"/>
                <a:ea typeface="黑体" panose="02010609060101010101" pitchFamily="49" charset="-122"/>
              </a:defRPr>
            </a:lvl6pPr>
            <a:lvl7pPr eaLnBrk="0" fontAlgn="base" hangingPunct="0">
              <a:spcBef>
                <a:spcPct val="0"/>
              </a:spcBef>
              <a:spcAft>
                <a:spcPct val="0"/>
              </a:spcAft>
              <a:defRPr sz="6000">
                <a:solidFill>
                  <a:srgbClr val="000099"/>
                </a:solidFill>
                <a:latin typeface="Times New Roman" panose="02020603050405020304" pitchFamily="18" charset="0"/>
                <a:ea typeface="黑体" panose="02010609060101010101" pitchFamily="49" charset="-122"/>
              </a:defRPr>
            </a:lvl7pPr>
            <a:lvl8pPr eaLnBrk="0" fontAlgn="base" hangingPunct="0">
              <a:spcBef>
                <a:spcPct val="0"/>
              </a:spcBef>
              <a:spcAft>
                <a:spcPct val="0"/>
              </a:spcAft>
              <a:defRPr sz="6000">
                <a:solidFill>
                  <a:srgbClr val="000099"/>
                </a:solidFill>
                <a:latin typeface="Times New Roman" panose="02020603050405020304" pitchFamily="18" charset="0"/>
                <a:ea typeface="黑体" panose="02010609060101010101" pitchFamily="49" charset="-122"/>
              </a:defRPr>
            </a:lvl8pPr>
            <a:lvl9pPr eaLnBrk="0" fontAlgn="base" hangingPunct="0">
              <a:spcBef>
                <a:spcPct val="0"/>
              </a:spcBef>
              <a:spcAft>
                <a:spcPct val="0"/>
              </a:spcAft>
              <a:defRPr sz="6000">
                <a:solidFill>
                  <a:srgbClr val="000099"/>
                </a:solidFill>
                <a:latin typeface="Times New Roman" panose="02020603050405020304" pitchFamily="18" charset="0"/>
                <a:ea typeface="黑体" panose="02010609060101010101" pitchFamily="49" charset="-122"/>
              </a:defRPr>
            </a:lvl9pPr>
          </a:lstStyle>
          <a:p>
            <a:pPr eaLnBrk="1" hangingPunct="1"/>
            <a:r>
              <a:rPr lang="zh-CN" altLang="en-US" sz="2800">
                <a:solidFill>
                  <a:schemeClr val="tx1"/>
                </a:solidFill>
                <a:ea typeface="隶书" pitchFamily="49" charset="-122"/>
              </a:rPr>
              <a:t>写者：</a:t>
            </a:r>
          </a:p>
          <a:p>
            <a:pPr eaLnBrk="1" hangingPunct="1">
              <a:lnSpc>
                <a:spcPct val="150000"/>
              </a:lnSpc>
            </a:pPr>
            <a:r>
              <a:rPr lang="zh-CN" altLang="en-US" sz="2800">
                <a:solidFill>
                  <a:schemeClr val="tx1"/>
                </a:solidFill>
                <a:ea typeface="隶书" pitchFamily="49" charset="-122"/>
              </a:rPr>
              <a:t>      </a:t>
            </a:r>
            <a:r>
              <a:rPr lang="en-US" altLang="zh-CN" sz="2000">
                <a:solidFill>
                  <a:schemeClr val="tx1"/>
                </a:solidFill>
                <a:ea typeface="隶书" pitchFamily="49" charset="-122"/>
              </a:rPr>
              <a:t>while (true) {</a:t>
            </a:r>
          </a:p>
          <a:p>
            <a:pPr eaLnBrk="1" hangingPunct="1">
              <a:lnSpc>
                <a:spcPct val="150000"/>
              </a:lnSpc>
            </a:pPr>
            <a:endParaRPr lang="en-US" altLang="zh-CN" sz="2000">
              <a:solidFill>
                <a:schemeClr val="tx1"/>
              </a:solidFill>
              <a:ea typeface="隶书" pitchFamily="49" charset="-122"/>
            </a:endParaRPr>
          </a:p>
          <a:p>
            <a:pPr eaLnBrk="1" hangingPunct="1">
              <a:lnSpc>
                <a:spcPct val="150000"/>
              </a:lnSpc>
            </a:pPr>
            <a:r>
              <a:rPr lang="en-US" altLang="zh-CN" sz="2000">
                <a:solidFill>
                  <a:schemeClr val="tx1"/>
                </a:solidFill>
                <a:ea typeface="隶书" pitchFamily="49" charset="-122"/>
              </a:rPr>
              <a:t>       P(</a:t>
            </a:r>
            <a:r>
              <a:rPr lang="en-US" altLang="zh-CN" sz="2000">
                <a:solidFill>
                  <a:srgbClr val="FF0000"/>
                </a:solidFill>
                <a:ea typeface="隶书" pitchFamily="49" charset="-122"/>
              </a:rPr>
              <a:t>w</a:t>
            </a:r>
            <a:r>
              <a:rPr lang="en-US" altLang="zh-CN" sz="2000">
                <a:solidFill>
                  <a:schemeClr val="tx1"/>
                </a:solidFill>
                <a:ea typeface="隶书" pitchFamily="49" charset="-122"/>
              </a:rPr>
              <a:t>);</a:t>
            </a:r>
          </a:p>
          <a:p>
            <a:pPr eaLnBrk="1" hangingPunct="1">
              <a:lnSpc>
                <a:spcPct val="150000"/>
              </a:lnSpc>
            </a:pPr>
            <a:r>
              <a:rPr lang="en-US" altLang="zh-CN" sz="2000">
                <a:solidFill>
                  <a:schemeClr val="tx1"/>
                </a:solidFill>
                <a:ea typeface="隶书" pitchFamily="49" charset="-122"/>
              </a:rPr>
              <a:t>         </a:t>
            </a:r>
            <a:r>
              <a:rPr lang="zh-CN" altLang="en-US" sz="2000">
                <a:solidFill>
                  <a:schemeClr val="tx1"/>
                </a:solidFill>
                <a:ea typeface="隶书" pitchFamily="49" charset="-122"/>
              </a:rPr>
              <a:t>写</a:t>
            </a:r>
          </a:p>
          <a:p>
            <a:pPr eaLnBrk="1" hangingPunct="1">
              <a:lnSpc>
                <a:spcPct val="150000"/>
              </a:lnSpc>
            </a:pPr>
            <a:r>
              <a:rPr lang="zh-CN" altLang="en-US" sz="2000">
                <a:solidFill>
                  <a:schemeClr val="tx1"/>
                </a:solidFill>
                <a:ea typeface="隶书" pitchFamily="49" charset="-122"/>
              </a:rPr>
              <a:t>       </a:t>
            </a:r>
            <a:r>
              <a:rPr lang="en-US" altLang="zh-CN" sz="2000">
                <a:solidFill>
                  <a:schemeClr val="tx1"/>
                </a:solidFill>
                <a:ea typeface="隶书" pitchFamily="49" charset="-122"/>
              </a:rPr>
              <a:t>V(</a:t>
            </a:r>
            <a:r>
              <a:rPr lang="en-US" altLang="zh-CN" sz="2000">
                <a:solidFill>
                  <a:srgbClr val="FF0000"/>
                </a:solidFill>
                <a:ea typeface="隶书" pitchFamily="49" charset="-122"/>
              </a:rPr>
              <a:t>w</a:t>
            </a:r>
            <a:r>
              <a:rPr lang="en-US" altLang="zh-CN" sz="2000">
                <a:solidFill>
                  <a:schemeClr val="tx1"/>
                </a:solidFill>
                <a:ea typeface="隶书" pitchFamily="49" charset="-122"/>
              </a:rPr>
              <a:t>);</a:t>
            </a:r>
          </a:p>
          <a:p>
            <a:pPr eaLnBrk="1" hangingPunct="1">
              <a:lnSpc>
                <a:spcPct val="150000"/>
              </a:lnSpc>
            </a:pPr>
            <a:endParaRPr lang="en-US" altLang="zh-CN" sz="2000">
              <a:solidFill>
                <a:schemeClr val="tx1"/>
              </a:solidFill>
              <a:ea typeface="隶书" pitchFamily="49" charset="-122"/>
            </a:endParaRPr>
          </a:p>
          <a:p>
            <a:pPr eaLnBrk="1" hangingPunct="1">
              <a:lnSpc>
                <a:spcPct val="150000"/>
              </a:lnSpc>
            </a:pPr>
            <a:r>
              <a:rPr lang="en-US" altLang="zh-CN" sz="2000">
                <a:solidFill>
                  <a:schemeClr val="tx1"/>
                </a:solidFill>
                <a:ea typeface="隶书" pitchFamily="49" charset="-122"/>
              </a:rPr>
              <a:t>        };</a:t>
            </a:r>
          </a:p>
        </p:txBody>
      </p:sp>
      <p:sp>
        <p:nvSpPr>
          <p:cNvPr id="45060" name="Text Box 8">
            <a:extLst>
              <a:ext uri="{FF2B5EF4-FFF2-40B4-BE49-F238E27FC236}">
                <a16:creationId xmlns:a16="http://schemas.microsoft.com/office/drawing/2014/main" id="{0F80045A-B9FD-C84D-923F-13EAA7681895}"/>
              </a:ext>
            </a:extLst>
          </p:cNvPr>
          <p:cNvSpPr txBox="1">
            <a:spLocks noChangeArrowheads="1"/>
          </p:cNvSpPr>
          <p:nvPr/>
        </p:nvSpPr>
        <p:spPr bwMode="auto">
          <a:xfrm>
            <a:off x="3603625" y="5722938"/>
            <a:ext cx="2317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latin typeface="Arial" panose="020B0604020202020204" pitchFamily="34" charset="0"/>
                <a:ea typeface="隶书" pitchFamily="49" charset="-122"/>
              </a:rPr>
              <a:t>第一类读写问题</a:t>
            </a:r>
          </a:p>
        </p:txBody>
      </p:sp>
      <p:sp>
        <p:nvSpPr>
          <p:cNvPr id="6" name="Rectangle 4">
            <a:extLst>
              <a:ext uri="{FF2B5EF4-FFF2-40B4-BE49-F238E27FC236}">
                <a16:creationId xmlns:a16="http://schemas.microsoft.com/office/drawing/2014/main" id="{7D4E6BD7-E2C9-AF43-AAAC-A4E426D7A308}"/>
              </a:ext>
            </a:extLst>
          </p:cNvPr>
          <p:cNvSpPr>
            <a:spLocks noGrp="1" noChangeArrowheads="1"/>
          </p:cNvSpPr>
          <p:nvPr>
            <p:ph type="title"/>
          </p:nvPr>
        </p:nvSpPr>
        <p:spPr>
          <a:ln>
            <a:miter/>
          </a:ln>
        </p:spPr>
        <p:txBody>
          <a:bodyPr/>
          <a:lstStyle/>
          <a:p>
            <a:pPr eaLnBrk="1" hangingPunct="1"/>
            <a:r>
              <a:rPr lang="zh-CN" altLang="en-US" sz="4000">
                <a:latin typeface="隶书" pitchFamily="49" charset="-122"/>
              </a:rPr>
              <a:t>读者写者问题</a:t>
            </a:r>
            <a:r>
              <a:rPr lang="zh-CN" altLang="en-US" sz="2400"/>
              <a:t>（</a:t>
            </a:r>
            <a:r>
              <a:rPr lang="en-US" altLang="zh-CN" sz="2400"/>
              <a:t>4/8</a:t>
            </a:r>
            <a:r>
              <a:rPr lang="zh-CN" altLang="en-US" sz="2400"/>
              <a:t>）</a:t>
            </a:r>
          </a:p>
        </p:txBody>
      </p:sp>
    </p:spTree>
    <p:extLst>
      <p:ext uri="{BB962C8B-B14F-4D97-AF65-F5344CB8AC3E}">
        <p14:creationId xmlns:p14="http://schemas.microsoft.com/office/powerpoint/2010/main" val="33264724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4">
            <a:extLst>
              <a:ext uri="{FF2B5EF4-FFF2-40B4-BE49-F238E27FC236}">
                <a16:creationId xmlns:a16="http://schemas.microsoft.com/office/drawing/2014/main" id="{8B91AC59-AAAD-A14D-9E39-DB3B2BB0772A}"/>
              </a:ext>
            </a:extLst>
          </p:cNvPr>
          <p:cNvSpPr>
            <a:spLocks noGrp="1" noChangeArrowheads="1"/>
          </p:cNvSpPr>
          <p:nvPr>
            <p:ph type="title"/>
          </p:nvPr>
        </p:nvSpPr>
        <p:spPr>
          <a:ln>
            <a:miter/>
          </a:ln>
        </p:spPr>
        <p:txBody>
          <a:bodyPr/>
          <a:lstStyle/>
          <a:p>
            <a:pPr eaLnBrk="1" hangingPunct="1"/>
            <a:r>
              <a:rPr lang="zh-CN" altLang="en-US" sz="4000">
                <a:latin typeface="隶书" pitchFamily="49" charset="-122"/>
              </a:rPr>
              <a:t>读者写者问题</a:t>
            </a:r>
            <a:r>
              <a:rPr lang="zh-CN" altLang="en-US" sz="2400"/>
              <a:t>（</a:t>
            </a:r>
            <a:r>
              <a:rPr lang="en-US" altLang="zh-CN" sz="2400"/>
              <a:t>5/8</a:t>
            </a:r>
            <a:r>
              <a:rPr lang="zh-CN" altLang="en-US" sz="2400"/>
              <a:t>）</a:t>
            </a:r>
          </a:p>
        </p:txBody>
      </p:sp>
      <p:sp>
        <p:nvSpPr>
          <p:cNvPr id="5" name="Rectangle 3">
            <a:extLst>
              <a:ext uri="{FF2B5EF4-FFF2-40B4-BE49-F238E27FC236}">
                <a16:creationId xmlns:a16="http://schemas.microsoft.com/office/drawing/2014/main" id="{0FF4FB35-F92C-C04F-9D36-F8CD78D39756}"/>
              </a:ext>
            </a:extLst>
          </p:cNvPr>
          <p:cNvSpPr>
            <a:spLocks noGrp="1" noChangeArrowheads="1"/>
          </p:cNvSpPr>
          <p:nvPr>
            <p:ph idx="1"/>
          </p:nvPr>
        </p:nvSpPr>
        <p:spPr>
          <a:xfrm>
            <a:off x="808038" y="1924050"/>
            <a:ext cx="7543800" cy="4241800"/>
          </a:xfrm>
          <a:ln>
            <a:miter/>
          </a:ln>
        </p:spPr>
        <p:txBody>
          <a:bodyPr/>
          <a:lstStyle/>
          <a:p>
            <a:pPr eaLnBrk="1" hangingPunct="1">
              <a:buClr>
                <a:srgbClr val="CC3300"/>
              </a:buClr>
              <a:buFont typeface="Wingdings" pitchFamily="2" charset="2"/>
              <a:buChar char="Ø"/>
            </a:pPr>
            <a:r>
              <a:rPr lang="zh-CN" altLang="en-US" sz="2800"/>
              <a:t>第二类读者写者问题：</a:t>
            </a:r>
            <a:r>
              <a:rPr lang="zh-CN" altLang="en-US" sz="2800">
                <a:solidFill>
                  <a:srgbClr val="FF0000"/>
                </a:solidFill>
              </a:rPr>
              <a:t>写</a:t>
            </a:r>
            <a:r>
              <a:rPr lang="zh-CN" altLang="en-US" sz="2800">
                <a:solidFill>
                  <a:srgbClr val="FF0000"/>
                </a:solidFill>
                <a:latin typeface="隶书" pitchFamily="49" charset="-122"/>
              </a:rPr>
              <a:t>者优先</a:t>
            </a:r>
            <a:endParaRPr lang="en-US" altLang="zh-CN" sz="2800">
              <a:solidFill>
                <a:srgbClr val="FF0000"/>
              </a:solidFill>
              <a:latin typeface="隶书" pitchFamily="49" charset="-122"/>
            </a:endParaRPr>
          </a:p>
          <a:p>
            <a:pPr eaLnBrk="1" hangingPunct="1">
              <a:buClr>
                <a:srgbClr val="CC3300"/>
              </a:buClr>
              <a:buFontTx/>
              <a:buNone/>
            </a:pPr>
            <a:r>
              <a:rPr lang="en-US" altLang="zh-CN" sz="2800">
                <a:solidFill>
                  <a:srgbClr val="FF0000"/>
                </a:solidFill>
                <a:latin typeface="隶书" pitchFamily="49" charset="-122"/>
              </a:rPr>
              <a:t>  </a:t>
            </a:r>
            <a:r>
              <a:rPr lang="zh-CN" altLang="en-US" sz="2800">
                <a:solidFill>
                  <a:srgbClr val="FF0000"/>
                </a:solidFill>
                <a:latin typeface="隶书" pitchFamily="49" charset="-122"/>
              </a:rPr>
              <a:t>关键点：</a:t>
            </a:r>
            <a:endParaRPr lang="en-US" altLang="zh-CN" sz="2800">
              <a:solidFill>
                <a:srgbClr val="FF0000"/>
              </a:solidFill>
              <a:latin typeface="隶书" pitchFamily="49" charset="-122"/>
            </a:endParaRPr>
          </a:p>
          <a:p>
            <a:pPr lvl="1" eaLnBrk="1" hangingPunct="1">
              <a:buClr>
                <a:srgbClr val="CC3300"/>
              </a:buClr>
              <a:buFont typeface="Wingdings" pitchFamily="2" charset="2"/>
              <a:buChar char="n"/>
            </a:pPr>
            <a:r>
              <a:rPr lang="zh-CN" altLang="en-US" sz="2400">
                <a:latin typeface="隶书" pitchFamily="49" charset="-122"/>
              </a:rPr>
              <a:t>有读者在读，若此刻有写者到来，如何做？</a:t>
            </a:r>
            <a:r>
              <a:rPr lang="zh-CN" altLang="en-US" sz="2400">
                <a:solidFill>
                  <a:srgbClr val="FF0000"/>
                </a:solidFill>
                <a:latin typeface="隶书" pitchFamily="49" charset="-122"/>
              </a:rPr>
              <a:t>写者优先</a:t>
            </a:r>
            <a:endParaRPr lang="en-US" altLang="zh-CN" sz="2400">
              <a:solidFill>
                <a:srgbClr val="FF0000"/>
              </a:solidFill>
              <a:latin typeface="隶书" pitchFamily="49" charset="-122"/>
            </a:endParaRPr>
          </a:p>
          <a:p>
            <a:pPr lvl="1" eaLnBrk="1" hangingPunct="1">
              <a:buClr>
                <a:srgbClr val="CC3300"/>
              </a:buClr>
              <a:buFont typeface="Wingdings" pitchFamily="2" charset="2"/>
              <a:buChar char="n"/>
            </a:pPr>
            <a:r>
              <a:rPr lang="zh-CN" altLang="en-US" sz="2400">
                <a:latin typeface="隶书" pitchFamily="49" charset="-122"/>
              </a:rPr>
              <a:t>读者尽快完成当前的读，以便写者尽快去写；</a:t>
            </a:r>
            <a:endParaRPr lang="en-US" altLang="zh-CN" sz="2400">
              <a:latin typeface="隶书" pitchFamily="49" charset="-122"/>
            </a:endParaRPr>
          </a:p>
          <a:p>
            <a:pPr lvl="1" eaLnBrk="1" hangingPunct="1">
              <a:buClr>
                <a:srgbClr val="CC3300"/>
              </a:buClr>
              <a:buFont typeface="Wingdings" pitchFamily="2" charset="2"/>
              <a:buChar char="n"/>
            </a:pPr>
            <a:r>
              <a:rPr lang="zh-CN" altLang="en-US" sz="2400">
                <a:latin typeface="隶书" pitchFamily="49" charset="-122"/>
              </a:rPr>
              <a:t>写者完成访问后，发现有等待者，优先考虑唤醒写者。</a:t>
            </a:r>
            <a:endParaRPr lang="en-US" altLang="zh-CN" sz="2400">
              <a:latin typeface="隶书" pitchFamily="49" charset="-122"/>
            </a:endParaRPr>
          </a:p>
          <a:p>
            <a:pPr lvl="1" eaLnBrk="1" hangingPunct="1">
              <a:buClr>
                <a:srgbClr val="CC3300"/>
              </a:buClr>
              <a:buFontTx/>
              <a:buNone/>
            </a:pPr>
            <a:endParaRPr lang="en-US" altLang="zh-CN">
              <a:solidFill>
                <a:srgbClr val="0070C0"/>
              </a:solidFill>
              <a:latin typeface="隶书" pitchFamily="49" charset="-122"/>
            </a:endParaRPr>
          </a:p>
          <a:p>
            <a:pPr lvl="1" eaLnBrk="1" hangingPunct="1">
              <a:buClr>
                <a:srgbClr val="CC3300"/>
              </a:buClr>
              <a:buFontTx/>
              <a:buNone/>
            </a:pPr>
            <a:r>
              <a:rPr lang="en-US" altLang="zh-CN">
                <a:solidFill>
                  <a:srgbClr val="0070C0"/>
                </a:solidFill>
                <a:latin typeface="隶书" pitchFamily="49" charset="-122"/>
              </a:rPr>
              <a:t>        </a:t>
            </a:r>
            <a:r>
              <a:rPr lang="zh-CN" altLang="en-US">
                <a:solidFill>
                  <a:srgbClr val="0070C0"/>
                </a:solidFill>
                <a:latin typeface="隶书" pitchFamily="49" charset="-122"/>
              </a:rPr>
              <a:t>读的新数据还是旧数据？</a:t>
            </a:r>
            <a:endParaRPr lang="zh-CN" altLang="en-US">
              <a:solidFill>
                <a:srgbClr val="0070C0"/>
              </a:solidFill>
            </a:endParaRPr>
          </a:p>
        </p:txBody>
      </p:sp>
    </p:spTree>
    <p:extLst>
      <p:ext uri="{BB962C8B-B14F-4D97-AF65-F5344CB8AC3E}">
        <p14:creationId xmlns:p14="http://schemas.microsoft.com/office/powerpoint/2010/main" val="245075060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页脚占位符 3">
            <a:extLst>
              <a:ext uri="{FF2B5EF4-FFF2-40B4-BE49-F238E27FC236}">
                <a16:creationId xmlns:a16="http://schemas.microsoft.com/office/drawing/2014/main" id="{76806AD9-BD1C-1744-9216-CC5FC1F0E327}"/>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049D967C-4022-7847-A0E1-0D57A562B224}" type="slidenum">
              <a:rPr altLang="en-US" smtClean="0"/>
              <a:pPr algn="ctr"/>
              <a:t>57</a:t>
            </a:fld>
            <a:endParaRPr lang="en-US" altLang="en-US"/>
          </a:p>
        </p:txBody>
      </p:sp>
      <p:sp>
        <p:nvSpPr>
          <p:cNvPr id="47106" name="Rectangle 3">
            <a:extLst>
              <a:ext uri="{FF2B5EF4-FFF2-40B4-BE49-F238E27FC236}">
                <a16:creationId xmlns:a16="http://schemas.microsoft.com/office/drawing/2014/main" id="{9870BFC3-173C-834E-B80C-0D288A71FE54}"/>
              </a:ext>
            </a:extLst>
          </p:cNvPr>
          <p:cNvSpPr>
            <a:spLocks noGrp="1" noChangeArrowheads="1"/>
          </p:cNvSpPr>
          <p:nvPr>
            <p:ph idx="1"/>
          </p:nvPr>
        </p:nvSpPr>
        <p:spPr>
          <a:xfrm>
            <a:off x="939800" y="1828800"/>
            <a:ext cx="7543800" cy="4203700"/>
          </a:xfrm>
        </p:spPr>
        <p:txBody>
          <a:bodyPr/>
          <a:lstStyle/>
          <a:p>
            <a:pPr eaLnBrk="1" hangingPunct="1">
              <a:lnSpc>
                <a:spcPct val="150000"/>
              </a:lnSpc>
              <a:spcBef>
                <a:spcPct val="0"/>
              </a:spcBef>
              <a:buClr>
                <a:srgbClr val="CC3300"/>
              </a:buClr>
              <a:buFontTx/>
              <a:buBlip>
                <a:blip r:embed="rId2"/>
              </a:buBlip>
            </a:pPr>
            <a:r>
              <a:rPr lang="en-US" altLang="zh-CN"/>
              <a:t> </a:t>
            </a:r>
            <a:r>
              <a:rPr lang="zh-CN" altLang="en-US"/>
              <a:t>实现方法</a:t>
            </a:r>
            <a:endParaRPr lang="en-US" altLang="zh-CN"/>
          </a:p>
          <a:p>
            <a:pPr lvl="1" eaLnBrk="1" hangingPunct="1">
              <a:lnSpc>
                <a:spcPct val="150000"/>
              </a:lnSpc>
              <a:spcBef>
                <a:spcPct val="0"/>
              </a:spcBef>
              <a:buClr>
                <a:srgbClr val="CC3300"/>
              </a:buClr>
              <a:buFont typeface="Wingdings" pitchFamily="2" charset="2"/>
              <a:buChar char="Ø"/>
            </a:pPr>
            <a:r>
              <a:rPr lang="zh-CN" altLang="en-US" sz="2400"/>
              <a:t>确定信号量</a:t>
            </a:r>
            <a:endParaRPr lang="en-US" altLang="zh-CN" sz="2400"/>
          </a:p>
          <a:p>
            <a:pPr lvl="2" eaLnBrk="1" hangingPunct="1">
              <a:lnSpc>
                <a:spcPct val="150000"/>
              </a:lnSpc>
              <a:spcBef>
                <a:spcPct val="0"/>
              </a:spcBef>
              <a:buClr>
                <a:srgbClr val="CC3300"/>
              </a:buClr>
              <a:buSzPct val="88000"/>
              <a:buFont typeface="Wingdings" pitchFamily="2" charset="2"/>
              <a:buChar char="n"/>
            </a:pPr>
            <a:r>
              <a:rPr lang="en-US" altLang="zh-CN"/>
              <a:t>w</a:t>
            </a:r>
            <a:r>
              <a:rPr lang="zh-CN" altLang="en-US"/>
              <a:t>初值为1，读者和写者公用的互斥信号量；</a:t>
            </a:r>
            <a:endParaRPr lang="en-US" altLang="zh-CN"/>
          </a:p>
          <a:p>
            <a:pPr lvl="2" eaLnBrk="1" hangingPunct="1">
              <a:lnSpc>
                <a:spcPct val="150000"/>
              </a:lnSpc>
              <a:spcBef>
                <a:spcPct val="0"/>
              </a:spcBef>
              <a:buClr>
                <a:srgbClr val="CC3300"/>
              </a:buClr>
              <a:buSzPct val="88000"/>
              <a:buFont typeface="Wingdings" pitchFamily="2" charset="2"/>
              <a:buChar char="n"/>
            </a:pPr>
            <a:r>
              <a:rPr lang="en-US" altLang="zh-CN"/>
              <a:t> x</a:t>
            </a:r>
            <a:r>
              <a:rPr lang="zh-CN" altLang="en-US"/>
              <a:t>初值为</a:t>
            </a:r>
            <a:r>
              <a:rPr lang="en-US" altLang="zh-CN"/>
              <a:t>1,  readcount</a:t>
            </a:r>
            <a:r>
              <a:rPr lang="zh-CN" altLang="en-US"/>
              <a:t>读者数目的互斥信号量；</a:t>
            </a:r>
            <a:endParaRPr lang="en-US" altLang="zh-CN"/>
          </a:p>
          <a:p>
            <a:pPr lvl="2" eaLnBrk="1" hangingPunct="1">
              <a:lnSpc>
                <a:spcPct val="150000"/>
              </a:lnSpc>
              <a:spcBef>
                <a:spcPct val="0"/>
              </a:spcBef>
              <a:buClr>
                <a:srgbClr val="CC3300"/>
              </a:buClr>
              <a:buSzPct val="88000"/>
              <a:buFont typeface="Wingdings" pitchFamily="2" charset="2"/>
              <a:buChar char="n"/>
            </a:pPr>
            <a:r>
              <a:rPr lang="en-US" altLang="zh-CN"/>
              <a:t> y</a:t>
            </a:r>
            <a:r>
              <a:rPr lang="zh-CN" altLang="en-US"/>
              <a:t>初值为</a:t>
            </a:r>
            <a:r>
              <a:rPr lang="en-US" altLang="zh-CN"/>
              <a:t>1</a:t>
            </a:r>
            <a:r>
              <a:rPr lang="zh-CN" altLang="en-US"/>
              <a:t>，</a:t>
            </a:r>
            <a:r>
              <a:rPr lang="en-US" altLang="zh-CN"/>
              <a:t>wirtecount</a:t>
            </a:r>
            <a:r>
              <a:rPr lang="zh-CN" altLang="en-US"/>
              <a:t>写者数目的互斥信号量；</a:t>
            </a:r>
            <a:endParaRPr lang="en-US" altLang="zh-CN"/>
          </a:p>
          <a:p>
            <a:pPr lvl="2" eaLnBrk="1" hangingPunct="1">
              <a:lnSpc>
                <a:spcPct val="150000"/>
              </a:lnSpc>
              <a:spcBef>
                <a:spcPct val="0"/>
              </a:spcBef>
              <a:buClr>
                <a:srgbClr val="CC3300"/>
              </a:buClr>
              <a:buSzPct val="88000"/>
              <a:buFont typeface="Wingdings" pitchFamily="2" charset="2"/>
              <a:buChar char="n"/>
            </a:pPr>
            <a:r>
              <a:rPr lang="en-US" altLang="zh-CN"/>
              <a:t> r,z</a:t>
            </a:r>
            <a:r>
              <a:rPr lang="zh-CN" altLang="en-US"/>
              <a:t>初值为</a:t>
            </a:r>
            <a:r>
              <a:rPr lang="en-US" altLang="zh-CN"/>
              <a:t>1</a:t>
            </a:r>
            <a:r>
              <a:rPr lang="zh-CN" altLang="en-US"/>
              <a:t>，实现写者优先；</a:t>
            </a:r>
            <a:endParaRPr lang="en-US" altLang="zh-CN"/>
          </a:p>
        </p:txBody>
      </p:sp>
      <p:sp>
        <p:nvSpPr>
          <p:cNvPr id="6" name="Rectangle 4">
            <a:extLst>
              <a:ext uri="{FF2B5EF4-FFF2-40B4-BE49-F238E27FC236}">
                <a16:creationId xmlns:a16="http://schemas.microsoft.com/office/drawing/2014/main" id="{4CF3F148-7BF3-2845-9832-BA80EE4D24C4}"/>
              </a:ext>
            </a:extLst>
          </p:cNvPr>
          <p:cNvSpPr>
            <a:spLocks noGrp="1" noChangeArrowheads="1"/>
          </p:cNvSpPr>
          <p:nvPr>
            <p:ph type="title"/>
          </p:nvPr>
        </p:nvSpPr>
        <p:spPr>
          <a:ln>
            <a:miter/>
          </a:ln>
        </p:spPr>
        <p:txBody>
          <a:bodyPr/>
          <a:lstStyle/>
          <a:p>
            <a:pPr eaLnBrk="1" hangingPunct="1"/>
            <a:r>
              <a:rPr lang="zh-CN" altLang="en-US" sz="4000">
                <a:latin typeface="隶书" pitchFamily="49" charset="-122"/>
              </a:rPr>
              <a:t>读者写者问题</a:t>
            </a:r>
            <a:r>
              <a:rPr lang="zh-CN" altLang="en-US" sz="2400"/>
              <a:t>（</a:t>
            </a:r>
            <a:r>
              <a:rPr lang="en-US" altLang="zh-CN" sz="2400"/>
              <a:t>6/8</a:t>
            </a:r>
            <a:r>
              <a:rPr lang="zh-CN" altLang="en-US" sz="2400"/>
              <a:t>）</a:t>
            </a:r>
          </a:p>
        </p:txBody>
      </p:sp>
    </p:spTree>
    <p:extLst>
      <p:ext uri="{BB962C8B-B14F-4D97-AF65-F5344CB8AC3E}">
        <p14:creationId xmlns:p14="http://schemas.microsoft.com/office/powerpoint/2010/main" val="298225856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页脚占位符 3">
            <a:extLst>
              <a:ext uri="{FF2B5EF4-FFF2-40B4-BE49-F238E27FC236}">
                <a16:creationId xmlns:a16="http://schemas.microsoft.com/office/drawing/2014/main" id="{78D51DC6-42CD-9A41-85D0-F1C3EBD8459B}"/>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614BFB2E-B6B3-AF45-99B3-5C71D6EF067F}" type="slidenum">
              <a:rPr altLang="en-US" smtClean="0"/>
              <a:pPr algn="ctr"/>
              <a:t>58</a:t>
            </a:fld>
            <a:endParaRPr lang="en-US" altLang="en-US"/>
          </a:p>
        </p:txBody>
      </p:sp>
      <p:sp>
        <p:nvSpPr>
          <p:cNvPr id="48130" name="Rectangle 4">
            <a:extLst>
              <a:ext uri="{FF2B5EF4-FFF2-40B4-BE49-F238E27FC236}">
                <a16:creationId xmlns:a16="http://schemas.microsoft.com/office/drawing/2014/main" id="{CD5CDB2E-F40E-C540-943F-A7E6EE676500}"/>
              </a:ext>
            </a:extLst>
          </p:cNvPr>
          <p:cNvSpPr>
            <a:spLocks noChangeArrowheads="1"/>
          </p:cNvSpPr>
          <p:nvPr/>
        </p:nvSpPr>
        <p:spPr bwMode="auto">
          <a:xfrm>
            <a:off x="1076325" y="1816100"/>
            <a:ext cx="3378200" cy="4406900"/>
          </a:xfrm>
          <a:prstGeom prst="rect">
            <a:avLst/>
          </a:prstGeom>
          <a:noFill/>
          <a:ln w="1905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sz="6000">
                <a:solidFill>
                  <a:srgbClr val="000099"/>
                </a:solidFill>
                <a:latin typeface="Times New Roman" panose="02020603050405020304" pitchFamily="18" charset="0"/>
                <a:ea typeface="黑体" panose="02010609060101010101" pitchFamily="49" charset="-122"/>
              </a:defRPr>
            </a:lvl1pPr>
            <a:lvl2pPr eaLnBrk="0" hangingPunct="0">
              <a:defRPr sz="6000">
                <a:solidFill>
                  <a:srgbClr val="000099"/>
                </a:solidFill>
                <a:latin typeface="Times New Roman" panose="02020603050405020304" pitchFamily="18" charset="0"/>
                <a:ea typeface="黑体" panose="02010609060101010101" pitchFamily="49" charset="-122"/>
              </a:defRPr>
            </a:lvl2pPr>
            <a:lvl3pPr eaLnBrk="0" hangingPunct="0">
              <a:defRPr sz="6000">
                <a:solidFill>
                  <a:srgbClr val="000099"/>
                </a:solidFill>
                <a:latin typeface="Times New Roman" panose="02020603050405020304" pitchFamily="18" charset="0"/>
                <a:ea typeface="黑体" panose="02010609060101010101" pitchFamily="49" charset="-122"/>
              </a:defRPr>
            </a:lvl3pPr>
            <a:lvl4pPr eaLnBrk="0" hangingPunct="0">
              <a:defRPr sz="6000">
                <a:solidFill>
                  <a:srgbClr val="000099"/>
                </a:solidFill>
                <a:latin typeface="Times New Roman" panose="02020603050405020304" pitchFamily="18" charset="0"/>
                <a:ea typeface="黑体" panose="02010609060101010101" pitchFamily="49" charset="-122"/>
              </a:defRPr>
            </a:lvl4pPr>
            <a:lvl5pPr eaLnBrk="0" hangingPunct="0">
              <a:defRPr sz="6000">
                <a:solidFill>
                  <a:srgbClr val="000099"/>
                </a:solidFill>
                <a:latin typeface="Times New Roman" panose="02020603050405020304" pitchFamily="18" charset="0"/>
                <a:ea typeface="黑体" panose="02010609060101010101" pitchFamily="49" charset="-122"/>
              </a:defRPr>
            </a:lvl5pPr>
            <a:lvl6pPr eaLnBrk="0" fontAlgn="base" hangingPunct="0">
              <a:spcBef>
                <a:spcPct val="0"/>
              </a:spcBef>
              <a:spcAft>
                <a:spcPct val="0"/>
              </a:spcAft>
              <a:defRPr sz="6000">
                <a:solidFill>
                  <a:srgbClr val="000099"/>
                </a:solidFill>
                <a:latin typeface="Times New Roman" panose="02020603050405020304" pitchFamily="18" charset="0"/>
                <a:ea typeface="黑体" panose="02010609060101010101" pitchFamily="49" charset="-122"/>
              </a:defRPr>
            </a:lvl6pPr>
            <a:lvl7pPr eaLnBrk="0" fontAlgn="base" hangingPunct="0">
              <a:spcBef>
                <a:spcPct val="0"/>
              </a:spcBef>
              <a:spcAft>
                <a:spcPct val="0"/>
              </a:spcAft>
              <a:defRPr sz="6000">
                <a:solidFill>
                  <a:srgbClr val="000099"/>
                </a:solidFill>
                <a:latin typeface="Times New Roman" panose="02020603050405020304" pitchFamily="18" charset="0"/>
                <a:ea typeface="黑体" panose="02010609060101010101" pitchFamily="49" charset="-122"/>
              </a:defRPr>
            </a:lvl7pPr>
            <a:lvl8pPr eaLnBrk="0" fontAlgn="base" hangingPunct="0">
              <a:spcBef>
                <a:spcPct val="0"/>
              </a:spcBef>
              <a:spcAft>
                <a:spcPct val="0"/>
              </a:spcAft>
              <a:defRPr sz="6000">
                <a:solidFill>
                  <a:srgbClr val="000099"/>
                </a:solidFill>
                <a:latin typeface="Times New Roman" panose="02020603050405020304" pitchFamily="18" charset="0"/>
                <a:ea typeface="黑体" panose="02010609060101010101" pitchFamily="49" charset="-122"/>
              </a:defRPr>
            </a:lvl8pPr>
            <a:lvl9pPr eaLnBrk="0" fontAlgn="base" hangingPunct="0">
              <a:spcBef>
                <a:spcPct val="0"/>
              </a:spcBef>
              <a:spcAft>
                <a:spcPct val="0"/>
              </a:spcAft>
              <a:defRPr sz="6000">
                <a:solidFill>
                  <a:srgbClr val="000099"/>
                </a:solidFill>
                <a:latin typeface="Times New Roman" panose="02020603050405020304" pitchFamily="18" charset="0"/>
                <a:ea typeface="黑体" panose="02010609060101010101" pitchFamily="49" charset="-122"/>
              </a:defRPr>
            </a:lvl9pPr>
          </a:lstStyle>
          <a:p>
            <a:pPr eaLnBrk="1" hangingPunct="1">
              <a:lnSpc>
                <a:spcPct val="90000"/>
              </a:lnSpc>
            </a:pPr>
            <a:r>
              <a:rPr lang="zh-CN" altLang="en-US" sz="2400">
                <a:solidFill>
                  <a:srgbClr val="000000"/>
                </a:solidFill>
                <a:ea typeface="隶书" pitchFamily="49" charset="-122"/>
              </a:rPr>
              <a:t>读者：</a:t>
            </a:r>
          </a:p>
          <a:p>
            <a:pPr eaLnBrk="1" hangingPunct="1">
              <a:lnSpc>
                <a:spcPct val="90000"/>
              </a:lnSpc>
            </a:pPr>
            <a:r>
              <a:rPr lang="zh-CN" altLang="en-US" sz="2400">
                <a:solidFill>
                  <a:schemeClr val="tx1"/>
                </a:solidFill>
                <a:ea typeface="隶书" pitchFamily="49" charset="-122"/>
              </a:rPr>
              <a:t>   </a:t>
            </a:r>
            <a:r>
              <a:rPr lang="en-US" altLang="zh-CN" sz="2000">
                <a:solidFill>
                  <a:schemeClr val="tx1"/>
                </a:solidFill>
              </a:rPr>
              <a:t>while (true) {</a:t>
            </a:r>
          </a:p>
          <a:p>
            <a:pPr eaLnBrk="1" hangingPunct="1">
              <a:lnSpc>
                <a:spcPct val="90000"/>
              </a:lnSpc>
            </a:pPr>
            <a:r>
              <a:rPr lang="en-US" altLang="zh-CN" sz="2000">
                <a:solidFill>
                  <a:schemeClr val="tx1"/>
                </a:solidFill>
              </a:rPr>
              <a:t>	  P(z);</a:t>
            </a:r>
          </a:p>
          <a:p>
            <a:pPr eaLnBrk="1" hangingPunct="1">
              <a:lnSpc>
                <a:spcPct val="90000"/>
              </a:lnSpc>
            </a:pPr>
            <a:r>
              <a:rPr lang="en-US" altLang="zh-CN" sz="2000">
                <a:solidFill>
                  <a:schemeClr val="tx1"/>
                </a:solidFill>
              </a:rPr>
              <a:t>        P(r);</a:t>
            </a:r>
          </a:p>
          <a:p>
            <a:pPr eaLnBrk="1" hangingPunct="1">
              <a:lnSpc>
                <a:spcPct val="90000"/>
              </a:lnSpc>
            </a:pPr>
            <a:r>
              <a:rPr lang="en-US" altLang="zh-CN" sz="2000">
                <a:solidFill>
                  <a:schemeClr val="tx1"/>
                </a:solidFill>
              </a:rPr>
              <a:t>	     P(x);</a:t>
            </a:r>
          </a:p>
          <a:p>
            <a:pPr eaLnBrk="1" hangingPunct="1">
              <a:lnSpc>
                <a:spcPct val="90000"/>
              </a:lnSpc>
            </a:pPr>
            <a:r>
              <a:rPr lang="en-US" altLang="zh-CN" sz="2000">
                <a:solidFill>
                  <a:schemeClr val="tx1"/>
                </a:solidFill>
              </a:rPr>
              <a:t>		readcount++;</a:t>
            </a:r>
          </a:p>
          <a:p>
            <a:pPr eaLnBrk="1" hangingPunct="1">
              <a:lnSpc>
                <a:spcPct val="90000"/>
              </a:lnSpc>
            </a:pPr>
            <a:r>
              <a:rPr lang="en-US" altLang="zh-CN" sz="2000">
                <a:solidFill>
                  <a:schemeClr val="tx1"/>
                </a:solidFill>
              </a:rPr>
              <a:t>              if(readcount==1) P(</a:t>
            </a:r>
            <a:r>
              <a:rPr lang="en-US" altLang="zh-CN" sz="2000">
                <a:solidFill>
                  <a:srgbClr val="FF0000"/>
                </a:solidFill>
              </a:rPr>
              <a:t>w</a:t>
            </a:r>
            <a:r>
              <a:rPr lang="en-US" altLang="zh-CN" sz="2000">
                <a:solidFill>
                  <a:schemeClr val="tx1"/>
                </a:solidFill>
              </a:rPr>
              <a:t>);</a:t>
            </a:r>
          </a:p>
          <a:p>
            <a:pPr eaLnBrk="1" hangingPunct="1">
              <a:lnSpc>
                <a:spcPct val="90000"/>
              </a:lnSpc>
            </a:pPr>
            <a:r>
              <a:rPr lang="en-US" altLang="zh-CN" sz="2000">
                <a:solidFill>
                  <a:schemeClr val="tx1"/>
                </a:solidFill>
              </a:rPr>
              <a:t>          V(x);</a:t>
            </a:r>
          </a:p>
          <a:p>
            <a:pPr eaLnBrk="1" hangingPunct="1">
              <a:lnSpc>
                <a:spcPct val="90000"/>
              </a:lnSpc>
            </a:pPr>
            <a:r>
              <a:rPr lang="en-US" altLang="zh-CN" sz="2000">
                <a:solidFill>
                  <a:schemeClr val="tx1"/>
                </a:solidFill>
              </a:rPr>
              <a:t>	   V(r);</a:t>
            </a:r>
          </a:p>
          <a:p>
            <a:pPr eaLnBrk="1" hangingPunct="1">
              <a:lnSpc>
                <a:spcPct val="90000"/>
              </a:lnSpc>
            </a:pPr>
            <a:r>
              <a:rPr lang="en-US" altLang="zh-CN" sz="2000">
                <a:solidFill>
                  <a:srgbClr val="FF0000"/>
                </a:solidFill>
              </a:rPr>
              <a:t>        </a:t>
            </a:r>
            <a:r>
              <a:rPr lang="en-US" altLang="zh-CN" sz="2000">
                <a:solidFill>
                  <a:schemeClr val="tx1"/>
                </a:solidFill>
              </a:rPr>
              <a:t>V(z);</a:t>
            </a:r>
          </a:p>
          <a:p>
            <a:pPr eaLnBrk="1" hangingPunct="1">
              <a:lnSpc>
                <a:spcPct val="90000"/>
              </a:lnSpc>
            </a:pPr>
            <a:r>
              <a:rPr lang="en-US" altLang="zh-CN" sz="2000">
                <a:solidFill>
                  <a:schemeClr val="tx1"/>
                </a:solidFill>
              </a:rPr>
              <a:t>	      </a:t>
            </a:r>
            <a:r>
              <a:rPr lang="zh-CN" altLang="en-US" sz="2000">
                <a:solidFill>
                  <a:schemeClr val="tx1"/>
                </a:solidFill>
              </a:rPr>
              <a:t>读</a:t>
            </a:r>
            <a:endParaRPr lang="en-US" altLang="zh-CN" sz="2000">
              <a:solidFill>
                <a:schemeClr val="tx1"/>
              </a:solidFill>
            </a:endParaRPr>
          </a:p>
          <a:p>
            <a:pPr eaLnBrk="1" hangingPunct="1">
              <a:lnSpc>
                <a:spcPct val="90000"/>
              </a:lnSpc>
            </a:pPr>
            <a:r>
              <a:rPr lang="en-US" altLang="zh-CN" sz="2000">
                <a:solidFill>
                  <a:schemeClr val="tx1"/>
                </a:solidFill>
              </a:rPr>
              <a:t>         P(x);</a:t>
            </a:r>
          </a:p>
          <a:p>
            <a:pPr eaLnBrk="1" hangingPunct="1">
              <a:lnSpc>
                <a:spcPct val="90000"/>
              </a:lnSpc>
            </a:pPr>
            <a:r>
              <a:rPr lang="en-US" altLang="zh-CN" sz="2000">
                <a:solidFill>
                  <a:schemeClr val="tx1"/>
                </a:solidFill>
              </a:rPr>
              <a:t>	      readcount--;</a:t>
            </a:r>
          </a:p>
          <a:p>
            <a:pPr eaLnBrk="1" hangingPunct="1">
              <a:lnSpc>
                <a:spcPct val="90000"/>
              </a:lnSpc>
            </a:pPr>
            <a:r>
              <a:rPr lang="en-US" altLang="zh-CN" sz="2000">
                <a:solidFill>
                  <a:schemeClr val="tx1"/>
                </a:solidFill>
              </a:rPr>
              <a:t>           if(readcount==0) V(</a:t>
            </a:r>
            <a:r>
              <a:rPr lang="en-US" altLang="zh-CN" sz="2000">
                <a:solidFill>
                  <a:srgbClr val="FF0000"/>
                </a:solidFill>
              </a:rPr>
              <a:t>w</a:t>
            </a:r>
            <a:r>
              <a:rPr lang="en-US" altLang="zh-CN" sz="2000">
                <a:solidFill>
                  <a:schemeClr val="tx1"/>
                </a:solidFill>
              </a:rPr>
              <a:t>);</a:t>
            </a:r>
          </a:p>
          <a:p>
            <a:pPr eaLnBrk="1" hangingPunct="1">
              <a:lnSpc>
                <a:spcPct val="90000"/>
              </a:lnSpc>
            </a:pPr>
            <a:r>
              <a:rPr lang="en-US" altLang="zh-CN" sz="2000">
                <a:solidFill>
                  <a:schemeClr val="tx1"/>
                </a:solidFill>
              </a:rPr>
              <a:t>         V(x);</a:t>
            </a:r>
          </a:p>
          <a:p>
            <a:pPr eaLnBrk="1" hangingPunct="1">
              <a:lnSpc>
                <a:spcPct val="90000"/>
              </a:lnSpc>
            </a:pPr>
            <a:r>
              <a:rPr lang="en-US" altLang="zh-CN" sz="2000">
                <a:solidFill>
                  <a:schemeClr val="tx1"/>
                </a:solidFill>
              </a:rPr>
              <a:t>        };</a:t>
            </a:r>
            <a:endParaRPr lang="en-US" altLang="zh-CN" sz="2000">
              <a:solidFill>
                <a:schemeClr val="tx1"/>
              </a:solidFill>
              <a:ea typeface="隶书" pitchFamily="49" charset="-122"/>
            </a:endParaRPr>
          </a:p>
        </p:txBody>
      </p:sp>
      <p:sp>
        <p:nvSpPr>
          <p:cNvPr id="48131" name="Rectangle 5">
            <a:extLst>
              <a:ext uri="{FF2B5EF4-FFF2-40B4-BE49-F238E27FC236}">
                <a16:creationId xmlns:a16="http://schemas.microsoft.com/office/drawing/2014/main" id="{C05C9FFC-6027-0F42-86BE-D3304B843414}"/>
              </a:ext>
            </a:extLst>
          </p:cNvPr>
          <p:cNvSpPr>
            <a:spLocks noChangeArrowheads="1"/>
          </p:cNvSpPr>
          <p:nvPr/>
        </p:nvSpPr>
        <p:spPr bwMode="auto">
          <a:xfrm>
            <a:off x="4689475" y="1816100"/>
            <a:ext cx="3721100" cy="4438650"/>
          </a:xfrm>
          <a:prstGeom prst="rect">
            <a:avLst/>
          </a:prstGeom>
          <a:noFill/>
          <a:ln w="1905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marL="342900" indent="-342900" eaLnBrk="0" hangingPunct="0">
              <a:defRPr sz="6000">
                <a:solidFill>
                  <a:srgbClr val="000099"/>
                </a:solidFill>
                <a:latin typeface="Times New Roman" panose="02020603050405020304" pitchFamily="18" charset="0"/>
                <a:ea typeface="黑体" panose="02010609060101010101" pitchFamily="49" charset="-122"/>
              </a:defRPr>
            </a:lvl1pPr>
            <a:lvl2pPr eaLnBrk="0" hangingPunct="0">
              <a:defRPr sz="6000">
                <a:solidFill>
                  <a:srgbClr val="000099"/>
                </a:solidFill>
                <a:latin typeface="Times New Roman" panose="02020603050405020304" pitchFamily="18" charset="0"/>
                <a:ea typeface="黑体" panose="02010609060101010101" pitchFamily="49" charset="-122"/>
              </a:defRPr>
            </a:lvl2pPr>
            <a:lvl3pPr eaLnBrk="0" hangingPunct="0">
              <a:defRPr sz="6000">
                <a:solidFill>
                  <a:srgbClr val="000099"/>
                </a:solidFill>
                <a:latin typeface="Times New Roman" panose="02020603050405020304" pitchFamily="18" charset="0"/>
                <a:ea typeface="黑体" panose="02010609060101010101" pitchFamily="49" charset="-122"/>
              </a:defRPr>
            </a:lvl3pPr>
            <a:lvl4pPr eaLnBrk="0" hangingPunct="0">
              <a:defRPr sz="6000">
                <a:solidFill>
                  <a:srgbClr val="000099"/>
                </a:solidFill>
                <a:latin typeface="Times New Roman" panose="02020603050405020304" pitchFamily="18" charset="0"/>
                <a:ea typeface="黑体" panose="02010609060101010101" pitchFamily="49" charset="-122"/>
              </a:defRPr>
            </a:lvl4pPr>
            <a:lvl5pPr eaLnBrk="0" hangingPunct="0">
              <a:defRPr sz="6000">
                <a:solidFill>
                  <a:srgbClr val="000099"/>
                </a:solidFill>
                <a:latin typeface="Times New Roman" panose="02020603050405020304" pitchFamily="18" charset="0"/>
                <a:ea typeface="黑体" panose="02010609060101010101" pitchFamily="49" charset="-122"/>
              </a:defRPr>
            </a:lvl5pPr>
            <a:lvl6pPr eaLnBrk="0" fontAlgn="base" hangingPunct="0">
              <a:spcBef>
                <a:spcPct val="0"/>
              </a:spcBef>
              <a:spcAft>
                <a:spcPct val="0"/>
              </a:spcAft>
              <a:defRPr sz="6000">
                <a:solidFill>
                  <a:srgbClr val="000099"/>
                </a:solidFill>
                <a:latin typeface="Times New Roman" panose="02020603050405020304" pitchFamily="18" charset="0"/>
                <a:ea typeface="黑体" panose="02010609060101010101" pitchFamily="49" charset="-122"/>
              </a:defRPr>
            </a:lvl6pPr>
            <a:lvl7pPr eaLnBrk="0" fontAlgn="base" hangingPunct="0">
              <a:spcBef>
                <a:spcPct val="0"/>
              </a:spcBef>
              <a:spcAft>
                <a:spcPct val="0"/>
              </a:spcAft>
              <a:defRPr sz="6000">
                <a:solidFill>
                  <a:srgbClr val="000099"/>
                </a:solidFill>
                <a:latin typeface="Times New Roman" panose="02020603050405020304" pitchFamily="18" charset="0"/>
                <a:ea typeface="黑体" panose="02010609060101010101" pitchFamily="49" charset="-122"/>
              </a:defRPr>
            </a:lvl7pPr>
            <a:lvl8pPr eaLnBrk="0" fontAlgn="base" hangingPunct="0">
              <a:spcBef>
                <a:spcPct val="0"/>
              </a:spcBef>
              <a:spcAft>
                <a:spcPct val="0"/>
              </a:spcAft>
              <a:defRPr sz="6000">
                <a:solidFill>
                  <a:srgbClr val="000099"/>
                </a:solidFill>
                <a:latin typeface="Times New Roman" panose="02020603050405020304" pitchFamily="18" charset="0"/>
                <a:ea typeface="黑体" panose="02010609060101010101" pitchFamily="49" charset="-122"/>
              </a:defRPr>
            </a:lvl8pPr>
            <a:lvl9pPr eaLnBrk="0" fontAlgn="base" hangingPunct="0">
              <a:spcBef>
                <a:spcPct val="0"/>
              </a:spcBef>
              <a:spcAft>
                <a:spcPct val="0"/>
              </a:spcAft>
              <a:defRPr sz="6000">
                <a:solidFill>
                  <a:srgbClr val="000099"/>
                </a:solidFill>
                <a:latin typeface="Times New Roman" panose="02020603050405020304" pitchFamily="18" charset="0"/>
                <a:ea typeface="黑体" panose="02010609060101010101" pitchFamily="49" charset="-122"/>
              </a:defRPr>
            </a:lvl9pPr>
          </a:lstStyle>
          <a:p>
            <a:pPr eaLnBrk="1" hangingPunct="1"/>
            <a:r>
              <a:rPr lang="zh-CN" altLang="en-US" sz="2400">
                <a:solidFill>
                  <a:srgbClr val="000000"/>
                </a:solidFill>
                <a:ea typeface="隶书" pitchFamily="49" charset="-122"/>
              </a:rPr>
              <a:t>写者：</a:t>
            </a:r>
          </a:p>
          <a:p>
            <a:pPr eaLnBrk="1" hangingPunct="1"/>
            <a:r>
              <a:rPr lang="en-US" altLang="zh-CN" sz="2000">
                <a:solidFill>
                  <a:schemeClr val="tx1"/>
                </a:solidFill>
              </a:rPr>
              <a:t>    while (true) {</a:t>
            </a:r>
          </a:p>
          <a:p>
            <a:pPr eaLnBrk="1" hangingPunct="1"/>
            <a:r>
              <a:rPr lang="en-US" altLang="zh-CN" sz="2000">
                <a:solidFill>
                  <a:schemeClr val="tx1"/>
                </a:solidFill>
              </a:rPr>
              <a:t>       P(y);</a:t>
            </a:r>
          </a:p>
          <a:p>
            <a:pPr eaLnBrk="1" hangingPunct="1"/>
            <a:r>
              <a:rPr lang="en-US" altLang="zh-CN" sz="2000">
                <a:solidFill>
                  <a:schemeClr val="tx1"/>
                </a:solidFill>
              </a:rPr>
              <a:t>	    writecount++;</a:t>
            </a:r>
          </a:p>
          <a:p>
            <a:pPr eaLnBrk="1" hangingPunct="1"/>
            <a:r>
              <a:rPr lang="en-US" altLang="zh-CN" sz="2000">
                <a:solidFill>
                  <a:schemeClr val="tx1"/>
                </a:solidFill>
              </a:rPr>
              <a:t>	    if(writecount==1)  P(r);</a:t>
            </a:r>
          </a:p>
          <a:p>
            <a:pPr eaLnBrk="1" hangingPunct="1"/>
            <a:r>
              <a:rPr lang="en-US" altLang="zh-CN" sz="2000">
                <a:solidFill>
                  <a:schemeClr val="tx1"/>
                </a:solidFill>
              </a:rPr>
              <a:t>       V(y);</a:t>
            </a:r>
          </a:p>
          <a:p>
            <a:pPr eaLnBrk="1" hangingPunct="1"/>
            <a:r>
              <a:rPr lang="en-US" altLang="zh-CN" sz="2000">
                <a:solidFill>
                  <a:schemeClr val="tx1"/>
                </a:solidFill>
              </a:rPr>
              <a:t>	  P(</a:t>
            </a:r>
            <a:r>
              <a:rPr lang="en-US" altLang="zh-CN" sz="2000">
                <a:solidFill>
                  <a:srgbClr val="FF0000"/>
                </a:solidFill>
              </a:rPr>
              <a:t>w</a:t>
            </a:r>
            <a:r>
              <a:rPr lang="en-US" altLang="zh-CN" sz="2000">
                <a:solidFill>
                  <a:schemeClr val="tx1"/>
                </a:solidFill>
              </a:rPr>
              <a:t>);</a:t>
            </a:r>
          </a:p>
          <a:p>
            <a:pPr eaLnBrk="1" hangingPunct="1"/>
            <a:r>
              <a:rPr lang="en-US" altLang="zh-CN" sz="2000">
                <a:solidFill>
                  <a:schemeClr val="tx1"/>
                </a:solidFill>
              </a:rPr>
              <a:t>		</a:t>
            </a:r>
            <a:r>
              <a:rPr lang="zh-CN" altLang="en-US" sz="2000">
                <a:solidFill>
                  <a:schemeClr val="tx1"/>
                </a:solidFill>
              </a:rPr>
              <a:t>写</a:t>
            </a:r>
            <a:endParaRPr lang="en-US" altLang="zh-CN" sz="2000">
              <a:solidFill>
                <a:schemeClr val="tx1"/>
              </a:solidFill>
            </a:endParaRPr>
          </a:p>
          <a:p>
            <a:pPr eaLnBrk="1" hangingPunct="1"/>
            <a:r>
              <a:rPr lang="en-US" altLang="zh-CN" sz="2000">
                <a:solidFill>
                  <a:schemeClr val="tx1"/>
                </a:solidFill>
              </a:rPr>
              <a:t>	  V(</a:t>
            </a:r>
            <a:r>
              <a:rPr lang="en-US" altLang="zh-CN" sz="2000">
                <a:solidFill>
                  <a:srgbClr val="FF0000"/>
                </a:solidFill>
              </a:rPr>
              <a:t>w</a:t>
            </a:r>
            <a:r>
              <a:rPr lang="en-US" altLang="zh-CN" sz="2000">
                <a:solidFill>
                  <a:schemeClr val="tx1"/>
                </a:solidFill>
              </a:rPr>
              <a:t>)</a:t>
            </a:r>
            <a:endParaRPr lang="zh-CN" altLang="en-US" sz="2000">
              <a:solidFill>
                <a:schemeClr val="tx1"/>
              </a:solidFill>
            </a:endParaRPr>
          </a:p>
          <a:p>
            <a:pPr eaLnBrk="1" hangingPunct="1"/>
            <a:r>
              <a:rPr lang="zh-CN" altLang="en-US" sz="2000">
                <a:solidFill>
                  <a:schemeClr val="tx1"/>
                </a:solidFill>
              </a:rPr>
              <a:t>       </a:t>
            </a:r>
            <a:r>
              <a:rPr lang="en-US" altLang="zh-CN" sz="2000">
                <a:solidFill>
                  <a:schemeClr val="tx1"/>
                </a:solidFill>
              </a:rPr>
              <a:t>P(y);</a:t>
            </a:r>
          </a:p>
          <a:p>
            <a:pPr eaLnBrk="1" hangingPunct="1"/>
            <a:r>
              <a:rPr lang="en-US" altLang="zh-CN" sz="2000">
                <a:solidFill>
                  <a:schemeClr val="tx1"/>
                </a:solidFill>
              </a:rPr>
              <a:t>	    writecount--;</a:t>
            </a:r>
          </a:p>
          <a:p>
            <a:pPr eaLnBrk="1" hangingPunct="1"/>
            <a:r>
              <a:rPr lang="en-US" altLang="zh-CN" sz="2000">
                <a:solidFill>
                  <a:schemeClr val="tx1"/>
                </a:solidFill>
              </a:rPr>
              <a:t>	    if(writecount==0)  V(r);</a:t>
            </a:r>
          </a:p>
          <a:p>
            <a:pPr eaLnBrk="1" hangingPunct="1"/>
            <a:r>
              <a:rPr lang="en-US" altLang="zh-CN" sz="2000">
                <a:solidFill>
                  <a:schemeClr val="tx1"/>
                </a:solidFill>
              </a:rPr>
              <a:t>       V(y);       </a:t>
            </a:r>
          </a:p>
          <a:p>
            <a:pPr eaLnBrk="1" hangingPunct="1"/>
            <a:r>
              <a:rPr lang="en-US" altLang="zh-CN" sz="2000">
                <a:solidFill>
                  <a:schemeClr val="tx1"/>
                </a:solidFill>
              </a:rPr>
              <a:t>};</a:t>
            </a:r>
          </a:p>
        </p:txBody>
      </p:sp>
      <p:sp>
        <p:nvSpPr>
          <p:cNvPr id="56325" name="Text Box 6">
            <a:extLst>
              <a:ext uri="{FF2B5EF4-FFF2-40B4-BE49-F238E27FC236}">
                <a16:creationId xmlns:a16="http://schemas.microsoft.com/office/drawing/2014/main" id="{56579A2C-3B0A-4048-9CB2-90A8105470AF}"/>
              </a:ext>
            </a:extLst>
          </p:cNvPr>
          <p:cNvSpPr txBox="1">
            <a:spLocks noChangeArrowheads="1"/>
          </p:cNvSpPr>
          <p:nvPr/>
        </p:nvSpPr>
        <p:spPr bwMode="auto">
          <a:xfrm>
            <a:off x="3295650" y="6318250"/>
            <a:ext cx="299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latin typeface="Arial" panose="020B0604020202020204" pitchFamily="34" charset="0"/>
                <a:ea typeface="隶书" pitchFamily="49" charset="-122"/>
              </a:rPr>
              <a:t>第二类读写问题</a:t>
            </a:r>
            <a:r>
              <a:rPr lang="zh-CN" altLang="en-US" sz="2000">
                <a:ea typeface="隶书" pitchFamily="49" charset="-122"/>
              </a:rPr>
              <a:t>（</a:t>
            </a:r>
            <a:r>
              <a:rPr lang="en-US" altLang="zh-CN" sz="2000">
                <a:ea typeface="隶书" pitchFamily="49" charset="-122"/>
              </a:rPr>
              <a:t>1</a:t>
            </a:r>
            <a:r>
              <a:rPr lang="zh-CN" altLang="en-US" sz="2000">
                <a:ea typeface="隶书" pitchFamily="49" charset="-122"/>
              </a:rPr>
              <a:t>）</a:t>
            </a:r>
          </a:p>
        </p:txBody>
      </p:sp>
      <p:sp>
        <p:nvSpPr>
          <p:cNvPr id="6" name="Rectangle 4">
            <a:extLst>
              <a:ext uri="{FF2B5EF4-FFF2-40B4-BE49-F238E27FC236}">
                <a16:creationId xmlns:a16="http://schemas.microsoft.com/office/drawing/2014/main" id="{DDD79A1C-AC78-3A4C-92C6-AAA7AC4A2B24}"/>
              </a:ext>
            </a:extLst>
          </p:cNvPr>
          <p:cNvSpPr>
            <a:spLocks noGrp="1" noChangeArrowheads="1"/>
          </p:cNvSpPr>
          <p:nvPr>
            <p:ph type="title"/>
          </p:nvPr>
        </p:nvSpPr>
        <p:spPr>
          <a:ln>
            <a:miter/>
          </a:ln>
        </p:spPr>
        <p:txBody>
          <a:bodyPr/>
          <a:lstStyle/>
          <a:p>
            <a:pPr eaLnBrk="1" hangingPunct="1"/>
            <a:r>
              <a:rPr lang="zh-CN" altLang="en-US" sz="4000">
                <a:latin typeface="隶书" pitchFamily="49" charset="-122"/>
              </a:rPr>
              <a:t>读者写者问题</a:t>
            </a:r>
            <a:r>
              <a:rPr lang="zh-CN" altLang="en-US" sz="2400"/>
              <a:t>（</a:t>
            </a:r>
            <a:r>
              <a:rPr lang="en-US" altLang="zh-CN" sz="2400"/>
              <a:t>7/8</a:t>
            </a:r>
            <a:r>
              <a:rPr lang="zh-CN" altLang="en-US" sz="2400"/>
              <a:t>）</a:t>
            </a:r>
          </a:p>
        </p:txBody>
      </p:sp>
    </p:spTree>
    <p:extLst>
      <p:ext uri="{BB962C8B-B14F-4D97-AF65-F5344CB8AC3E}">
        <p14:creationId xmlns:p14="http://schemas.microsoft.com/office/powerpoint/2010/main" val="21542868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4">
            <a:extLst>
              <a:ext uri="{FF2B5EF4-FFF2-40B4-BE49-F238E27FC236}">
                <a16:creationId xmlns:a16="http://schemas.microsoft.com/office/drawing/2014/main" id="{B6AAB454-C9E1-FB4B-9F1B-6ED403A8313B}"/>
              </a:ext>
            </a:extLst>
          </p:cNvPr>
          <p:cNvSpPr>
            <a:spLocks noChangeArrowheads="1"/>
          </p:cNvSpPr>
          <p:nvPr/>
        </p:nvSpPr>
        <p:spPr bwMode="auto">
          <a:xfrm>
            <a:off x="1022350" y="1911350"/>
            <a:ext cx="3378200" cy="4406900"/>
          </a:xfrm>
          <a:prstGeom prst="rect">
            <a:avLst/>
          </a:prstGeom>
          <a:noFill/>
          <a:ln w="1905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0" hangingPunct="0">
              <a:lnSpc>
                <a:spcPct val="90000"/>
              </a:lnSpc>
            </a:pPr>
            <a:r>
              <a:rPr lang="zh-CN" altLang="en-US" sz="2400">
                <a:solidFill>
                  <a:srgbClr val="000000"/>
                </a:solidFill>
                <a:ea typeface="隶书" pitchFamily="49" charset="-122"/>
              </a:rPr>
              <a:t>读者：</a:t>
            </a:r>
          </a:p>
          <a:p>
            <a:pPr eaLnBrk="0" hangingPunct="0">
              <a:lnSpc>
                <a:spcPct val="150000"/>
              </a:lnSpc>
            </a:pPr>
            <a:r>
              <a:rPr lang="zh-CN" altLang="en-US" sz="2400">
                <a:solidFill>
                  <a:srgbClr val="000000"/>
                </a:solidFill>
                <a:ea typeface="隶书" pitchFamily="49" charset="-122"/>
              </a:rPr>
              <a:t>       </a:t>
            </a:r>
            <a:r>
              <a:rPr lang="en-US" altLang="zh-CN" sz="2000">
                <a:solidFill>
                  <a:srgbClr val="000000"/>
                </a:solidFill>
                <a:ea typeface="隶书" pitchFamily="49" charset="-122"/>
              </a:rPr>
              <a:t>while (true) {</a:t>
            </a:r>
          </a:p>
          <a:p>
            <a:pPr eaLnBrk="0" hangingPunct="0">
              <a:lnSpc>
                <a:spcPct val="150000"/>
              </a:lnSpc>
            </a:pPr>
            <a:r>
              <a:rPr lang="en-US" altLang="zh-CN" sz="2000">
                <a:solidFill>
                  <a:srgbClr val="000000"/>
                </a:solidFill>
                <a:ea typeface="隶书" pitchFamily="49" charset="-122"/>
              </a:rPr>
              <a:t>         P(w);</a:t>
            </a:r>
          </a:p>
          <a:p>
            <a:pPr eaLnBrk="0" hangingPunct="0">
              <a:lnSpc>
                <a:spcPct val="150000"/>
              </a:lnSpc>
            </a:pPr>
            <a:r>
              <a:rPr lang="en-US" altLang="zh-CN" sz="2000">
                <a:solidFill>
                  <a:srgbClr val="000000"/>
                </a:solidFill>
                <a:ea typeface="隶书" pitchFamily="49" charset="-122"/>
              </a:rPr>
              <a:t>         P (readcount);</a:t>
            </a:r>
          </a:p>
          <a:p>
            <a:pPr eaLnBrk="0" hangingPunct="0">
              <a:lnSpc>
                <a:spcPct val="150000"/>
              </a:lnSpc>
            </a:pPr>
            <a:r>
              <a:rPr lang="en-US" altLang="zh-CN" sz="2000">
                <a:solidFill>
                  <a:srgbClr val="000000"/>
                </a:solidFill>
                <a:ea typeface="隶书" pitchFamily="49" charset="-122"/>
              </a:rPr>
              <a:t>         V(w);</a:t>
            </a:r>
          </a:p>
          <a:p>
            <a:pPr eaLnBrk="0" hangingPunct="0">
              <a:lnSpc>
                <a:spcPct val="150000"/>
              </a:lnSpc>
            </a:pPr>
            <a:r>
              <a:rPr lang="en-US" altLang="zh-CN" sz="2000">
                <a:solidFill>
                  <a:srgbClr val="000000"/>
                </a:solidFill>
                <a:ea typeface="隶书" pitchFamily="49" charset="-122"/>
              </a:rPr>
              <a:t>               </a:t>
            </a:r>
            <a:r>
              <a:rPr lang="zh-CN" altLang="en-US" sz="2000">
                <a:solidFill>
                  <a:srgbClr val="000000"/>
                </a:solidFill>
                <a:ea typeface="隶书" pitchFamily="49" charset="-122"/>
              </a:rPr>
              <a:t>读</a:t>
            </a:r>
          </a:p>
          <a:p>
            <a:pPr eaLnBrk="0" hangingPunct="0">
              <a:lnSpc>
                <a:spcPct val="150000"/>
              </a:lnSpc>
            </a:pPr>
            <a:r>
              <a:rPr lang="zh-CN" altLang="en-US" sz="2000">
                <a:solidFill>
                  <a:srgbClr val="000000"/>
                </a:solidFill>
                <a:ea typeface="隶书" pitchFamily="49" charset="-122"/>
              </a:rPr>
              <a:t>         </a:t>
            </a:r>
            <a:r>
              <a:rPr lang="en-US" altLang="zh-CN" sz="2000">
                <a:solidFill>
                  <a:srgbClr val="000000"/>
                </a:solidFill>
                <a:ea typeface="隶书" pitchFamily="49" charset="-122"/>
              </a:rPr>
              <a:t>V(readcount);</a:t>
            </a:r>
          </a:p>
          <a:p>
            <a:pPr eaLnBrk="0" hangingPunct="0">
              <a:lnSpc>
                <a:spcPct val="150000"/>
              </a:lnSpc>
            </a:pPr>
            <a:r>
              <a:rPr lang="en-US" altLang="zh-CN" sz="2000">
                <a:solidFill>
                  <a:srgbClr val="000000"/>
                </a:solidFill>
                <a:ea typeface="隶书" pitchFamily="49" charset="-122"/>
              </a:rPr>
              <a:t>        };</a:t>
            </a:r>
          </a:p>
        </p:txBody>
      </p:sp>
      <p:sp>
        <p:nvSpPr>
          <p:cNvPr id="49154" name="Rectangle 5">
            <a:extLst>
              <a:ext uri="{FF2B5EF4-FFF2-40B4-BE49-F238E27FC236}">
                <a16:creationId xmlns:a16="http://schemas.microsoft.com/office/drawing/2014/main" id="{89D95A52-6B75-8242-A7BF-853770A34F4E}"/>
              </a:ext>
            </a:extLst>
          </p:cNvPr>
          <p:cNvSpPr>
            <a:spLocks noChangeArrowheads="1"/>
          </p:cNvSpPr>
          <p:nvPr/>
        </p:nvSpPr>
        <p:spPr bwMode="auto">
          <a:xfrm>
            <a:off x="4708525" y="1866900"/>
            <a:ext cx="3721100" cy="4438650"/>
          </a:xfrm>
          <a:prstGeom prst="rect">
            <a:avLst/>
          </a:prstGeom>
          <a:noFill/>
          <a:ln w="1905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a:lstStyle/>
          <a:p>
            <a:pPr eaLnBrk="0" hangingPunct="0"/>
            <a:r>
              <a:rPr lang="zh-CN" altLang="en-US" sz="2400">
                <a:solidFill>
                  <a:srgbClr val="000000"/>
                </a:solidFill>
                <a:ea typeface="隶书" pitchFamily="49" charset="-122"/>
              </a:rPr>
              <a:t>写者：</a:t>
            </a:r>
          </a:p>
          <a:p>
            <a:pPr eaLnBrk="0" hangingPunct="0"/>
            <a:r>
              <a:rPr lang="zh-CN" altLang="en-US" sz="2400">
                <a:solidFill>
                  <a:srgbClr val="000000"/>
                </a:solidFill>
                <a:ea typeface="隶书" pitchFamily="49" charset="-122"/>
              </a:rPr>
              <a:t> </a:t>
            </a:r>
            <a:r>
              <a:rPr lang="en-US" altLang="zh-CN" sz="2000">
                <a:solidFill>
                  <a:srgbClr val="000000"/>
                </a:solidFill>
                <a:ea typeface="隶书" pitchFamily="49" charset="-122"/>
              </a:rPr>
              <a:t>while (true) {</a:t>
            </a:r>
          </a:p>
          <a:p>
            <a:pPr eaLnBrk="0" hangingPunct="0"/>
            <a:r>
              <a:rPr lang="en-US" altLang="zh-CN" sz="2000">
                <a:solidFill>
                  <a:srgbClr val="000000"/>
                </a:solidFill>
                <a:ea typeface="隶书" pitchFamily="49" charset="-122"/>
              </a:rPr>
              <a:t>     </a:t>
            </a:r>
          </a:p>
          <a:p>
            <a:pPr eaLnBrk="0" hangingPunct="0"/>
            <a:r>
              <a:rPr lang="en-US" altLang="zh-CN" sz="2000">
                <a:solidFill>
                  <a:srgbClr val="000000"/>
                </a:solidFill>
                <a:ea typeface="隶书" pitchFamily="49" charset="-122"/>
              </a:rPr>
              <a:t>    P(w);</a:t>
            </a:r>
          </a:p>
          <a:p>
            <a:pPr eaLnBrk="0" hangingPunct="0"/>
            <a:endParaRPr lang="en-US" altLang="zh-CN" sz="2000">
              <a:solidFill>
                <a:srgbClr val="000000"/>
              </a:solidFill>
              <a:ea typeface="隶书" pitchFamily="49" charset="-122"/>
            </a:endParaRPr>
          </a:p>
          <a:p>
            <a:pPr eaLnBrk="0" hangingPunct="0"/>
            <a:r>
              <a:rPr lang="en-US" altLang="zh-CN" sz="2000">
                <a:solidFill>
                  <a:srgbClr val="000000"/>
                </a:solidFill>
                <a:ea typeface="隶书" pitchFamily="49" charset="-122"/>
              </a:rPr>
              <a:t>    for i:=1 to n do P(readcount);</a:t>
            </a:r>
          </a:p>
          <a:p>
            <a:pPr eaLnBrk="0" hangingPunct="0"/>
            <a:r>
              <a:rPr lang="en-US" altLang="zh-CN" sz="2000">
                <a:solidFill>
                  <a:srgbClr val="000000"/>
                </a:solidFill>
                <a:ea typeface="隶书" pitchFamily="49" charset="-122"/>
              </a:rPr>
              <a:t>                </a:t>
            </a:r>
            <a:r>
              <a:rPr lang="zh-CN" altLang="en-US" sz="2000">
                <a:solidFill>
                  <a:srgbClr val="000000"/>
                </a:solidFill>
                <a:ea typeface="隶书" pitchFamily="49" charset="-122"/>
              </a:rPr>
              <a:t>写</a:t>
            </a:r>
          </a:p>
          <a:p>
            <a:pPr eaLnBrk="0" hangingPunct="0"/>
            <a:r>
              <a:rPr lang="zh-CN" altLang="en-US" sz="2000">
                <a:solidFill>
                  <a:srgbClr val="000000"/>
                </a:solidFill>
                <a:ea typeface="隶书" pitchFamily="49" charset="-122"/>
              </a:rPr>
              <a:t>    </a:t>
            </a:r>
            <a:r>
              <a:rPr lang="en-US" altLang="zh-CN" sz="2000">
                <a:solidFill>
                  <a:srgbClr val="000000"/>
                </a:solidFill>
                <a:ea typeface="隶书" pitchFamily="49" charset="-122"/>
              </a:rPr>
              <a:t>for i:=1 to n do V(readcount);</a:t>
            </a:r>
          </a:p>
          <a:p>
            <a:pPr eaLnBrk="0" hangingPunct="0"/>
            <a:r>
              <a:rPr lang="en-US" altLang="zh-CN" sz="2000">
                <a:solidFill>
                  <a:srgbClr val="000000"/>
                </a:solidFill>
                <a:ea typeface="隶书" pitchFamily="49" charset="-122"/>
              </a:rPr>
              <a:t>       </a:t>
            </a:r>
          </a:p>
          <a:p>
            <a:pPr eaLnBrk="0" hangingPunct="0"/>
            <a:r>
              <a:rPr lang="en-US" altLang="zh-CN" sz="2000">
                <a:solidFill>
                  <a:srgbClr val="000000"/>
                </a:solidFill>
                <a:ea typeface="隶书" pitchFamily="49" charset="-122"/>
              </a:rPr>
              <a:t>     V(w);</a:t>
            </a:r>
          </a:p>
          <a:p>
            <a:pPr eaLnBrk="0" hangingPunct="0"/>
            <a:endParaRPr lang="en-US" altLang="zh-CN" sz="2000">
              <a:solidFill>
                <a:srgbClr val="000000"/>
              </a:solidFill>
              <a:ea typeface="隶书" pitchFamily="49" charset="-122"/>
            </a:endParaRPr>
          </a:p>
          <a:p>
            <a:pPr eaLnBrk="0" hangingPunct="0"/>
            <a:r>
              <a:rPr lang="en-US" altLang="zh-CN" sz="2000">
                <a:solidFill>
                  <a:srgbClr val="000000"/>
                </a:solidFill>
                <a:ea typeface="隶书" pitchFamily="49" charset="-122"/>
              </a:rPr>
              <a:t>   };</a:t>
            </a:r>
          </a:p>
        </p:txBody>
      </p:sp>
      <p:sp>
        <p:nvSpPr>
          <p:cNvPr id="6" name="Rectangle 4">
            <a:extLst>
              <a:ext uri="{FF2B5EF4-FFF2-40B4-BE49-F238E27FC236}">
                <a16:creationId xmlns:a16="http://schemas.microsoft.com/office/drawing/2014/main" id="{AB864C3D-C37B-E843-84B7-F8C816525253}"/>
              </a:ext>
            </a:extLst>
          </p:cNvPr>
          <p:cNvSpPr>
            <a:spLocks noGrp="1" noChangeArrowheads="1"/>
          </p:cNvSpPr>
          <p:nvPr>
            <p:ph type="title"/>
          </p:nvPr>
        </p:nvSpPr>
        <p:spPr>
          <a:ln>
            <a:miter/>
          </a:ln>
        </p:spPr>
        <p:txBody>
          <a:bodyPr/>
          <a:lstStyle/>
          <a:p>
            <a:pPr eaLnBrk="1" hangingPunct="1"/>
            <a:r>
              <a:rPr lang="zh-CN" altLang="en-US" sz="4000">
                <a:latin typeface="隶书" pitchFamily="49" charset="-122"/>
              </a:rPr>
              <a:t>读者写者问题</a:t>
            </a:r>
            <a:r>
              <a:rPr lang="zh-CN" altLang="en-US" sz="2400"/>
              <a:t>（</a:t>
            </a:r>
            <a:r>
              <a:rPr lang="en-US" altLang="zh-CN" sz="2400"/>
              <a:t>8/8</a:t>
            </a:r>
            <a:r>
              <a:rPr lang="zh-CN" altLang="en-US" sz="2400"/>
              <a:t>）</a:t>
            </a:r>
          </a:p>
        </p:txBody>
      </p:sp>
      <p:sp>
        <p:nvSpPr>
          <p:cNvPr id="7" name="Text Box 6">
            <a:extLst>
              <a:ext uri="{FF2B5EF4-FFF2-40B4-BE49-F238E27FC236}">
                <a16:creationId xmlns:a16="http://schemas.microsoft.com/office/drawing/2014/main" id="{E996AE13-3C0F-E747-AE16-B62127E81F19}"/>
              </a:ext>
            </a:extLst>
          </p:cNvPr>
          <p:cNvSpPr txBox="1">
            <a:spLocks noChangeArrowheads="1"/>
          </p:cNvSpPr>
          <p:nvPr/>
        </p:nvSpPr>
        <p:spPr bwMode="auto">
          <a:xfrm>
            <a:off x="3295650" y="6318250"/>
            <a:ext cx="299402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eaLnBrk="0" hangingPunct="0"/>
            <a:r>
              <a:rPr lang="zh-CN" altLang="en-US" sz="2400">
                <a:latin typeface="Arial" panose="020B0604020202020204" pitchFamily="34" charset="0"/>
                <a:ea typeface="隶书" pitchFamily="49" charset="-122"/>
              </a:rPr>
              <a:t>第二类读写问题</a:t>
            </a:r>
            <a:r>
              <a:rPr lang="zh-CN" altLang="en-US" sz="2000">
                <a:ea typeface="隶书" pitchFamily="49" charset="-122"/>
              </a:rPr>
              <a:t>（</a:t>
            </a:r>
            <a:r>
              <a:rPr lang="en-US" altLang="zh-CN" sz="2000">
                <a:ea typeface="隶书" pitchFamily="49" charset="-122"/>
              </a:rPr>
              <a:t>2</a:t>
            </a:r>
            <a:r>
              <a:rPr lang="zh-CN" altLang="en-US" sz="2000">
                <a:ea typeface="隶书" pitchFamily="49" charset="-122"/>
              </a:rPr>
              <a:t>）</a:t>
            </a:r>
          </a:p>
        </p:txBody>
      </p:sp>
    </p:spTree>
    <p:extLst>
      <p:ext uri="{BB962C8B-B14F-4D97-AF65-F5344CB8AC3E}">
        <p14:creationId xmlns:p14="http://schemas.microsoft.com/office/powerpoint/2010/main" val="7359356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页脚占位符 3">
            <a:extLst>
              <a:ext uri="{FF2B5EF4-FFF2-40B4-BE49-F238E27FC236}">
                <a16:creationId xmlns:a16="http://schemas.microsoft.com/office/drawing/2014/main" id="{622B35AA-8A7B-CA46-A464-3ABB5B9BCC49}"/>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B6D89BC1-8DF4-864B-893E-6062D91D400D}" type="slidenum">
              <a:rPr altLang="en-US" smtClean="0"/>
              <a:pPr algn="ctr"/>
              <a:t>60</a:t>
            </a:fld>
            <a:endParaRPr lang="en-US" altLang="en-US"/>
          </a:p>
        </p:txBody>
      </p:sp>
      <p:sp>
        <p:nvSpPr>
          <p:cNvPr id="50178" name="Rectangle 3">
            <a:extLst>
              <a:ext uri="{FF2B5EF4-FFF2-40B4-BE49-F238E27FC236}">
                <a16:creationId xmlns:a16="http://schemas.microsoft.com/office/drawing/2014/main" id="{87E8204B-96EB-5042-8456-A0226337D627}"/>
              </a:ext>
            </a:extLst>
          </p:cNvPr>
          <p:cNvSpPr>
            <a:spLocks noGrp="1" noChangeArrowheads="1"/>
          </p:cNvSpPr>
          <p:nvPr>
            <p:ph idx="1"/>
          </p:nvPr>
        </p:nvSpPr>
        <p:spPr/>
        <p:txBody>
          <a:bodyPr/>
          <a:lstStyle/>
          <a:p>
            <a:pPr eaLnBrk="1" hangingPunct="1">
              <a:buClr>
                <a:srgbClr val="CC3300"/>
              </a:buClr>
              <a:buFontTx/>
              <a:buBlip>
                <a:blip r:embed="rId2"/>
              </a:buBlip>
            </a:pPr>
            <a:r>
              <a:rPr lang="zh-CN" altLang="en-US" sz="2800">
                <a:latin typeface="隶书" pitchFamily="49" charset="-122"/>
              </a:rPr>
              <a:t>问题描述</a:t>
            </a:r>
          </a:p>
          <a:p>
            <a:pPr eaLnBrk="1" hangingPunct="1">
              <a:buFontTx/>
              <a:buNone/>
            </a:pPr>
            <a:r>
              <a:rPr lang="zh-CN" altLang="en-US" sz="2400">
                <a:latin typeface="隶书" pitchFamily="49" charset="-122"/>
              </a:rPr>
              <a:t>   </a:t>
            </a:r>
            <a:endParaRPr lang="zh-CN" altLang="en-US" sz="2800">
              <a:latin typeface="隶书" pitchFamily="49" charset="-122"/>
            </a:endParaRPr>
          </a:p>
        </p:txBody>
      </p:sp>
      <p:sp>
        <p:nvSpPr>
          <p:cNvPr id="50179" name="Rectangle 4">
            <a:extLst>
              <a:ext uri="{FF2B5EF4-FFF2-40B4-BE49-F238E27FC236}">
                <a16:creationId xmlns:a16="http://schemas.microsoft.com/office/drawing/2014/main" id="{71FBAAA5-E1BA-F242-BE3D-AFC384238C60}"/>
              </a:ext>
            </a:extLst>
          </p:cNvPr>
          <p:cNvSpPr>
            <a:spLocks noGrp="1" noChangeArrowheads="1"/>
          </p:cNvSpPr>
          <p:nvPr>
            <p:ph type="title"/>
          </p:nvPr>
        </p:nvSpPr>
        <p:spPr/>
        <p:txBody>
          <a:bodyPr/>
          <a:lstStyle/>
          <a:p>
            <a:pPr eaLnBrk="1" hangingPunct="1"/>
            <a:r>
              <a:rPr lang="zh-CN" altLang="en-US">
                <a:latin typeface="隶书" pitchFamily="49" charset="-122"/>
              </a:rPr>
              <a:t>哲学家就餐问题</a:t>
            </a:r>
            <a:r>
              <a:rPr lang="zh-CN" altLang="en-US" sz="2400">
                <a:latin typeface="隶书" pitchFamily="49" charset="-122"/>
              </a:rPr>
              <a:t>（</a:t>
            </a:r>
            <a:r>
              <a:rPr lang="en-US" altLang="zh-CN" sz="2400">
                <a:latin typeface="隶书" pitchFamily="49" charset="-122"/>
              </a:rPr>
              <a:t>1/2</a:t>
            </a:r>
            <a:r>
              <a:rPr lang="zh-CN" altLang="en-US" sz="2400">
                <a:latin typeface="隶书" pitchFamily="49" charset="-122"/>
              </a:rPr>
              <a:t>）</a:t>
            </a:r>
          </a:p>
        </p:txBody>
      </p:sp>
      <p:pic>
        <p:nvPicPr>
          <p:cNvPr id="50180" name="Picture 5">
            <a:extLst>
              <a:ext uri="{FF2B5EF4-FFF2-40B4-BE49-F238E27FC236}">
                <a16:creationId xmlns:a16="http://schemas.microsoft.com/office/drawing/2014/main" id="{7C872568-FAFF-5541-BF39-75BCF896FD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9184" t="752" r="9151" b="710"/>
          <a:stretch>
            <a:fillRect/>
          </a:stretch>
        </p:blipFill>
        <p:spPr bwMode="auto">
          <a:xfrm>
            <a:off x="2763838" y="2746375"/>
            <a:ext cx="3336925" cy="322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6524631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页脚占位符 3">
            <a:extLst>
              <a:ext uri="{FF2B5EF4-FFF2-40B4-BE49-F238E27FC236}">
                <a16:creationId xmlns:a16="http://schemas.microsoft.com/office/drawing/2014/main" id="{88D54950-DABA-5946-B88C-538D1AB215AA}"/>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F0FF53F5-084A-1347-ACCF-9BF95B20ACD2}" type="slidenum">
              <a:rPr altLang="en-US" smtClean="0"/>
              <a:pPr algn="ctr"/>
              <a:t>61</a:t>
            </a:fld>
            <a:endParaRPr lang="en-US" altLang="en-US"/>
          </a:p>
        </p:txBody>
      </p:sp>
      <p:sp>
        <p:nvSpPr>
          <p:cNvPr id="51202" name="Rectangle 3">
            <a:extLst>
              <a:ext uri="{FF2B5EF4-FFF2-40B4-BE49-F238E27FC236}">
                <a16:creationId xmlns:a16="http://schemas.microsoft.com/office/drawing/2014/main" id="{0AF2ACCE-35B5-9144-941D-80F166EEAAD2}"/>
              </a:ext>
            </a:extLst>
          </p:cNvPr>
          <p:cNvSpPr>
            <a:spLocks noGrp="1" noChangeArrowheads="1"/>
          </p:cNvSpPr>
          <p:nvPr>
            <p:ph idx="1"/>
          </p:nvPr>
        </p:nvSpPr>
        <p:spPr>
          <a:xfrm>
            <a:off x="1181100" y="1714500"/>
            <a:ext cx="7277100" cy="1562100"/>
          </a:xfrm>
        </p:spPr>
        <p:txBody>
          <a:bodyPr/>
          <a:lstStyle/>
          <a:p>
            <a:pPr eaLnBrk="1" hangingPunct="1">
              <a:lnSpc>
                <a:spcPct val="90000"/>
              </a:lnSpc>
              <a:buClr>
                <a:srgbClr val="CC3300"/>
              </a:buClr>
              <a:buFontTx/>
              <a:buBlip>
                <a:blip r:embed="rId2"/>
              </a:buBlip>
            </a:pPr>
            <a:r>
              <a:rPr lang="zh-CN" altLang="en-US" sz="2800"/>
              <a:t>信号量确定</a:t>
            </a:r>
          </a:p>
          <a:p>
            <a:pPr lvl="1" eaLnBrk="1" hangingPunct="1">
              <a:lnSpc>
                <a:spcPct val="150000"/>
              </a:lnSpc>
              <a:spcBef>
                <a:spcPct val="0"/>
              </a:spcBef>
              <a:buClr>
                <a:srgbClr val="CC3300"/>
              </a:buClr>
              <a:buFont typeface="Wingdings" pitchFamily="2" charset="2"/>
              <a:buChar char="Ø"/>
            </a:pPr>
            <a:r>
              <a:rPr lang="zh-CN" altLang="en-US" sz="2400"/>
              <a:t>为每根筷单独设立一个信号量，初值为1</a:t>
            </a:r>
          </a:p>
          <a:p>
            <a:pPr eaLnBrk="1" hangingPunct="1">
              <a:lnSpc>
                <a:spcPct val="150000"/>
              </a:lnSpc>
              <a:spcBef>
                <a:spcPct val="0"/>
              </a:spcBef>
              <a:buFontTx/>
              <a:buNone/>
            </a:pPr>
            <a:r>
              <a:rPr lang="zh-CN" altLang="en-US" sz="2000"/>
              <a:t>                   </a:t>
            </a:r>
            <a:r>
              <a:rPr lang="en-US" altLang="zh-CN" sz="2000"/>
              <a:t>var chopstick：array[0..4] of semaphore;</a:t>
            </a:r>
          </a:p>
          <a:p>
            <a:pPr lvl="1" eaLnBrk="1" hangingPunct="1">
              <a:lnSpc>
                <a:spcPct val="150000"/>
              </a:lnSpc>
              <a:spcBef>
                <a:spcPct val="0"/>
              </a:spcBef>
              <a:buClr>
                <a:srgbClr val="C00000"/>
              </a:buClr>
              <a:buFont typeface="Wingdings" pitchFamily="2" charset="2"/>
              <a:buChar char="Ø"/>
            </a:pPr>
            <a:r>
              <a:rPr lang="zh-CN" altLang="en-US" sz="2400"/>
              <a:t>各个哲学家进程</a:t>
            </a:r>
            <a:endParaRPr lang="en-US" altLang="zh-CN" sz="2400"/>
          </a:p>
          <a:p>
            <a:pPr lvl="1" eaLnBrk="1" hangingPunct="1">
              <a:lnSpc>
                <a:spcPct val="90000"/>
              </a:lnSpc>
              <a:buClr>
                <a:srgbClr val="C00000"/>
              </a:buClr>
              <a:buFont typeface="Wingdings" pitchFamily="2" charset="2"/>
              <a:buChar char="Ø"/>
            </a:pPr>
            <a:endParaRPr lang="en-US" altLang="zh-CN" sz="2000"/>
          </a:p>
          <a:p>
            <a:pPr eaLnBrk="1" hangingPunct="1">
              <a:lnSpc>
                <a:spcPct val="90000"/>
              </a:lnSpc>
              <a:buFontTx/>
              <a:buNone/>
            </a:pPr>
            <a:endParaRPr lang="zh-CN" altLang="en-US" sz="2400"/>
          </a:p>
          <a:p>
            <a:pPr eaLnBrk="1" hangingPunct="1">
              <a:lnSpc>
                <a:spcPct val="90000"/>
              </a:lnSpc>
              <a:buFontTx/>
              <a:buNone/>
            </a:pPr>
            <a:r>
              <a:rPr lang="zh-CN" altLang="en-US" sz="2400"/>
              <a:t>     </a:t>
            </a:r>
            <a:endParaRPr lang="zh-CN" altLang="en-US" sz="2800"/>
          </a:p>
        </p:txBody>
      </p:sp>
      <p:sp>
        <p:nvSpPr>
          <p:cNvPr id="51203" name="Rectangle 4">
            <a:extLst>
              <a:ext uri="{FF2B5EF4-FFF2-40B4-BE49-F238E27FC236}">
                <a16:creationId xmlns:a16="http://schemas.microsoft.com/office/drawing/2014/main" id="{2311116F-40C3-7643-8CF8-9FF91103B12A}"/>
              </a:ext>
            </a:extLst>
          </p:cNvPr>
          <p:cNvSpPr>
            <a:spLocks noGrp="1" noChangeArrowheads="1"/>
          </p:cNvSpPr>
          <p:nvPr>
            <p:ph type="title"/>
          </p:nvPr>
        </p:nvSpPr>
        <p:spPr/>
        <p:txBody>
          <a:bodyPr/>
          <a:lstStyle/>
          <a:p>
            <a:pPr eaLnBrk="1" hangingPunct="1"/>
            <a:r>
              <a:rPr lang="zh-CN" altLang="en-US">
                <a:latin typeface="隶书" pitchFamily="49" charset="-122"/>
              </a:rPr>
              <a:t>哲学家就餐问题</a:t>
            </a:r>
            <a:r>
              <a:rPr lang="zh-CN" altLang="en-US" sz="2400">
                <a:latin typeface="隶书" pitchFamily="49" charset="-122"/>
              </a:rPr>
              <a:t>（</a:t>
            </a:r>
            <a:r>
              <a:rPr lang="en-US" altLang="zh-CN" sz="2400">
                <a:latin typeface="隶书" pitchFamily="49" charset="-122"/>
              </a:rPr>
              <a:t>2/2</a:t>
            </a:r>
            <a:r>
              <a:rPr lang="zh-CN" altLang="en-US" sz="2400">
                <a:latin typeface="隶书" pitchFamily="49" charset="-122"/>
              </a:rPr>
              <a:t>）</a:t>
            </a:r>
          </a:p>
        </p:txBody>
      </p:sp>
      <p:sp>
        <p:nvSpPr>
          <p:cNvPr id="51204" name="TextBox 6">
            <a:extLst>
              <a:ext uri="{FF2B5EF4-FFF2-40B4-BE49-F238E27FC236}">
                <a16:creationId xmlns:a16="http://schemas.microsoft.com/office/drawing/2014/main" id="{6E8198B4-72E2-F741-9B29-8F550C5F8F85}"/>
              </a:ext>
            </a:extLst>
          </p:cNvPr>
          <p:cNvSpPr txBox="1">
            <a:spLocks noChangeArrowheads="1"/>
          </p:cNvSpPr>
          <p:nvPr/>
        </p:nvSpPr>
        <p:spPr bwMode="auto">
          <a:xfrm>
            <a:off x="1587500" y="3683000"/>
            <a:ext cx="6807200" cy="2862263"/>
          </a:xfrm>
          <a:prstGeom prst="rect">
            <a:avLst/>
          </a:prstGeom>
          <a:noFill/>
          <a:ln w="19050">
            <a:solidFill>
              <a:srgbClr val="C000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p>
            <a:pPr>
              <a:lnSpc>
                <a:spcPct val="150000"/>
              </a:lnSpc>
            </a:pPr>
            <a:r>
              <a:rPr lang="en-US" altLang="zh-CN" sz="2000">
                <a:solidFill>
                  <a:schemeClr val="tx1"/>
                </a:solidFill>
                <a:ea typeface="隶书" pitchFamily="49" charset="-122"/>
              </a:rPr>
              <a:t>       P(chopstick[i]);                                //</a:t>
            </a:r>
            <a:r>
              <a:rPr lang="zh-CN" altLang="en-US" sz="2000">
                <a:solidFill>
                  <a:schemeClr val="tx1"/>
                </a:solidFill>
                <a:ea typeface="隶书" pitchFamily="49" charset="-122"/>
              </a:rPr>
              <a:t>取左边筷子</a:t>
            </a:r>
          </a:p>
          <a:p>
            <a:pPr>
              <a:lnSpc>
                <a:spcPct val="150000"/>
              </a:lnSpc>
            </a:pPr>
            <a:r>
              <a:rPr lang="zh-CN" altLang="en-US" sz="2000">
                <a:solidFill>
                  <a:schemeClr val="tx1"/>
                </a:solidFill>
                <a:ea typeface="隶书" pitchFamily="49" charset="-122"/>
              </a:rPr>
              <a:t>       </a:t>
            </a:r>
            <a:r>
              <a:rPr lang="en-US" altLang="zh-CN" sz="2000">
                <a:solidFill>
                  <a:schemeClr val="tx1"/>
                </a:solidFill>
                <a:ea typeface="隶书" pitchFamily="49" charset="-122"/>
              </a:rPr>
              <a:t>P(chopstick[(i+1) mod 5]);             //</a:t>
            </a:r>
            <a:r>
              <a:rPr lang="zh-CN" altLang="en-US" sz="2000">
                <a:solidFill>
                  <a:schemeClr val="tx1"/>
                </a:solidFill>
                <a:ea typeface="隶书" pitchFamily="49" charset="-122"/>
              </a:rPr>
              <a:t>取右边筷子</a:t>
            </a:r>
          </a:p>
          <a:p>
            <a:pPr>
              <a:lnSpc>
                <a:spcPct val="150000"/>
              </a:lnSpc>
            </a:pPr>
            <a:r>
              <a:rPr lang="zh-CN" altLang="en-US" sz="2000">
                <a:solidFill>
                  <a:schemeClr val="tx1"/>
                </a:solidFill>
                <a:ea typeface="隶书" pitchFamily="49" charset="-122"/>
              </a:rPr>
              <a:t>               进食</a:t>
            </a:r>
          </a:p>
          <a:p>
            <a:pPr>
              <a:lnSpc>
                <a:spcPct val="150000"/>
              </a:lnSpc>
            </a:pPr>
            <a:r>
              <a:rPr lang="zh-CN" altLang="en-US" sz="2000">
                <a:solidFill>
                  <a:schemeClr val="tx1"/>
                </a:solidFill>
                <a:ea typeface="隶书" pitchFamily="49" charset="-122"/>
              </a:rPr>
              <a:t>       </a:t>
            </a:r>
            <a:r>
              <a:rPr lang="en-US" altLang="zh-CN" sz="2000">
                <a:solidFill>
                  <a:schemeClr val="tx1"/>
                </a:solidFill>
                <a:ea typeface="隶书" pitchFamily="49" charset="-122"/>
              </a:rPr>
              <a:t>V(chopstick[i]);                              //</a:t>
            </a:r>
            <a:r>
              <a:rPr lang="zh-CN" altLang="en-US" sz="2000">
                <a:solidFill>
                  <a:schemeClr val="tx1"/>
                </a:solidFill>
                <a:ea typeface="隶书" pitchFamily="49" charset="-122"/>
              </a:rPr>
              <a:t>放下左边筷子</a:t>
            </a:r>
          </a:p>
          <a:p>
            <a:pPr>
              <a:lnSpc>
                <a:spcPct val="150000"/>
              </a:lnSpc>
            </a:pPr>
            <a:r>
              <a:rPr lang="zh-CN" altLang="en-US" sz="2000">
                <a:solidFill>
                  <a:schemeClr val="tx1"/>
                </a:solidFill>
                <a:ea typeface="隶书" pitchFamily="49" charset="-122"/>
              </a:rPr>
              <a:t>       </a:t>
            </a:r>
            <a:r>
              <a:rPr lang="en-US" altLang="zh-CN" sz="2000">
                <a:solidFill>
                  <a:schemeClr val="tx1"/>
                </a:solidFill>
                <a:ea typeface="隶书" pitchFamily="49" charset="-122"/>
              </a:rPr>
              <a:t>V(chopstick[(i+1) mod 5]);           //</a:t>
            </a:r>
            <a:r>
              <a:rPr lang="zh-CN" altLang="en-US" sz="2000">
                <a:solidFill>
                  <a:schemeClr val="tx1"/>
                </a:solidFill>
                <a:ea typeface="隶书" pitchFamily="49" charset="-122"/>
              </a:rPr>
              <a:t>放下左边筷子</a:t>
            </a:r>
          </a:p>
          <a:p>
            <a:pPr>
              <a:lnSpc>
                <a:spcPct val="150000"/>
              </a:lnSpc>
            </a:pPr>
            <a:r>
              <a:rPr lang="zh-CN" altLang="en-US" sz="2000">
                <a:solidFill>
                  <a:schemeClr val="tx1"/>
                </a:solidFill>
                <a:ea typeface="隶书" pitchFamily="49" charset="-122"/>
              </a:rPr>
              <a:t>                思考</a:t>
            </a:r>
          </a:p>
        </p:txBody>
      </p:sp>
    </p:spTree>
    <p:extLst>
      <p:ext uri="{BB962C8B-B14F-4D97-AF65-F5344CB8AC3E}">
        <p14:creationId xmlns:p14="http://schemas.microsoft.com/office/powerpoint/2010/main" val="14538523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3" name="页脚占位符 3">
            <a:extLst>
              <a:ext uri="{FF2B5EF4-FFF2-40B4-BE49-F238E27FC236}">
                <a16:creationId xmlns:a16="http://schemas.microsoft.com/office/drawing/2014/main" id="{87F99745-2FD1-514E-88DE-AD59D56E3C59}"/>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75EF002D-3A76-434E-8BD3-20E1480AE442}" type="slidenum">
              <a:rPr lang="zh-CN" altLang="en-US" smtClean="0">
                <a:latin typeface="Times New Roman" panose="02020603050405020304" pitchFamily="18" charset="0"/>
              </a:rPr>
              <a:pPr algn="ctr"/>
              <a:t>62</a:t>
            </a:fld>
            <a:endParaRPr lang="zh-CN" altLang="en-US">
              <a:latin typeface="Times New Roman" panose="02020603050405020304" pitchFamily="18" charset="0"/>
            </a:endParaRPr>
          </a:p>
        </p:txBody>
      </p:sp>
      <p:sp>
        <p:nvSpPr>
          <p:cNvPr id="8194" name="Rectangle 3">
            <a:extLst>
              <a:ext uri="{FF2B5EF4-FFF2-40B4-BE49-F238E27FC236}">
                <a16:creationId xmlns:a16="http://schemas.microsoft.com/office/drawing/2014/main" id="{734122F5-1A3D-994B-8CC2-5850D543C6B3}"/>
              </a:ext>
            </a:extLst>
          </p:cNvPr>
          <p:cNvSpPr>
            <a:spLocks noGrp="1" noChangeArrowheads="1"/>
          </p:cNvSpPr>
          <p:nvPr>
            <p:ph idx="1"/>
          </p:nvPr>
        </p:nvSpPr>
        <p:spPr>
          <a:xfrm>
            <a:off x="952500" y="1854200"/>
            <a:ext cx="7543800" cy="4330700"/>
          </a:xfrm>
        </p:spPr>
        <p:txBody>
          <a:bodyPr/>
          <a:lstStyle/>
          <a:p>
            <a:pPr>
              <a:lnSpc>
                <a:spcPct val="150000"/>
              </a:lnSpc>
              <a:spcBef>
                <a:spcPct val="0"/>
              </a:spcBef>
              <a:buClr>
                <a:srgbClr val="CC3300"/>
              </a:buClr>
              <a:buFontTx/>
              <a:buBlip>
                <a:blip r:embed="rId2"/>
              </a:buBlip>
            </a:pPr>
            <a:r>
              <a:rPr lang="zh-CN" altLang="en-US">
                <a:ea typeface="宋体" panose="02010600030101010101" pitchFamily="2" charset="-122"/>
              </a:rPr>
              <a:t> </a:t>
            </a:r>
            <a:r>
              <a:rPr lang="zh-CN" altLang="en-US" sz="2800">
                <a:latin typeface="隶书" pitchFamily="49" charset="-122"/>
              </a:rPr>
              <a:t>产生原因</a:t>
            </a:r>
            <a:endParaRPr lang="en-US" altLang="zh-CN" sz="2800">
              <a:latin typeface="隶书" pitchFamily="49" charset="-122"/>
            </a:endParaRPr>
          </a:p>
          <a:p>
            <a:pPr lvl="1">
              <a:lnSpc>
                <a:spcPct val="150000"/>
              </a:lnSpc>
              <a:spcBef>
                <a:spcPct val="0"/>
              </a:spcBef>
              <a:buClr>
                <a:srgbClr val="CC3300"/>
              </a:buClr>
              <a:buFont typeface="Wingdings" pitchFamily="2" charset="2"/>
              <a:buChar char="§"/>
            </a:pPr>
            <a:r>
              <a:rPr lang="zh-CN" altLang="en-US" sz="2400"/>
              <a:t>一组阻塞进程分别占有一定的资源并等待获取另外一些已经被同组其他进程所占有的资源。</a:t>
            </a:r>
            <a:endParaRPr lang="en-US" altLang="zh-CN" sz="2400"/>
          </a:p>
          <a:p>
            <a:pPr lvl="1">
              <a:lnSpc>
                <a:spcPct val="150000"/>
              </a:lnSpc>
              <a:spcBef>
                <a:spcPct val="0"/>
              </a:spcBef>
              <a:buClr>
                <a:srgbClr val="CC3300"/>
              </a:buClr>
              <a:buFont typeface="Wingdings" pitchFamily="2" charset="2"/>
              <a:buChar char="§"/>
            </a:pPr>
            <a:r>
              <a:rPr lang="zh-CN" altLang="en-US" sz="2400"/>
              <a:t>资源竞争，竞争可能产生死锁，但不一定会死锁。</a:t>
            </a:r>
          </a:p>
        </p:txBody>
      </p:sp>
      <p:sp>
        <p:nvSpPr>
          <p:cNvPr id="8195" name="Rectangle 4">
            <a:extLst>
              <a:ext uri="{FF2B5EF4-FFF2-40B4-BE49-F238E27FC236}">
                <a16:creationId xmlns:a16="http://schemas.microsoft.com/office/drawing/2014/main" id="{49937082-F8BF-C642-BA99-FFF784E2C19B}"/>
              </a:ext>
            </a:extLst>
          </p:cNvPr>
          <p:cNvSpPr>
            <a:spLocks noGrp="1" noChangeArrowheads="1"/>
          </p:cNvSpPr>
          <p:nvPr>
            <p:ph type="title"/>
          </p:nvPr>
        </p:nvSpPr>
        <p:spPr/>
        <p:txBody>
          <a:bodyPr/>
          <a:lstStyle/>
          <a:p>
            <a:pPr marL="514350" indent="-514350">
              <a:lnSpc>
                <a:spcPct val="150000"/>
              </a:lnSpc>
            </a:pPr>
            <a:r>
              <a:rPr lang="zh-CN" altLang="en-US" sz="4000"/>
              <a:t>死</a:t>
            </a:r>
            <a:r>
              <a:rPr lang="zh-CN" altLang="en-US" sz="4000" dirty="0"/>
              <a:t>锁问题 </a:t>
            </a:r>
            <a:r>
              <a:rPr lang="zh-CN" altLang="en-US" sz="2400" dirty="0"/>
              <a:t>（</a:t>
            </a:r>
            <a:r>
              <a:rPr lang="en-US" altLang="zh-CN" sz="2400" dirty="0"/>
              <a:t>1/3</a:t>
            </a:r>
            <a:r>
              <a:rPr lang="zh-CN" altLang="en-US" sz="2400" dirty="0"/>
              <a:t>）</a:t>
            </a:r>
            <a:endParaRPr lang="en-US" altLang="zh-CN" sz="2400" dirty="0"/>
          </a:p>
        </p:txBody>
      </p:sp>
    </p:spTree>
    <p:extLst>
      <p:ext uri="{BB962C8B-B14F-4D97-AF65-F5344CB8AC3E}">
        <p14:creationId xmlns:p14="http://schemas.microsoft.com/office/powerpoint/2010/main" val="270642691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7" name="页脚占位符 3">
            <a:extLst>
              <a:ext uri="{FF2B5EF4-FFF2-40B4-BE49-F238E27FC236}">
                <a16:creationId xmlns:a16="http://schemas.microsoft.com/office/drawing/2014/main" id="{CC99B808-BDCB-2E40-931F-63349C4C0FC3}"/>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07565CA3-5E7D-ED4C-9A71-0309D7698135}" type="slidenum">
              <a:rPr lang="zh-CN" altLang="en-US" smtClean="0">
                <a:latin typeface="Times New Roman" panose="02020603050405020304" pitchFamily="18" charset="0"/>
              </a:rPr>
              <a:pPr algn="ctr"/>
              <a:t>63</a:t>
            </a:fld>
            <a:endParaRPr lang="zh-CN" altLang="en-US">
              <a:latin typeface="Times New Roman" panose="02020603050405020304" pitchFamily="18" charset="0"/>
            </a:endParaRPr>
          </a:p>
        </p:txBody>
      </p:sp>
      <p:sp>
        <p:nvSpPr>
          <p:cNvPr id="89091" name="Rectangle 3">
            <a:extLst>
              <a:ext uri="{FF2B5EF4-FFF2-40B4-BE49-F238E27FC236}">
                <a16:creationId xmlns:a16="http://schemas.microsoft.com/office/drawing/2014/main" id="{2C5350DF-D07E-4747-A6F3-32542A97D286}"/>
              </a:ext>
            </a:extLst>
          </p:cNvPr>
          <p:cNvSpPr>
            <a:spLocks noGrp="1" noChangeArrowheads="1"/>
          </p:cNvSpPr>
          <p:nvPr>
            <p:ph idx="1"/>
          </p:nvPr>
        </p:nvSpPr>
        <p:spPr>
          <a:xfrm>
            <a:off x="914400" y="1727200"/>
            <a:ext cx="7543800" cy="4368800"/>
          </a:xfrm>
        </p:spPr>
        <p:txBody>
          <a:bodyPr/>
          <a:lstStyle/>
          <a:p>
            <a:pPr>
              <a:buClr>
                <a:srgbClr val="CC3300"/>
              </a:buClr>
              <a:buFontTx/>
              <a:buBlip>
                <a:blip r:embed="rId2"/>
              </a:buBlip>
            </a:pPr>
            <a:r>
              <a:rPr lang="en-US" altLang="zh-CN" sz="3600">
                <a:ea typeface="宋体" panose="02010600030101010101" pitchFamily="2" charset="-122"/>
              </a:rPr>
              <a:t> </a:t>
            </a:r>
            <a:r>
              <a:rPr lang="zh-CN" altLang="en-US" sz="2800">
                <a:latin typeface="隶书" pitchFamily="49" charset="-122"/>
              </a:rPr>
              <a:t>死锁举例</a:t>
            </a:r>
            <a:r>
              <a:rPr lang="en-US" altLang="zh-CN" sz="2800">
                <a:latin typeface="隶书" pitchFamily="49" charset="-122"/>
              </a:rPr>
              <a:t> </a:t>
            </a:r>
          </a:p>
          <a:p>
            <a:pPr lvl="1">
              <a:buClr>
                <a:srgbClr val="CC3300"/>
              </a:buClr>
              <a:buFont typeface="Wingdings" pitchFamily="2" charset="2"/>
              <a:buChar char="Ø"/>
            </a:pPr>
            <a:r>
              <a:rPr lang="zh-CN" altLang="en-US" sz="2400">
                <a:latin typeface="隶书" pitchFamily="49" charset="-122"/>
              </a:rPr>
              <a:t>实例</a:t>
            </a:r>
            <a:r>
              <a:rPr lang="en-US" altLang="zh-CN" sz="2400">
                <a:latin typeface="隶书" pitchFamily="49" charset="-122"/>
              </a:rPr>
              <a:t>1 </a:t>
            </a:r>
          </a:p>
          <a:p>
            <a:pPr lvl="2">
              <a:buClr>
                <a:srgbClr val="C00000"/>
              </a:buClr>
              <a:buSzPct val="80000"/>
              <a:buFont typeface="Wingdings" pitchFamily="2" charset="2"/>
              <a:buChar char="n"/>
            </a:pPr>
            <a:r>
              <a:rPr lang="zh-CN" altLang="en-US"/>
              <a:t>系统拥有两个磁带驱动器</a:t>
            </a:r>
          </a:p>
          <a:p>
            <a:pPr lvl="2">
              <a:buClr>
                <a:srgbClr val="C00000"/>
              </a:buClr>
              <a:buSzPct val="80000"/>
              <a:buFont typeface="Wingdings" pitchFamily="2" charset="2"/>
              <a:buChar char="n"/>
            </a:pPr>
            <a:r>
              <a:rPr lang="en-US" altLang="zh-CN"/>
              <a:t>P1 </a:t>
            </a:r>
            <a:r>
              <a:rPr lang="zh-CN" altLang="en-US"/>
              <a:t>和 </a:t>
            </a:r>
            <a:r>
              <a:rPr lang="en-US" altLang="zh-CN"/>
              <a:t>P2</a:t>
            </a:r>
            <a:r>
              <a:rPr lang="zh-CN" altLang="en-US"/>
              <a:t>分别占有其中的一台，而且相互需要另外的一台。</a:t>
            </a:r>
            <a:endParaRPr lang="en-US" altLang="zh-CN"/>
          </a:p>
          <a:p>
            <a:pPr lvl="1">
              <a:buClr>
                <a:srgbClr val="C00000"/>
              </a:buClr>
              <a:buSzPct val="80000"/>
              <a:buFont typeface="Wingdings" pitchFamily="2" charset="2"/>
              <a:buChar char="Ø"/>
            </a:pPr>
            <a:r>
              <a:rPr lang="zh-CN" altLang="en-US"/>
              <a:t>实例</a:t>
            </a:r>
            <a:r>
              <a:rPr lang="en-US" altLang="zh-CN"/>
              <a:t>2</a:t>
            </a:r>
            <a:endParaRPr lang="zh-CN" altLang="en-US"/>
          </a:p>
          <a:p>
            <a:pPr lvl="2">
              <a:buClr>
                <a:srgbClr val="C00000"/>
              </a:buClr>
              <a:buSzPct val="80000"/>
              <a:buFont typeface="Wingdings" pitchFamily="2" charset="2"/>
              <a:buChar char="n"/>
            </a:pPr>
            <a:r>
              <a:rPr lang="zh-CN" altLang="en-US"/>
              <a:t>信号量</a:t>
            </a:r>
            <a:r>
              <a:rPr lang="en-US" altLang="zh-CN"/>
              <a:t>A</a:t>
            </a:r>
            <a:r>
              <a:rPr lang="zh-CN" altLang="en-US"/>
              <a:t>和</a:t>
            </a:r>
            <a:r>
              <a:rPr lang="en-US" altLang="zh-CN"/>
              <a:t>B</a:t>
            </a:r>
            <a:r>
              <a:rPr lang="zh-CN" altLang="en-US"/>
              <a:t>，初始值都为</a:t>
            </a:r>
            <a:r>
              <a:rPr lang="en-US" altLang="zh-CN"/>
              <a:t>1</a:t>
            </a:r>
          </a:p>
          <a:p>
            <a:pPr lvl="1">
              <a:buFont typeface="Wingdings" pitchFamily="2" charset="2"/>
              <a:buNone/>
            </a:pPr>
            <a:r>
              <a:rPr lang="en-US" altLang="zh-CN"/>
              <a:t>	          </a:t>
            </a:r>
            <a:r>
              <a:rPr lang="en-US" altLang="zh-CN" sz="2400"/>
              <a:t>P0		P1</a:t>
            </a:r>
          </a:p>
          <a:p>
            <a:pPr lvl="1">
              <a:buFont typeface="Wingdings" pitchFamily="2" charset="2"/>
              <a:buNone/>
            </a:pPr>
            <a:r>
              <a:rPr lang="en-US" altLang="zh-CN" sz="2400"/>
              <a:t>	        wait(A);		wait(B)</a:t>
            </a:r>
          </a:p>
          <a:p>
            <a:pPr lvl="1">
              <a:buFont typeface="Wingdings" pitchFamily="2" charset="2"/>
              <a:buNone/>
            </a:pPr>
            <a:r>
              <a:rPr lang="en-US" altLang="zh-CN" sz="2400"/>
              <a:t>            wait(B);		wait(A)</a:t>
            </a:r>
          </a:p>
          <a:p>
            <a:pPr lvl="1">
              <a:buClr>
                <a:srgbClr val="CC3300"/>
              </a:buClr>
              <a:buFontTx/>
              <a:buNone/>
            </a:pPr>
            <a:endParaRPr lang="zh-CN" altLang="en-US"/>
          </a:p>
        </p:txBody>
      </p:sp>
      <p:sp>
        <p:nvSpPr>
          <p:cNvPr id="9219" name="Rectangle 4">
            <a:extLst>
              <a:ext uri="{FF2B5EF4-FFF2-40B4-BE49-F238E27FC236}">
                <a16:creationId xmlns:a16="http://schemas.microsoft.com/office/drawing/2014/main" id="{875E0E34-C20F-1B47-A3EE-27BBB00E3785}"/>
              </a:ext>
            </a:extLst>
          </p:cNvPr>
          <p:cNvSpPr>
            <a:spLocks noGrp="1" noChangeArrowheads="1"/>
          </p:cNvSpPr>
          <p:nvPr>
            <p:ph type="title"/>
          </p:nvPr>
        </p:nvSpPr>
        <p:spPr/>
        <p:txBody>
          <a:bodyPr/>
          <a:lstStyle/>
          <a:p>
            <a:pPr marL="514350" indent="-514350">
              <a:lnSpc>
                <a:spcPct val="150000"/>
              </a:lnSpc>
            </a:pPr>
            <a:r>
              <a:rPr lang="zh-CN" altLang="en-US" sz="4000" dirty="0"/>
              <a:t>死锁问题 </a:t>
            </a:r>
            <a:r>
              <a:rPr lang="zh-CN" altLang="en-US" sz="2400" dirty="0"/>
              <a:t>（</a:t>
            </a:r>
            <a:r>
              <a:rPr lang="en-US" altLang="zh-CN" sz="2400" dirty="0"/>
              <a:t>2/3</a:t>
            </a:r>
            <a:r>
              <a:rPr lang="zh-CN" altLang="en-US" sz="2400" dirty="0"/>
              <a:t>）</a:t>
            </a:r>
            <a:endParaRPr lang="en-US" altLang="zh-CN" sz="2400" dirty="0"/>
          </a:p>
        </p:txBody>
      </p:sp>
    </p:spTree>
    <p:extLst>
      <p:ext uri="{BB962C8B-B14F-4D97-AF65-F5344CB8AC3E}">
        <p14:creationId xmlns:p14="http://schemas.microsoft.com/office/powerpoint/2010/main" val="411552783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1" name="页脚占位符 3">
            <a:extLst>
              <a:ext uri="{FF2B5EF4-FFF2-40B4-BE49-F238E27FC236}">
                <a16:creationId xmlns:a16="http://schemas.microsoft.com/office/drawing/2014/main" id="{F88A589A-3BC5-DA48-81D7-EF32FC316CFA}"/>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62E412F0-BBC3-B64F-A82C-95EB5B10B0D1}" type="slidenum">
              <a:rPr lang="zh-CN" altLang="en-US" smtClean="0">
                <a:latin typeface="Times New Roman" panose="02020603050405020304" pitchFamily="18" charset="0"/>
              </a:rPr>
              <a:pPr algn="ctr"/>
              <a:t>64</a:t>
            </a:fld>
            <a:endParaRPr lang="zh-CN" altLang="en-US">
              <a:latin typeface="Times New Roman" panose="02020603050405020304" pitchFamily="18" charset="0"/>
            </a:endParaRPr>
          </a:p>
        </p:txBody>
      </p:sp>
      <p:sp>
        <p:nvSpPr>
          <p:cNvPr id="92163" name="Rectangle 3">
            <a:extLst>
              <a:ext uri="{FF2B5EF4-FFF2-40B4-BE49-F238E27FC236}">
                <a16:creationId xmlns:a16="http://schemas.microsoft.com/office/drawing/2014/main" id="{C9EF107D-D691-4E49-B34B-90EC2C7AFD91}"/>
              </a:ext>
            </a:extLst>
          </p:cNvPr>
          <p:cNvSpPr>
            <a:spLocks noGrp="1" noChangeArrowheads="1"/>
          </p:cNvSpPr>
          <p:nvPr>
            <p:ph idx="1"/>
          </p:nvPr>
        </p:nvSpPr>
        <p:spPr/>
        <p:txBody>
          <a:bodyPr/>
          <a:lstStyle/>
          <a:p>
            <a:pPr>
              <a:buClr>
                <a:srgbClr val="CC3300"/>
              </a:buClr>
              <a:buFont typeface="Wingdings" pitchFamily="2" charset="2"/>
              <a:buChar char="Ø"/>
            </a:pPr>
            <a:r>
              <a:rPr lang="zh-CN" altLang="en-US" sz="2800">
                <a:latin typeface="隶书" pitchFamily="49" charset="-122"/>
              </a:rPr>
              <a:t>实例</a:t>
            </a:r>
            <a:r>
              <a:rPr lang="en-US" altLang="zh-CN" sz="2800">
                <a:latin typeface="隶书" pitchFamily="49" charset="-122"/>
              </a:rPr>
              <a:t> 3</a:t>
            </a:r>
          </a:p>
          <a:p>
            <a:endParaRPr lang="zh-CN" altLang="en-US"/>
          </a:p>
        </p:txBody>
      </p:sp>
      <p:grpSp>
        <p:nvGrpSpPr>
          <p:cNvPr id="10243" name="Group 5">
            <a:extLst>
              <a:ext uri="{FF2B5EF4-FFF2-40B4-BE49-F238E27FC236}">
                <a16:creationId xmlns:a16="http://schemas.microsoft.com/office/drawing/2014/main" id="{15DA40BA-4C97-3B42-89E0-4DCCC1463617}"/>
              </a:ext>
            </a:extLst>
          </p:cNvPr>
          <p:cNvGrpSpPr>
            <a:grpSpLocks/>
          </p:cNvGrpSpPr>
          <p:nvPr/>
        </p:nvGrpSpPr>
        <p:grpSpPr bwMode="auto">
          <a:xfrm>
            <a:off x="1470025" y="3124200"/>
            <a:ext cx="6276975" cy="1371600"/>
            <a:chOff x="798" y="1008"/>
            <a:chExt cx="3954" cy="864"/>
          </a:xfrm>
        </p:grpSpPr>
        <p:grpSp>
          <p:nvGrpSpPr>
            <p:cNvPr id="10244" name="Group 6">
              <a:extLst>
                <a:ext uri="{FF2B5EF4-FFF2-40B4-BE49-F238E27FC236}">
                  <a16:creationId xmlns:a16="http://schemas.microsoft.com/office/drawing/2014/main" id="{3E9334D7-F10B-C848-B804-056505F517C8}"/>
                </a:ext>
              </a:extLst>
            </p:cNvPr>
            <p:cNvGrpSpPr>
              <a:grpSpLocks/>
            </p:cNvGrpSpPr>
            <p:nvPr/>
          </p:nvGrpSpPr>
          <p:grpSpPr bwMode="auto">
            <a:xfrm>
              <a:off x="816" y="1008"/>
              <a:ext cx="3936" cy="240"/>
              <a:chOff x="672" y="1008"/>
              <a:chExt cx="3936" cy="240"/>
            </a:xfrm>
          </p:grpSpPr>
          <p:sp>
            <p:nvSpPr>
              <p:cNvPr id="10245" name="Line 7">
                <a:extLst>
                  <a:ext uri="{FF2B5EF4-FFF2-40B4-BE49-F238E27FC236}">
                    <a16:creationId xmlns:a16="http://schemas.microsoft.com/office/drawing/2014/main" id="{B6E86521-E1BE-C448-9BCE-54A34402395A}"/>
                  </a:ext>
                </a:extLst>
              </p:cNvPr>
              <p:cNvSpPr>
                <a:spLocks noChangeShapeType="1"/>
              </p:cNvSpPr>
              <p:nvPr/>
            </p:nvSpPr>
            <p:spPr bwMode="auto">
              <a:xfrm>
                <a:off x="672" y="1008"/>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6" name="Line 8">
                <a:extLst>
                  <a:ext uri="{FF2B5EF4-FFF2-40B4-BE49-F238E27FC236}">
                    <a16:creationId xmlns:a16="http://schemas.microsoft.com/office/drawing/2014/main" id="{233E4BD0-3250-D44B-9704-2E339CC02632}"/>
                  </a:ext>
                </a:extLst>
              </p:cNvPr>
              <p:cNvSpPr>
                <a:spLocks noChangeShapeType="1"/>
              </p:cNvSpPr>
              <p:nvPr/>
            </p:nvSpPr>
            <p:spPr bwMode="auto">
              <a:xfrm>
                <a:off x="1824" y="1008"/>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7" name="Line 9">
                <a:extLst>
                  <a:ext uri="{FF2B5EF4-FFF2-40B4-BE49-F238E27FC236}">
                    <a16:creationId xmlns:a16="http://schemas.microsoft.com/office/drawing/2014/main" id="{6F9BD12D-6C61-4844-8491-BE6FA6C0334C}"/>
                  </a:ext>
                </a:extLst>
              </p:cNvPr>
              <p:cNvSpPr>
                <a:spLocks noChangeShapeType="1"/>
              </p:cNvSpPr>
              <p:nvPr/>
            </p:nvSpPr>
            <p:spPr bwMode="auto">
              <a:xfrm>
                <a:off x="2208" y="1248"/>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8" name="Line 10">
                <a:extLst>
                  <a:ext uri="{FF2B5EF4-FFF2-40B4-BE49-F238E27FC236}">
                    <a16:creationId xmlns:a16="http://schemas.microsoft.com/office/drawing/2014/main" id="{9DA87B29-E7E6-8E42-BD0E-D94DCCB3C21D}"/>
                  </a:ext>
                </a:extLst>
              </p:cNvPr>
              <p:cNvSpPr>
                <a:spLocks noChangeShapeType="1"/>
              </p:cNvSpPr>
              <p:nvPr/>
            </p:nvSpPr>
            <p:spPr bwMode="auto">
              <a:xfrm flipV="1">
                <a:off x="3072" y="1026"/>
                <a:ext cx="384"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49" name="Line 11">
                <a:extLst>
                  <a:ext uri="{FF2B5EF4-FFF2-40B4-BE49-F238E27FC236}">
                    <a16:creationId xmlns:a16="http://schemas.microsoft.com/office/drawing/2014/main" id="{B11CB92A-A89C-AF42-A6A1-C7E7E0DE4544}"/>
                  </a:ext>
                </a:extLst>
              </p:cNvPr>
              <p:cNvSpPr>
                <a:spLocks noChangeShapeType="1"/>
              </p:cNvSpPr>
              <p:nvPr/>
            </p:nvSpPr>
            <p:spPr bwMode="auto">
              <a:xfrm>
                <a:off x="3456" y="1020"/>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250" name="Group 12">
              <a:extLst>
                <a:ext uri="{FF2B5EF4-FFF2-40B4-BE49-F238E27FC236}">
                  <a16:creationId xmlns:a16="http://schemas.microsoft.com/office/drawing/2014/main" id="{2A549E63-DC09-4846-9995-F6AE5D375686}"/>
                </a:ext>
              </a:extLst>
            </p:cNvPr>
            <p:cNvGrpSpPr>
              <a:grpSpLocks/>
            </p:cNvGrpSpPr>
            <p:nvPr/>
          </p:nvGrpSpPr>
          <p:grpSpPr bwMode="auto">
            <a:xfrm flipV="1">
              <a:off x="816" y="1632"/>
              <a:ext cx="3936" cy="240"/>
              <a:chOff x="672" y="1008"/>
              <a:chExt cx="3936" cy="240"/>
            </a:xfrm>
          </p:grpSpPr>
          <p:sp>
            <p:nvSpPr>
              <p:cNvPr id="10251" name="Line 13">
                <a:extLst>
                  <a:ext uri="{FF2B5EF4-FFF2-40B4-BE49-F238E27FC236}">
                    <a16:creationId xmlns:a16="http://schemas.microsoft.com/office/drawing/2014/main" id="{86EA6659-8D0E-C449-818C-F3126921DB6B}"/>
                  </a:ext>
                </a:extLst>
              </p:cNvPr>
              <p:cNvSpPr>
                <a:spLocks noChangeShapeType="1"/>
              </p:cNvSpPr>
              <p:nvPr/>
            </p:nvSpPr>
            <p:spPr bwMode="auto">
              <a:xfrm>
                <a:off x="672" y="1008"/>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2" name="Line 14">
                <a:extLst>
                  <a:ext uri="{FF2B5EF4-FFF2-40B4-BE49-F238E27FC236}">
                    <a16:creationId xmlns:a16="http://schemas.microsoft.com/office/drawing/2014/main" id="{B896EE0B-F7A7-3640-BBEC-5E8BAF1665F4}"/>
                  </a:ext>
                </a:extLst>
              </p:cNvPr>
              <p:cNvSpPr>
                <a:spLocks noChangeShapeType="1"/>
              </p:cNvSpPr>
              <p:nvPr/>
            </p:nvSpPr>
            <p:spPr bwMode="auto">
              <a:xfrm>
                <a:off x="1824" y="1008"/>
                <a:ext cx="384" cy="24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3" name="Line 15">
                <a:extLst>
                  <a:ext uri="{FF2B5EF4-FFF2-40B4-BE49-F238E27FC236}">
                    <a16:creationId xmlns:a16="http://schemas.microsoft.com/office/drawing/2014/main" id="{862540D0-33D7-C34F-88AA-8F80F5CDB4B1}"/>
                  </a:ext>
                </a:extLst>
              </p:cNvPr>
              <p:cNvSpPr>
                <a:spLocks noChangeShapeType="1"/>
              </p:cNvSpPr>
              <p:nvPr/>
            </p:nvSpPr>
            <p:spPr bwMode="auto">
              <a:xfrm>
                <a:off x="2208" y="1248"/>
                <a:ext cx="86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4" name="Line 16">
                <a:extLst>
                  <a:ext uri="{FF2B5EF4-FFF2-40B4-BE49-F238E27FC236}">
                    <a16:creationId xmlns:a16="http://schemas.microsoft.com/office/drawing/2014/main" id="{0C04AC00-3788-524A-B32A-053937C4AE81}"/>
                  </a:ext>
                </a:extLst>
              </p:cNvPr>
              <p:cNvSpPr>
                <a:spLocks noChangeShapeType="1"/>
              </p:cNvSpPr>
              <p:nvPr/>
            </p:nvSpPr>
            <p:spPr bwMode="auto">
              <a:xfrm flipV="1">
                <a:off x="3072" y="1026"/>
                <a:ext cx="384" cy="22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0255" name="Line 17">
                <a:extLst>
                  <a:ext uri="{FF2B5EF4-FFF2-40B4-BE49-F238E27FC236}">
                    <a16:creationId xmlns:a16="http://schemas.microsoft.com/office/drawing/2014/main" id="{6A0BA75E-A35C-2540-95BA-5D51F2BD0BE8}"/>
                  </a:ext>
                </a:extLst>
              </p:cNvPr>
              <p:cNvSpPr>
                <a:spLocks noChangeShapeType="1"/>
              </p:cNvSpPr>
              <p:nvPr/>
            </p:nvSpPr>
            <p:spPr bwMode="auto">
              <a:xfrm>
                <a:off x="3456" y="1020"/>
                <a:ext cx="1152"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10256" name="Group 18">
              <a:extLst>
                <a:ext uri="{FF2B5EF4-FFF2-40B4-BE49-F238E27FC236}">
                  <a16:creationId xmlns:a16="http://schemas.microsoft.com/office/drawing/2014/main" id="{B609BCA1-2E42-F545-BBB6-17511FFE286C}"/>
                </a:ext>
              </a:extLst>
            </p:cNvPr>
            <p:cNvGrpSpPr>
              <a:grpSpLocks/>
            </p:cNvGrpSpPr>
            <p:nvPr/>
          </p:nvGrpSpPr>
          <p:grpSpPr bwMode="auto">
            <a:xfrm>
              <a:off x="1512" y="1614"/>
              <a:ext cx="288" cy="162"/>
              <a:chOff x="1056" y="1614"/>
              <a:chExt cx="288" cy="162"/>
            </a:xfrm>
          </p:grpSpPr>
          <p:sp>
            <p:nvSpPr>
              <p:cNvPr id="10257" name="Rectangle 19">
                <a:extLst>
                  <a:ext uri="{FF2B5EF4-FFF2-40B4-BE49-F238E27FC236}">
                    <a16:creationId xmlns:a16="http://schemas.microsoft.com/office/drawing/2014/main" id="{67358272-A4D2-D547-AD0E-886E0EB801EB}"/>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sp>
            <p:nvSpPr>
              <p:cNvPr id="10258" name="Rectangle 20">
                <a:extLst>
                  <a:ext uri="{FF2B5EF4-FFF2-40B4-BE49-F238E27FC236}">
                    <a16:creationId xmlns:a16="http://schemas.microsoft.com/office/drawing/2014/main" id="{3EAF658F-99C8-AD44-9AAC-57E46DCFB693}"/>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grpSp>
        <p:sp>
          <p:nvSpPr>
            <p:cNvPr id="10259" name="Line 21">
              <a:extLst>
                <a:ext uri="{FF2B5EF4-FFF2-40B4-BE49-F238E27FC236}">
                  <a16:creationId xmlns:a16="http://schemas.microsoft.com/office/drawing/2014/main" id="{1FBE51D6-DB9A-2F42-A9A4-506037FA5105}"/>
                </a:ext>
              </a:extLst>
            </p:cNvPr>
            <p:cNvSpPr>
              <a:spLocks noChangeShapeType="1"/>
            </p:cNvSpPr>
            <p:nvPr/>
          </p:nvSpPr>
          <p:spPr bwMode="auto">
            <a:xfrm>
              <a:off x="798" y="1428"/>
              <a:ext cx="127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10260" name="Line 22">
              <a:extLst>
                <a:ext uri="{FF2B5EF4-FFF2-40B4-BE49-F238E27FC236}">
                  <a16:creationId xmlns:a16="http://schemas.microsoft.com/office/drawing/2014/main" id="{5136905C-1644-AC4E-B618-582DF630FDF4}"/>
                </a:ext>
              </a:extLst>
            </p:cNvPr>
            <p:cNvSpPr>
              <a:spLocks noChangeShapeType="1"/>
            </p:cNvSpPr>
            <p:nvPr/>
          </p:nvSpPr>
          <p:spPr bwMode="auto">
            <a:xfrm>
              <a:off x="3444" y="1422"/>
              <a:ext cx="1272"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10261" name="Group 23">
              <a:extLst>
                <a:ext uri="{FF2B5EF4-FFF2-40B4-BE49-F238E27FC236}">
                  <a16:creationId xmlns:a16="http://schemas.microsoft.com/office/drawing/2014/main" id="{A55517D3-6D7D-2247-9404-378D8941BDBE}"/>
                </a:ext>
              </a:extLst>
            </p:cNvPr>
            <p:cNvGrpSpPr>
              <a:grpSpLocks/>
            </p:cNvGrpSpPr>
            <p:nvPr/>
          </p:nvGrpSpPr>
          <p:grpSpPr bwMode="auto">
            <a:xfrm>
              <a:off x="2382" y="1344"/>
              <a:ext cx="288" cy="162"/>
              <a:chOff x="1056" y="1614"/>
              <a:chExt cx="288" cy="162"/>
            </a:xfrm>
          </p:grpSpPr>
          <p:sp>
            <p:nvSpPr>
              <p:cNvPr id="10262" name="Rectangle 24">
                <a:extLst>
                  <a:ext uri="{FF2B5EF4-FFF2-40B4-BE49-F238E27FC236}">
                    <a16:creationId xmlns:a16="http://schemas.microsoft.com/office/drawing/2014/main" id="{B58FA456-E86C-4C4A-A366-219E507B08A8}"/>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sp>
            <p:nvSpPr>
              <p:cNvPr id="10263" name="Rectangle 25">
                <a:extLst>
                  <a:ext uri="{FF2B5EF4-FFF2-40B4-BE49-F238E27FC236}">
                    <a16:creationId xmlns:a16="http://schemas.microsoft.com/office/drawing/2014/main" id="{3C96107E-CD2B-7448-9984-F7261AF8A75C}"/>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grpSp>
        <p:grpSp>
          <p:nvGrpSpPr>
            <p:cNvPr id="10264" name="Group 26">
              <a:extLst>
                <a:ext uri="{FF2B5EF4-FFF2-40B4-BE49-F238E27FC236}">
                  <a16:creationId xmlns:a16="http://schemas.microsoft.com/office/drawing/2014/main" id="{1243A2F8-C487-CC43-86B6-DDDCA248A11A}"/>
                </a:ext>
              </a:extLst>
            </p:cNvPr>
            <p:cNvGrpSpPr>
              <a:grpSpLocks/>
            </p:cNvGrpSpPr>
            <p:nvPr/>
          </p:nvGrpSpPr>
          <p:grpSpPr bwMode="auto">
            <a:xfrm flipH="1">
              <a:off x="2838" y="1344"/>
              <a:ext cx="288" cy="162"/>
              <a:chOff x="1056" y="1614"/>
              <a:chExt cx="288" cy="162"/>
            </a:xfrm>
          </p:grpSpPr>
          <p:sp>
            <p:nvSpPr>
              <p:cNvPr id="10265" name="Rectangle 27">
                <a:extLst>
                  <a:ext uri="{FF2B5EF4-FFF2-40B4-BE49-F238E27FC236}">
                    <a16:creationId xmlns:a16="http://schemas.microsoft.com/office/drawing/2014/main" id="{C36E79C7-63A0-3340-A9DA-04367A2BFCB2}"/>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sp>
            <p:nvSpPr>
              <p:cNvPr id="10266" name="Rectangle 28">
                <a:extLst>
                  <a:ext uri="{FF2B5EF4-FFF2-40B4-BE49-F238E27FC236}">
                    <a16:creationId xmlns:a16="http://schemas.microsoft.com/office/drawing/2014/main" id="{9C8F8B43-DD73-404F-B37D-4CD256147774}"/>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grpSp>
        <p:grpSp>
          <p:nvGrpSpPr>
            <p:cNvPr id="10267" name="Group 29">
              <a:extLst>
                <a:ext uri="{FF2B5EF4-FFF2-40B4-BE49-F238E27FC236}">
                  <a16:creationId xmlns:a16="http://schemas.microsoft.com/office/drawing/2014/main" id="{B26A33EC-9644-D542-9C2A-DE4302CE047B}"/>
                </a:ext>
              </a:extLst>
            </p:cNvPr>
            <p:cNvGrpSpPr>
              <a:grpSpLocks/>
            </p:cNvGrpSpPr>
            <p:nvPr/>
          </p:nvGrpSpPr>
          <p:grpSpPr bwMode="auto">
            <a:xfrm flipH="1">
              <a:off x="3822" y="1140"/>
              <a:ext cx="288" cy="162"/>
              <a:chOff x="1056" y="1614"/>
              <a:chExt cx="288" cy="162"/>
            </a:xfrm>
          </p:grpSpPr>
          <p:sp>
            <p:nvSpPr>
              <p:cNvPr id="10268" name="Rectangle 30">
                <a:extLst>
                  <a:ext uri="{FF2B5EF4-FFF2-40B4-BE49-F238E27FC236}">
                    <a16:creationId xmlns:a16="http://schemas.microsoft.com/office/drawing/2014/main" id="{82EBBD27-2020-174B-AA1D-433F01F64A7C}"/>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sp>
            <p:nvSpPr>
              <p:cNvPr id="10269" name="Rectangle 31">
                <a:extLst>
                  <a:ext uri="{FF2B5EF4-FFF2-40B4-BE49-F238E27FC236}">
                    <a16:creationId xmlns:a16="http://schemas.microsoft.com/office/drawing/2014/main" id="{904A006D-50B7-4A4D-B680-64198FE188D4}"/>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grpSp>
        <p:grpSp>
          <p:nvGrpSpPr>
            <p:cNvPr id="10270" name="Group 32">
              <a:extLst>
                <a:ext uri="{FF2B5EF4-FFF2-40B4-BE49-F238E27FC236}">
                  <a16:creationId xmlns:a16="http://schemas.microsoft.com/office/drawing/2014/main" id="{CEE25465-4150-124B-AFEC-0CF420477264}"/>
                </a:ext>
              </a:extLst>
            </p:cNvPr>
            <p:cNvGrpSpPr>
              <a:grpSpLocks/>
            </p:cNvGrpSpPr>
            <p:nvPr/>
          </p:nvGrpSpPr>
          <p:grpSpPr bwMode="auto">
            <a:xfrm flipH="1">
              <a:off x="4248" y="1140"/>
              <a:ext cx="288" cy="162"/>
              <a:chOff x="1056" y="1614"/>
              <a:chExt cx="288" cy="162"/>
            </a:xfrm>
          </p:grpSpPr>
          <p:sp>
            <p:nvSpPr>
              <p:cNvPr id="10271" name="Rectangle 33">
                <a:extLst>
                  <a:ext uri="{FF2B5EF4-FFF2-40B4-BE49-F238E27FC236}">
                    <a16:creationId xmlns:a16="http://schemas.microsoft.com/office/drawing/2014/main" id="{695847E9-6A72-3540-A0C0-00A79C78A8B5}"/>
                  </a:ext>
                </a:extLst>
              </p:cNvPr>
              <p:cNvSpPr>
                <a:spLocks noChangeArrowheads="1"/>
              </p:cNvSpPr>
              <p:nvPr/>
            </p:nvSpPr>
            <p:spPr bwMode="auto">
              <a:xfrm>
                <a:off x="1056" y="1614"/>
                <a:ext cx="288" cy="162"/>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sp>
            <p:nvSpPr>
              <p:cNvPr id="10272" name="Rectangle 34">
                <a:extLst>
                  <a:ext uri="{FF2B5EF4-FFF2-40B4-BE49-F238E27FC236}">
                    <a16:creationId xmlns:a16="http://schemas.microsoft.com/office/drawing/2014/main" id="{C5F4AAFD-D3C8-A94F-A1D6-98EABB2C5809}"/>
                  </a:ext>
                </a:extLst>
              </p:cNvPr>
              <p:cNvSpPr>
                <a:spLocks noChangeArrowheads="1"/>
              </p:cNvSpPr>
              <p:nvPr/>
            </p:nvSpPr>
            <p:spPr bwMode="auto">
              <a:xfrm>
                <a:off x="1206" y="1638"/>
                <a:ext cx="66" cy="114"/>
              </a:xfrm>
              <a:prstGeom prst="rect">
                <a:avLst/>
              </a:prstGeom>
              <a:solidFill>
                <a:schemeClr val="bg1"/>
              </a:solidFill>
              <a:ln w="9525">
                <a:solidFill>
                  <a:schemeClr val="tx1"/>
                </a:solidFill>
                <a:miter lim="800000"/>
                <a:headEnd/>
                <a:tailEnd/>
              </a:ln>
            </p:spPr>
            <p:txBody>
              <a:bodyPr wrap="none" anchor="ctr"/>
              <a:lstStyle/>
              <a:p>
                <a:pPr algn="ctr"/>
                <a:endParaRPr lang="zh-CN" altLang="en-US"/>
              </a:p>
            </p:txBody>
          </p:sp>
        </p:grpSp>
      </p:grpSp>
      <p:sp>
        <p:nvSpPr>
          <p:cNvPr id="10273" name="Rectangle 4">
            <a:extLst>
              <a:ext uri="{FF2B5EF4-FFF2-40B4-BE49-F238E27FC236}">
                <a16:creationId xmlns:a16="http://schemas.microsoft.com/office/drawing/2014/main" id="{D34042FE-CAAC-8E49-BD0A-6E06354AC974}"/>
              </a:ext>
            </a:extLst>
          </p:cNvPr>
          <p:cNvSpPr>
            <a:spLocks noGrp="1" noChangeArrowheads="1"/>
          </p:cNvSpPr>
          <p:nvPr>
            <p:ph type="title"/>
          </p:nvPr>
        </p:nvSpPr>
        <p:spPr/>
        <p:txBody>
          <a:bodyPr/>
          <a:lstStyle/>
          <a:p>
            <a:pPr marL="514350" indent="-514350">
              <a:lnSpc>
                <a:spcPct val="150000"/>
              </a:lnSpc>
            </a:pPr>
            <a:r>
              <a:rPr lang="zh-CN" altLang="en-US" sz="4000" dirty="0"/>
              <a:t>死锁问题 </a:t>
            </a:r>
            <a:r>
              <a:rPr lang="zh-CN" altLang="en-US" sz="2400" dirty="0"/>
              <a:t>（</a:t>
            </a:r>
            <a:r>
              <a:rPr lang="en-US" altLang="zh-CN" sz="2400" dirty="0"/>
              <a:t>3/3</a:t>
            </a:r>
            <a:r>
              <a:rPr lang="zh-CN" altLang="en-US" sz="2400" dirty="0"/>
              <a:t>）</a:t>
            </a:r>
            <a:endParaRPr lang="en-US" altLang="zh-CN" sz="2400" dirty="0"/>
          </a:p>
        </p:txBody>
      </p:sp>
    </p:spTree>
    <p:extLst>
      <p:ext uri="{BB962C8B-B14F-4D97-AF65-F5344CB8AC3E}">
        <p14:creationId xmlns:p14="http://schemas.microsoft.com/office/powerpoint/2010/main" val="263012393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页脚占位符 3">
            <a:extLst>
              <a:ext uri="{FF2B5EF4-FFF2-40B4-BE49-F238E27FC236}">
                <a16:creationId xmlns:a16="http://schemas.microsoft.com/office/drawing/2014/main" id="{AAE47652-AAF2-FF47-9F7D-A33E8E516DDB}"/>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3F97ADF7-A6C7-BF4B-A1C0-D0532CB24FF8}" type="slidenum">
              <a:rPr lang="zh-CN" altLang="en-US" smtClean="0">
                <a:latin typeface="Times New Roman" panose="02020603050405020304" pitchFamily="18" charset="0"/>
              </a:rPr>
              <a:pPr algn="ctr"/>
              <a:t>65</a:t>
            </a:fld>
            <a:endParaRPr lang="zh-CN" altLang="en-US">
              <a:latin typeface="Times New Roman" panose="02020603050405020304" pitchFamily="18" charset="0"/>
            </a:endParaRPr>
          </a:p>
        </p:txBody>
      </p:sp>
      <p:sp>
        <p:nvSpPr>
          <p:cNvPr id="11266" name="Rectangle 3">
            <a:extLst>
              <a:ext uri="{FF2B5EF4-FFF2-40B4-BE49-F238E27FC236}">
                <a16:creationId xmlns:a16="http://schemas.microsoft.com/office/drawing/2014/main" id="{E4590D20-4FCD-7B4C-BF00-2B1653CBB13C}"/>
              </a:ext>
            </a:extLst>
          </p:cNvPr>
          <p:cNvSpPr>
            <a:spLocks noGrp="1" noChangeArrowheads="1"/>
          </p:cNvSpPr>
          <p:nvPr>
            <p:ph idx="1"/>
          </p:nvPr>
        </p:nvSpPr>
        <p:spPr>
          <a:xfrm>
            <a:off x="914400" y="1816100"/>
            <a:ext cx="7543800" cy="4279900"/>
          </a:xfrm>
        </p:spPr>
        <p:txBody>
          <a:bodyPr/>
          <a:lstStyle/>
          <a:p>
            <a:pPr>
              <a:lnSpc>
                <a:spcPct val="150000"/>
              </a:lnSpc>
              <a:spcBef>
                <a:spcPct val="0"/>
              </a:spcBef>
              <a:buFontTx/>
              <a:buBlip>
                <a:blip r:embed="rId2"/>
              </a:buBlip>
            </a:pPr>
            <a:r>
              <a:rPr lang="zh-CN" altLang="en-US" sz="2800"/>
              <a:t>资源类型：</a:t>
            </a:r>
            <a:r>
              <a:rPr lang="en-US" altLang="zh-CN" sz="2800"/>
              <a:t>R</a:t>
            </a:r>
            <a:r>
              <a:rPr lang="en-US" altLang="zh-CN" sz="2800" baseline="-25000"/>
              <a:t>1</a:t>
            </a:r>
            <a:r>
              <a:rPr lang="en-US" altLang="zh-CN" sz="2800"/>
              <a:t>, R</a:t>
            </a:r>
            <a:r>
              <a:rPr lang="en-US" altLang="zh-CN" sz="2800" baseline="-25000"/>
              <a:t>2</a:t>
            </a:r>
            <a:r>
              <a:rPr lang="en-US" altLang="zh-CN" sz="2800"/>
              <a:t>, …, R</a:t>
            </a:r>
            <a:r>
              <a:rPr lang="en-US" altLang="zh-CN" sz="2800" baseline="-25000"/>
              <a:t>m</a:t>
            </a:r>
          </a:p>
          <a:p>
            <a:pPr lvl="1">
              <a:lnSpc>
                <a:spcPct val="150000"/>
              </a:lnSpc>
              <a:spcBef>
                <a:spcPct val="0"/>
              </a:spcBef>
              <a:buClr>
                <a:srgbClr val="C00000"/>
              </a:buClr>
              <a:buSzPct val="80000"/>
              <a:buFont typeface="Wingdings" pitchFamily="2" charset="2"/>
              <a:buChar char="Ø"/>
            </a:pPr>
            <a:r>
              <a:rPr lang="en-US" altLang="zh-CN" sz="2400"/>
              <a:t>CPU </a:t>
            </a:r>
            <a:r>
              <a:rPr lang="zh-CN" altLang="en-US" sz="2400"/>
              <a:t>周期， 内存空间，</a:t>
            </a:r>
            <a:r>
              <a:rPr lang="en-US" altLang="zh-CN" sz="2400"/>
              <a:t>I/O</a:t>
            </a:r>
            <a:r>
              <a:rPr lang="zh-CN" altLang="en-US" sz="2400"/>
              <a:t>设备</a:t>
            </a:r>
            <a:r>
              <a:rPr lang="en-US" altLang="zh-CN" sz="2400"/>
              <a:t>……</a:t>
            </a:r>
            <a:endParaRPr lang="zh-CN" altLang="en-US" sz="2400"/>
          </a:p>
          <a:p>
            <a:pPr>
              <a:lnSpc>
                <a:spcPct val="150000"/>
              </a:lnSpc>
              <a:spcBef>
                <a:spcPct val="0"/>
              </a:spcBef>
              <a:buFontTx/>
              <a:buBlip>
                <a:blip r:embed="rId2"/>
              </a:buBlip>
            </a:pPr>
            <a:r>
              <a:rPr lang="zh-CN" altLang="en-US" sz="2800"/>
              <a:t>每个资源类型</a:t>
            </a:r>
            <a:r>
              <a:rPr lang="en-US" altLang="zh-CN" sz="2800"/>
              <a:t>R</a:t>
            </a:r>
            <a:r>
              <a:rPr lang="en-US" altLang="zh-CN" sz="2800" baseline="-25000"/>
              <a:t>i</a:t>
            </a:r>
            <a:r>
              <a:rPr lang="zh-CN" altLang="en-US" sz="2800"/>
              <a:t>有</a:t>
            </a:r>
            <a:r>
              <a:rPr lang="en-US" altLang="zh-CN" sz="2800"/>
              <a:t>W</a:t>
            </a:r>
            <a:r>
              <a:rPr lang="en-US" altLang="zh-CN" sz="2800" baseline="-25000"/>
              <a:t>i</a:t>
            </a:r>
            <a:r>
              <a:rPr lang="zh-CN" altLang="en-US" sz="2800"/>
              <a:t>个实例</a:t>
            </a:r>
          </a:p>
          <a:p>
            <a:pPr>
              <a:lnSpc>
                <a:spcPct val="150000"/>
              </a:lnSpc>
              <a:spcBef>
                <a:spcPct val="0"/>
              </a:spcBef>
              <a:buFontTx/>
              <a:buBlip>
                <a:blip r:embed="rId2"/>
              </a:buBlip>
            </a:pPr>
            <a:r>
              <a:rPr lang="zh-CN" altLang="en-US" sz="2800"/>
              <a:t>每个进程用以下方式利用资源</a:t>
            </a:r>
          </a:p>
          <a:p>
            <a:pPr lvl="1">
              <a:lnSpc>
                <a:spcPct val="150000"/>
              </a:lnSpc>
              <a:spcBef>
                <a:spcPct val="0"/>
              </a:spcBef>
              <a:buClr>
                <a:srgbClr val="C00000"/>
              </a:buClr>
              <a:buSzPct val="80000"/>
              <a:buFont typeface="Wingdings" pitchFamily="2" charset="2"/>
              <a:buChar char="Ø"/>
            </a:pPr>
            <a:r>
              <a:rPr lang="zh-CN" altLang="en-US" sz="2400"/>
              <a:t>申请</a:t>
            </a:r>
          </a:p>
          <a:p>
            <a:pPr lvl="1">
              <a:lnSpc>
                <a:spcPct val="150000"/>
              </a:lnSpc>
              <a:spcBef>
                <a:spcPct val="0"/>
              </a:spcBef>
              <a:buClr>
                <a:srgbClr val="C00000"/>
              </a:buClr>
              <a:buSzPct val="80000"/>
              <a:buFont typeface="Wingdings" pitchFamily="2" charset="2"/>
              <a:buChar char="Ø"/>
            </a:pPr>
            <a:r>
              <a:rPr lang="zh-CN" altLang="en-US" sz="2400"/>
              <a:t>使用</a:t>
            </a:r>
          </a:p>
          <a:p>
            <a:pPr lvl="1">
              <a:lnSpc>
                <a:spcPct val="150000"/>
              </a:lnSpc>
              <a:spcBef>
                <a:spcPct val="0"/>
              </a:spcBef>
              <a:buClr>
                <a:srgbClr val="C00000"/>
              </a:buClr>
              <a:buSzPct val="80000"/>
              <a:buFont typeface="Wingdings" pitchFamily="2" charset="2"/>
              <a:buChar char="Ø"/>
            </a:pPr>
            <a:r>
              <a:rPr lang="zh-CN" altLang="en-US" sz="2400"/>
              <a:t>释放</a:t>
            </a:r>
          </a:p>
          <a:p>
            <a:endParaRPr lang="en-US" altLang="zh-CN">
              <a:ea typeface="宋体" panose="02010600030101010101" pitchFamily="2" charset="-122"/>
            </a:endParaRPr>
          </a:p>
        </p:txBody>
      </p:sp>
      <p:sp>
        <p:nvSpPr>
          <p:cNvPr id="11267" name="Rectangle 4">
            <a:extLst>
              <a:ext uri="{FF2B5EF4-FFF2-40B4-BE49-F238E27FC236}">
                <a16:creationId xmlns:a16="http://schemas.microsoft.com/office/drawing/2014/main" id="{20454CEB-9D6C-5D48-8D33-354409130387}"/>
              </a:ext>
            </a:extLst>
          </p:cNvPr>
          <p:cNvSpPr>
            <a:spLocks noGrp="1" noChangeArrowheads="1"/>
          </p:cNvSpPr>
          <p:nvPr>
            <p:ph type="title"/>
          </p:nvPr>
        </p:nvSpPr>
        <p:spPr/>
        <p:txBody>
          <a:bodyPr/>
          <a:lstStyle/>
          <a:p>
            <a:pPr marL="514350" indent="-514350">
              <a:lnSpc>
                <a:spcPct val="150000"/>
              </a:lnSpc>
            </a:pPr>
            <a:r>
              <a:rPr lang="zh-CN" altLang="en-US" sz="4000" dirty="0"/>
              <a:t>死锁模型</a:t>
            </a:r>
            <a:endParaRPr lang="en-US" altLang="zh-CN" sz="2400" dirty="0"/>
          </a:p>
        </p:txBody>
      </p:sp>
    </p:spTree>
    <p:extLst>
      <p:ext uri="{BB962C8B-B14F-4D97-AF65-F5344CB8AC3E}">
        <p14:creationId xmlns:p14="http://schemas.microsoft.com/office/powerpoint/2010/main" val="128957211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页脚占位符 3">
            <a:extLst>
              <a:ext uri="{FF2B5EF4-FFF2-40B4-BE49-F238E27FC236}">
                <a16:creationId xmlns:a16="http://schemas.microsoft.com/office/drawing/2014/main" id="{3FE8FF11-2949-BD4E-A8B0-B38C87164843}"/>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737BEB77-549B-5A4C-9CE5-1536446B4C8C}" type="slidenum">
              <a:rPr lang="zh-CN" altLang="en-US" smtClean="0">
                <a:latin typeface="Times New Roman" panose="02020603050405020304" pitchFamily="18" charset="0"/>
              </a:rPr>
              <a:pPr algn="ctr"/>
              <a:t>66</a:t>
            </a:fld>
            <a:endParaRPr lang="zh-CN" altLang="en-US">
              <a:latin typeface="Times New Roman" panose="02020603050405020304" pitchFamily="18" charset="0"/>
            </a:endParaRPr>
          </a:p>
        </p:txBody>
      </p:sp>
      <p:sp>
        <p:nvSpPr>
          <p:cNvPr id="12290" name="Rectangle 3">
            <a:extLst>
              <a:ext uri="{FF2B5EF4-FFF2-40B4-BE49-F238E27FC236}">
                <a16:creationId xmlns:a16="http://schemas.microsoft.com/office/drawing/2014/main" id="{3352CB7D-7BC1-9241-9E6E-2F6BE371D06B}"/>
              </a:ext>
            </a:extLst>
          </p:cNvPr>
          <p:cNvSpPr>
            <a:spLocks noGrp="1" noChangeArrowheads="1"/>
          </p:cNvSpPr>
          <p:nvPr>
            <p:ph idx="1"/>
          </p:nvPr>
        </p:nvSpPr>
        <p:spPr>
          <a:xfrm>
            <a:off x="914400" y="1828800"/>
            <a:ext cx="7029450" cy="4267200"/>
          </a:xfrm>
        </p:spPr>
        <p:txBody>
          <a:bodyPr/>
          <a:lstStyle/>
          <a:p>
            <a:pPr>
              <a:lnSpc>
                <a:spcPct val="150000"/>
              </a:lnSpc>
              <a:spcBef>
                <a:spcPct val="0"/>
              </a:spcBef>
              <a:buFontTx/>
              <a:buBlip>
                <a:blip r:embed="rId2"/>
              </a:buBlip>
            </a:pPr>
            <a:r>
              <a:rPr lang="zh-CN" altLang="en-US" sz="2800">
                <a:latin typeface="隶书" pitchFamily="49" charset="-122"/>
              </a:rPr>
              <a:t>互斥</a:t>
            </a:r>
            <a:r>
              <a:rPr lang="zh-CN" altLang="en-US" sz="2800">
                <a:ea typeface="宋体" panose="02010600030101010101" pitchFamily="2" charset="-122"/>
              </a:rPr>
              <a:t>（</a:t>
            </a:r>
            <a:r>
              <a:rPr lang="en-US" altLang="zh-CN" sz="2800">
                <a:ea typeface="宋体" panose="02010600030101010101" pitchFamily="2" charset="-122"/>
              </a:rPr>
              <a:t>Mutual exclusion</a:t>
            </a:r>
            <a:r>
              <a:rPr lang="zh-CN" altLang="en-US" sz="2800">
                <a:ea typeface="宋体" panose="02010600030101010101" pitchFamily="2" charset="-122"/>
              </a:rPr>
              <a:t>）</a:t>
            </a:r>
            <a:endParaRPr lang="en-US" altLang="zh-CN" sz="2800">
              <a:ea typeface="宋体" panose="02010600030101010101" pitchFamily="2" charset="-122"/>
            </a:endParaRPr>
          </a:p>
          <a:p>
            <a:pPr lvl="1">
              <a:lnSpc>
                <a:spcPct val="150000"/>
              </a:lnSpc>
              <a:spcBef>
                <a:spcPct val="0"/>
              </a:spcBef>
              <a:buClr>
                <a:srgbClr val="C00000"/>
              </a:buClr>
              <a:buSzPct val="80000"/>
              <a:buFont typeface="Wingdings" pitchFamily="2" charset="2"/>
              <a:buChar char="Ø"/>
            </a:pPr>
            <a:r>
              <a:rPr lang="zh-CN" altLang="en-US" sz="2400"/>
              <a:t>至少有一个资源必须处于互斥模式：即一次只有一个进程使用。如果另一资源申请该资源，那么申请进程必须延迟直到该资源释放为止。</a:t>
            </a:r>
            <a:endParaRPr lang="en-US" altLang="zh-CN" sz="2000">
              <a:ea typeface="宋体" panose="02010600030101010101" pitchFamily="2" charset="-122"/>
            </a:endParaRPr>
          </a:p>
          <a:p>
            <a:pPr>
              <a:lnSpc>
                <a:spcPct val="150000"/>
              </a:lnSpc>
              <a:spcBef>
                <a:spcPct val="0"/>
              </a:spcBef>
              <a:buFontTx/>
              <a:buBlip>
                <a:blip r:embed="rId2"/>
              </a:buBlip>
            </a:pPr>
            <a:r>
              <a:rPr lang="zh-CN" altLang="en-US" sz="2800">
                <a:latin typeface="隶书" pitchFamily="49" charset="-122"/>
              </a:rPr>
              <a:t>持有并等待</a:t>
            </a:r>
            <a:r>
              <a:rPr lang="zh-CN" altLang="en-US" sz="2800">
                <a:ea typeface="宋体" panose="02010600030101010101" pitchFamily="2" charset="-122"/>
              </a:rPr>
              <a:t>（</a:t>
            </a:r>
            <a:r>
              <a:rPr lang="en-US" altLang="zh-CN" sz="2800">
                <a:ea typeface="宋体" panose="02010600030101010101" pitchFamily="2" charset="-122"/>
              </a:rPr>
              <a:t>Hold and wait</a:t>
            </a:r>
            <a:r>
              <a:rPr lang="zh-CN" altLang="en-US" sz="2800">
                <a:ea typeface="宋体" panose="02010600030101010101" pitchFamily="2" charset="-122"/>
              </a:rPr>
              <a:t>）</a:t>
            </a:r>
            <a:endParaRPr lang="en-US" altLang="zh-CN" sz="2800">
              <a:ea typeface="宋体" panose="02010600030101010101" pitchFamily="2" charset="-122"/>
            </a:endParaRPr>
          </a:p>
          <a:p>
            <a:pPr lvl="1">
              <a:lnSpc>
                <a:spcPct val="150000"/>
              </a:lnSpc>
              <a:spcBef>
                <a:spcPct val="0"/>
              </a:spcBef>
              <a:buClr>
                <a:srgbClr val="C00000"/>
              </a:buClr>
              <a:buSzPct val="80000"/>
              <a:buFont typeface="Wingdings" pitchFamily="2" charset="2"/>
              <a:buChar char="Ø"/>
            </a:pPr>
            <a:r>
              <a:rPr lang="zh-CN" altLang="en-US" sz="2400"/>
              <a:t>一个进程必须占有至少一个资源，并等待另一资源，而该资源为其他进程所占有。</a:t>
            </a:r>
            <a:endParaRPr lang="en-US" altLang="zh-CN" sz="2400" b="1">
              <a:ea typeface="宋体" panose="02010600030101010101" pitchFamily="2" charset="-122"/>
            </a:endParaRPr>
          </a:p>
          <a:p>
            <a:pPr>
              <a:buFontTx/>
              <a:buNone/>
            </a:pPr>
            <a:endParaRPr lang="zh-CN" altLang="en-US" sz="2400">
              <a:ea typeface="宋体" panose="02010600030101010101" pitchFamily="2" charset="-122"/>
            </a:endParaRPr>
          </a:p>
        </p:txBody>
      </p:sp>
      <p:sp>
        <p:nvSpPr>
          <p:cNvPr id="12291" name="Rectangle 4">
            <a:extLst>
              <a:ext uri="{FF2B5EF4-FFF2-40B4-BE49-F238E27FC236}">
                <a16:creationId xmlns:a16="http://schemas.microsoft.com/office/drawing/2014/main" id="{934DF226-02C6-4148-ABA9-FAC2C87906C6}"/>
              </a:ext>
            </a:extLst>
          </p:cNvPr>
          <p:cNvSpPr>
            <a:spLocks noGrp="1" noChangeArrowheads="1"/>
          </p:cNvSpPr>
          <p:nvPr>
            <p:ph type="title"/>
          </p:nvPr>
        </p:nvSpPr>
        <p:spPr/>
        <p:txBody>
          <a:bodyPr/>
          <a:lstStyle/>
          <a:p>
            <a:pPr marL="514350" indent="-514350">
              <a:lnSpc>
                <a:spcPct val="150000"/>
              </a:lnSpc>
            </a:pPr>
            <a:r>
              <a:rPr lang="zh-CN" altLang="en-US" sz="4000" dirty="0"/>
              <a:t>死锁特征</a:t>
            </a:r>
            <a:r>
              <a:rPr lang="zh-CN" altLang="en-US" sz="2400" dirty="0"/>
              <a:t>（</a:t>
            </a:r>
            <a:r>
              <a:rPr lang="en-US" altLang="zh-CN" sz="2400" dirty="0"/>
              <a:t>1/2</a:t>
            </a:r>
            <a:r>
              <a:rPr lang="zh-CN" altLang="en-US" sz="2400" dirty="0"/>
              <a:t>）</a:t>
            </a:r>
            <a:endParaRPr lang="en-US" altLang="zh-CN" sz="2400" dirty="0"/>
          </a:p>
        </p:txBody>
      </p:sp>
    </p:spTree>
    <p:extLst>
      <p:ext uri="{BB962C8B-B14F-4D97-AF65-F5344CB8AC3E}">
        <p14:creationId xmlns:p14="http://schemas.microsoft.com/office/powerpoint/2010/main" val="7461005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页脚占位符 3">
            <a:extLst>
              <a:ext uri="{FF2B5EF4-FFF2-40B4-BE49-F238E27FC236}">
                <a16:creationId xmlns:a16="http://schemas.microsoft.com/office/drawing/2014/main" id="{A8156F1B-C0DB-C64C-B4C5-27CAE4078C73}"/>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54E70A13-ED93-8849-B2F8-DD6B01E8C1F3}" type="slidenum">
              <a:rPr lang="zh-CN" altLang="en-US" smtClean="0">
                <a:latin typeface="Times New Roman" panose="02020603050405020304" pitchFamily="18" charset="0"/>
              </a:rPr>
              <a:pPr algn="ctr"/>
              <a:t>67</a:t>
            </a:fld>
            <a:endParaRPr lang="zh-CN" altLang="en-US">
              <a:latin typeface="Times New Roman" panose="02020603050405020304" pitchFamily="18" charset="0"/>
            </a:endParaRPr>
          </a:p>
        </p:txBody>
      </p:sp>
      <p:sp>
        <p:nvSpPr>
          <p:cNvPr id="13314" name="Text Box 4">
            <a:extLst>
              <a:ext uri="{FF2B5EF4-FFF2-40B4-BE49-F238E27FC236}">
                <a16:creationId xmlns:a16="http://schemas.microsoft.com/office/drawing/2014/main" id="{83373F73-767F-F140-9948-47F069998A29}"/>
              </a:ext>
            </a:extLst>
          </p:cNvPr>
          <p:cNvSpPr>
            <a:spLocks noGrp="1" noChangeArrowheads="1"/>
          </p:cNvSpPr>
          <p:nvPr>
            <p:ph idx="1"/>
          </p:nvPr>
        </p:nvSpPr>
        <p:spPr>
          <a:xfrm>
            <a:off x="977900" y="1828800"/>
            <a:ext cx="7721600" cy="4292600"/>
          </a:xfrm>
        </p:spPr>
        <p:txBody>
          <a:bodyPr/>
          <a:lstStyle/>
          <a:p>
            <a:pPr>
              <a:lnSpc>
                <a:spcPct val="150000"/>
              </a:lnSpc>
              <a:spcBef>
                <a:spcPct val="0"/>
              </a:spcBef>
              <a:buFontTx/>
              <a:buBlip>
                <a:blip r:embed="rId2"/>
              </a:buBlip>
            </a:pPr>
            <a:r>
              <a:rPr lang="zh-CN" altLang="en-US" sz="2800">
                <a:latin typeface="隶书" pitchFamily="49" charset="-122"/>
              </a:rPr>
              <a:t>非抢占</a:t>
            </a:r>
            <a:r>
              <a:rPr lang="zh-CN" altLang="en-US" sz="2800">
                <a:ea typeface="宋体" panose="02010600030101010101" pitchFamily="2" charset="-122"/>
              </a:rPr>
              <a:t>（</a:t>
            </a:r>
            <a:r>
              <a:rPr lang="en-US" altLang="zh-CN" sz="2800">
                <a:ea typeface="宋体" panose="02010600030101010101" pitchFamily="2" charset="-122"/>
              </a:rPr>
              <a:t>No preemption</a:t>
            </a:r>
            <a:r>
              <a:rPr lang="zh-CN" altLang="en-US" sz="2800">
                <a:ea typeface="宋体" panose="02010600030101010101" pitchFamily="2" charset="-122"/>
              </a:rPr>
              <a:t>）</a:t>
            </a:r>
            <a:endParaRPr lang="en-US" altLang="zh-CN" sz="2800">
              <a:ea typeface="宋体" panose="02010600030101010101" pitchFamily="2" charset="-122"/>
            </a:endParaRPr>
          </a:p>
          <a:p>
            <a:pPr lvl="1">
              <a:lnSpc>
                <a:spcPts val="3200"/>
              </a:lnSpc>
              <a:spcBef>
                <a:spcPct val="0"/>
              </a:spcBef>
              <a:buClr>
                <a:srgbClr val="C00000"/>
              </a:buClr>
              <a:buSzPct val="80000"/>
              <a:buFont typeface="Wingdings" pitchFamily="2" charset="2"/>
              <a:buChar char="Ø"/>
            </a:pPr>
            <a:r>
              <a:rPr lang="zh-CN" altLang="en-US" sz="2400"/>
              <a:t>资源不能被抢占：即只有进程完成其任务之后，才会释放其资源。</a:t>
            </a:r>
            <a:endParaRPr lang="en-US" altLang="zh-CN" sz="2400" b="1">
              <a:ea typeface="宋体" panose="02010600030101010101" pitchFamily="2" charset="-122"/>
            </a:endParaRPr>
          </a:p>
          <a:p>
            <a:pPr>
              <a:lnSpc>
                <a:spcPct val="150000"/>
              </a:lnSpc>
              <a:spcBef>
                <a:spcPct val="0"/>
              </a:spcBef>
              <a:buFontTx/>
              <a:buBlip>
                <a:blip r:embed="rId2"/>
              </a:buBlip>
            </a:pPr>
            <a:r>
              <a:rPr lang="zh-CN" altLang="en-US" sz="2800">
                <a:latin typeface="隶书" pitchFamily="49" charset="-122"/>
              </a:rPr>
              <a:t>循环等待</a:t>
            </a:r>
            <a:r>
              <a:rPr lang="zh-CN" altLang="en-US" sz="2800">
                <a:ea typeface="宋体" panose="02010600030101010101" pitchFamily="2" charset="-122"/>
              </a:rPr>
              <a:t>（</a:t>
            </a:r>
            <a:r>
              <a:rPr lang="en-US" altLang="zh-CN" sz="2800">
                <a:ea typeface="宋体" panose="02010600030101010101" pitchFamily="2" charset="-122"/>
              </a:rPr>
              <a:t>Circular wait</a:t>
            </a:r>
            <a:r>
              <a:rPr lang="zh-CN" altLang="en-US" sz="2800">
                <a:ea typeface="宋体" panose="02010600030101010101" pitchFamily="2" charset="-122"/>
              </a:rPr>
              <a:t>）</a:t>
            </a:r>
            <a:endParaRPr lang="en-US" altLang="zh-CN" sz="2800">
              <a:ea typeface="宋体" panose="02010600030101010101" pitchFamily="2" charset="-122"/>
            </a:endParaRPr>
          </a:p>
          <a:p>
            <a:pPr lvl="1">
              <a:lnSpc>
                <a:spcPts val="3200"/>
              </a:lnSpc>
              <a:spcBef>
                <a:spcPct val="0"/>
              </a:spcBef>
              <a:buClr>
                <a:srgbClr val="C00000"/>
              </a:buClr>
              <a:buSzPct val="80000"/>
              <a:buFont typeface="Wingdings" pitchFamily="2" charset="2"/>
              <a:buChar char="Ø"/>
            </a:pPr>
            <a:r>
              <a:rPr lang="zh-CN" altLang="en-US" sz="2400"/>
              <a:t>进程</a:t>
            </a:r>
            <a:r>
              <a:rPr lang="en-US" altLang="zh-CN" sz="2400"/>
              <a:t>{P</a:t>
            </a:r>
            <a:r>
              <a:rPr lang="en-US" altLang="zh-CN" sz="2400" baseline="-25000"/>
              <a:t>0</a:t>
            </a:r>
            <a:r>
              <a:rPr lang="en-US" altLang="zh-CN" sz="2400"/>
              <a:t>, P</a:t>
            </a:r>
            <a:r>
              <a:rPr lang="en-US" altLang="zh-CN" sz="2400" baseline="-25000"/>
              <a:t>1</a:t>
            </a:r>
            <a:r>
              <a:rPr lang="en-US" altLang="zh-CN" sz="2400"/>
              <a:t>, …, P</a:t>
            </a:r>
            <a:r>
              <a:rPr lang="en-US" altLang="zh-CN" sz="2400" baseline="-25000"/>
              <a:t>n</a:t>
            </a:r>
            <a:r>
              <a:rPr lang="en-US" altLang="zh-CN" sz="2400"/>
              <a:t>}</a:t>
            </a:r>
            <a:r>
              <a:rPr lang="zh-CN" altLang="en-US" sz="2400"/>
              <a:t>，</a:t>
            </a:r>
            <a:r>
              <a:rPr lang="en-US" altLang="zh-CN" sz="2400"/>
              <a:t>P</a:t>
            </a:r>
            <a:r>
              <a:rPr lang="en-US" altLang="zh-CN" sz="2400" baseline="-25000"/>
              <a:t>0</a:t>
            </a:r>
            <a:r>
              <a:rPr lang="zh-CN" altLang="en-US" sz="2400"/>
              <a:t>等待的资源为</a:t>
            </a:r>
            <a:r>
              <a:rPr lang="en-US" altLang="zh-CN" sz="2400"/>
              <a:t>P</a:t>
            </a:r>
            <a:r>
              <a:rPr lang="en-US" altLang="zh-CN" sz="2400" baseline="-25000"/>
              <a:t>1</a:t>
            </a:r>
            <a:r>
              <a:rPr lang="zh-CN" altLang="en-US" sz="2400"/>
              <a:t>所占有，</a:t>
            </a:r>
            <a:r>
              <a:rPr lang="en-US" altLang="zh-CN" sz="2400"/>
              <a:t>P</a:t>
            </a:r>
            <a:r>
              <a:rPr lang="en-US" altLang="zh-CN" sz="2400" baseline="-25000"/>
              <a:t>1</a:t>
            </a:r>
            <a:r>
              <a:rPr lang="zh-CN" altLang="en-US" sz="2400"/>
              <a:t>等待的资源为</a:t>
            </a:r>
            <a:r>
              <a:rPr lang="en-US" altLang="zh-CN" sz="2400"/>
              <a:t>P</a:t>
            </a:r>
            <a:r>
              <a:rPr lang="en-US" altLang="zh-CN" sz="2400" baseline="-25000"/>
              <a:t>2</a:t>
            </a:r>
            <a:r>
              <a:rPr lang="zh-CN" altLang="en-US" sz="2400"/>
              <a:t>占有，</a:t>
            </a:r>
            <a:r>
              <a:rPr lang="en-US" altLang="zh-CN" sz="2400"/>
              <a:t>P</a:t>
            </a:r>
            <a:r>
              <a:rPr lang="en-US" altLang="zh-CN" sz="2400" baseline="-25000"/>
              <a:t>n-1</a:t>
            </a:r>
            <a:r>
              <a:rPr lang="zh-CN" altLang="en-US" sz="2400"/>
              <a:t>等待的资源为</a:t>
            </a:r>
            <a:r>
              <a:rPr lang="en-US" altLang="zh-CN" sz="2400"/>
              <a:t>P</a:t>
            </a:r>
            <a:r>
              <a:rPr lang="en-US" altLang="zh-CN" sz="2400" baseline="-25000"/>
              <a:t>n</a:t>
            </a:r>
            <a:r>
              <a:rPr lang="zh-CN" altLang="en-US" sz="2400"/>
              <a:t>所占有，</a:t>
            </a:r>
            <a:r>
              <a:rPr lang="en-US" altLang="zh-CN" sz="2400"/>
              <a:t>P</a:t>
            </a:r>
            <a:r>
              <a:rPr lang="en-US" altLang="zh-CN" sz="2400" baseline="-25000"/>
              <a:t>n</a:t>
            </a:r>
            <a:r>
              <a:rPr lang="zh-CN" altLang="en-US" sz="2400"/>
              <a:t>等待的资源为</a:t>
            </a:r>
            <a:r>
              <a:rPr lang="en-US" altLang="zh-CN" sz="2400"/>
              <a:t>P</a:t>
            </a:r>
            <a:r>
              <a:rPr lang="en-US" altLang="zh-CN" sz="2400" baseline="-25000"/>
              <a:t>0</a:t>
            </a:r>
            <a:r>
              <a:rPr lang="zh-CN" altLang="en-US" sz="2400"/>
              <a:t>所占有。</a:t>
            </a:r>
            <a:endParaRPr lang="en-US" altLang="zh-CN" sz="2400">
              <a:ea typeface="宋体" panose="02010600030101010101" pitchFamily="2" charset="-122"/>
            </a:endParaRPr>
          </a:p>
          <a:p>
            <a:pPr>
              <a:lnSpc>
                <a:spcPct val="150000"/>
              </a:lnSpc>
              <a:spcBef>
                <a:spcPct val="0"/>
              </a:spcBef>
              <a:buFontTx/>
              <a:buNone/>
            </a:pPr>
            <a:r>
              <a:rPr lang="zh-CN" altLang="en-US" sz="2400"/>
              <a:t>     </a:t>
            </a:r>
            <a:r>
              <a:rPr lang="zh-CN" altLang="en-US" sz="2800">
                <a:solidFill>
                  <a:srgbClr val="000099"/>
                </a:solidFill>
              </a:rPr>
              <a:t>以上四个条件同时满足，就会引起死锁。</a:t>
            </a:r>
            <a:endParaRPr lang="en-US" altLang="zh-CN" sz="2800">
              <a:solidFill>
                <a:srgbClr val="000099"/>
              </a:solidFill>
              <a:latin typeface="Helvetica" pitchFamily="2" charset="0"/>
              <a:ea typeface="宋体" panose="02010600030101010101" pitchFamily="2" charset="-122"/>
            </a:endParaRPr>
          </a:p>
        </p:txBody>
      </p:sp>
      <p:sp>
        <p:nvSpPr>
          <p:cNvPr id="13315" name="Rectangle 4">
            <a:extLst>
              <a:ext uri="{FF2B5EF4-FFF2-40B4-BE49-F238E27FC236}">
                <a16:creationId xmlns:a16="http://schemas.microsoft.com/office/drawing/2014/main" id="{8AA3728D-DCFB-CC49-B682-854F90F7A6C0}"/>
              </a:ext>
            </a:extLst>
          </p:cNvPr>
          <p:cNvSpPr>
            <a:spLocks noGrp="1" noChangeArrowheads="1"/>
          </p:cNvSpPr>
          <p:nvPr>
            <p:ph type="title"/>
          </p:nvPr>
        </p:nvSpPr>
        <p:spPr/>
        <p:txBody>
          <a:bodyPr/>
          <a:lstStyle/>
          <a:p>
            <a:pPr marL="514350" indent="-514350">
              <a:lnSpc>
                <a:spcPct val="150000"/>
              </a:lnSpc>
            </a:pPr>
            <a:r>
              <a:rPr lang="zh-CN" altLang="en-US" sz="4000" dirty="0"/>
              <a:t>死锁特征</a:t>
            </a:r>
            <a:r>
              <a:rPr lang="zh-CN" altLang="en-US" sz="2400" dirty="0"/>
              <a:t>（</a:t>
            </a:r>
            <a:r>
              <a:rPr lang="en-US" altLang="zh-CN" sz="2400" dirty="0"/>
              <a:t>2/2</a:t>
            </a:r>
            <a:r>
              <a:rPr lang="zh-CN" altLang="en-US" sz="2400" dirty="0"/>
              <a:t>）</a:t>
            </a:r>
            <a:endParaRPr lang="en-US" altLang="zh-CN" sz="2400" dirty="0"/>
          </a:p>
        </p:txBody>
      </p:sp>
    </p:spTree>
    <p:extLst>
      <p:ext uri="{BB962C8B-B14F-4D97-AF65-F5344CB8AC3E}">
        <p14:creationId xmlns:p14="http://schemas.microsoft.com/office/powerpoint/2010/main" val="32064119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页脚占位符 3">
            <a:extLst>
              <a:ext uri="{FF2B5EF4-FFF2-40B4-BE49-F238E27FC236}">
                <a16:creationId xmlns:a16="http://schemas.microsoft.com/office/drawing/2014/main" id="{97DE190A-7973-5941-8A5F-C29AEDC2F958}"/>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B88D9C8F-09D4-A042-9026-5B0302963B36}" type="slidenum">
              <a:rPr lang="zh-CN" altLang="en-US" smtClean="0">
                <a:latin typeface="Times New Roman" panose="02020603050405020304" pitchFamily="18" charset="0"/>
              </a:rPr>
              <a:pPr algn="ctr"/>
              <a:t>68</a:t>
            </a:fld>
            <a:endParaRPr lang="zh-CN" altLang="en-US">
              <a:latin typeface="Times New Roman" panose="02020603050405020304" pitchFamily="18" charset="0"/>
            </a:endParaRPr>
          </a:p>
        </p:txBody>
      </p:sp>
      <p:pic>
        <p:nvPicPr>
          <p:cNvPr id="14338" name="Picture 1030">
            <a:extLst>
              <a:ext uri="{FF2B5EF4-FFF2-40B4-BE49-F238E27FC236}">
                <a16:creationId xmlns:a16="http://schemas.microsoft.com/office/drawing/2014/main" id="{32ABA9FE-9286-D44F-8494-A03DC0EC5E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3024" t="871" r="23206" b="1060"/>
          <a:stretch>
            <a:fillRect/>
          </a:stretch>
        </p:blipFill>
        <p:spPr bwMode="auto">
          <a:xfrm>
            <a:off x="1970088" y="2578100"/>
            <a:ext cx="5327650" cy="3644900"/>
          </a:xfrm>
          <a:prstGeom prst="rect">
            <a:avLst/>
          </a:prstGeom>
          <a:noFill/>
          <a:ln w="19050">
            <a:solidFill>
              <a:srgbClr val="C00000"/>
            </a:solidFill>
            <a:miter lim="800000"/>
            <a:headEnd/>
            <a:tailEnd/>
          </a:ln>
          <a:extLst>
            <a:ext uri="{909E8E84-426E-40DD-AFC4-6F175D3DCCD1}">
              <a14:hiddenFill xmlns:a14="http://schemas.microsoft.com/office/drawing/2010/main">
                <a:solidFill>
                  <a:srgbClr val="FFFFFF"/>
                </a:solidFill>
              </a14:hiddenFill>
            </a:ext>
          </a:extLst>
        </p:spPr>
      </p:pic>
      <p:sp>
        <p:nvSpPr>
          <p:cNvPr id="14339" name="Rectangle 4">
            <a:extLst>
              <a:ext uri="{FF2B5EF4-FFF2-40B4-BE49-F238E27FC236}">
                <a16:creationId xmlns:a16="http://schemas.microsoft.com/office/drawing/2014/main" id="{ED671579-009B-C24F-B1BF-1FDC64A8B6BE}"/>
              </a:ext>
            </a:extLst>
          </p:cNvPr>
          <p:cNvSpPr>
            <a:spLocks noGrp="1" noChangeArrowheads="1"/>
          </p:cNvSpPr>
          <p:nvPr>
            <p:ph type="title"/>
          </p:nvPr>
        </p:nvSpPr>
        <p:spPr/>
        <p:txBody>
          <a:bodyPr/>
          <a:lstStyle/>
          <a:p>
            <a:pPr marL="514350" indent="-514350">
              <a:lnSpc>
                <a:spcPct val="150000"/>
              </a:lnSpc>
            </a:pPr>
            <a:r>
              <a:rPr lang="zh-CN" altLang="en-US" sz="4000" dirty="0"/>
              <a:t>资源分配图 </a:t>
            </a:r>
            <a:r>
              <a:rPr lang="zh-CN" altLang="en-US" sz="2000" dirty="0"/>
              <a:t>（</a:t>
            </a:r>
            <a:r>
              <a:rPr lang="en-US" altLang="zh-CN" sz="2000" dirty="0"/>
              <a:t>1/4</a:t>
            </a:r>
            <a:r>
              <a:rPr lang="zh-CN" altLang="en-US" sz="2000" dirty="0"/>
              <a:t>）</a:t>
            </a:r>
            <a:endParaRPr lang="en-US" altLang="zh-CN" sz="2000" dirty="0"/>
          </a:p>
        </p:txBody>
      </p:sp>
      <p:sp>
        <p:nvSpPr>
          <p:cNvPr id="14340" name="TextBox 6">
            <a:extLst>
              <a:ext uri="{FF2B5EF4-FFF2-40B4-BE49-F238E27FC236}">
                <a16:creationId xmlns:a16="http://schemas.microsoft.com/office/drawing/2014/main" id="{283A9391-12FB-A148-A7EA-8002ED945DDF}"/>
              </a:ext>
            </a:extLst>
          </p:cNvPr>
          <p:cNvSpPr txBox="1">
            <a:spLocks noChangeArrowheads="1"/>
          </p:cNvSpPr>
          <p:nvPr/>
        </p:nvSpPr>
        <p:spPr bwMode="auto">
          <a:xfrm>
            <a:off x="1249363" y="1917700"/>
            <a:ext cx="24114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lgn="ctr">
              <a:buFontTx/>
              <a:buBlip>
                <a:blip r:embed="rId3"/>
              </a:buBlip>
            </a:pPr>
            <a:r>
              <a:rPr lang="zh-CN" altLang="en-US" sz="2800">
                <a:latin typeface="隶书" pitchFamily="49" charset="-122"/>
                <a:ea typeface="隶书" pitchFamily="49" charset="-122"/>
              </a:rPr>
              <a:t> 资源分配图</a:t>
            </a:r>
          </a:p>
        </p:txBody>
      </p:sp>
    </p:spTree>
    <p:extLst>
      <p:ext uri="{BB962C8B-B14F-4D97-AF65-F5344CB8AC3E}">
        <p14:creationId xmlns:p14="http://schemas.microsoft.com/office/powerpoint/2010/main" val="2842916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页脚占位符 2">
            <a:extLst>
              <a:ext uri="{FF2B5EF4-FFF2-40B4-BE49-F238E27FC236}">
                <a16:creationId xmlns:a16="http://schemas.microsoft.com/office/drawing/2014/main" id="{463E1586-0C4C-3C43-9738-F571EEDC7B65}"/>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C39E91C6-8B14-8745-BA90-DB28353FD103}" type="slidenum">
              <a:rPr lang="zh-CN" altLang="en-US" smtClean="0">
                <a:latin typeface="Times New Roman" panose="02020603050405020304" pitchFamily="18" charset="0"/>
              </a:rPr>
              <a:pPr algn="ctr"/>
              <a:t>69</a:t>
            </a:fld>
            <a:endParaRPr lang="zh-CN" altLang="en-US">
              <a:latin typeface="Times New Roman" panose="02020603050405020304" pitchFamily="18" charset="0"/>
            </a:endParaRPr>
          </a:p>
        </p:txBody>
      </p:sp>
      <p:pic>
        <p:nvPicPr>
          <p:cNvPr id="15362" name="Picture 5">
            <a:extLst>
              <a:ext uri="{FF2B5EF4-FFF2-40B4-BE49-F238E27FC236}">
                <a16:creationId xmlns:a16="http://schemas.microsoft.com/office/drawing/2014/main" id="{4CAB36A5-BB0B-4B4C-B86A-5D3C23278C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3473" t="919" r="23195" b="1358"/>
          <a:stretch>
            <a:fillRect/>
          </a:stretch>
        </p:blipFill>
        <p:spPr bwMode="auto">
          <a:xfrm>
            <a:off x="2257425" y="2705100"/>
            <a:ext cx="4789488" cy="3644900"/>
          </a:xfrm>
          <a:prstGeom prst="rect">
            <a:avLst/>
          </a:prstGeom>
          <a:noFill/>
          <a:ln w="19050">
            <a:solidFill>
              <a:srgbClr val="C00000"/>
            </a:solidFill>
            <a:miter lim="800000"/>
            <a:headEnd/>
            <a:tailEnd/>
          </a:ln>
          <a:extLst>
            <a:ext uri="{909E8E84-426E-40DD-AFC4-6F175D3DCCD1}">
              <a14:hiddenFill xmlns:a14="http://schemas.microsoft.com/office/drawing/2010/main">
                <a:solidFill>
                  <a:srgbClr val="FFFFFF"/>
                </a:solidFill>
              </a14:hiddenFill>
            </a:ext>
          </a:extLst>
        </p:spPr>
      </p:pic>
      <p:sp>
        <p:nvSpPr>
          <p:cNvPr id="15363" name="Rectangle 4">
            <a:extLst>
              <a:ext uri="{FF2B5EF4-FFF2-40B4-BE49-F238E27FC236}">
                <a16:creationId xmlns:a16="http://schemas.microsoft.com/office/drawing/2014/main" id="{D5E43B40-78E1-0442-95C7-E01ED09623AA}"/>
              </a:ext>
            </a:extLst>
          </p:cNvPr>
          <p:cNvSpPr txBox="1">
            <a:spLocks noChangeArrowheads="1"/>
          </p:cNvSpPr>
          <p:nvPr/>
        </p:nvSpPr>
        <p:spPr bwMode="auto">
          <a:xfrm>
            <a:off x="9144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514350" indent="-514350">
              <a:defRPr sz="6000">
                <a:solidFill>
                  <a:srgbClr val="000099"/>
                </a:solidFill>
                <a:latin typeface="Times New Roman" panose="02020603050405020304" pitchFamily="18" charset="0"/>
                <a:ea typeface="黑体" panose="02010609060101010101" pitchFamily="49" charset="-122"/>
              </a:defRPr>
            </a:lvl1pPr>
            <a:lvl2pPr>
              <a:defRPr sz="6000">
                <a:solidFill>
                  <a:srgbClr val="000099"/>
                </a:solidFill>
                <a:latin typeface="Times New Roman" panose="02020603050405020304" pitchFamily="18" charset="0"/>
                <a:ea typeface="黑体" panose="02010609060101010101" pitchFamily="49" charset="-122"/>
              </a:defRPr>
            </a:lvl2pPr>
            <a:lvl3pPr>
              <a:defRPr sz="6000">
                <a:solidFill>
                  <a:srgbClr val="000099"/>
                </a:solidFill>
                <a:latin typeface="Times New Roman" panose="02020603050405020304" pitchFamily="18" charset="0"/>
                <a:ea typeface="黑体" panose="02010609060101010101" pitchFamily="49" charset="-122"/>
              </a:defRPr>
            </a:lvl3pPr>
            <a:lvl4pPr>
              <a:defRPr sz="6000">
                <a:solidFill>
                  <a:srgbClr val="000099"/>
                </a:solidFill>
                <a:latin typeface="Times New Roman" panose="02020603050405020304" pitchFamily="18" charset="0"/>
                <a:ea typeface="黑体" panose="02010609060101010101" pitchFamily="49" charset="-122"/>
              </a:defRPr>
            </a:lvl4pPr>
            <a:lvl5pPr>
              <a:defRPr sz="6000">
                <a:solidFill>
                  <a:srgbClr val="000099"/>
                </a:solidFill>
                <a:latin typeface="Times New Roman" panose="02020603050405020304" pitchFamily="18" charset="0"/>
                <a:ea typeface="黑体" panose="02010609060101010101" pitchFamily="49" charset="-122"/>
              </a:defRPr>
            </a:lvl5pPr>
            <a:lvl6pPr fontAlgn="base">
              <a:spcBef>
                <a:spcPct val="0"/>
              </a:spcBef>
              <a:spcAft>
                <a:spcPct val="0"/>
              </a:spcAft>
              <a:defRPr sz="6000">
                <a:solidFill>
                  <a:srgbClr val="000099"/>
                </a:solidFill>
                <a:latin typeface="Times New Roman" panose="02020603050405020304" pitchFamily="18" charset="0"/>
                <a:ea typeface="黑体" panose="02010609060101010101" pitchFamily="49" charset="-122"/>
              </a:defRPr>
            </a:lvl6pPr>
            <a:lvl7pPr fontAlgn="base">
              <a:spcBef>
                <a:spcPct val="0"/>
              </a:spcBef>
              <a:spcAft>
                <a:spcPct val="0"/>
              </a:spcAft>
              <a:defRPr sz="6000">
                <a:solidFill>
                  <a:srgbClr val="000099"/>
                </a:solidFill>
                <a:latin typeface="Times New Roman" panose="02020603050405020304" pitchFamily="18" charset="0"/>
                <a:ea typeface="黑体" panose="02010609060101010101" pitchFamily="49" charset="-122"/>
              </a:defRPr>
            </a:lvl7pPr>
            <a:lvl8pPr fontAlgn="base">
              <a:spcBef>
                <a:spcPct val="0"/>
              </a:spcBef>
              <a:spcAft>
                <a:spcPct val="0"/>
              </a:spcAft>
              <a:defRPr sz="6000">
                <a:solidFill>
                  <a:srgbClr val="000099"/>
                </a:solidFill>
                <a:latin typeface="Times New Roman" panose="02020603050405020304" pitchFamily="18" charset="0"/>
                <a:ea typeface="黑体" panose="02010609060101010101" pitchFamily="49" charset="-122"/>
              </a:defRPr>
            </a:lvl8pPr>
            <a:lvl9pPr fontAlgn="base">
              <a:spcBef>
                <a:spcPct val="0"/>
              </a:spcBef>
              <a:spcAft>
                <a:spcPct val="0"/>
              </a:spcAft>
              <a:defRPr sz="6000">
                <a:solidFill>
                  <a:srgbClr val="000099"/>
                </a:solidFill>
                <a:latin typeface="Times New Roman" panose="02020603050405020304" pitchFamily="18" charset="0"/>
                <a:ea typeface="黑体" panose="02010609060101010101" pitchFamily="49" charset="-122"/>
              </a:defRPr>
            </a:lvl9pPr>
          </a:lstStyle>
          <a:p>
            <a:pPr algn="ctr">
              <a:lnSpc>
                <a:spcPct val="150000"/>
              </a:lnSpc>
            </a:pPr>
            <a:r>
              <a:rPr lang="zh-CN" altLang="en-US" sz="4000" dirty="0">
                <a:solidFill>
                  <a:srgbClr val="333399"/>
                </a:solidFill>
                <a:ea typeface="隶书" pitchFamily="49" charset="-122"/>
              </a:rPr>
              <a:t>资源分配图 </a:t>
            </a:r>
            <a:r>
              <a:rPr lang="zh-CN" altLang="en-US" sz="2400" dirty="0">
                <a:solidFill>
                  <a:srgbClr val="333399"/>
                </a:solidFill>
                <a:ea typeface="隶书" pitchFamily="49" charset="-122"/>
              </a:rPr>
              <a:t>（</a:t>
            </a:r>
            <a:r>
              <a:rPr lang="en-US" altLang="zh-CN" sz="2400" dirty="0">
                <a:solidFill>
                  <a:srgbClr val="333399"/>
                </a:solidFill>
                <a:ea typeface="隶书" pitchFamily="49" charset="-122"/>
              </a:rPr>
              <a:t>2/4</a:t>
            </a:r>
            <a:r>
              <a:rPr lang="zh-CN" altLang="en-US" sz="2400" dirty="0">
                <a:solidFill>
                  <a:srgbClr val="333399"/>
                </a:solidFill>
                <a:ea typeface="隶书" pitchFamily="49" charset="-122"/>
              </a:rPr>
              <a:t>）</a:t>
            </a:r>
            <a:endParaRPr lang="en-US" altLang="zh-CN" sz="2400" dirty="0">
              <a:solidFill>
                <a:srgbClr val="333399"/>
              </a:solidFill>
              <a:ea typeface="隶书" pitchFamily="49" charset="-122"/>
            </a:endParaRPr>
          </a:p>
        </p:txBody>
      </p:sp>
      <p:sp>
        <p:nvSpPr>
          <p:cNvPr id="15364" name="TextBox 5">
            <a:extLst>
              <a:ext uri="{FF2B5EF4-FFF2-40B4-BE49-F238E27FC236}">
                <a16:creationId xmlns:a16="http://schemas.microsoft.com/office/drawing/2014/main" id="{BC5EFE77-5DE7-9E40-851D-F44E1817FD38}"/>
              </a:ext>
            </a:extLst>
          </p:cNvPr>
          <p:cNvSpPr txBox="1">
            <a:spLocks noChangeArrowheads="1"/>
          </p:cNvSpPr>
          <p:nvPr/>
        </p:nvSpPr>
        <p:spPr bwMode="auto">
          <a:xfrm>
            <a:off x="1235075" y="1803400"/>
            <a:ext cx="2943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buFontTx/>
              <a:buBlip>
                <a:blip r:embed="rId3"/>
              </a:buBlip>
            </a:pPr>
            <a:r>
              <a:rPr lang="zh-CN" altLang="en-US" sz="2800">
                <a:latin typeface="隶书" pitchFamily="49" charset="-122"/>
                <a:ea typeface="隶书" pitchFamily="49" charset="-122"/>
              </a:rPr>
              <a:t> 有死锁的情况</a:t>
            </a:r>
          </a:p>
        </p:txBody>
      </p:sp>
    </p:spTree>
    <p:extLst>
      <p:ext uri="{BB962C8B-B14F-4D97-AF65-F5344CB8AC3E}">
        <p14:creationId xmlns:p14="http://schemas.microsoft.com/office/powerpoint/2010/main" val="5537419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页脚占位符 2">
            <a:extLst>
              <a:ext uri="{FF2B5EF4-FFF2-40B4-BE49-F238E27FC236}">
                <a16:creationId xmlns:a16="http://schemas.microsoft.com/office/drawing/2014/main" id="{DD595168-CD14-8143-80E9-F33F262D5A75}"/>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D38D6A36-8B2B-7342-87BF-EB008A634D7B}" type="slidenum">
              <a:rPr lang="zh-CN" altLang="en-US" smtClean="0">
                <a:latin typeface="Times New Roman" panose="02020603050405020304" pitchFamily="18" charset="0"/>
              </a:rPr>
              <a:pPr algn="ctr"/>
              <a:t>70</a:t>
            </a:fld>
            <a:endParaRPr lang="zh-CN" altLang="en-US">
              <a:latin typeface="Times New Roman" panose="02020603050405020304" pitchFamily="18" charset="0"/>
            </a:endParaRPr>
          </a:p>
        </p:txBody>
      </p:sp>
      <p:pic>
        <p:nvPicPr>
          <p:cNvPr id="16386" name="Picture 4">
            <a:extLst>
              <a:ext uri="{FF2B5EF4-FFF2-40B4-BE49-F238E27FC236}">
                <a16:creationId xmlns:a16="http://schemas.microsoft.com/office/drawing/2014/main" id="{88BF8A10-512C-4749-88C2-4E74370DCC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9093" t="700" r="19093" b="700"/>
          <a:stretch>
            <a:fillRect/>
          </a:stretch>
        </p:blipFill>
        <p:spPr bwMode="auto">
          <a:xfrm>
            <a:off x="2182813" y="2413000"/>
            <a:ext cx="4446587" cy="3771900"/>
          </a:xfrm>
          <a:prstGeom prst="rect">
            <a:avLst/>
          </a:prstGeom>
          <a:noFill/>
          <a:ln w="19050">
            <a:solidFill>
              <a:srgbClr val="C00000"/>
            </a:solidFill>
            <a:miter lim="800000"/>
            <a:headEnd/>
            <a:tailEnd/>
          </a:ln>
          <a:extLst>
            <a:ext uri="{909E8E84-426E-40DD-AFC4-6F175D3DCCD1}">
              <a14:hiddenFill xmlns:a14="http://schemas.microsoft.com/office/drawing/2010/main">
                <a:solidFill>
                  <a:srgbClr val="FFFFFF"/>
                </a:solidFill>
              </a14:hiddenFill>
            </a:ext>
          </a:extLst>
        </p:spPr>
      </p:pic>
      <p:sp>
        <p:nvSpPr>
          <p:cNvPr id="16387" name="Rectangle 4">
            <a:extLst>
              <a:ext uri="{FF2B5EF4-FFF2-40B4-BE49-F238E27FC236}">
                <a16:creationId xmlns:a16="http://schemas.microsoft.com/office/drawing/2014/main" id="{A7049242-45E7-244F-BAFD-3505F32AB032}"/>
              </a:ext>
            </a:extLst>
          </p:cNvPr>
          <p:cNvSpPr txBox="1">
            <a:spLocks noChangeArrowheads="1"/>
          </p:cNvSpPr>
          <p:nvPr/>
        </p:nvSpPr>
        <p:spPr bwMode="auto">
          <a:xfrm>
            <a:off x="9144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514350" indent="-514350">
              <a:defRPr sz="6000">
                <a:solidFill>
                  <a:srgbClr val="000099"/>
                </a:solidFill>
                <a:latin typeface="Times New Roman" panose="02020603050405020304" pitchFamily="18" charset="0"/>
                <a:ea typeface="黑体" panose="02010609060101010101" pitchFamily="49" charset="-122"/>
              </a:defRPr>
            </a:lvl1pPr>
            <a:lvl2pPr>
              <a:defRPr sz="6000">
                <a:solidFill>
                  <a:srgbClr val="000099"/>
                </a:solidFill>
                <a:latin typeface="Times New Roman" panose="02020603050405020304" pitchFamily="18" charset="0"/>
                <a:ea typeface="黑体" panose="02010609060101010101" pitchFamily="49" charset="-122"/>
              </a:defRPr>
            </a:lvl2pPr>
            <a:lvl3pPr>
              <a:defRPr sz="6000">
                <a:solidFill>
                  <a:srgbClr val="000099"/>
                </a:solidFill>
                <a:latin typeface="Times New Roman" panose="02020603050405020304" pitchFamily="18" charset="0"/>
                <a:ea typeface="黑体" panose="02010609060101010101" pitchFamily="49" charset="-122"/>
              </a:defRPr>
            </a:lvl3pPr>
            <a:lvl4pPr>
              <a:defRPr sz="6000">
                <a:solidFill>
                  <a:srgbClr val="000099"/>
                </a:solidFill>
                <a:latin typeface="Times New Roman" panose="02020603050405020304" pitchFamily="18" charset="0"/>
                <a:ea typeface="黑体" panose="02010609060101010101" pitchFamily="49" charset="-122"/>
              </a:defRPr>
            </a:lvl4pPr>
            <a:lvl5pPr>
              <a:defRPr sz="6000">
                <a:solidFill>
                  <a:srgbClr val="000099"/>
                </a:solidFill>
                <a:latin typeface="Times New Roman" panose="02020603050405020304" pitchFamily="18" charset="0"/>
                <a:ea typeface="黑体" panose="02010609060101010101" pitchFamily="49" charset="-122"/>
              </a:defRPr>
            </a:lvl5pPr>
            <a:lvl6pPr fontAlgn="base">
              <a:spcBef>
                <a:spcPct val="0"/>
              </a:spcBef>
              <a:spcAft>
                <a:spcPct val="0"/>
              </a:spcAft>
              <a:defRPr sz="6000">
                <a:solidFill>
                  <a:srgbClr val="000099"/>
                </a:solidFill>
                <a:latin typeface="Times New Roman" panose="02020603050405020304" pitchFamily="18" charset="0"/>
                <a:ea typeface="黑体" panose="02010609060101010101" pitchFamily="49" charset="-122"/>
              </a:defRPr>
            </a:lvl6pPr>
            <a:lvl7pPr fontAlgn="base">
              <a:spcBef>
                <a:spcPct val="0"/>
              </a:spcBef>
              <a:spcAft>
                <a:spcPct val="0"/>
              </a:spcAft>
              <a:defRPr sz="6000">
                <a:solidFill>
                  <a:srgbClr val="000099"/>
                </a:solidFill>
                <a:latin typeface="Times New Roman" panose="02020603050405020304" pitchFamily="18" charset="0"/>
                <a:ea typeface="黑体" panose="02010609060101010101" pitchFamily="49" charset="-122"/>
              </a:defRPr>
            </a:lvl7pPr>
            <a:lvl8pPr fontAlgn="base">
              <a:spcBef>
                <a:spcPct val="0"/>
              </a:spcBef>
              <a:spcAft>
                <a:spcPct val="0"/>
              </a:spcAft>
              <a:defRPr sz="6000">
                <a:solidFill>
                  <a:srgbClr val="000099"/>
                </a:solidFill>
                <a:latin typeface="Times New Roman" panose="02020603050405020304" pitchFamily="18" charset="0"/>
                <a:ea typeface="黑体" panose="02010609060101010101" pitchFamily="49" charset="-122"/>
              </a:defRPr>
            </a:lvl8pPr>
            <a:lvl9pPr fontAlgn="base">
              <a:spcBef>
                <a:spcPct val="0"/>
              </a:spcBef>
              <a:spcAft>
                <a:spcPct val="0"/>
              </a:spcAft>
              <a:defRPr sz="6000">
                <a:solidFill>
                  <a:srgbClr val="000099"/>
                </a:solidFill>
                <a:latin typeface="Times New Roman" panose="02020603050405020304" pitchFamily="18" charset="0"/>
                <a:ea typeface="黑体" panose="02010609060101010101" pitchFamily="49" charset="-122"/>
              </a:defRPr>
            </a:lvl9pPr>
          </a:lstStyle>
          <a:p>
            <a:pPr algn="ctr">
              <a:lnSpc>
                <a:spcPct val="150000"/>
              </a:lnSpc>
            </a:pPr>
            <a:r>
              <a:rPr lang="zh-CN" altLang="en-US" sz="4000" dirty="0">
                <a:solidFill>
                  <a:srgbClr val="333399"/>
                </a:solidFill>
                <a:ea typeface="隶书" pitchFamily="49" charset="-122"/>
              </a:rPr>
              <a:t>资源分配图 </a:t>
            </a:r>
            <a:r>
              <a:rPr lang="zh-CN" altLang="en-US" sz="2400" dirty="0">
                <a:solidFill>
                  <a:srgbClr val="333399"/>
                </a:solidFill>
                <a:ea typeface="隶书" pitchFamily="49" charset="-122"/>
              </a:rPr>
              <a:t>（</a:t>
            </a:r>
            <a:r>
              <a:rPr lang="en-US" altLang="zh-CN" sz="2400" dirty="0">
                <a:solidFill>
                  <a:srgbClr val="333399"/>
                </a:solidFill>
                <a:ea typeface="隶书" pitchFamily="49" charset="-122"/>
              </a:rPr>
              <a:t>3/4</a:t>
            </a:r>
            <a:r>
              <a:rPr lang="zh-CN" altLang="en-US" sz="2400" dirty="0">
                <a:solidFill>
                  <a:srgbClr val="333399"/>
                </a:solidFill>
                <a:ea typeface="隶书" pitchFamily="49" charset="-122"/>
              </a:rPr>
              <a:t>）</a:t>
            </a:r>
            <a:endParaRPr lang="en-US" altLang="zh-CN" sz="2400" dirty="0">
              <a:solidFill>
                <a:srgbClr val="333399"/>
              </a:solidFill>
              <a:ea typeface="隶书" pitchFamily="49" charset="-122"/>
            </a:endParaRPr>
          </a:p>
        </p:txBody>
      </p:sp>
      <p:sp>
        <p:nvSpPr>
          <p:cNvPr id="16388" name="TextBox 6">
            <a:extLst>
              <a:ext uri="{FF2B5EF4-FFF2-40B4-BE49-F238E27FC236}">
                <a16:creationId xmlns:a16="http://schemas.microsoft.com/office/drawing/2014/main" id="{7217DE2B-B719-0842-9C07-C81561E8AFC6}"/>
              </a:ext>
            </a:extLst>
          </p:cNvPr>
          <p:cNvSpPr txBox="1">
            <a:spLocks noChangeArrowheads="1"/>
          </p:cNvSpPr>
          <p:nvPr/>
        </p:nvSpPr>
        <p:spPr bwMode="auto">
          <a:xfrm>
            <a:off x="1235075" y="1803400"/>
            <a:ext cx="2943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buFontTx/>
              <a:buBlip>
                <a:blip r:embed="rId3"/>
              </a:buBlip>
            </a:pPr>
            <a:r>
              <a:rPr lang="zh-CN" altLang="en-US" sz="2800">
                <a:latin typeface="隶书" pitchFamily="49" charset="-122"/>
                <a:ea typeface="隶书" pitchFamily="49" charset="-122"/>
              </a:rPr>
              <a:t> 无死锁的情况</a:t>
            </a:r>
          </a:p>
        </p:txBody>
      </p:sp>
    </p:spTree>
    <p:extLst>
      <p:ext uri="{BB962C8B-B14F-4D97-AF65-F5344CB8AC3E}">
        <p14:creationId xmlns:p14="http://schemas.microsoft.com/office/powerpoint/2010/main" val="126963899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页脚占位符 3">
            <a:extLst>
              <a:ext uri="{FF2B5EF4-FFF2-40B4-BE49-F238E27FC236}">
                <a16:creationId xmlns:a16="http://schemas.microsoft.com/office/drawing/2014/main" id="{7B37BA83-0904-464C-89B5-DE8C292A4BA6}"/>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F072C71C-6C0D-1040-A3CD-C0541B17FEB8}" type="slidenum">
              <a:rPr lang="zh-CN" altLang="en-US" smtClean="0">
                <a:latin typeface="Times New Roman" panose="02020603050405020304" pitchFamily="18" charset="0"/>
              </a:rPr>
              <a:pPr algn="ctr"/>
              <a:t>71</a:t>
            </a:fld>
            <a:endParaRPr lang="zh-CN" altLang="en-US">
              <a:latin typeface="Times New Roman" panose="02020603050405020304" pitchFamily="18" charset="0"/>
            </a:endParaRPr>
          </a:p>
        </p:txBody>
      </p:sp>
      <p:sp>
        <p:nvSpPr>
          <p:cNvPr id="17410" name="Rectangle 3">
            <a:extLst>
              <a:ext uri="{FF2B5EF4-FFF2-40B4-BE49-F238E27FC236}">
                <a16:creationId xmlns:a16="http://schemas.microsoft.com/office/drawing/2014/main" id="{A9884079-E8E1-D54F-87D5-ADE83F0FA823}"/>
              </a:ext>
            </a:extLst>
          </p:cNvPr>
          <p:cNvSpPr>
            <a:spLocks noGrp="1" noChangeArrowheads="1"/>
          </p:cNvSpPr>
          <p:nvPr>
            <p:ph idx="1"/>
          </p:nvPr>
        </p:nvSpPr>
        <p:spPr>
          <a:xfrm>
            <a:off x="952500" y="1828800"/>
            <a:ext cx="7543800" cy="4114800"/>
          </a:xfrm>
        </p:spPr>
        <p:txBody>
          <a:bodyPr/>
          <a:lstStyle/>
          <a:p>
            <a:pPr>
              <a:lnSpc>
                <a:spcPct val="150000"/>
              </a:lnSpc>
              <a:spcBef>
                <a:spcPct val="0"/>
              </a:spcBef>
              <a:buFontTx/>
              <a:buBlip>
                <a:blip r:embed="rId2"/>
              </a:buBlip>
            </a:pPr>
            <a:r>
              <a:rPr lang="en-US" altLang="zh-CN" sz="2800"/>
              <a:t> </a:t>
            </a:r>
            <a:r>
              <a:rPr lang="zh-CN" altLang="en-US" sz="2800"/>
              <a:t>结论</a:t>
            </a:r>
            <a:endParaRPr lang="en-US" altLang="zh-CN" sz="2800"/>
          </a:p>
          <a:p>
            <a:pPr lvl="1">
              <a:lnSpc>
                <a:spcPct val="150000"/>
              </a:lnSpc>
              <a:spcBef>
                <a:spcPct val="0"/>
              </a:spcBef>
              <a:buClr>
                <a:srgbClr val="C00000"/>
              </a:buClr>
              <a:buSzPct val="80000"/>
              <a:buFont typeface="Wingdings" pitchFamily="2" charset="2"/>
              <a:buChar char="Ø"/>
            </a:pPr>
            <a:r>
              <a:rPr lang="zh-CN" altLang="en-US" sz="2400"/>
              <a:t>如果图</a:t>
            </a:r>
            <a:r>
              <a:rPr lang="zh-CN" altLang="en-US" sz="2400">
                <a:solidFill>
                  <a:srgbClr val="FF0000"/>
                </a:solidFill>
              </a:rPr>
              <a:t>不包含环，则不存在死锁</a:t>
            </a:r>
            <a:endParaRPr lang="zh-CN" altLang="en-US" sz="2400"/>
          </a:p>
          <a:p>
            <a:pPr lvl="1">
              <a:lnSpc>
                <a:spcPct val="150000"/>
              </a:lnSpc>
              <a:spcBef>
                <a:spcPct val="0"/>
              </a:spcBef>
              <a:buClr>
                <a:srgbClr val="C00000"/>
              </a:buClr>
              <a:buSzPct val="80000"/>
              <a:buFont typeface="Wingdings" pitchFamily="2" charset="2"/>
              <a:buChar char="Ø"/>
            </a:pPr>
            <a:r>
              <a:rPr lang="zh-CN" altLang="en-US" sz="2400"/>
              <a:t>如果图</a:t>
            </a:r>
            <a:r>
              <a:rPr lang="zh-CN" altLang="en-US" sz="2400">
                <a:solidFill>
                  <a:srgbClr val="FF0000"/>
                </a:solidFill>
              </a:rPr>
              <a:t>包含环</a:t>
            </a:r>
            <a:r>
              <a:rPr lang="zh-CN" altLang="en-US" sz="2400"/>
              <a:t>，则</a:t>
            </a:r>
          </a:p>
          <a:p>
            <a:pPr lvl="2">
              <a:lnSpc>
                <a:spcPct val="150000"/>
              </a:lnSpc>
              <a:spcBef>
                <a:spcPct val="0"/>
              </a:spcBef>
              <a:buClr>
                <a:srgbClr val="C00000"/>
              </a:buClr>
              <a:buSzPct val="80000"/>
              <a:buFont typeface="Wingdings" pitchFamily="2" charset="2"/>
              <a:buChar char="n"/>
            </a:pPr>
            <a:r>
              <a:rPr lang="zh-CN" altLang="en-US"/>
              <a:t>如果每种资源类型只有一个实例，则死锁</a:t>
            </a:r>
          </a:p>
          <a:p>
            <a:pPr lvl="2">
              <a:lnSpc>
                <a:spcPct val="150000"/>
              </a:lnSpc>
              <a:spcBef>
                <a:spcPct val="0"/>
              </a:spcBef>
              <a:buClr>
                <a:srgbClr val="C00000"/>
              </a:buClr>
              <a:buSzPct val="80000"/>
              <a:buFont typeface="Wingdings" pitchFamily="2" charset="2"/>
              <a:buChar char="n"/>
            </a:pPr>
            <a:r>
              <a:rPr lang="zh-CN" altLang="en-US"/>
              <a:t>如果每种资源类型</a:t>
            </a:r>
            <a:r>
              <a:rPr lang="zh-CN" altLang="en-US">
                <a:solidFill>
                  <a:srgbClr val="FF0000"/>
                </a:solidFill>
              </a:rPr>
              <a:t>存在若干个实例</a:t>
            </a:r>
            <a:r>
              <a:rPr lang="zh-CN" altLang="en-US"/>
              <a:t>，则只是</a:t>
            </a:r>
            <a:r>
              <a:rPr lang="zh-CN" altLang="en-US">
                <a:solidFill>
                  <a:srgbClr val="FF0000"/>
                </a:solidFill>
              </a:rPr>
              <a:t>有可能</a:t>
            </a:r>
            <a:r>
              <a:rPr lang="zh-CN" altLang="en-US"/>
              <a:t>会发生死锁。</a:t>
            </a:r>
          </a:p>
          <a:p>
            <a:pPr>
              <a:buClr>
                <a:srgbClr val="CC3300"/>
              </a:buClr>
              <a:buFont typeface="Wingdings" pitchFamily="2" charset="2"/>
              <a:buChar char="ü"/>
            </a:pPr>
            <a:endParaRPr lang="en-US" altLang="zh-CN">
              <a:ea typeface="宋体" panose="02010600030101010101" pitchFamily="2" charset="-122"/>
              <a:sym typeface="Symbol" pitchFamily="2" charset="2"/>
            </a:endParaRPr>
          </a:p>
        </p:txBody>
      </p:sp>
      <p:sp>
        <p:nvSpPr>
          <p:cNvPr id="17411" name="Rectangle 4">
            <a:extLst>
              <a:ext uri="{FF2B5EF4-FFF2-40B4-BE49-F238E27FC236}">
                <a16:creationId xmlns:a16="http://schemas.microsoft.com/office/drawing/2014/main" id="{4DCD5596-75AA-614B-9918-D3AEFD29DF08}"/>
              </a:ext>
            </a:extLst>
          </p:cNvPr>
          <p:cNvSpPr txBox="1">
            <a:spLocks noChangeArrowheads="1"/>
          </p:cNvSpPr>
          <p:nvPr/>
        </p:nvSpPr>
        <p:spPr bwMode="auto">
          <a:xfrm>
            <a:off x="914400" y="609600"/>
            <a:ext cx="77724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marL="514350" indent="-514350">
              <a:defRPr sz="6000">
                <a:solidFill>
                  <a:srgbClr val="000099"/>
                </a:solidFill>
                <a:latin typeface="Times New Roman" panose="02020603050405020304" pitchFamily="18" charset="0"/>
                <a:ea typeface="黑体" panose="02010609060101010101" pitchFamily="49" charset="-122"/>
              </a:defRPr>
            </a:lvl1pPr>
            <a:lvl2pPr>
              <a:defRPr sz="6000">
                <a:solidFill>
                  <a:srgbClr val="000099"/>
                </a:solidFill>
                <a:latin typeface="Times New Roman" panose="02020603050405020304" pitchFamily="18" charset="0"/>
                <a:ea typeface="黑体" panose="02010609060101010101" pitchFamily="49" charset="-122"/>
              </a:defRPr>
            </a:lvl2pPr>
            <a:lvl3pPr>
              <a:defRPr sz="6000">
                <a:solidFill>
                  <a:srgbClr val="000099"/>
                </a:solidFill>
                <a:latin typeface="Times New Roman" panose="02020603050405020304" pitchFamily="18" charset="0"/>
                <a:ea typeface="黑体" panose="02010609060101010101" pitchFamily="49" charset="-122"/>
              </a:defRPr>
            </a:lvl3pPr>
            <a:lvl4pPr>
              <a:defRPr sz="6000">
                <a:solidFill>
                  <a:srgbClr val="000099"/>
                </a:solidFill>
                <a:latin typeface="Times New Roman" panose="02020603050405020304" pitchFamily="18" charset="0"/>
                <a:ea typeface="黑体" panose="02010609060101010101" pitchFamily="49" charset="-122"/>
              </a:defRPr>
            </a:lvl4pPr>
            <a:lvl5pPr>
              <a:defRPr sz="6000">
                <a:solidFill>
                  <a:srgbClr val="000099"/>
                </a:solidFill>
                <a:latin typeface="Times New Roman" panose="02020603050405020304" pitchFamily="18" charset="0"/>
                <a:ea typeface="黑体" panose="02010609060101010101" pitchFamily="49" charset="-122"/>
              </a:defRPr>
            </a:lvl5pPr>
            <a:lvl6pPr fontAlgn="base">
              <a:spcBef>
                <a:spcPct val="0"/>
              </a:spcBef>
              <a:spcAft>
                <a:spcPct val="0"/>
              </a:spcAft>
              <a:defRPr sz="6000">
                <a:solidFill>
                  <a:srgbClr val="000099"/>
                </a:solidFill>
                <a:latin typeface="Times New Roman" panose="02020603050405020304" pitchFamily="18" charset="0"/>
                <a:ea typeface="黑体" panose="02010609060101010101" pitchFamily="49" charset="-122"/>
              </a:defRPr>
            </a:lvl6pPr>
            <a:lvl7pPr fontAlgn="base">
              <a:spcBef>
                <a:spcPct val="0"/>
              </a:spcBef>
              <a:spcAft>
                <a:spcPct val="0"/>
              </a:spcAft>
              <a:defRPr sz="6000">
                <a:solidFill>
                  <a:srgbClr val="000099"/>
                </a:solidFill>
                <a:latin typeface="Times New Roman" panose="02020603050405020304" pitchFamily="18" charset="0"/>
                <a:ea typeface="黑体" panose="02010609060101010101" pitchFamily="49" charset="-122"/>
              </a:defRPr>
            </a:lvl7pPr>
            <a:lvl8pPr fontAlgn="base">
              <a:spcBef>
                <a:spcPct val="0"/>
              </a:spcBef>
              <a:spcAft>
                <a:spcPct val="0"/>
              </a:spcAft>
              <a:defRPr sz="6000">
                <a:solidFill>
                  <a:srgbClr val="000099"/>
                </a:solidFill>
                <a:latin typeface="Times New Roman" panose="02020603050405020304" pitchFamily="18" charset="0"/>
                <a:ea typeface="黑体" panose="02010609060101010101" pitchFamily="49" charset="-122"/>
              </a:defRPr>
            </a:lvl8pPr>
            <a:lvl9pPr fontAlgn="base">
              <a:spcBef>
                <a:spcPct val="0"/>
              </a:spcBef>
              <a:spcAft>
                <a:spcPct val="0"/>
              </a:spcAft>
              <a:defRPr sz="6000">
                <a:solidFill>
                  <a:srgbClr val="000099"/>
                </a:solidFill>
                <a:latin typeface="Times New Roman" panose="02020603050405020304" pitchFamily="18" charset="0"/>
                <a:ea typeface="黑体" panose="02010609060101010101" pitchFamily="49" charset="-122"/>
              </a:defRPr>
            </a:lvl9pPr>
          </a:lstStyle>
          <a:p>
            <a:pPr algn="ctr">
              <a:lnSpc>
                <a:spcPct val="150000"/>
              </a:lnSpc>
            </a:pPr>
            <a:r>
              <a:rPr lang="zh-CN" altLang="en-US" sz="4000" dirty="0">
                <a:solidFill>
                  <a:srgbClr val="333399"/>
                </a:solidFill>
                <a:ea typeface="隶书" pitchFamily="49" charset="-122"/>
              </a:rPr>
              <a:t>资源分配图 </a:t>
            </a:r>
            <a:r>
              <a:rPr lang="zh-CN" altLang="en-US" sz="2400" dirty="0">
                <a:solidFill>
                  <a:srgbClr val="333399"/>
                </a:solidFill>
                <a:ea typeface="隶书" pitchFamily="49" charset="-122"/>
              </a:rPr>
              <a:t>（</a:t>
            </a:r>
            <a:r>
              <a:rPr lang="en-US" altLang="zh-CN" sz="2400" dirty="0">
                <a:solidFill>
                  <a:srgbClr val="333399"/>
                </a:solidFill>
                <a:ea typeface="隶书" pitchFamily="49" charset="-122"/>
              </a:rPr>
              <a:t>4/4</a:t>
            </a:r>
            <a:r>
              <a:rPr lang="zh-CN" altLang="en-US" sz="2400" dirty="0">
                <a:solidFill>
                  <a:srgbClr val="333399"/>
                </a:solidFill>
                <a:ea typeface="隶书" pitchFamily="49" charset="-122"/>
              </a:rPr>
              <a:t>）</a:t>
            </a:r>
            <a:endParaRPr lang="en-US" altLang="zh-CN" sz="2400" dirty="0">
              <a:solidFill>
                <a:srgbClr val="333399"/>
              </a:solidFill>
              <a:ea typeface="隶书" pitchFamily="49" charset="-122"/>
            </a:endParaRPr>
          </a:p>
        </p:txBody>
      </p:sp>
    </p:spTree>
    <p:extLst>
      <p:ext uri="{BB962C8B-B14F-4D97-AF65-F5344CB8AC3E}">
        <p14:creationId xmlns:p14="http://schemas.microsoft.com/office/powerpoint/2010/main" val="65856372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页脚占位符 3">
            <a:extLst>
              <a:ext uri="{FF2B5EF4-FFF2-40B4-BE49-F238E27FC236}">
                <a16:creationId xmlns:a16="http://schemas.microsoft.com/office/drawing/2014/main" id="{89BFD302-A237-324C-9A5F-3C5A12A089F2}"/>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260F8FF1-CD85-1D43-B1BD-08FA5A664BB5}" type="slidenum">
              <a:rPr lang="zh-CN" altLang="en-US" smtClean="0">
                <a:latin typeface="Times New Roman" panose="02020603050405020304" pitchFamily="18" charset="0"/>
              </a:rPr>
              <a:pPr algn="ctr"/>
              <a:t>72</a:t>
            </a:fld>
            <a:endParaRPr lang="zh-CN" altLang="en-US">
              <a:latin typeface="Times New Roman" panose="02020603050405020304" pitchFamily="18" charset="0"/>
            </a:endParaRPr>
          </a:p>
        </p:txBody>
      </p:sp>
      <p:sp>
        <p:nvSpPr>
          <p:cNvPr id="49154" name="Rectangle 2">
            <a:extLst>
              <a:ext uri="{FF2B5EF4-FFF2-40B4-BE49-F238E27FC236}">
                <a16:creationId xmlns:a16="http://schemas.microsoft.com/office/drawing/2014/main" id="{D2CA0C76-1FA8-3846-8BA3-877B87C75841}"/>
              </a:ext>
            </a:extLst>
          </p:cNvPr>
          <p:cNvSpPr>
            <a:spLocks noGrp="1" noChangeArrowheads="1"/>
          </p:cNvSpPr>
          <p:nvPr>
            <p:ph type="title"/>
          </p:nvPr>
        </p:nvSpPr>
        <p:spPr/>
        <p:txBody>
          <a:bodyPr/>
          <a:lstStyle/>
          <a:p>
            <a:r>
              <a:rPr lang="zh-CN" altLang="en-US" sz="4000" dirty="0">
                <a:latin typeface="隶书" pitchFamily="49" charset="-122"/>
              </a:rPr>
              <a:t>死锁处理方法</a:t>
            </a:r>
            <a:r>
              <a:rPr lang="zh-CN" altLang="en-US" sz="2000" dirty="0"/>
              <a:t>（</a:t>
            </a:r>
            <a:r>
              <a:rPr lang="en-US" altLang="zh-CN" sz="2000" dirty="0"/>
              <a:t>1/10</a:t>
            </a:r>
            <a:r>
              <a:rPr lang="zh-CN" altLang="en-US" sz="2000" dirty="0"/>
              <a:t>）</a:t>
            </a:r>
            <a:endParaRPr lang="en-US" altLang="zh-CN" sz="2000" dirty="0"/>
          </a:p>
        </p:txBody>
      </p:sp>
      <p:sp>
        <p:nvSpPr>
          <p:cNvPr id="18435" name="Rectangle 3">
            <a:extLst>
              <a:ext uri="{FF2B5EF4-FFF2-40B4-BE49-F238E27FC236}">
                <a16:creationId xmlns:a16="http://schemas.microsoft.com/office/drawing/2014/main" id="{C1223BF9-3C2B-094A-8B8E-F36027A6C50D}"/>
              </a:ext>
            </a:extLst>
          </p:cNvPr>
          <p:cNvSpPr>
            <a:spLocks noGrp="1" noChangeArrowheads="1"/>
          </p:cNvSpPr>
          <p:nvPr>
            <p:ph idx="1"/>
          </p:nvPr>
        </p:nvSpPr>
        <p:spPr>
          <a:xfrm>
            <a:off x="914400" y="1892300"/>
            <a:ext cx="7543800" cy="4114800"/>
          </a:xfrm>
        </p:spPr>
        <p:txBody>
          <a:bodyPr/>
          <a:lstStyle/>
          <a:p>
            <a:pPr>
              <a:lnSpc>
                <a:spcPct val="150000"/>
              </a:lnSpc>
              <a:spcBef>
                <a:spcPct val="0"/>
              </a:spcBef>
              <a:buFontTx/>
              <a:buBlip>
                <a:blip r:embed="rId2"/>
              </a:buBlip>
            </a:pPr>
            <a:r>
              <a:rPr lang="en-US" altLang="zh-CN">
                <a:ea typeface="宋体" panose="02010600030101010101" pitchFamily="2" charset="-122"/>
              </a:rPr>
              <a:t> </a:t>
            </a:r>
            <a:r>
              <a:rPr lang="zh-CN" altLang="en-US" sz="2800"/>
              <a:t>死锁预防（</a:t>
            </a:r>
            <a:r>
              <a:rPr lang="en-US" altLang="zh-CN" sz="2800"/>
              <a:t>Deadlock Prevention</a:t>
            </a:r>
            <a:r>
              <a:rPr lang="zh-CN" altLang="en-US" sz="2800"/>
              <a:t>）</a:t>
            </a:r>
            <a:endParaRPr lang="en-US" altLang="zh-CN" sz="2800"/>
          </a:p>
          <a:p>
            <a:pPr>
              <a:lnSpc>
                <a:spcPct val="150000"/>
              </a:lnSpc>
              <a:spcBef>
                <a:spcPct val="0"/>
              </a:spcBef>
              <a:buFontTx/>
              <a:buBlip>
                <a:blip r:embed="rId2"/>
              </a:buBlip>
            </a:pPr>
            <a:r>
              <a:rPr lang="en-US" altLang="zh-CN" sz="2800"/>
              <a:t> </a:t>
            </a:r>
            <a:r>
              <a:rPr lang="zh-CN" altLang="en-US" sz="2800"/>
              <a:t>死锁避免（</a:t>
            </a:r>
            <a:r>
              <a:rPr lang="en-US" altLang="zh-CN" sz="2800"/>
              <a:t>Deadlock Avoidance</a:t>
            </a:r>
            <a:r>
              <a:rPr lang="zh-CN" altLang="en-US" sz="2800"/>
              <a:t>）</a:t>
            </a:r>
            <a:endParaRPr lang="en-US" altLang="zh-CN" sz="2800"/>
          </a:p>
          <a:p>
            <a:pPr>
              <a:lnSpc>
                <a:spcPct val="150000"/>
              </a:lnSpc>
              <a:spcBef>
                <a:spcPct val="0"/>
              </a:spcBef>
              <a:buFontTx/>
              <a:buBlip>
                <a:blip r:embed="rId2"/>
              </a:buBlip>
            </a:pPr>
            <a:r>
              <a:rPr lang="en-US" altLang="zh-CN" sz="2800"/>
              <a:t> </a:t>
            </a:r>
            <a:r>
              <a:rPr lang="zh-CN" altLang="en-US" sz="2800"/>
              <a:t>死锁检测（</a:t>
            </a:r>
            <a:r>
              <a:rPr lang="en-US" altLang="zh-CN" sz="2800"/>
              <a:t>Deadlock Detection</a:t>
            </a:r>
            <a:r>
              <a:rPr lang="zh-CN" altLang="en-US" sz="2800"/>
              <a:t>）</a:t>
            </a:r>
            <a:endParaRPr lang="en-US" altLang="zh-CN" sz="2800"/>
          </a:p>
          <a:p>
            <a:pPr>
              <a:lnSpc>
                <a:spcPct val="150000"/>
              </a:lnSpc>
              <a:spcBef>
                <a:spcPct val="0"/>
              </a:spcBef>
              <a:buFontTx/>
              <a:buBlip>
                <a:blip r:embed="rId2"/>
              </a:buBlip>
            </a:pPr>
            <a:r>
              <a:rPr lang="en-US" altLang="zh-CN" sz="2800"/>
              <a:t> </a:t>
            </a:r>
            <a:r>
              <a:rPr lang="zh-CN" altLang="en-US" sz="2800"/>
              <a:t>死锁恢复（</a:t>
            </a:r>
            <a:r>
              <a:rPr lang="en-US" altLang="zh-CN" sz="2800"/>
              <a:t>Deadlock Recovery</a:t>
            </a:r>
            <a:r>
              <a:rPr lang="zh-CN" altLang="en-US" sz="2800"/>
              <a:t>）</a:t>
            </a:r>
            <a:endParaRPr lang="en-US" altLang="zh-CN" sz="2800"/>
          </a:p>
          <a:p>
            <a:pPr>
              <a:buFontTx/>
              <a:buNone/>
            </a:pPr>
            <a:endParaRPr lang="en-US" altLang="zh-CN" sz="3600">
              <a:ea typeface="宋体" panose="02010600030101010101" pitchFamily="2" charset="-122"/>
            </a:endParaRPr>
          </a:p>
        </p:txBody>
      </p:sp>
    </p:spTree>
    <p:extLst>
      <p:ext uri="{BB962C8B-B14F-4D97-AF65-F5344CB8AC3E}">
        <p14:creationId xmlns:p14="http://schemas.microsoft.com/office/powerpoint/2010/main" val="366934551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页脚占位符 3">
            <a:extLst>
              <a:ext uri="{FF2B5EF4-FFF2-40B4-BE49-F238E27FC236}">
                <a16:creationId xmlns:a16="http://schemas.microsoft.com/office/drawing/2014/main" id="{7FC976FA-980B-FD42-B6AA-09413AFAAC4C}"/>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C434E2EB-E375-8641-8FC6-79B269C93A51}" type="slidenum">
              <a:rPr lang="zh-CN" altLang="en-US" smtClean="0">
                <a:latin typeface="Times New Roman" panose="02020603050405020304" pitchFamily="18" charset="0"/>
              </a:rPr>
              <a:pPr algn="ctr"/>
              <a:t>73</a:t>
            </a:fld>
            <a:endParaRPr lang="zh-CN" altLang="en-US">
              <a:latin typeface="Times New Roman" panose="02020603050405020304" pitchFamily="18" charset="0"/>
            </a:endParaRPr>
          </a:p>
        </p:txBody>
      </p:sp>
      <p:sp>
        <p:nvSpPr>
          <p:cNvPr id="19458" name="Rectangle 1027">
            <a:extLst>
              <a:ext uri="{FF2B5EF4-FFF2-40B4-BE49-F238E27FC236}">
                <a16:creationId xmlns:a16="http://schemas.microsoft.com/office/drawing/2014/main" id="{03F97841-776C-9649-9D82-2E635448DE21}"/>
              </a:ext>
            </a:extLst>
          </p:cNvPr>
          <p:cNvSpPr>
            <a:spLocks noGrp="1" noChangeArrowheads="1"/>
          </p:cNvSpPr>
          <p:nvPr>
            <p:ph idx="1"/>
          </p:nvPr>
        </p:nvSpPr>
        <p:spPr>
          <a:xfrm>
            <a:off x="990600" y="1816100"/>
            <a:ext cx="7366000" cy="4737100"/>
          </a:xfrm>
        </p:spPr>
        <p:txBody>
          <a:bodyPr/>
          <a:lstStyle/>
          <a:p>
            <a:pPr>
              <a:buClr>
                <a:srgbClr val="CC3300"/>
              </a:buClr>
              <a:buFontTx/>
              <a:buBlip>
                <a:blip r:embed="rId2"/>
              </a:buBlip>
            </a:pPr>
            <a:r>
              <a:rPr lang="en-US" altLang="zh-CN" sz="2800">
                <a:ea typeface="宋体" panose="02010600030101010101" pitchFamily="2" charset="-122"/>
              </a:rPr>
              <a:t> </a:t>
            </a:r>
            <a:r>
              <a:rPr lang="zh-CN" altLang="en-US" sz="2800">
                <a:latin typeface="隶书" pitchFamily="49" charset="-122"/>
              </a:rPr>
              <a:t>死锁预防</a:t>
            </a:r>
            <a:endParaRPr lang="en-US" altLang="zh-CN" sz="2800">
              <a:latin typeface="隶书" pitchFamily="49" charset="-122"/>
            </a:endParaRPr>
          </a:p>
          <a:p>
            <a:pPr lvl="1">
              <a:buClr>
                <a:srgbClr val="CC3300"/>
              </a:buClr>
              <a:buFont typeface="Wingdings" pitchFamily="2" charset="2"/>
              <a:buChar char="Ø"/>
            </a:pPr>
            <a:r>
              <a:rPr lang="zh-CN" altLang="en-US" sz="2400">
                <a:latin typeface="隶书" pitchFamily="49" charset="-122"/>
              </a:rPr>
              <a:t>预防思路</a:t>
            </a:r>
            <a:endParaRPr lang="en-US" altLang="zh-CN" sz="2400">
              <a:latin typeface="隶书" pitchFamily="49" charset="-122"/>
            </a:endParaRPr>
          </a:p>
          <a:p>
            <a:pPr lvl="2">
              <a:buClr>
                <a:srgbClr val="CC3300"/>
              </a:buClr>
              <a:buSzPct val="80000"/>
              <a:buFont typeface="Wingdings" pitchFamily="2" charset="2"/>
              <a:buChar char="n"/>
            </a:pPr>
            <a:r>
              <a:rPr lang="zh-CN" altLang="en-US" sz="2000"/>
              <a:t>当出现死锁四个必要条件，只要确保至少一个必要条件不成立，就能预防死锁发生。</a:t>
            </a:r>
          </a:p>
          <a:p>
            <a:pPr lvl="1">
              <a:buClr>
                <a:srgbClr val="CC3300"/>
              </a:buClr>
              <a:buFont typeface="Wingdings" pitchFamily="2" charset="2"/>
              <a:buChar char="Ø"/>
            </a:pPr>
            <a:r>
              <a:rPr lang="zh-CN" altLang="en-US" sz="2400">
                <a:latin typeface="隶书" pitchFamily="49" charset="-122"/>
              </a:rPr>
              <a:t>存在问题</a:t>
            </a:r>
            <a:endParaRPr lang="en-US" altLang="zh-CN" sz="2400">
              <a:latin typeface="隶书" pitchFamily="49" charset="-122"/>
            </a:endParaRPr>
          </a:p>
          <a:p>
            <a:pPr lvl="2">
              <a:buClr>
                <a:srgbClr val="CC3300"/>
              </a:buClr>
              <a:buSzPct val="80000"/>
              <a:buFont typeface="Wingdings" pitchFamily="2" charset="2"/>
              <a:buChar char="n"/>
            </a:pPr>
            <a:r>
              <a:rPr lang="zh-CN" altLang="en-US" sz="2000">
                <a:latin typeface="隶书" pitchFamily="49" charset="-122"/>
              </a:rPr>
              <a:t>互斥</a:t>
            </a:r>
            <a:endParaRPr lang="en-US" altLang="zh-CN" sz="2000">
              <a:latin typeface="隶书" pitchFamily="49" charset="-122"/>
            </a:endParaRPr>
          </a:p>
          <a:p>
            <a:pPr lvl="3">
              <a:buClr>
                <a:srgbClr val="CC3300"/>
              </a:buClr>
              <a:buSzPct val="80000"/>
              <a:buFont typeface="Wingdings" pitchFamily="2" charset="2"/>
              <a:buChar char="n"/>
            </a:pPr>
            <a:r>
              <a:rPr lang="zh-CN" altLang="en-US"/>
              <a:t>通常不能通过互斥条件来预防死锁，有些资源本身是非共享的。</a:t>
            </a:r>
            <a:endParaRPr lang="en-US" altLang="zh-CN">
              <a:latin typeface="隶书" pitchFamily="49" charset="-122"/>
            </a:endParaRPr>
          </a:p>
          <a:p>
            <a:pPr lvl="2">
              <a:buClr>
                <a:srgbClr val="CC3300"/>
              </a:buClr>
              <a:buSzPct val="80000"/>
              <a:buFont typeface="Wingdings" pitchFamily="2" charset="2"/>
              <a:buChar char="n"/>
            </a:pPr>
            <a:r>
              <a:rPr lang="zh-CN" altLang="en-US" sz="2000">
                <a:latin typeface="隶书" pitchFamily="49" charset="-122"/>
              </a:rPr>
              <a:t>持有并等待</a:t>
            </a:r>
            <a:endParaRPr lang="en-US" altLang="zh-CN" sz="2000">
              <a:latin typeface="隶书" pitchFamily="49" charset="-122"/>
            </a:endParaRPr>
          </a:p>
          <a:p>
            <a:pPr lvl="3">
              <a:buClr>
                <a:srgbClr val="C00000"/>
              </a:buClr>
              <a:buSzPct val="80000"/>
              <a:buFont typeface="Wingdings" pitchFamily="2" charset="2"/>
              <a:buChar char="l"/>
            </a:pPr>
            <a:r>
              <a:rPr lang="zh-CN" altLang="en-US"/>
              <a:t>资源利用率可能比较低，可能发生饥饿。</a:t>
            </a:r>
            <a:endParaRPr lang="en-US" altLang="zh-CN">
              <a:latin typeface="隶书" pitchFamily="49" charset="-122"/>
            </a:endParaRPr>
          </a:p>
          <a:p>
            <a:pPr lvl="2">
              <a:buClr>
                <a:srgbClr val="CC3300"/>
              </a:buClr>
              <a:buSzPct val="80000"/>
              <a:buFont typeface="Wingdings" pitchFamily="2" charset="2"/>
              <a:buChar char="n"/>
            </a:pPr>
            <a:r>
              <a:rPr lang="zh-CN" altLang="en-US" sz="2000">
                <a:latin typeface="隶书" pitchFamily="49" charset="-122"/>
              </a:rPr>
              <a:t>抢占性</a:t>
            </a:r>
            <a:endParaRPr lang="en-US" altLang="zh-CN" sz="2000">
              <a:latin typeface="隶书" pitchFamily="49" charset="-122"/>
            </a:endParaRPr>
          </a:p>
          <a:p>
            <a:pPr lvl="2">
              <a:buClr>
                <a:srgbClr val="CC3300"/>
              </a:buClr>
              <a:buSzPct val="80000"/>
              <a:buFont typeface="Wingdings" pitchFamily="2" charset="2"/>
              <a:buChar char="n"/>
            </a:pPr>
            <a:r>
              <a:rPr lang="zh-CN" altLang="en-US" sz="2000">
                <a:latin typeface="隶书" pitchFamily="49" charset="-122"/>
              </a:rPr>
              <a:t>循环等待</a:t>
            </a:r>
            <a:endParaRPr lang="en-US" altLang="zh-CN" sz="2000">
              <a:latin typeface="隶书" pitchFamily="49" charset="-122"/>
            </a:endParaRPr>
          </a:p>
        </p:txBody>
      </p:sp>
      <p:sp>
        <p:nvSpPr>
          <p:cNvPr id="6" name="Rectangle 2">
            <a:extLst>
              <a:ext uri="{FF2B5EF4-FFF2-40B4-BE49-F238E27FC236}">
                <a16:creationId xmlns:a16="http://schemas.microsoft.com/office/drawing/2014/main" id="{87B3F816-3E46-5F4B-8724-626977CF370D}"/>
              </a:ext>
            </a:extLst>
          </p:cNvPr>
          <p:cNvSpPr>
            <a:spLocks noGrp="1" noChangeArrowheads="1"/>
          </p:cNvSpPr>
          <p:nvPr>
            <p:ph type="title"/>
          </p:nvPr>
        </p:nvSpPr>
        <p:spPr/>
        <p:txBody>
          <a:bodyPr/>
          <a:lstStyle/>
          <a:p>
            <a:r>
              <a:rPr lang="zh-CN" altLang="en-US" sz="4000" dirty="0">
                <a:latin typeface="隶书" pitchFamily="49" charset="-122"/>
              </a:rPr>
              <a:t>死锁处理方法</a:t>
            </a:r>
            <a:r>
              <a:rPr lang="zh-CN" altLang="en-US" sz="2000" dirty="0"/>
              <a:t>（</a:t>
            </a:r>
            <a:r>
              <a:rPr lang="en-US" altLang="zh-CN" sz="2000" dirty="0"/>
              <a:t>2/10</a:t>
            </a:r>
            <a:r>
              <a:rPr lang="zh-CN" altLang="en-US" sz="2000" dirty="0"/>
              <a:t>）</a:t>
            </a:r>
            <a:endParaRPr lang="en-US" altLang="zh-CN" sz="2000" dirty="0"/>
          </a:p>
        </p:txBody>
      </p:sp>
    </p:spTree>
    <p:extLst>
      <p:ext uri="{BB962C8B-B14F-4D97-AF65-F5344CB8AC3E}">
        <p14:creationId xmlns:p14="http://schemas.microsoft.com/office/powerpoint/2010/main" val="303944570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页脚占位符 3">
            <a:extLst>
              <a:ext uri="{FF2B5EF4-FFF2-40B4-BE49-F238E27FC236}">
                <a16:creationId xmlns:a16="http://schemas.microsoft.com/office/drawing/2014/main" id="{D97B95E4-26CA-9D40-82CF-CAE313E0892E}"/>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E4DFB27B-6371-E246-8ACB-84C399D35BD5}" type="slidenum">
              <a:rPr lang="zh-CN" altLang="en-US" smtClean="0">
                <a:latin typeface="Times New Roman" panose="02020603050405020304" pitchFamily="18" charset="0"/>
              </a:rPr>
              <a:pPr algn="ctr"/>
              <a:t>74</a:t>
            </a:fld>
            <a:endParaRPr lang="zh-CN" altLang="en-US">
              <a:latin typeface="Times New Roman" panose="02020603050405020304" pitchFamily="18" charset="0"/>
            </a:endParaRPr>
          </a:p>
        </p:txBody>
      </p:sp>
      <p:sp>
        <p:nvSpPr>
          <p:cNvPr id="96259" name="Rectangle 3">
            <a:extLst>
              <a:ext uri="{FF2B5EF4-FFF2-40B4-BE49-F238E27FC236}">
                <a16:creationId xmlns:a16="http://schemas.microsoft.com/office/drawing/2014/main" id="{E9F4F6A8-F5CE-6141-A762-789D2D2391F5}"/>
              </a:ext>
            </a:extLst>
          </p:cNvPr>
          <p:cNvSpPr>
            <a:spLocks noGrp="1" noChangeArrowheads="1"/>
          </p:cNvSpPr>
          <p:nvPr>
            <p:ph idx="1"/>
          </p:nvPr>
        </p:nvSpPr>
        <p:spPr>
          <a:xfrm>
            <a:off x="952500" y="1676400"/>
            <a:ext cx="7543800" cy="4114800"/>
          </a:xfrm>
        </p:spPr>
        <p:txBody>
          <a:bodyPr/>
          <a:lstStyle/>
          <a:p>
            <a:pPr>
              <a:lnSpc>
                <a:spcPct val="150000"/>
              </a:lnSpc>
              <a:spcBef>
                <a:spcPct val="0"/>
              </a:spcBef>
              <a:buClr>
                <a:srgbClr val="CC3300"/>
              </a:buClr>
              <a:buFontTx/>
              <a:buBlip>
                <a:blip r:embed="rId2"/>
              </a:buBlip>
            </a:pPr>
            <a:r>
              <a:rPr lang="en-US" altLang="zh-CN" sz="2800">
                <a:latin typeface="隶书" pitchFamily="49" charset="-122"/>
              </a:rPr>
              <a:t> </a:t>
            </a:r>
            <a:r>
              <a:rPr lang="zh-CN" altLang="en-US" sz="2800">
                <a:latin typeface="隶书" pitchFamily="49" charset="-122"/>
              </a:rPr>
              <a:t>死锁避免</a:t>
            </a:r>
            <a:endParaRPr lang="en-US" altLang="zh-CN" sz="2800">
              <a:latin typeface="隶书" pitchFamily="49" charset="-122"/>
            </a:endParaRPr>
          </a:p>
          <a:p>
            <a:pPr lvl="1">
              <a:lnSpc>
                <a:spcPct val="150000"/>
              </a:lnSpc>
              <a:spcBef>
                <a:spcPct val="0"/>
              </a:spcBef>
              <a:buClr>
                <a:srgbClr val="CC3300"/>
              </a:buClr>
              <a:buFont typeface="Wingdings" pitchFamily="2" charset="2"/>
              <a:buChar char="Ø"/>
            </a:pPr>
            <a:r>
              <a:rPr lang="zh-CN" altLang="en-US" sz="2400">
                <a:latin typeface="隶书" pitchFamily="49" charset="-122"/>
              </a:rPr>
              <a:t>避免思路</a:t>
            </a:r>
            <a:endParaRPr lang="en-US" altLang="zh-CN" sz="2400">
              <a:latin typeface="隶书" pitchFamily="49" charset="-122"/>
            </a:endParaRPr>
          </a:p>
          <a:p>
            <a:pPr lvl="2">
              <a:lnSpc>
                <a:spcPct val="150000"/>
              </a:lnSpc>
              <a:spcBef>
                <a:spcPct val="0"/>
              </a:spcBef>
              <a:buClr>
                <a:srgbClr val="CC3300"/>
              </a:buClr>
              <a:buSzPct val="80000"/>
              <a:buFont typeface="Wingdings" pitchFamily="2" charset="2"/>
              <a:buChar char="n"/>
            </a:pPr>
            <a:r>
              <a:rPr lang="zh-CN" altLang="en-US" sz="2000">
                <a:latin typeface="隶书" pitchFamily="49" charset="-122"/>
              </a:rPr>
              <a:t>通过</a:t>
            </a:r>
            <a:r>
              <a:rPr lang="zh-CN" altLang="en-US" sz="2000">
                <a:solidFill>
                  <a:srgbClr val="FF0000"/>
                </a:solidFill>
                <a:latin typeface="隶书" pitchFamily="49" charset="-122"/>
              </a:rPr>
              <a:t>增加申请资源分配的相关信息</a:t>
            </a:r>
            <a:r>
              <a:rPr lang="zh-CN" altLang="en-US" sz="2000">
                <a:latin typeface="隶书" pitchFamily="49" charset="-122"/>
              </a:rPr>
              <a:t>来避免死锁发生。</a:t>
            </a:r>
            <a:endParaRPr lang="en-US" altLang="zh-CN" sz="2000">
              <a:latin typeface="隶书" pitchFamily="49" charset="-122"/>
            </a:endParaRPr>
          </a:p>
          <a:p>
            <a:pPr lvl="2">
              <a:lnSpc>
                <a:spcPct val="150000"/>
              </a:lnSpc>
              <a:spcBef>
                <a:spcPct val="0"/>
              </a:spcBef>
              <a:buClr>
                <a:srgbClr val="CC3300"/>
              </a:buClr>
              <a:buSzPct val="80000"/>
              <a:buFont typeface="Wingdings" pitchFamily="2" charset="2"/>
              <a:buChar char="n"/>
            </a:pPr>
            <a:r>
              <a:rPr lang="zh-CN" altLang="en-US" sz="2000"/>
              <a:t>最简单且有效的模型要求每个进程</a:t>
            </a:r>
            <a:r>
              <a:rPr lang="zh-CN" altLang="en-US" sz="2000">
                <a:solidFill>
                  <a:srgbClr val="FF0000"/>
                </a:solidFill>
              </a:rPr>
              <a:t>事先声明它所需要的每种资源的最大数量</a:t>
            </a:r>
            <a:r>
              <a:rPr lang="zh-CN" altLang="en-US" sz="2000"/>
              <a:t>；</a:t>
            </a:r>
            <a:endParaRPr lang="en-US" altLang="zh-CN" sz="2000"/>
          </a:p>
          <a:p>
            <a:pPr lvl="2">
              <a:lnSpc>
                <a:spcPct val="150000"/>
              </a:lnSpc>
              <a:spcBef>
                <a:spcPct val="0"/>
              </a:spcBef>
              <a:buClr>
                <a:srgbClr val="CC3300"/>
              </a:buClr>
              <a:buSzPct val="80000"/>
              <a:buFont typeface="Wingdings" pitchFamily="2" charset="2"/>
              <a:buChar char="n"/>
            </a:pPr>
            <a:r>
              <a:rPr lang="zh-CN" altLang="en-US" sz="2000"/>
              <a:t>死锁避免算法</a:t>
            </a:r>
            <a:r>
              <a:rPr lang="zh-CN" altLang="en-US" sz="2000">
                <a:solidFill>
                  <a:srgbClr val="FF0000"/>
                </a:solidFill>
              </a:rPr>
              <a:t>动态检查资源分配状态</a:t>
            </a:r>
            <a:r>
              <a:rPr lang="zh-CN" altLang="en-US" sz="2000"/>
              <a:t>，以保证不存在</a:t>
            </a:r>
            <a:r>
              <a:rPr lang="zh-CN" altLang="en-US" sz="2000">
                <a:solidFill>
                  <a:srgbClr val="000099"/>
                </a:solidFill>
              </a:rPr>
              <a:t>循环等待</a:t>
            </a:r>
            <a:r>
              <a:rPr lang="zh-CN" altLang="en-US" sz="2000"/>
              <a:t>的条件。</a:t>
            </a:r>
            <a:endParaRPr lang="en-US" altLang="zh-CN" sz="2000"/>
          </a:p>
          <a:p>
            <a:pPr lvl="2">
              <a:lnSpc>
                <a:spcPct val="150000"/>
              </a:lnSpc>
              <a:spcBef>
                <a:spcPct val="0"/>
              </a:spcBef>
              <a:buClr>
                <a:srgbClr val="CC3300"/>
              </a:buClr>
              <a:buSzPct val="80000"/>
              <a:buFont typeface="Wingdings" pitchFamily="2" charset="2"/>
              <a:buChar char="n"/>
            </a:pPr>
            <a:r>
              <a:rPr lang="zh-CN" altLang="en-US" sz="2000"/>
              <a:t>资源分配状态通过</a:t>
            </a:r>
            <a:r>
              <a:rPr lang="zh-CN" altLang="en-US" sz="2000">
                <a:solidFill>
                  <a:srgbClr val="FF0000"/>
                </a:solidFill>
              </a:rPr>
              <a:t>可用资源数量、已分配资源数量，及进程最大申请数量</a:t>
            </a:r>
            <a:r>
              <a:rPr lang="zh-CN" altLang="en-US" sz="2000"/>
              <a:t>来定义。</a:t>
            </a:r>
          </a:p>
        </p:txBody>
      </p:sp>
      <p:sp>
        <p:nvSpPr>
          <p:cNvPr id="6" name="Rectangle 2">
            <a:extLst>
              <a:ext uri="{FF2B5EF4-FFF2-40B4-BE49-F238E27FC236}">
                <a16:creationId xmlns:a16="http://schemas.microsoft.com/office/drawing/2014/main" id="{02CD2E56-014C-9E43-B727-A1D877062505}"/>
              </a:ext>
            </a:extLst>
          </p:cNvPr>
          <p:cNvSpPr>
            <a:spLocks noGrp="1" noChangeArrowheads="1"/>
          </p:cNvSpPr>
          <p:nvPr>
            <p:ph type="title"/>
          </p:nvPr>
        </p:nvSpPr>
        <p:spPr/>
        <p:txBody>
          <a:bodyPr/>
          <a:lstStyle/>
          <a:p>
            <a:r>
              <a:rPr lang="zh-CN" altLang="en-US" sz="4000" dirty="0">
                <a:latin typeface="隶书" pitchFamily="49" charset="-122"/>
              </a:rPr>
              <a:t>死锁处理方法</a:t>
            </a:r>
            <a:r>
              <a:rPr lang="zh-CN" altLang="en-US" sz="2000" dirty="0"/>
              <a:t>（</a:t>
            </a:r>
            <a:r>
              <a:rPr lang="en-US" altLang="zh-CN" sz="2000" dirty="0"/>
              <a:t>3/10</a:t>
            </a:r>
            <a:r>
              <a:rPr lang="zh-CN" altLang="en-US" sz="2000" dirty="0"/>
              <a:t>）</a:t>
            </a:r>
            <a:endParaRPr lang="en-US" altLang="zh-CN" sz="2000" dirty="0"/>
          </a:p>
        </p:txBody>
      </p:sp>
    </p:spTree>
    <p:extLst>
      <p:ext uri="{BB962C8B-B14F-4D97-AF65-F5344CB8AC3E}">
        <p14:creationId xmlns:p14="http://schemas.microsoft.com/office/powerpoint/2010/main" val="77679291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页脚占位符 2">
            <a:extLst>
              <a:ext uri="{FF2B5EF4-FFF2-40B4-BE49-F238E27FC236}">
                <a16:creationId xmlns:a16="http://schemas.microsoft.com/office/drawing/2014/main" id="{ED1831F2-A78E-AA49-8A4A-6667D0FB3A28}"/>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EA0E6E89-F4D9-C84E-9902-0FFA775144B2}" type="slidenum">
              <a:rPr lang="zh-CN" altLang="en-US" smtClean="0">
                <a:latin typeface="Times New Roman" panose="02020603050405020304" pitchFamily="18" charset="0"/>
              </a:rPr>
              <a:pPr algn="ctr"/>
              <a:t>75</a:t>
            </a:fld>
            <a:endParaRPr lang="zh-CN" altLang="en-US">
              <a:latin typeface="Times New Roman" panose="02020603050405020304" pitchFamily="18" charset="0"/>
            </a:endParaRPr>
          </a:p>
        </p:txBody>
      </p:sp>
      <p:pic>
        <p:nvPicPr>
          <p:cNvPr id="21506" name="Picture 3">
            <a:extLst>
              <a:ext uri="{FF2B5EF4-FFF2-40B4-BE49-F238E27FC236}">
                <a16:creationId xmlns:a16="http://schemas.microsoft.com/office/drawing/2014/main" id="{7747974B-8A69-6C46-9F8A-336F589F18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0608" t="1381" r="10387" b="829"/>
          <a:stretch>
            <a:fillRect/>
          </a:stretch>
        </p:blipFill>
        <p:spPr bwMode="auto">
          <a:xfrm>
            <a:off x="1625600" y="4318000"/>
            <a:ext cx="4540250" cy="2108200"/>
          </a:xfrm>
          <a:prstGeom prst="rect">
            <a:avLst/>
          </a:prstGeom>
          <a:noFill/>
          <a:ln w="19050">
            <a:solidFill>
              <a:srgbClr val="C00000"/>
            </a:solidFill>
            <a:miter lim="800000"/>
            <a:headEnd/>
            <a:tailEnd/>
          </a:ln>
          <a:extLst>
            <a:ext uri="{909E8E84-426E-40DD-AFC4-6F175D3DCCD1}">
              <a14:hiddenFill xmlns:a14="http://schemas.microsoft.com/office/drawing/2010/main">
                <a:solidFill>
                  <a:srgbClr val="FFFFFF"/>
                </a:solidFill>
              </a14:hiddenFill>
            </a:ext>
          </a:extLst>
        </p:spPr>
      </p:pic>
      <p:sp>
        <p:nvSpPr>
          <p:cNvPr id="4" name="Rectangle 2">
            <a:extLst>
              <a:ext uri="{FF2B5EF4-FFF2-40B4-BE49-F238E27FC236}">
                <a16:creationId xmlns:a16="http://schemas.microsoft.com/office/drawing/2014/main" id="{CA9BD6A6-0F91-1A44-BF05-294FAA20C300}"/>
              </a:ext>
            </a:extLst>
          </p:cNvPr>
          <p:cNvSpPr>
            <a:spLocks noGrp="1" noChangeArrowheads="1"/>
          </p:cNvSpPr>
          <p:nvPr>
            <p:ph type="title"/>
          </p:nvPr>
        </p:nvSpPr>
        <p:spPr/>
        <p:txBody>
          <a:bodyPr/>
          <a:lstStyle/>
          <a:p>
            <a:r>
              <a:rPr lang="zh-CN" altLang="en-US" sz="4000" dirty="0">
                <a:latin typeface="隶书" pitchFamily="49" charset="-122"/>
              </a:rPr>
              <a:t>死锁处理方法</a:t>
            </a:r>
            <a:r>
              <a:rPr lang="zh-CN" altLang="en-US" sz="2000" dirty="0"/>
              <a:t>（</a:t>
            </a:r>
            <a:r>
              <a:rPr lang="en-US" altLang="zh-CN" sz="2000" dirty="0"/>
              <a:t>4/10</a:t>
            </a:r>
            <a:r>
              <a:rPr lang="zh-CN" altLang="en-US" sz="2000" dirty="0"/>
              <a:t>）</a:t>
            </a:r>
            <a:endParaRPr lang="en-US" altLang="zh-CN" sz="2000" dirty="0"/>
          </a:p>
        </p:txBody>
      </p:sp>
      <p:sp>
        <p:nvSpPr>
          <p:cNvPr id="5" name="矩形 4">
            <a:extLst>
              <a:ext uri="{FF2B5EF4-FFF2-40B4-BE49-F238E27FC236}">
                <a16:creationId xmlns:a16="http://schemas.microsoft.com/office/drawing/2014/main" id="{751C2F8A-C0EC-6943-9DE6-89E66741B077}"/>
              </a:ext>
            </a:extLst>
          </p:cNvPr>
          <p:cNvSpPr/>
          <p:nvPr/>
        </p:nvSpPr>
        <p:spPr>
          <a:xfrm>
            <a:off x="1055688" y="1879600"/>
            <a:ext cx="6986587" cy="2832100"/>
          </a:xfrm>
          <a:prstGeom prst="rect">
            <a:avLst/>
          </a:prstGeom>
        </p:spPr>
        <p:txBody>
          <a:bodyPr wrap="none">
            <a:spAutoFit/>
          </a:bodyPr>
          <a:lstStyle>
            <a:lvl1pPr>
              <a:defRPr sz="6000">
                <a:solidFill>
                  <a:srgbClr val="000099"/>
                </a:solidFill>
                <a:latin typeface="Times New Roman" panose="02020603050405020304" pitchFamily="18" charset="0"/>
                <a:ea typeface="黑体" panose="02010609060101010101" pitchFamily="49" charset="-122"/>
              </a:defRPr>
            </a:lvl1pPr>
            <a:lvl2pPr>
              <a:defRPr sz="6000">
                <a:solidFill>
                  <a:srgbClr val="000099"/>
                </a:solidFill>
                <a:latin typeface="Times New Roman" panose="02020603050405020304" pitchFamily="18" charset="0"/>
                <a:ea typeface="黑体" panose="02010609060101010101" pitchFamily="49" charset="-122"/>
              </a:defRPr>
            </a:lvl2pPr>
            <a:lvl3pPr>
              <a:defRPr sz="6000">
                <a:solidFill>
                  <a:srgbClr val="000099"/>
                </a:solidFill>
                <a:latin typeface="Times New Roman" panose="02020603050405020304" pitchFamily="18" charset="0"/>
                <a:ea typeface="黑体" panose="02010609060101010101" pitchFamily="49" charset="-122"/>
              </a:defRPr>
            </a:lvl3pPr>
            <a:lvl4pPr>
              <a:defRPr sz="6000">
                <a:solidFill>
                  <a:srgbClr val="000099"/>
                </a:solidFill>
                <a:latin typeface="Times New Roman" panose="02020603050405020304" pitchFamily="18" charset="0"/>
                <a:ea typeface="黑体" panose="02010609060101010101" pitchFamily="49" charset="-122"/>
              </a:defRPr>
            </a:lvl4pPr>
            <a:lvl5pPr>
              <a:defRPr sz="6000">
                <a:solidFill>
                  <a:srgbClr val="000099"/>
                </a:solidFill>
                <a:latin typeface="Times New Roman" panose="02020603050405020304" pitchFamily="18" charset="0"/>
                <a:ea typeface="黑体" panose="02010609060101010101" pitchFamily="49" charset="-122"/>
              </a:defRPr>
            </a:lvl5pPr>
            <a:lvl6pPr fontAlgn="base">
              <a:spcBef>
                <a:spcPct val="0"/>
              </a:spcBef>
              <a:spcAft>
                <a:spcPct val="0"/>
              </a:spcAft>
              <a:defRPr sz="6000">
                <a:solidFill>
                  <a:srgbClr val="000099"/>
                </a:solidFill>
                <a:latin typeface="Times New Roman" panose="02020603050405020304" pitchFamily="18" charset="0"/>
                <a:ea typeface="黑体" panose="02010609060101010101" pitchFamily="49" charset="-122"/>
              </a:defRPr>
            </a:lvl6pPr>
            <a:lvl7pPr fontAlgn="base">
              <a:spcBef>
                <a:spcPct val="0"/>
              </a:spcBef>
              <a:spcAft>
                <a:spcPct val="0"/>
              </a:spcAft>
              <a:defRPr sz="6000">
                <a:solidFill>
                  <a:srgbClr val="000099"/>
                </a:solidFill>
                <a:latin typeface="Times New Roman" panose="02020603050405020304" pitchFamily="18" charset="0"/>
                <a:ea typeface="黑体" panose="02010609060101010101" pitchFamily="49" charset="-122"/>
              </a:defRPr>
            </a:lvl7pPr>
            <a:lvl8pPr fontAlgn="base">
              <a:spcBef>
                <a:spcPct val="0"/>
              </a:spcBef>
              <a:spcAft>
                <a:spcPct val="0"/>
              </a:spcAft>
              <a:defRPr sz="6000">
                <a:solidFill>
                  <a:srgbClr val="000099"/>
                </a:solidFill>
                <a:latin typeface="Times New Roman" panose="02020603050405020304" pitchFamily="18" charset="0"/>
                <a:ea typeface="黑体" panose="02010609060101010101" pitchFamily="49" charset="-122"/>
              </a:defRPr>
            </a:lvl8pPr>
            <a:lvl9pPr fontAlgn="base">
              <a:spcBef>
                <a:spcPct val="0"/>
              </a:spcBef>
              <a:spcAft>
                <a:spcPct val="0"/>
              </a:spcAft>
              <a:defRPr sz="6000">
                <a:solidFill>
                  <a:srgbClr val="000099"/>
                </a:solidFill>
                <a:latin typeface="Times New Roman" panose="02020603050405020304" pitchFamily="18" charset="0"/>
                <a:ea typeface="黑体" panose="02010609060101010101" pitchFamily="49" charset="-122"/>
              </a:defRPr>
            </a:lvl9pPr>
          </a:lstStyle>
          <a:p>
            <a:pPr>
              <a:lnSpc>
                <a:spcPct val="150000"/>
              </a:lnSpc>
              <a:buClr>
                <a:srgbClr val="C00000"/>
              </a:buClr>
              <a:buSzPct val="80000"/>
              <a:buFont typeface="Wingdings" pitchFamily="2" charset="2"/>
              <a:buChar char="Ø"/>
            </a:pPr>
            <a:r>
              <a:rPr lang="zh-CN" altLang="en-US" sz="2800">
                <a:latin typeface="隶书" pitchFamily="49" charset="-122"/>
                <a:ea typeface="隶书" pitchFamily="49" charset="-122"/>
              </a:rPr>
              <a:t> 安全状态</a:t>
            </a:r>
            <a:endParaRPr lang="en-US" altLang="zh-CN" sz="2800">
              <a:latin typeface="隶书" pitchFamily="49" charset="-122"/>
              <a:ea typeface="隶书" pitchFamily="49" charset="-122"/>
            </a:endParaRPr>
          </a:p>
          <a:p>
            <a:pPr lvl="1">
              <a:lnSpc>
                <a:spcPct val="150000"/>
              </a:lnSpc>
              <a:buClr>
                <a:srgbClr val="C00000"/>
              </a:buClr>
              <a:buSzPct val="80000"/>
              <a:buFont typeface="Wingdings" pitchFamily="2" charset="2"/>
              <a:buChar char="n"/>
            </a:pPr>
            <a:r>
              <a:rPr lang="zh-CN" altLang="en-US" sz="2400">
                <a:latin typeface="隶书" pitchFamily="49" charset="-122"/>
                <a:ea typeface="隶书" pitchFamily="49" charset="-122"/>
              </a:rPr>
              <a:t>如果系统是安全的，则不会死锁</a:t>
            </a:r>
            <a:endParaRPr lang="en-US" altLang="zh-CN" sz="2400">
              <a:latin typeface="隶书" pitchFamily="49" charset="-122"/>
              <a:ea typeface="隶书" pitchFamily="49" charset="-122"/>
            </a:endParaRPr>
          </a:p>
          <a:p>
            <a:pPr lvl="1">
              <a:lnSpc>
                <a:spcPct val="150000"/>
              </a:lnSpc>
              <a:buClr>
                <a:srgbClr val="C00000"/>
              </a:buClr>
              <a:buSzPct val="80000"/>
              <a:buFont typeface="Wingdings" pitchFamily="2" charset="2"/>
              <a:buChar char="n"/>
            </a:pPr>
            <a:r>
              <a:rPr lang="zh-CN" altLang="en-US" sz="2400">
                <a:latin typeface="隶书" pitchFamily="49" charset="-122"/>
                <a:ea typeface="隶书" pitchFamily="49" charset="-122"/>
              </a:rPr>
              <a:t>如果系统不安全，可能会发生死锁</a:t>
            </a:r>
            <a:endParaRPr lang="en-US" altLang="zh-CN" sz="2400">
              <a:latin typeface="隶书" pitchFamily="49" charset="-122"/>
              <a:ea typeface="隶书" pitchFamily="49" charset="-122"/>
            </a:endParaRPr>
          </a:p>
          <a:p>
            <a:pPr lvl="1">
              <a:lnSpc>
                <a:spcPct val="150000"/>
              </a:lnSpc>
              <a:buClr>
                <a:srgbClr val="C00000"/>
              </a:buClr>
              <a:buSzPct val="80000"/>
              <a:buFont typeface="Wingdings" pitchFamily="2" charset="2"/>
              <a:buChar char="n"/>
            </a:pPr>
            <a:r>
              <a:rPr lang="zh-CN" altLang="en-US" sz="2400">
                <a:latin typeface="隶书" pitchFamily="49" charset="-122"/>
                <a:ea typeface="隶书" pitchFamily="49" charset="-122"/>
              </a:rPr>
              <a:t>死锁避免：确保系统永远不会进入不安全状态</a:t>
            </a:r>
          </a:p>
          <a:p>
            <a:pPr>
              <a:buClr>
                <a:srgbClr val="C00000"/>
              </a:buClr>
              <a:buSzPct val="80000"/>
              <a:buFont typeface="Wingdings" pitchFamily="2" charset="2"/>
              <a:buChar char="Ø"/>
            </a:pPr>
            <a:endParaRPr lang="zh-CN" altLang="en-US" sz="2800">
              <a:latin typeface="隶书" pitchFamily="49" charset="-122"/>
              <a:ea typeface="隶书" pitchFamily="49" charset="-122"/>
            </a:endParaRPr>
          </a:p>
        </p:txBody>
      </p:sp>
    </p:spTree>
    <p:extLst>
      <p:ext uri="{BB962C8B-B14F-4D97-AF65-F5344CB8AC3E}">
        <p14:creationId xmlns:p14="http://schemas.microsoft.com/office/powerpoint/2010/main" val="2301786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页脚占位符 3">
            <a:extLst>
              <a:ext uri="{FF2B5EF4-FFF2-40B4-BE49-F238E27FC236}">
                <a16:creationId xmlns:a16="http://schemas.microsoft.com/office/drawing/2014/main" id="{BFA15CA7-DA3A-1E4C-89CF-C1DBA9860A4D}"/>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B381A785-8B17-5A4A-AD90-B466C3AE92FA}" type="slidenum">
              <a:rPr lang="zh-CN" altLang="en-US" smtClean="0">
                <a:latin typeface="Times New Roman" panose="02020603050405020304" pitchFamily="18" charset="0"/>
              </a:rPr>
              <a:pPr algn="ctr"/>
              <a:t>76</a:t>
            </a:fld>
            <a:endParaRPr lang="zh-CN" altLang="en-US">
              <a:latin typeface="Times New Roman" panose="02020603050405020304" pitchFamily="18" charset="0"/>
            </a:endParaRPr>
          </a:p>
        </p:txBody>
      </p:sp>
      <p:sp>
        <p:nvSpPr>
          <p:cNvPr id="22530" name="Rectangle 3">
            <a:extLst>
              <a:ext uri="{FF2B5EF4-FFF2-40B4-BE49-F238E27FC236}">
                <a16:creationId xmlns:a16="http://schemas.microsoft.com/office/drawing/2014/main" id="{9BE36E8F-4809-D947-A5C7-9253BF9339CB}"/>
              </a:ext>
            </a:extLst>
          </p:cNvPr>
          <p:cNvSpPr>
            <a:spLocks noGrp="1" noChangeArrowheads="1"/>
          </p:cNvSpPr>
          <p:nvPr>
            <p:ph idx="1"/>
          </p:nvPr>
        </p:nvSpPr>
        <p:spPr>
          <a:xfrm>
            <a:off x="914400" y="1778000"/>
            <a:ext cx="7543800" cy="4318000"/>
          </a:xfrm>
        </p:spPr>
        <p:txBody>
          <a:bodyPr/>
          <a:lstStyle/>
          <a:p>
            <a:pPr>
              <a:buClr>
                <a:srgbClr val="CC3300"/>
              </a:buClr>
              <a:buFont typeface="Wingdings" pitchFamily="2" charset="2"/>
              <a:buChar char="Ø"/>
            </a:pPr>
            <a:r>
              <a:rPr lang="en-US" altLang="zh-CN" sz="2800">
                <a:latin typeface="隶书" pitchFamily="49" charset="-122"/>
              </a:rPr>
              <a:t> </a:t>
            </a:r>
            <a:r>
              <a:rPr lang="zh-CN" altLang="en-US" sz="2800">
                <a:latin typeface="隶书" pitchFamily="49" charset="-122"/>
              </a:rPr>
              <a:t>资源分配图算法</a:t>
            </a:r>
          </a:p>
          <a:p>
            <a:pPr lvl="1">
              <a:buClr>
                <a:srgbClr val="CC3300"/>
              </a:buClr>
              <a:buFontTx/>
              <a:buNone/>
            </a:pPr>
            <a:endParaRPr lang="en-US" altLang="zh-CN" sz="2400">
              <a:ea typeface="宋体" panose="02010600030101010101" pitchFamily="2" charset="-122"/>
            </a:endParaRPr>
          </a:p>
        </p:txBody>
      </p:sp>
      <p:sp>
        <p:nvSpPr>
          <p:cNvPr id="6" name="Rectangle 2">
            <a:extLst>
              <a:ext uri="{FF2B5EF4-FFF2-40B4-BE49-F238E27FC236}">
                <a16:creationId xmlns:a16="http://schemas.microsoft.com/office/drawing/2014/main" id="{2D5A9A84-8CEF-B648-84EA-C777325384DB}"/>
              </a:ext>
            </a:extLst>
          </p:cNvPr>
          <p:cNvSpPr>
            <a:spLocks noGrp="1" noChangeArrowheads="1"/>
          </p:cNvSpPr>
          <p:nvPr>
            <p:ph type="title"/>
          </p:nvPr>
        </p:nvSpPr>
        <p:spPr/>
        <p:txBody>
          <a:bodyPr/>
          <a:lstStyle/>
          <a:p>
            <a:r>
              <a:rPr lang="zh-CN" altLang="en-US" sz="4000" dirty="0">
                <a:latin typeface="隶书" pitchFamily="49" charset="-122"/>
              </a:rPr>
              <a:t>死锁处理方法</a:t>
            </a:r>
            <a:r>
              <a:rPr lang="zh-CN" altLang="en-US" sz="2000" dirty="0"/>
              <a:t>（</a:t>
            </a:r>
            <a:r>
              <a:rPr lang="en-US" altLang="zh-CN" sz="2000" dirty="0"/>
              <a:t>5/10</a:t>
            </a:r>
            <a:r>
              <a:rPr lang="zh-CN" altLang="en-US" sz="2000" dirty="0"/>
              <a:t>）</a:t>
            </a:r>
            <a:endParaRPr lang="en-US" altLang="zh-CN" sz="2000" dirty="0"/>
          </a:p>
        </p:txBody>
      </p:sp>
      <p:pic>
        <p:nvPicPr>
          <p:cNvPr id="22532" name="Picture 5">
            <a:extLst>
              <a:ext uri="{FF2B5EF4-FFF2-40B4-BE49-F238E27FC236}">
                <a16:creationId xmlns:a16="http://schemas.microsoft.com/office/drawing/2014/main" id="{B0F27C53-7699-9E4E-9ACF-653ECAA8546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321" t="6532" r="15155" b="7086"/>
          <a:stretch>
            <a:fillRect/>
          </a:stretch>
        </p:blipFill>
        <p:spPr bwMode="auto">
          <a:xfrm>
            <a:off x="1257300" y="2692400"/>
            <a:ext cx="3200400" cy="3009900"/>
          </a:xfrm>
          <a:prstGeom prst="rect">
            <a:avLst/>
          </a:prstGeom>
          <a:noFill/>
          <a:ln w="19050">
            <a:solidFill>
              <a:srgbClr val="C00000"/>
            </a:solidFill>
            <a:miter lim="800000"/>
            <a:headEnd/>
            <a:tailEnd/>
          </a:ln>
          <a:extLst>
            <a:ext uri="{909E8E84-426E-40DD-AFC4-6F175D3DCCD1}">
              <a14:hiddenFill xmlns:a14="http://schemas.microsoft.com/office/drawing/2010/main">
                <a:solidFill>
                  <a:srgbClr val="FFFFFF"/>
                </a:solidFill>
              </a14:hiddenFill>
            </a:ext>
          </a:extLst>
        </p:spPr>
      </p:pic>
      <p:pic>
        <p:nvPicPr>
          <p:cNvPr id="22533" name="Picture 5">
            <a:extLst>
              <a:ext uri="{FF2B5EF4-FFF2-40B4-BE49-F238E27FC236}">
                <a16:creationId xmlns:a16="http://schemas.microsoft.com/office/drawing/2014/main" id="{CFBDA5DE-D9A7-604D-A6EE-7CC3216645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5321" t="6532" r="15155" b="7086"/>
          <a:stretch>
            <a:fillRect/>
          </a:stretch>
        </p:blipFill>
        <p:spPr bwMode="auto">
          <a:xfrm>
            <a:off x="5105400" y="2755900"/>
            <a:ext cx="3314700" cy="2946400"/>
          </a:xfrm>
          <a:prstGeom prst="rect">
            <a:avLst/>
          </a:prstGeom>
          <a:noFill/>
          <a:ln w="19050">
            <a:solidFill>
              <a:srgbClr val="C00000"/>
            </a:solidFill>
            <a:miter lim="800000"/>
            <a:headEnd/>
            <a:tailEnd/>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879454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页脚占位符 3">
            <a:extLst>
              <a:ext uri="{FF2B5EF4-FFF2-40B4-BE49-F238E27FC236}">
                <a16:creationId xmlns:a16="http://schemas.microsoft.com/office/drawing/2014/main" id="{A6E1E061-79AC-D147-BA0B-E6CE51CF5DD3}"/>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342DE834-75A5-E24E-B8AF-A43E32ACE87F}" type="slidenum">
              <a:rPr lang="zh-CN" altLang="en-US" smtClean="0">
                <a:latin typeface="Times New Roman" panose="02020603050405020304" pitchFamily="18" charset="0"/>
              </a:rPr>
              <a:pPr algn="ctr"/>
              <a:t>77</a:t>
            </a:fld>
            <a:endParaRPr lang="zh-CN" altLang="en-US">
              <a:latin typeface="Times New Roman" panose="02020603050405020304" pitchFamily="18" charset="0"/>
            </a:endParaRPr>
          </a:p>
        </p:txBody>
      </p:sp>
      <p:sp>
        <p:nvSpPr>
          <p:cNvPr id="63491" name="Rectangle 3">
            <a:extLst>
              <a:ext uri="{FF2B5EF4-FFF2-40B4-BE49-F238E27FC236}">
                <a16:creationId xmlns:a16="http://schemas.microsoft.com/office/drawing/2014/main" id="{4360FF57-D6F9-4E46-A63B-7316D012FCD9}"/>
              </a:ext>
            </a:extLst>
          </p:cNvPr>
          <p:cNvSpPr>
            <a:spLocks noGrp="1" noChangeArrowheads="1"/>
          </p:cNvSpPr>
          <p:nvPr>
            <p:ph idx="1"/>
          </p:nvPr>
        </p:nvSpPr>
        <p:spPr>
          <a:xfrm>
            <a:off x="914400" y="1701800"/>
            <a:ext cx="7543800" cy="4114800"/>
          </a:xfrm>
        </p:spPr>
        <p:txBody>
          <a:bodyPr/>
          <a:lstStyle/>
          <a:p>
            <a:pPr>
              <a:lnSpc>
                <a:spcPct val="150000"/>
              </a:lnSpc>
              <a:spcBef>
                <a:spcPct val="0"/>
              </a:spcBef>
              <a:buClr>
                <a:srgbClr val="CC3300"/>
              </a:buClr>
              <a:buFontTx/>
              <a:buBlip>
                <a:blip r:embed="rId2"/>
              </a:buBlip>
            </a:pPr>
            <a:r>
              <a:rPr lang="en-US" altLang="zh-CN">
                <a:ea typeface="宋体" panose="02010600030101010101" pitchFamily="2" charset="-122"/>
              </a:rPr>
              <a:t> </a:t>
            </a:r>
            <a:r>
              <a:rPr lang="zh-CN" altLang="en-US" sz="2800">
                <a:latin typeface="隶书" pitchFamily="49" charset="-122"/>
              </a:rPr>
              <a:t>死锁检测</a:t>
            </a:r>
            <a:endParaRPr lang="en-US" altLang="zh-CN" sz="2800">
              <a:latin typeface="隶书" pitchFamily="49" charset="-122"/>
            </a:endParaRPr>
          </a:p>
          <a:p>
            <a:pPr lvl="1">
              <a:lnSpc>
                <a:spcPct val="150000"/>
              </a:lnSpc>
              <a:spcBef>
                <a:spcPct val="0"/>
              </a:spcBef>
              <a:buClr>
                <a:srgbClr val="CC3300"/>
              </a:buClr>
              <a:buFont typeface="Wingdings" pitchFamily="2" charset="2"/>
              <a:buChar char="Ø"/>
            </a:pPr>
            <a:r>
              <a:rPr lang="zh-CN" altLang="en-US" sz="2400">
                <a:latin typeface="隶书" pitchFamily="49" charset="-122"/>
              </a:rPr>
              <a:t>检测思路</a:t>
            </a:r>
            <a:endParaRPr lang="en-US" altLang="zh-CN" sz="2400">
              <a:latin typeface="隶书" pitchFamily="49" charset="-122"/>
            </a:endParaRPr>
          </a:p>
          <a:p>
            <a:pPr lvl="2">
              <a:lnSpc>
                <a:spcPct val="150000"/>
              </a:lnSpc>
              <a:spcBef>
                <a:spcPct val="0"/>
              </a:spcBef>
              <a:buClr>
                <a:srgbClr val="C00000"/>
              </a:buClr>
              <a:buSzPct val="80000"/>
              <a:buFont typeface="Wingdings" pitchFamily="2" charset="2"/>
              <a:buChar char="n"/>
            </a:pPr>
            <a:r>
              <a:rPr lang="zh-CN" altLang="en-US"/>
              <a:t>允许系统进入死锁状态</a:t>
            </a:r>
          </a:p>
          <a:p>
            <a:pPr lvl="2">
              <a:lnSpc>
                <a:spcPct val="150000"/>
              </a:lnSpc>
              <a:spcBef>
                <a:spcPct val="0"/>
              </a:spcBef>
              <a:buClr>
                <a:srgbClr val="C00000"/>
              </a:buClr>
              <a:buSzPct val="80000"/>
              <a:buFont typeface="Wingdings" pitchFamily="2" charset="2"/>
              <a:buChar char="n"/>
            </a:pPr>
            <a:r>
              <a:rPr lang="zh-CN" altLang="en-US"/>
              <a:t>检测算法</a:t>
            </a:r>
          </a:p>
          <a:p>
            <a:pPr lvl="2">
              <a:lnSpc>
                <a:spcPct val="150000"/>
              </a:lnSpc>
              <a:spcBef>
                <a:spcPct val="0"/>
              </a:spcBef>
              <a:buClr>
                <a:srgbClr val="C00000"/>
              </a:buClr>
              <a:buSzPct val="80000"/>
              <a:buFont typeface="Wingdings" pitchFamily="2" charset="2"/>
              <a:buChar char="n"/>
            </a:pPr>
            <a:r>
              <a:rPr lang="zh-CN" altLang="en-US"/>
              <a:t>恢复机制</a:t>
            </a:r>
            <a:endParaRPr lang="en-US" altLang="zh-CN"/>
          </a:p>
          <a:p>
            <a:pPr lvl="1">
              <a:lnSpc>
                <a:spcPct val="150000"/>
              </a:lnSpc>
              <a:spcBef>
                <a:spcPct val="0"/>
              </a:spcBef>
              <a:buClr>
                <a:srgbClr val="C00000"/>
              </a:buClr>
              <a:buSzPct val="80000"/>
              <a:buFont typeface="Wingdings" pitchFamily="2" charset="2"/>
              <a:buChar char="Ø"/>
            </a:pPr>
            <a:r>
              <a:rPr lang="zh-CN" altLang="en-US" sz="2400">
                <a:latin typeface="隶书" pitchFamily="49" charset="-122"/>
              </a:rPr>
              <a:t>死锁检测应用</a:t>
            </a:r>
            <a:endParaRPr lang="en-US" altLang="zh-CN" sz="2400">
              <a:latin typeface="隶书" pitchFamily="49" charset="-122"/>
            </a:endParaRPr>
          </a:p>
          <a:p>
            <a:pPr lvl="2">
              <a:lnSpc>
                <a:spcPct val="150000"/>
              </a:lnSpc>
              <a:spcBef>
                <a:spcPct val="0"/>
              </a:spcBef>
              <a:buClr>
                <a:srgbClr val="C00000"/>
              </a:buClr>
              <a:buSzPct val="80000"/>
              <a:buFont typeface="Wingdings" pitchFamily="2" charset="2"/>
              <a:buChar char="n"/>
            </a:pPr>
            <a:r>
              <a:rPr lang="zh-CN" altLang="en-US"/>
              <a:t>死锁可能发生的频率是多少？</a:t>
            </a:r>
          </a:p>
          <a:p>
            <a:pPr lvl="2">
              <a:lnSpc>
                <a:spcPct val="150000"/>
              </a:lnSpc>
              <a:spcBef>
                <a:spcPct val="0"/>
              </a:spcBef>
              <a:buClr>
                <a:srgbClr val="C00000"/>
              </a:buClr>
              <a:buSzPct val="80000"/>
              <a:buFont typeface="Wingdings" pitchFamily="2" charset="2"/>
              <a:buChar char="n"/>
            </a:pPr>
            <a:r>
              <a:rPr lang="zh-CN" altLang="en-US"/>
              <a:t>当死锁发生时，有多少进程会受影响？</a:t>
            </a:r>
          </a:p>
          <a:p>
            <a:pPr lvl="1">
              <a:lnSpc>
                <a:spcPct val="150000"/>
              </a:lnSpc>
              <a:spcBef>
                <a:spcPct val="0"/>
              </a:spcBef>
              <a:buClr>
                <a:srgbClr val="C00000"/>
              </a:buClr>
              <a:buSzPct val="80000"/>
              <a:buFont typeface="Wingdings" pitchFamily="2" charset="2"/>
              <a:buChar char="Ø"/>
            </a:pPr>
            <a:endParaRPr lang="en-US" altLang="zh-CN" sz="2400">
              <a:latin typeface="隶书" pitchFamily="49" charset="-122"/>
            </a:endParaRPr>
          </a:p>
        </p:txBody>
      </p:sp>
      <p:sp>
        <p:nvSpPr>
          <p:cNvPr id="6" name="Rectangle 2">
            <a:extLst>
              <a:ext uri="{FF2B5EF4-FFF2-40B4-BE49-F238E27FC236}">
                <a16:creationId xmlns:a16="http://schemas.microsoft.com/office/drawing/2014/main" id="{743D267D-CCE9-2E45-82A0-88311E63CD64}"/>
              </a:ext>
            </a:extLst>
          </p:cNvPr>
          <p:cNvSpPr>
            <a:spLocks noGrp="1" noChangeArrowheads="1"/>
          </p:cNvSpPr>
          <p:nvPr>
            <p:ph type="title"/>
          </p:nvPr>
        </p:nvSpPr>
        <p:spPr/>
        <p:txBody>
          <a:bodyPr/>
          <a:lstStyle/>
          <a:p>
            <a:r>
              <a:rPr lang="zh-CN" altLang="en-US" sz="4000" dirty="0">
                <a:latin typeface="隶书" pitchFamily="49" charset="-122"/>
              </a:rPr>
              <a:t>死锁处理方法</a:t>
            </a:r>
            <a:r>
              <a:rPr lang="zh-CN" altLang="en-US" sz="2000" dirty="0"/>
              <a:t>（</a:t>
            </a:r>
            <a:r>
              <a:rPr lang="en-US" altLang="zh-CN" sz="2000" dirty="0"/>
              <a:t>6/10</a:t>
            </a:r>
            <a:r>
              <a:rPr lang="zh-CN" altLang="en-US" sz="2000" dirty="0"/>
              <a:t>）</a:t>
            </a:r>
            <a:endParaRPr lang="en-US" altLang="zh-CN" sz="2000" dirty="0"/>
          </a:p>
        </p:txBody>
      </p:sp>
    </p:spTree>
    <p:extLst>
      <p:ext uri="{BB962C8B-B14F-4D97-AF65-F5344CB8AC3E}">
        <p14:creationId xmlns:p14="http://schemas.microsoft.com/office/powerpoint/2010/main" val="85935551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页脚占位符 3">
            <a:extLst>
              <a:ext uri="{FF2B5EF4-FFF2-40B4-BE49-F238E27FC236}">
                <a16:creationId xmlns:a16="http://schemas.microsoft.com/office/drawing/2014/main" id="{85743FF2-67A2-2A46-81F6-E57EEF17EEDE}"/>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707E3708-57AF-0D43-8C82-43A65F008D74}" type="slidenum">
              <a:rPr lang="zh-CN" altLang="en-US" smtClean="0">
                <a:latin typeface="Times New Roman" panose="02020603050405020304" pitchFamily="18" charset="0"/>
              </a:rPr>
              <a:pPr algn="ctr"/>
              <a:t>78</a:t>
            </a:fld>
            <a:endParaRPr lang="zh-CN" altLang="en-US">
              <a:latin typeface="Times New Roman" panose="02020603050405020304" pitchFamily="18" charset="0"/>
            </a:endParaRPr>
          </a:p>
        </p:txBody>
      </p:sp>
      <p:grpSp>
        <p:nvGrpSpPr>
          <p:cNvPr id="2" name="Group 4">
            <a:extLst>
              <a:ext uri="{FF2B5EF4-FFF2-40B4-BE49-F238E27FC236}">
                <a16:creationId xmlns:a16="http://schemas.microsoft.com/office/drawing/2014/main" id="{29CD928A-F9FF-9F43-8010-6EB8EFC6A9C6}"/>
              </a:ext>
            </a:extLst>
          </p:cNvPr>
          <p:cNvGrpSpPr/>
          <p:nvPr/>
        </p:nvGrpSpPr>
        <p:grpSpPr bwMode="auto">
          <a:xfrm>
            <a:off x="1104899" y="2565399"/>
            <a:ext cx="7200900" cy="4039106"/>
            <a:chOff x="768" y="856"/>
            <a:chExt cx="4536" cy="3718"/>
          </a:xfrm>
          <a:solidFill>
            <a:schemeClr val="bg2">
              <a:lumMod val="60000"/>
              <a:lumOff val="40000"/>
            </a:schemeClr>
          </a:solidFill>
        </p:grpSpPr>
        <p:grpSp>
          <p:nvGrpSpPr>
            <p:cNvPr id="3" name="Group 5">
              <a:extLst>
                <a:ext uri="{FF2B5EF4-FFF2-40B4-BE49-F238E27FC236}">
                  <a16:creationId xmlns:a16="http://schemas.microsoft.com/office/drawing/2014/main" id="{C18F6FB4-A96E-114E-96E3-E4F98C571A98}"/>
                </a:ext>
              </a:extLst>
            </p:cNvPr>
            <p:cNvGrpSpPr/>
            <p:nvPr/>
          </p:nvGrpSpPr>
          <p:grpSpPr bwMode="auto">
            <a:xfrm>
              <a:off x="768" y="884"/>
              <a:ext cx="1871" cy="1332"/>
              <a:chOff x="187" y="913"/>
              <a:chExt cx="1871" cy="1162"/>
            </a:xfrm>
            <a:grpFill/>
          </p:grpSpPr>
          <p:sp>
            <p:nvSpPr>
              <p:cNvPr id="97286" name="Oval 6">
                <a:extLst>
                  <a:ext uri="{FF2B5EF4-FFF2-40B4-BE49-F238E27FC236}">
                    <a16:creationId xmlns:a16="http://schemas.microsoft.com/office/drawing/2014/main" id="{6429990D-2244-A640-9007-CD9E21491792}"/>
                  </a:ext>
                </a:extLst>
              </p:cNvPr>
              <p:cNvSpPr>
                <a:spLocks noChangeArrowheads="1"/>
              </p:cNvSpPr>
              <p:nvPr/>
            </p:nvSpPr>
            <p:spPr bwMode="auto">
              <a:xfrm>
                <a:off x="924" y="1820"/>
                <a:ext cx="255" cy="255"/>
              </a:xfrm>
              <a:prstGeom prst="ellipse">
                <a:avLst/>
              </a:prstGeom>
              <a:grpFill/>
              <a:ln w="19050">
                <a:solidFill>
                  <a:schemeClr val="tx1"/>
                </a:solidFill>
                <a:round/>
              </a:ln>
              <a:effectLst/>
            </p:spPr>
            <p:txBody>
              <a:bodyPr wrap="none" anchor="ctr"/>
              <a:lstStyle/>
              <a:p>
                <a:pPr algn="ctr">
                  <a:defRPr/>
                </a:pPr>
                <a:r>
                  <a:rPr kumimoji="1" lang="en-US" altLang="zh-CN" sz="2000">
                    <a:solidFill>
                      <a:srgbClr val="0000FF"/>
                    </a:solidFill>
                    <a:latin typeface="隶书" panose="02010509060101010101" pitchFamily="49" charset="-122"/>
                    <a:ea typeface="隶书" panose="02010509060101010101" pitchFamily="49" charset="-122"/>
                  </a:rPr>
                  <a:t>P2</a:t>
                </a:r>
              </a:p>
            </p:txBody>
          </p:sp>
          <p:sp>
            <p:nvSpPr>
              <p:cNvPr id="97287" name="Oval 7">
                <a:extLst>
                  <a:ext uri="{FF2B5EF4-FFF2-40B4-BE49-F238E27FC236}">
                    <a16:creationId xmlns:a16="http://schemas.microsoft.com/office/drawing/2014/main" id="{B7F0D0AA-7424-4141-9BAC-6AC8890FEB13}"/>
                  </a:ext>
                </a:extLst>
              </p:cNvPr>
              <p:cNvSpPr>
                <a:spLocks noChangeArrowheads="1"/>
              </p:cNvSpPr>
              <p:nvPr/>
            </p:nvSpPr>
            <p:spPr bwMode="auto">
              <a:xfrm>
                <a:off x="952" y="913"/>
                <a:ext cx="255" cy="255"/>
              </a:xfrm>
              <a:prstGeom prst="ellipse">
                <a:avLst/>
              </a:prstGeom>
              <a:grpFill/>
              <a:ln w="19050">
                <a:solidFill>
                  <a:schemeClr val="tx1"/>
                </a:solidFill>
                <a:round/>
              </a:ln>
              <a:effectLst/>
            </p:spPr>
            <p:txBody>
              <a:bodyPr wrap="none" anchor="ctr"/>
              <a:lstStyle/>
              <a:p>
                <a:pPr algn="ctr">
                  <a:defRPr/>
                </a:pPr>
                <a:r>
                  <a:rPr kumimoji="1" lang="en-US" altLang="zh-CN" sz="2000" dirty="0">
                    <a:solidFill>
                      <a:srgbClr val="0000FF"/>
                    </a:solidFill>
                    <a:latin typeface="隶书" panose="02010509060101010101" pitchFamily="49" charset="-122"/>
                    <a:ea typeface="隶书" panose="02010509060101010101" pitchFamily="49" charset="-122"/>
                  </a:rPr>
                  <a:t>P1</a:t>
                </a:r>
              </a:p>
            </p:txBody>
          </p:sp>
          <p:grpSp>
            <p:nvGrpSpPr>
              <p:cNvPr id="4" name="Group 8">
                <a:extLst>
                  <a:ext uri="{FF2B5EF4-FFF2-40B4-BE49-F238E27FC236}">
                    <a16:creationId xmlns:a16="http://schemas.microsoft.com/office/drawing/2014/main" id="{838ED954-DC2C-764F-BD81-FD1B009BD578}"/>
                  </a:ext>
                </a:extLst>
              </p:cNvPr>
              <p:cNvGrpSpPr/>
              <p:nvPr/>
            </p:nvGrpSpPr>
            <p:grpSpPr bwMode="auto">
              <a:xfrm>
                <a:off x="187" y="1338"/>
                <a:ext cx="709" cy="340"/>
                <a:chOff x="703" y="1570"/>
                <a:chExt cx="771" cy="409"/>
              </a:xfrm>
              <a:grpFill/>
            </p:grpSpPr>
            <p:sp>
              <p:nvSpPr>
                <p:cNvPr id="97289" name="Rectangle 9">
                  <a:extLst>
                    <a:ext uri="{FF2B5EF4-FFF2-40B4-BE49-F238E27FC236}">
                      <a16:creationId xmlns:a16="http://schemas.microsoft.com/office/drawing/2014/main" id="{4921A7E9-F057-7147-AB7B-F83CCE77E350}"/>
                    </a:ext>
                  </a:extLst>
                </p:cNvPr>
                <p:cNvSpPr>
                  <a:spLocks noChangeArrowheads="1"/>
                </p:cNvSpPr>
                <p:nvPr/>
              </p:nvSpPr>
              <p:spPr bwMode="auto">
                <a:xfrm>
                  <a:off x="703" y="1570"/>
                  <a:ext cx="771" cy="409"/>
                </a:xfrm>
                <a:prstGeom prst="rect">
                  <a:avLst/>
                </a:prstGeom>
                <a:grpFill/>
                <a:ln w="19050">
                  <a:solidFill>
                    <a:schemeClr val="tx1"/>
                  </a:solidFill>
                  <a:miter lim="800000"/>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sp>
              <p:nvSpPr>
                <p:cNvPr id="97290" name="Oval 10">
                  <a:extLst>
                    <a:ext uri="{FF2B5EF4-FFF2-40B4-BE49-F238E27FC236}">
                      <a16:creationId xmlns:a16="http://schemas.microsoft.com/office/drawing/2014/main" id="{079264EA-5A01-8D49-BE20-3B7394B02B91}"/>
                    </a:ext>
                  </a:extLst>
                </p:cNvPr>
                <p:cNvSpPr>
                  <a:spLocks noChangeArrowheads="1"/>
                </p:cNvSpPr>
                <p:nvPr/>
              </p:nvSpPr>
              <p:spPr bwMode="auto">
                <a:xfrm>
                  <a:off x="839" y="1752"/>
                  <a:ext cx="91" cy="90"/>
                </a:xfrm>
                <a:prstGeom prst="ellipse">
                  <a:avLst/>
                </a:prstGeom>
                <a:grpFill/>
                <a:ln w="19050">
                  <a:solidFill>
                    <a:schemeClr val="tx1"/>
                  </a:solidFill>
                  <a:round/>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sp>
              <p:nvSpPr>
                <p:cNvPr id="97291" name="Oval 11">
                  <a:extLst>
                    <a:ext uri="{FF2B5EF4-FFF2-40B4-BE49-F238E27FC236}">
                      <a16:creationId xmlns:a16="http://schemas.microsoft.com/office/drawing/2014/main" id="{56C85B7C-211B-8548-86F5-F53E9E9EF4F6}"/>
                    </a:ext>
                  </a:extLst>
                </p:cNvPr>
                <p:cNvSpPr>
                  <a:spLocks noChangeArrowheads="1"/>
                </p:cNvSpPr>
                <p:nvPr/>
              </p:nvSpPr>
              <p:spPr bwMode="auto">
                <a:xfrm>
                  <a:off x="1020" y="1797"/>
                  <a:ext cx="91" cy="90"/>
                </a:xfrm>
                <a:prstGeom prst="ellipse">
                  <a:avLst/>
                </a:prstGeom>
                <a:grpFill/>
                <a:ln w="19050">
                  <a:solidFill>
                    <a:schemeClr val="tx1"/>
                  </a:solidFill>
                  <a:round/>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sp>
              <p:nvSpPr>
                <p:cNvPr id="97292" name="Oval 12">
                  <a:extLst>
                    <a:ext uri="{FF2B5EF4-FFF2-40B4-BE49-F238E27FC236}">
                      <a16:creationId xmlns:a16="http://schemas.microsoft.com/office/drawing/2014/main" id="{AB42E649-9031-8A4E-88F5-BE38D5A61D5E}"/>
                    </a:ext>
                  </a:extLst>
                </p:cNvPr>
                <p:cNvSpPr>
                  <a:spLocks noChangeArrowheads="1"/>
                </p:cNvSpPr>
                <p:nvPr/>
              </p:nvSpPr>
              <p:spPr bwMode="auto">
                <a:xfrm>
                  <a:off x="1156" y="1752"/>
                  <a:ext cx="91" cy="90"/>
                </a:xfrm>
                <a:prstGeom prst="ellipse">
                  <a:avLst/>
                </a:prstGeom>
                <a:grpFill/>
                <a:ln w="19050">
                  <a:solidFill>
                    <a:schemeClr val="tx1"/>
                  </a:solidFill>
                  <a:round/>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grpSp>
          <p:grpSp>
            <p:nvGrpSpPr>
              <p:cNvPr id="5" name="Group 13">
                <a:extLst>
                  <a:ext uri="{FF2B5EF4-FFF2-40B4-BE49-F238E27FC236}">
                    <a16:creationId xmlns:a16="http://schemas.microsoft.com/office/drawing/2014/main" id="{70303C73-4497-7042-947D-F02F57224B33}"/>
                  </a:ext>
                </a:extLst>
              </p:cNvPr>
              <p:cNvGrpSpPr/>
              <p:nvPr/>
            </p:nvGrpSpPr>
            <p:grpSpPr bwMode="auto">
              <a:xfrm>
                <a:off x="1406" y="1338"/>
                <a:ext cx="652" cy="340"/>
                <a:chOff x="4297" y="1706"/>
                <a:chExt cx="652" cy="340"/>
              </a:xfrm>
              <a:grpFill/>
            </p:grpSpPr>
            <p:sp>
              <p:nvSpPr>
                <p:cNvPr id="97294" name="Rectangle 14">
                  <a:extLst>
                    <a:ext uri="{FF2B5EF4-FFF2-40B4-BE49-F238E27FC236}">
                      <a16:creationId xmlns:a16="http://schemas.microsoft.com/office/drawing/2014/main" id="{347616AC-7A4D-7549-B78D-53C04D5ED53F}"/>
                    </a:ext>
                  </a:extLst>
                </p:cNvPr>
                <p:cNvSpPr>
                  <a:spLocks noChangeArrowheads="1"/>
                </p:cNvSpPr>
                <p:nvPr/>
              </p:nvSpPr>
              <p:spPr bwMode="auto">
                <a:xfrm>
                  <a:off x="4297" y="1706"/>
                  <a:ext cx="652" cy="340"/>
                </a:xfrm>
                <a:prstGeom prst="rect">
                  <a:avLst/>
                </a:prstGeom>
                <a:grpFill/>
                <a:ln w="19050">
                  <a:solidFill>
                    <a:schemeClr val="tx1"/>
                  </a:solidFill>
                  <a:miter lim="800000"/>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sp>
              <p:nvSpPr>
                <p:cNvPr id="97295" name="Oval 15">
                  <a:extLst>
                    <a:ext uri="{FF2B5EF4-FFF2-40B4-BE49-F238E27FC236}">
                      <a16:creationId xmlns:a16="http://schemas.microsoft.com/office/drawing/2014/main" id="{B22F39D7-6C7E-5140-A03E-B6981A3B1C88}"/>
                    </a:ext>
                  </a:extLst>
                </p:cNvPr>
                <p:cNvSpPr>
                  <a:spLocks noChangeArrowheads="1"/>
                </p:cNvSpPr>
                <p:nvPr/>
              </p:nvSpPr>
              <p:spPr bwMode="auto">
                <a:xfrm>
                  <a:off x="4412" y="1857"/>
                  <a:ext cx="77" cy="75"/>
                </a:xfrm>
                <a:prstGeom prst="ellipse">
                  <a:avLst/>
                </a:prstGeom>
                <a:grpFill/>
                <a:ln w="19050">
                  <a:solidFill>
                    <a:schemeClr val="tx1"/>
                  </a:solidFill>
                  <a:round/>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sp>
              <p:nvSpPr>
                <p:cNvPr id="97296" name="Oval 16">
                  <a:extLst>
                    <a:ext uri="{FF2B5EF4-FFF2-40B4-BE49-F238E27FC236}">
                      <a16:creationId xmlns:a16="http://schemas.microsoft.com/office/drawing/2014/main" id="{194DCB28-822A-1749-8C6B-78897B11A77F}"/>
                    </a:ext>
                  </a:extLst>
                </p:cNvPr>
                <p:cNvSpPr>
                  <a:spLocks noChangeArrowheads="1"/>
                </p:cNvSpPr>
                <p:nvPr/>
              </p:nvSpPr>
              <p:spPr bwMode="auto">
                <a:xfrm>
                  <a:off x="4680" y="1857"/>
                  <a:ext cx="77" cy="75"/>
                </a:xfrm>
                <a:prstGeom prst="ellipse">
                  <a:avLst/>
                </a:prstGeom>
                <a:grpFill/>
                <a:ln w="19050">
                  <a:solidFill>
                    <a:schemeClr val="tx1"/>
                  </a:solidFill>
                  <a:round/>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grpSp>
          <p:sp>
            <p:nvSpPr>
              <p:cNvPr id="97297" name="Line 17">
                <a:extLst>
                  <a:ext uri="{FF2B5EF4-FFF2-40B4-BE49-F238E27FC236}">
                    <a16:creationId xmlns:a16="http://schemas.microsoft.com/office/drawing/2014/main" id="{07209A6A-4E7A-9D4A-B4F2-68F1B102357A}"/>
                  </a:ext>
                </a:extLst>
              </p:cNvPr>
              <p:cNvSpPr>
                <a:spLocks noChangeShapeType="1"/>
              </p:cNvSpPr>
              <p:nvPr/>
            </p:nvSpPr>
            <p:spPr bwMode="auto">
              <a:xfrm flipV="1">
                <a:off x="329" y="1054"/>
                <a:ext cx="623" cy="284"/>
              </a:xfrm>
              <a:prstGeom prst="line">
                <a:avLst/>
              </a:prstGeom>
              <a:grpFill/>
              <a:ln w="19050">
                <a:solidFill>
                  <a:schemeClr val="tx1"/>
                </a:solidFill>
                <a:round/>
                <a:tailEnd type="triangle" w="med" len="med"/>
              </a:ln>
              <a:effectLst/>
            </p:spPr>
            <p:txBody>
              <a:bodyPr anchor="b"/>
              <a:lstStyle/>
              <a:p>
                <a:pPr algn="ctr">
                  <a:defRPr/>
                </a:pPr>
                <a:endParaRPr kumimoji="1" lang="zh-CN" altLang="en-US">
                  <a:latin typeface="Times New Roman" panose="02020603050405020304" charset="0"/>
                  <a:ea typeface="黑体" panose="02010609060101010101" pitchFamily="2" charset="-122"/>
                </a:endParaRPr>
              </a:p>
            </p:txBody>
          </p:sp>
          <p:sp>
            <p:nvSpPr>
              <p:cNvPr id="97298" name="Line 18">
                <a:extLst>
                  <a:ext uri="{FF2B5EF4-FFF2-40B4-BE49-F238E27FC236}">
                    <a16:creationId xmlns:a16="http://schemas.microsoft.com/office/drawing/2014/main" id="{4C0C402F-11B1-C044-B650-2DFA7E887519}"/>
                  </a:ext>
                </a:extLst>
              </p:cNvPr>
              <p:cNvSpPr>
                <a:spLocks noChangeShapeType="1"/>
              </p:cNvSpPr>
              <p:nvPr/>
            </p:nvSpPr>
            <p:spPr bwMode="auto">
              <a:xfrm flipV="1">
                <a:off x="669" y="1139"/>
                <a:ext cx="397" cy="199"/>
              </a:xfrm>
              <a:prstGeom prst="line">
                <a:avLst/>
              </a:prstGeom>
              <a:grpFill/>
              <a:ln w="19050">
                <a:solidFill>
                  <a:schemeClr val="tx1"/>
                </a:solidFill>
                <a:round/>
                <a:tailEnd type="triangle" w="med" len="med"/>
              </a:ln>
              <a:effectLst/>
            </p:spPr>
            <p:txBody>
              <a:bodyPr anchor="b"/>
              <a:lstStyle/>
              <a:p>
                <a:pPr algn="ctr">
                  <a:defRPr/>
                </a:pPr>
                <a:endParaRPr kumimoji="1" lang="zh-CN" altLang="en-US">
                  <a:latin typeface="Times New Roman" panose="02020603050405020304" charset="0"/>
                  <a:ea typeface="黑体" panose="02010609060101010101" pitchFamily="2" charset="-122"/>
                </a:endParaRPr>
              </a:p>
            </p:txBody>
          </p:sp>
          <p:sp>
            <p:nvSpPr>
              <p:cNvPr id="97299" name="Line 19">
                <a:extLst>
                  <a:ext uri="{FF2B5EF4-FFF2-40B4-BE49-F238E27FC236}">
                    <a16:creationId xmlns:a16="http://schemas.microsoft.com/office/drawing/2014/main" id="{3696630B-9B8F-C847-BED7-4E50C41D6C93}"/>
                  </a:ext>
                </a:extLst>
              </p:cNvPr>
              <p:cNvSpPr>
                <a:spLocks noChangeShapeType="1"/>
              </p:cNvSpPr>
              <p:nvPr/>
            </p:nvSpPr>
            <p:spPr bwMode="auto">
              <a:xfrm>
                <a:off x="329" y="1678"/>
                <a:ext cx="595" cy="284"/>
              </a:xfrm>
              <a:prstGeom prst="line">
                <a:avLst/>
              </a:prstGeom>
              <a:grpFill/>
              <a:ln w="19050">
                <a:solidFill>
                  <a:schemeClr val="tx1"/>
                </a:solidFill>
                <a:round/>
                <a:tailEnd type="triangle" w="med" len="med"/>
              </a:ln>
              <a:effectLst/>
            </p:spPr>
            <p:txBody>
              <a:bodyPr anchor="b"/>
              <a:lstStyle/>
              <a:p>
                <a:pPr algn="ctr">
                  <a:defRPr/>
                </a:pPr>
                <a:endParaRPr kumimoji="1" lang="zh-CN" altLang="en-US">
                  <a:latin typeface="Times New Roman" panose="02020603050405020304" charset="0"/>
                  <a:ea typeface="黑体" panose="02010609060101010101" pitchFamily="2" charset="-122"/>
                </a:endParaRPr>
              </a:p>
            </p:txBody>
          </p:sp>
          <p:sp>
            <p:nvSpPr>
              <p:cNvPr id="97300" name="Line 20">
                <a:extLst>
                  <a:ext uri="{FF2B5EF4-FFF2-40B4-BE49-F238E27FC236}">
                    <a16:creationId xmlns:a16="http://schemas.microsoft.com/office/drawing/2014/main" id="{D0BC2280-5AB8-A849-8803-E07CD78E48C6}"/>
                  </a:ext>
                </a:extLst>
              </p:cNvPr>
              <p:cNvSpPr>
                <a:spLocks noChangeShapeType="1"/>
              </p:cNvSpPr>
              <p:nvPr/>
            </p:nvSpPr>
            <p:spPr bwMode="auto">
              <a:xfrm>
                <a:off x="1207" y="1026"/>
                <a:ext cx="511" cy="312"/>
              </a:xfrm>
              <a:prstGeom prst="line">
                <a:avLst/>
              </a:prstGeom>
              <a:grpFill/>
              <a:ln w="19050">
                <a:solidFill>
                  <a:schemeClr val="tx1"/>
                </a:solidFill>
                <a:round/>
                <a:tailEnd type="triangle" w="med" len="med"/>
              </a:ln>
              <a:effectLst/>
            </p:spPr>
            <p:txBody>
              <a:bodyPr anchor="b"/>
              <a:lstStyle/>
              <a:p>
                <a:pPr algn="ctr">
                  <a:defRPr/>
                </a:pPr>
                <a:endParaRPr kumimoji="1" lang="zh-CN" altLang="en-US">
                  <a:latin typeface="Times New Roman" panose="02020603050405020304" charset="0"/>
                  <a:ea typeface="黑体" panose="02010609060101010101" pitchFamily="2" charset="-122"/>
                </a:endParaRPr>
              </a:p>
            </p:txBody>
          </p:sp>
          <p:sp>
            <p:nvSpPr>
              <p:cNvPr id="97301" name="Line 21">
                <a:extLst>
                  <a:ext uri="{FF2B5EF4-FFF2-40B4-BE49-F238E27FC236}">
                    <a16:creationId xmlns:a16="http://schemas.microsoft.com/office/drawing/2014/main" id="{7B45A35E-8E1C-0544-BB2B-8E5FEA0F96CF}"/>
                  </a:ext>
                </a:extLst>
              </p:cNvPr>
              <p:cNvSpPr>
                <a:spLocks noChangeShapeType="1"/>
              </p:cNvSpPr>
              <p:nvPr/>
            </p:nvSpPr>
            <p:spPr bwMode="auto">
              <a:xfrm flipH="1" flipV="1">
                <a:off x="669" y="1678"/>
                <a:ext cx="255" cy="198"/>
              </a:xfrm>
              <a:prstGeom prst="line">
                <a:avLst/>
              </a:prstGeom>
              <a:grpFill/>
              <a:ln w="19050">
                <a:solidFill>
                  <a:schemeClr val="tx1"/>
                </a:solidFill>
                <a:round/>
                <a:tailEnd type="triangle" w="med" len="med"/>
              </a:ln>
              <a:effectLst/>
            </p:spPr>
            <p:txBody>
              <a:bodyPr anchor="b"/>
              <a:lstStyle/>
              <a:p>
                <a:pPr algn="ctr">
                  <a:defRPr/>
                </a:pPr>
                <a:endParaRPr kumimoji="1" lang="zh-CN" altLang="en-US">
                  <a:latin typeface="Times New Roman" panose="02020603050405020304" charset="0"/>
                  <a:ea typeface="黑体" panose="02010609060101010101" pitchFamily="2" charset="-122"/>
                </a:endParaRPr>
              </a:p>
            </p:txBody>
          </p:sp>
          <p:sp>
            <p:nvSpPr>
              <p:cNvPr id="97302" name="Line 22">
                <a:extLst>
                  <a:ext uri="{FF2B5EF4-FFF2-40B4-BE49-F238E27FC236}">
                    <a16:creationId xmlns:a16="http://schemas.microsoft.com/office/drawing/2014/main" id="{F39D3904-90B4-AD41-B5C2-9128675BE0DB}"/>
                  </a:ext>
                </a:extLst>
              </p:cNvPr>
              <p:cNvSpPr>
                <a:spLocks noChangeShapeType="1"/>
              </p:cNvSpPr>
              <p:nvPr/>
            </p:nvSpPr>
            <p:spPr bwMode="auto">
              <a:xfrm flipV="1">
                <a:off x="1122" y="1678"/>
                <a:ext cx="369" cy="170"/>
              </a:xfrm>
              <a:prstGeom prst="line">
                <a:avLst/>
              </a:prstGeom>
              <a:grpFill/>
              <a:ln w="19050">
                <a:solidFill>
                  <a:schemeClr val="tx1"/>
                </a:solidFill>
                <a:round/>
                <a:tailEnd type="triangle" w="med" len="med"/>
              </a:ln>
              <a:effectLst/>
            </p:spPr>
            <p:txBody>
              <a:bodyPr anchor="b"/>
              <a:lstStyle/>
              <a:p>
                <a:pPr algn="ctr">
                  <a:defRPr/>
                </a:pPr>
                <a:endParaRPr kumimoji="1" lang="zh-CN" altLang="en-US">
                  <a:latin typeface="Times New Roman" panose="02020603050405020304" charset="0"/>
                  <a:ea typeface="黑体" panose="02010609060101010101" pitchFamily="2" charset="-122"/>
                </a:endParaRPr>
              </a:p>
            </p:txBody>
          </p:sp>
          <p:sp>
            <p:nvSpPr>
              <p:cNvPr id="97303" name="Line 23">
                <a:extLst>
                  <a:ext uri="{FF2B5EF4-FFF2-40B4-BE49-F238E27FC236}">
                    <a16:creationId xmlns:a16="http://schemas.microsoft.com/office/drawing/2014/main" id="{20BB281A-5E80-5C46-AAA7-B4038DCF87CC}"/>
                  </a:ext>
                </a:extLst>
              </p:cNvPr>
              <p:cNvSpPr>
                <a:spLocks noChangeShapeType="1"/>
              </p:cNvSpPr>
              <p:nvPr/>
            </p:nvSpPr>
            <p:spPr bwMode="auto">
              <a:xfrm flipH="1">
                <a:off x="1151" y="1650"/>
                <a:ext cx="708" cy="312"/>
              </a:xfrm>
              <a:prstGeom prst="line">
                <a:avLst/>
              </a:prstGeom>
              <a:grpFill/>
              <a:ln w="19050">
                <a:solidFill>
                  <a:schemeClr val="tx1"/>
                </a:solidFill>
                <a:round/>
                <a:tailEnd type="triangle" w="med" len="med"/>
              </a:ln>
              <a:effectLst/>
            </p:spPr>
            <p:txBody>
              <a:bodyPr anchor="b"/>
              <a:lstStyle/>
              <a:p>
                <a:pPr algn="ctr">
                  <a:defRPr/>
                </a:pPr>
                <a:endParaRPr kumimoji="1" lang="zh-CN" altLang="en-US">
                  <a:latin typeface="Times New Roman" panose="02020603050405020304" charset="0"/>
                  <a:ea typeface="黑体" panose="02010609060101010101" pitchFamily="2" charset="-122"/>
                </a:endParaRPr>
              </a:p>
            </p:txBody>
          </p:sp>
        </p:grpSp>
        <p:grpSp>
          <p:nvGrpSpPr>
            <p:cNvPr id="6" name="Group 24">
              <a:extLst>
                <a:ext uri="{FF2B5EF4-FFF2-40B4-BE49-F238E27FC236}">
                  <a16:creationId xmlns:a16="http://schemas.microsoft.com/office/drawing/2014/main" id="{38D4C062-A9FE-1645-9568-CAB447AEF3DB}"/>
                </a:ext>
              </a:extLst>
            </p:cNvPr>
            <p:cNvGrpSpPr/>
            <p:nvPr/>
          </p:nvGrpSpPr>
          <p:grpSpPr bwMode="auto">
            <a:xfrm>
              <a:off x="3376" y="856"/>
              <a:ext cx="1928" cy="1417"/>
              <a:chOff x="3022" y="1168"/>
              <a:chExt cx="1927" cy="1304"/>
            </a:xfrm>
            <a:grpFill/>
          </p:grpSpPr>
          <p:grpSp>
            <p:nvGrpSpPr>
              <p:cNvPr id="7" name="Group 25">
                <a:extLst>
                  <a:ext uri="{FF2B5EF4-FFF2-40B4-BE49-F238E27FC236}">
                    <a16:creationId xmlns:a16="http://schemas.microsoft.com/office/drawing/2014/main" id="{23D7196B-91C8-594D-BA78-4B626723F41E}"/>
                  </a:ext>
                </a:extLst>
              </p:cNvPr>
              <p:cNvGrpSpPr/>
              <p:nvPr/>
            </p:nvGrpSpPr>
            <p:grpSpPr bwMode="auto">
              <a:xfrm>
                <a:off x="3022" y="1706"/>
                <a:ext cx="709" cy="340"/>
                <a:chOff x="703" y="1570"/>
                <a:chExt cx="771" cy="409"/>
              </a:xfrm>
              <a:grpFill/>
            </p:grpSpPr>
            <p:sp>
              <p:nvSpPr>
                <p:cNvPr id="97306" name="Rectangle 26">
                  <a:extLst>
                    <a:ext uri="{FF2B5EF4-FFF2-40B4-BE49-F238E27FC236}">
                      <a16:creationId xmlns:a16="http://schemas.microsoft.com/office/drawing/2014/main" id="{B740BADD-7366-4849-AA71-46FAC0AC08B4}"/>
                    </a:ext>
                  </a:extLst>
                </p:cNvPr>
                <p:cNvSpPr>
                  <a:spLocks noChangeArrowheads="1"/>
                </p:cNvSpPr>
                <p:nvPr/>
              </p:nvSpPr>
              <p:spPr bwMode="auto">
                <a:xfrm>
                  <a:off x="703" y="1570"/>
                  <a:ext cx="771" cy="409"/>
                </a:xfrm>
                <a:prstGeom prst="rect">
                  <a:avLst/>
                </a:prstGeom>
                <a:grpFill/>
                <a:ln w="19050">
                  <a:solidFill>
                    <a:schemeClr val="tx1"/>
                  </a:solidFill>
                  <a:miter lim="800000"/>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sp>
              <p:nvSpPr>
                <p:cNvPr id="97307" name="Oval 27">
                  <a:extLst>
                    <a:ext uri="{FF2B5EF4-FFF2-40B4-BE49-F238E27FC236}">
                      <a16:creationId xmlns:a16="http://schemas.microsoft.com/office/drawing/2014/main" id="{9A657180-7C10-3941-BD86-1A25ACC3C75A}"/>
                    </a:ext>
                  </a:extLst>
                </p:cNvPr>
                <p:cNvSpPr>
                  <a:spLocks noChangeArrowheads="1"/>
                </p:cNvSpPr>
                <p:nvPr/>
              </p:nvSpPr>
              <p:spPr bwMode="auto">
                <a:xfrm>
                  <a:off x="839" y="1752"/>
                  <a:ext cx="91" cy="90"/>
                </a:xfrm>
                <a:prstGeom prst="ellipse">
                  <a:avLst/>
                </a:prstGeom>
                <a:grpFill/>
                <a:ln w="19050">
                  <a:solidFill>
                    <a:schemeClr val="tx1"/>
                  </a:solidFill>
                  <a:round/>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sp>
              <p:nvSpPr>
                <p:cNvPr id="97308" name="Oval 28">
                  <a:extLst>
                    <a:ext uri="{FF2B5EF4-FFF2-40B4-BE49-F238E27FC236}">
                      <a16:creationId xmlns:a16="http://schemas.microsoft.com/office/drawing/2014/main" id="{315CCB0D-948D-A54C-A030-3BF9CAC381A0}"/>
                    </a:ext>
                  </a:extLst>
                </p:cNvPr>
                <p:cNvSpPr>
                  <a:spLocks noChangeArrowheads="1"/>
                </p:cNvSpPr>
                <p:nvPr/>
              </p:nvSpPr>
              <p:spPr bwMode="auto">
                <a:xfrm>
                  <a:off x="1020" y="1797"/>
                  <a:ext cx="91" cy="90"/>
                </a:xfrm>
                <a:prstGeom prst="ellipse">
                  <a:avLst/>
                </a:prstGeom>
                <a:grpFill/>
                <a:ln w="19050">
                  <a:solidFill>
                    <a:schemeClr val="tx1"/>
                  </a:solidFill>
                  <a:round/>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sp>
              <p:nvSpPr>
                <p:cNvPr id="97309" name="Oval 29">
                  <a:extLst>
                    <a:ext uri="{FF2B5EF4-FFF2-40B4-BE49-F238E27FC236}">
                      <a16:creationId xmlns:a16="http://schemas.microsoft.com/office/drawing/2014/main" id="{25ABB76A-85E6-4B4B-A967-1F9F768FAF79}"/>
                    </a:ext>
                  </a:extLst>
                </p:cNvPr>
                <p:cNvSpPr>
                  <a:spLocks noChangeArrowheads="1"/>
                </p:cNvSpPr>
                <p:nvPr/>
              </p:nvSpPr>
              <p:spPr bwMode="auto">
                <a:xfrm>
                  <a:off x="1156" y="1752"/>
                  <a:ext cx="91" cy="90"/>
                </a:xfrm>
                <a:prstGeom prst="ellipse">
                  <a:avLst/>
                </a:prstGeom>
                <a:grpFill/>
                <a:ln w="19050">
                  <a:solidFill>
                    <a:schemeClr val="tx1"/>
                  </a:solidFill>
                  <a:round/>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grpSp>
          <p:grpSp>
            <p:nvGrpSpPr>
              <p:cNvPr id="8" name="Group 30">
                <a:extLst>
                  <a:ext uri="{FF2B5EF4-FFF2-40B4-BE49-F238E27FC236}">
                    <a16:creationId xmlns:a16="http://schemas.microsoft.com/office/drawing/2014/main" id="{55515CC6-7E98-2A47-9EE3-FD72A509979A}"/>
                  </a:ext>
                </a:extLst>
              </p:cNvPr>
              <p:cNvGrpSpPr/>
              <p:nvPr/>
            </p:nvGrpSpPr>
            <p:grpSpPr bwMode="auto">
              <a:xfrm>
                <a:off x="4297" y="1706"/>
                <a:ext cx="652" cy="340"/>
                <a:chOff x="4297" y="1706"/>
                <a:chExt cx="652" cy="340"/>
              </a:xfrm>
              <a:grpFill/>
            </p:grpSpPr>
            <p:sp>
              <p:nvSpPr>
                <p:cNvPr id="97311" name="Rectangle 31">
                  <a:extLst>
                    <a:ext uri="{FF2B5EF4-FFF2-40B4-BE49-F238E27FC236}">
                      <a16:creationId xmlns:a16="http://schemas.microsoft.com/office/drawing/2014/main" id="{5B4241A5-1F81-AB4D-BB72-26AE976A46AA}"/>
                    </a:ext>
                  </a:extLst>
                </p:cNvPr>
                <p:cNvSpPr>
                  <a:spLocks noChangeArrowheads="1"/>
                </p:cNvSpPr>
                <p:nvPr/>
              </p:nvSpPr>
              <p:spPr bwMode="auto">
                <a:xfrm>
                  <a:off x="4297" y="1706"/>
                  <a:ext cx="652" cy="340"/>
                </a:xfrm>
                <a:prstGeom prst="rect">
                  <a:avLst/>
                </a:prstGeom>
                <a:grpFill/>
                <a:ln w="19050">
                  <a:solidFill>
                    <a:schemeClr val="tx1"/>
                  </a:solidFill>
                  <a:miter lim="800000"/>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sp>
              <p:nvSpPr>
                <p:cNvPr id="97312" name="Oval 32">
                  <a:extLst>
                    <a:ext uri="{FF2B5EF4-FFF2-40B4-BE49-F238E27FC236}">
                      <a16:creationId xmlns:a16="http://schemas.microsoft.com/office/drawing/2014/main" id="{1203B9EF-44BB-D34E-B4E1-E1753D9C1125}"/>
                    </a:ext>
                  </a:extLst>
                </p:cNvPr>
                <p:cNvSpPr>
                  <a:spLocks noChangeArrowheads="1"/>
                </p:cNvSpPr>
                <p:nvPr/>
              </p:nvSpPr>
              <p:spPr bwMode="auto">
                <a:xfrm>
                  <a:off x="4412" y="1857"/>
                  <a:ext cx="77" cy="75"/>
                </a:xfrm>
                <a:prstGeom prst="ellipse">
                  <a:avLst/>
                </a:prstGeom>
                <a:grpFill/>
                <a:ln w="19050">
                  <a:solidFill>
                    <a:schemeClr val="tx1"/>
                  </a:solidFill>
                  <a:round/>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sp>
              <p:nvSpPr>
                <p:cNvPr id="97313" name="Oval 33">
                  <a:extLst>
                    <a:ext uri="{FF2B5EF4-FFF2-40B4-BE49-F238E27FC236}">
                      <a16:creationId xmlns:a16="http://schemas.microsoft.com/office/drawing/2014/main" id="{F52C894C-A6F8-6941-9609-B803A97CB599}"/>
                    </a:ext>
                  </a:extLst>
                </p:cNvPr>
                <p:cNvSpPr>
                  <a:spLocks noChangeArrowheads="1"/>
                </p:cNvSpPr>
                <p:nvPr/>
              </p:nvSpPr>
              <p:spPr bwMode="auto">
                <a:xfrm>
                  <a:off x="4680" y="1857"/>
                  <a:ext cx="77" cy="75"/>
                </a:xfrm>
                <a:prstGeom prst="ellipse">
                  <a:avLst/>
                </a:prstGeom>
                <a:grpFill/>
                <a:ln w="19050">
                  <a:solidFill>
                    <a:schemeClr val="tx1"/>
                  </a:solidFill>
                  <a:round/>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grpSp>
          <p:sp>
            <p:nvSpPr>
              <p:cNvPr id="97314" name="Oval 34">
                <a:extLst>
                  <a:ext uri="{FF2B5EF4-FFF2-40B4-BE49-F238E27FC236}">
                    <a16:creationId xmlns:a16="http://schemas.microsoft.com/office/drawing/2014/main" id="{6A53C098-97C8-A649-9F19-6D038EE6483D}"/>
                  </a:ext>
                </a:extLst>
              </p:cNvPr>
              <p:cNvSpPr>
                <a:spLocks noChangeArrowheads="1"/>
              </p:cNvSpPr>
              <p:nvPr/>
            </p:nvSpPr>
            <p:spPr bwMode="auto">
              <a:xfrm>
                <a:off x="3844" y="1168"/>
                <a:ext cx="255" cy="255"/>
              </a:xfrm>
              <a:prstGeom prst="ellipse">
                <a:avLst/>
              </a:prstGeom>
              <a:grpFill/>
              <a:ln w="19050">
                <a:solidFill>
                  <a:schemeClr val="tx1"/>
                </a:solidFill>
                <a:round/>
              </a:ln>
              <a:effectLst/>
            </p:spPr>
            <p:txBody>
              <a:bodyPr wrap="none" anchor="ctr"/>
              <a:lstStyle/>
              <a:p>
                <a:pPr algn="ctr">
                  <a:defRPr/>
                </a:pPr>
                <a:r>
                  <a:rPr kumimoji="1" lang="en-US" altLang="zh-CN" sz="2000">
                    <a:solidFill>
                      <a:srgbClr val="0000FF"/>
                    </a:solidFill>
                    <a:latin typeface="隶书" panose="02010509060101010101" pitchFamily="49" charset="-122"/>
                    <a:ea typeface="隶书" panose="02010509060101010101" pitchFamily="49" charset="-122"/>
                  </a:rPr>
                  <a:t>P1</a:t>
                </a:r>
              </a:p>
            </p:txBody>
          </p:sp>
          <p:sp>
            <p:nvSpPr>
              <p:cNvPr id="97315" name="Oval 35">
                <a:extLst>
                  <a:ext uri="{FF2B5EF4-FFF2-40B4-BE49-F238E27FC236}">
                    <a16:creationId xmlns:a16="http://schemas.microsoft.com/office/drawing/2014/main" id="{590F0F4D-8CF9-204C-BE57-53FC5AE13869}"/>
                  </a:ext>
                </a:extLst>
              </p:cNvPr>
              <p:cNvSpPr>
                <a:spLocks noChangeArrowheads="1"/>
              </p:cNvSpPr>
              <p:nvPr/>
            </p:nvSpPr>
            <p:spPr bwMode="auto">
              <a:xfrm>
                <a:off x="3872" y="2217"/>
                <a:ext cx="255" cy="255"/>
              </a:xfrm>
              <a:prstGeom prst="ellipse">
                <a:avLst/>
              </a:prstGeom>
              <a:grpFill/>
              <a:ln w="19050">
                <a:solidFill>
                  <a:schemeClr val="tx1"/>
                </a:solidFill>
                <a:round/>
              </a:ln>
              <a:effectLst/>
            </p:spPr>
            <p:txBody>
              <a:bodyPr wrap="none" anchor="ctr"/>
              <a:lstStyle/>
              <a:p>
                <a:pPr algn="ctr">
                  <a:defRPr/>
                </a:pPr>
                <a:r>
                  <a:rPr kumimoji="1" lang="en-US" altLang="zh-CN" sz="2000">
                    <a:solidFill>
                      <a:srgbClr val="0000FF"/>
                    </a:solidFill>
                    <a:latin typeface="隶书" panose="02010509060101010101" pitchFamily="49" charset="-122"/>
                    <a:ea typeface="隶书" panose="02010509060101010101" pitchFamily="49" charset="-122"/>
                  </a:rPr>
                  <a:t>P2</a:t>
                </a:r>
              </a:p>
            </p:txBody>
          </p:sp>
          <p:sp>
            <p:nvSpPr>
              <p:cNvPr id="97316" name="Line 36">
                <a:extLst>
                  <a:ext uri="{FF2B5EF4-FFF2-40B4-BE49-F238E27FC236}">
                    <a16:creationId xmlns:a16="http://schemas.microsoft.com/office/drawing/2014/main" id="{79B3DA26-6E3C-D647-84D3-1ACF16B9952E}"/>
                  </a:ext>
                </a:extLst>
              </p:cNvPr>
              <p:cNvSpPr>
                <a:spLocks noChangeShapeType="1"/>
              </p:cNvSpPr>
              <p:nvPr/>
            </p:nvSpPr>
            <p:spPr bwMode="auto">
              <a:xfrm>
                <a:off x="3163" y="2047"/>
                <a:ext cx="738" cy="340"/>
              </a:xfrm>
              <a:prstGeom prst="line">
                <a:avLst/>
              </a:prstGeom>
              <a:grpFill/>
              <a:ln w="19050">
                <a:solidFill>
                  <a:schemeClr val="tx1"/>
                </a:solidFill>
                <a:round/>
                <a:tailEnd type="triangle" w="med" len="med"/>
              </a:ln>
              <a:effectLst/>
            </p:spPr>
            <p:txBody>
              <a:bodyPr anchor="b"/>
              <a:lstStyle/>
              <a:p>
                <a:pPr algn="ctr">
                  <a:defRPr/>
                </a:pPr>
                <a:endParaRPr kumimoji="1" lang="zh-CN" altLang="en-US">
                  <a:latin typeface="Times New Roman" panose="02020603050405020304" charset="0"/>
                  <a:ea typeface="黑体" panose="02010609060101010101" pitchFamily="2" charset="-122"/>
                </a:endParaRPr>
              </a:p>
            </p:txBody>
          </p:sp>
          <p:sp>
            <p:nvSpPr>
              <p:cNvPr id="97317" name="Line 37">
                <a:extLst>
                  <a:ext uri="{FF2B5EF4-FFF2-40B4-BE49-F238E27FC236}">
                    <a16:creationId xmlns:a16="http://schemas.microsoft.com/office/drawing/2014/main" id="{DB0A1253-32AF-0544-803D-E0D77D403169}"/>
                  </a:ext>
                </a:extLst>
              </p:cNvPr>
              <p:cNvSpPr>
                <a:spLocks noChangeShapeType="1"/>
              </p:cNvSpPr>
              <p:nvPr/>
            </p:nvSpPr>
            <p:spPr bwMode="auto">
              <a:xfrm flipH="1" flipV="1">
                <a:off x="3475" y="2018"/>
                <a:ext cx="426" cy="227"/>
              </a:xfrm>
              <a:prstGeom prst="line">
                <a:avLst/>
              </a:prstGeom>
              <a:grpFill/>
              <a:ln w="19050">
                <a:solidFill>
                  <a:schemeClr val="tx1"/>
                </a:solidFill>
                <a:round/>
                <a:tailEnd type="triangle" w="med" len="med"/>
              </a:ln>
              <a:effectLst/>
            </p:spPr>
            <p:txBody>
              <a:bodyPr anchor="b"/>
              <a:lstStyle/>
              <a:p>
                <a:pPr algn="ctr">
                  <a:defRPr/>
                </a:pPr>
                <a:endParaRPr kumimoji="1" lang="zh-CN" altLang="en-US">
                  <a:latin typeface="Times New Roman" panose="02020603050405020304" charset="0"/>
                  <a:ea typeface="黑体" panose="02010609060101010101" pitchFamily="2" charset="-122"/>
                </a:endParaRPr>
              </a:p>
            </p:txBody>
          </p:sp>
          <p:sp>
            <p:nvSpPr>
              <p:cNvPr id="97318" name="Line 38">
                <a:extLst>
                  <a:ext uri="{FF2B5EF4-FFF2-40B4-BE49-F238E27FC236}">
                    <a16:creationId xmlns:a16="http://schemas.microsoft.com/office/drawing/2014/main" id="{422BB4C1-F770-EA47-9C2A-6DABDC443C41}"/>
                  </a:ext>
                </a:extLst>
              </p:cNvPr>
              <p:cNvSpPr>
                <a:spLocks noChangeShapeType="1"/>
              </p:cNvSpPr>
              <p:nvPr/>
            </p:nvSpPr>
            <p:spPr bwMode="auto">
              <a:xfrm flipV="1">
                <a:off x="4099" y="2018"/>
                <a:ext cx="397" cy="227"/>
              </a:xfrm>
              <a:prstGeom prst="line">
                <a:avLst/>
              </a:prstGeom>
              <a:grpFill/>
              <a:ln w="19050">
                <a:solidFill>
                  <a:schemeClr val="tx1"/>
                </a:solidFill>
                <a:round/>
                <a:tailEnd type="triangle" w="med" len="med"/>
              </a:ln>
              <a:effectLst/>
            </p:spPr>
            <p:txBody>
              <a:bodyPr anchor="b"/>
              <a:lstStyle/>
              <a:p>
                <a:pPr algn="ctr">
                  <a:defRPr/>
                </a:pPr>
                <a:endParaRPr kumimoji="1" lang="zh-CN" altLang="en-US">
                  <a:latin typeface="Times New Roman" panose="02020603050405020304" charset="0"/>
                  <a:ea typeface="黑体" panose="02010609060101010101" pitchFamily="2" charset="-122"/>
                </a:endParaRPr>
              </a:p>
            </p:txBody>
          </p:sp>
          <p:sp>
            <p:nvSpPr>
              <p:cNvPr id="97319" name="Line 39">
                <a:extLst>
                  <a:ext uri="{FF2B5EF4-FFF2-40B4-BE49-F238E27FC236}">
                    <a16:creationId xmlns:a16="http://schemas.microsoft.com/office/drawing/2014/main" id="{53FB7BF6-16B0-F043-B31F-2A048B73134D}"/>
                  </a:ext>
                </a:extLst>
              </p:cNvPr>
              <p:cNvSpPr>
                <a:spLocks noChangeShapeType="1"/>
              </p:cNvSpPr>
              <p:nvPr/>
            </p:nvSpPr>
            <p:spPr bwMode="auto">
              <a:xfrm flipH="1">
                <a:off x="4099" y="2047"/>
                <a:ext cx="624" cy="311"/>
              </a:xfrm>
              <a:prstGeom prst="line">
                <a:avLst/>
              </a:prstGeom>
              <a:grpFill/>
              <a:ln w="19050">
                <a:solidFill>
                  <a:schemeClr val="tx1"/>
                </a:solidFill>
                <a:round/>
                <a:tailEnd type="triangle" w="med" len="med"/>
              </a:ln>
              <a:effectLst/>
            </p:spPr>
            <p:txBody>
              <a:bodyPr anchor="b"/>
              <a:lstStyle/>
              <a:p>
                <a:pPr algn="ctr">
                  <a:defRPr/>
                </a:pPr>
                <a:endParaRPr kumimoji="1" lang="zh-CN" altLang="en-US">
                  <a:latin typeface="Times New Roman" panose="02020603050405020304" charset="0"/>
                  <a:ea typeface="黑体" panose="02010609060101010101" pitchFamily="2" charset="-122"/>
                </a:endParaRPr>
              </a:p>
            </p:txBody>
          </p:sp>
        </p:grpSp>
        <p:grpSp>
          <p:nvGrpSpPr>
            <p:cNvPr id="9" name="Group 40">
              <a:extLst>
                <a:ext uri="{FF2B5EF4-FFF2-40B4-BE49-F238E27FC236}">
                  <a16:creationId xmlns:a16="http://schemas.microsoft.com/office/drawing/2014/main" id="{36829416-1F2E-8E4B-98A1-9A539BD9A0B6}"/>
                </a:ext>
              </a:extLst>
            </p:cNvPr>
            <p:cNvGrpSpPr/>
            <p:nvPr/>
          </p:nvGrpSpPr>
          <p:grpSpPr bwMode="auto">
            <a:xfrm>
              <a:off x="2016" y="3322"/>
              <a:ext cx="709" cy="340"/>
              <a:chOff x="703" y="1570"/>
              <a:chExt cx="771" cy="409"/>
            </a:xfrm>
            <a:grpFill/>
          </p:grpSpPr>
          <p:sp>
            <p:nvSpPr>
              <p:cNvPr id="97321" name="Rectangle 41">
                <a:extLst>
                  <a:ext uri="{FF2B5EF4-FFF2-40B4-BE49-F238E27FC236}">
                    <a16:creationId xmlns:a16="http://schemas.microsoft.com/office/drawing/2014/main" id="{B7F45E17-3A54-114D-BA33-83D557365CC3}"/>
                  </a:ext>
                </a:extLst>
              </p:cNvPr>
              <p:cNvSpPr>
                <a:spLocks noChangeArrowheads="1"/>
              </p:cNvSpPr>
              <p:nvPr/>
            </p:nvSpPr>
            <p:spPr bwMode="auto">
              <a:xfrm>
                <a:off x="703" y="1570"/>
                <a:ext cx="771" cy="409"/>
              </a:xfrm>
              <a:prstGeom prst="rect">
                <a:avLst/>
              </a:prstGeom>
              <a:grpFill/>
              <a:ln w="19050">
                <a:solidFill>
                  <a:schemeClr val="tx1"/>
                </a:solidFill>
                <a:miter lim="800000"/>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sp>
            <p:nvSpPr>
              <p:cNvPr id="97322" name="Oval 42">
                <a:extLst>
                  <a:ext uri="{FF2B5EF4-FFF2-40B4-BE49-F238E27FC236}">
                    <a16:creationId xmlns:a16="http://schemas.microsoft.com/office/drawing/2014/main" id="{F4A37255-3D6F-6247-975E-D45758DE9414}"/>
                  </a:ext>
                </a:extLst>
              </p:cNvPr>
              <p:cNvSpPr>
                <a:spLocks noChangeArrowheads="1"/>
              </p:cNvSpPr>
              <p:nvPr/>
            </p:nvSpPr>
            <p:spPr bwMode="auto">
              <a:xfrm>
                <a:off x="839" y="1752"/>
                <a:ext cx="91" cy="90"/>
              </a:xfrm>
              <a:prstGeom prst="ellipse">
                <a:avLst/>
              </a:prstGeom>
              <a:grpFill/>
              <a:ln w="19050">
                <a:solidFill>
                  <a:schemeClr val="tx1"/>
                </a:solidFill>
                <a:round/>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sp>
            <p:nvSpPr>
              <p:cNvPr id="97323" name="Oval 43">
                <a:extLst>
                  <a:ext uri="{FF2B5EF4-FFF2-40B4-BE49-F238E27FC236}">
                    <a16:creationId xmlns:a16="http://schemas.microsoft.com/office/drawing/2014/main" id="{3B8F3C08-CB0B-B74D-8111-51F1A060BF58}"/>
                  </a:ext>
                </a:extLst>
              </p:cNvPr>
              <p:cNvSpPr>
                <a:spLocks noChangeArrowheads="1"/>
              </p:cNvSpPr>
              <p:nvPr/>
            </p:nvSpPr>
            <p:spPr bwMode="auto">
              <a:xfrm>
                <a:off x="1020" y="1797"/>
                <a:ext cx="91" cy="90"/>
              </a:xfrm>
              <a:prstGeom prst="ellipse">
                <a:avLst/>
              </a:prstGeom>
              <a:grpFill/>
              <a:ln w="19050">
                <a:solidFill>
                  <a:schemeClr val="tx1"/>
                </a:solidFill>
                <a:round/>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sp>
            <p:nvSpPr>
              <p:cNvPr id="97324" name="Oval 44">
                <a:extLst>
                  <a:ext uri="{FF2B5EF4-FFF2-40B4-BE49-F238E27FC236}">
                    <a16:creationId xmlns:a16="http://schemas.microsoft.com/office/drawing/2014/main" id="{AAB12550-BBE3-674A-B8AE-1A34C3FE6A13}"/>
                  </a:ext>
                </a:extLst>
              </p:cNvPr>
              <p:cNvSpPr>
                <a:spLocks noChangeArrowheads="1"/>
              </p:cNvSpPr>
              <p:nvPr/>
            </p:nvSpPr>
            <p:spPr bwMode="auto">
              <a:xfrm>
                <a:off x="1156" y="1752"/>
                <a:ext cx="91" cy="90"/>
              </a:xfrm>
              <a:prstGeom prst="ellipse">
                <a:avLst/>
              </a:prstGeom>
              <a:grpFill/>
              <a:ln w="19050">
                <a:solidFill>
                  <a:schemeClr val="tx1"/>
                </a:solidFill>
                <a:round/>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grpSp>
        <p:grpSp>
          <p:nvGrpSpPr>
            <p:cNvPr id="10" name="Group 45">
              <a:extLst>
                <a:ext uri="{FF2B5EF4-FFF2-40B4-BE49-F238E27FC236}">
                  <a16:creationId xmlns:a16="http://schemas.microsoft.com/office/drawing/2014/main" id="{DEDF6EE4-6F48-4242-AFDB-EBCA4F2AE1C7}"/>
                </a:ext>
              </a:extLst>
            </p:cNvPr>
            <p:cNvGrpSpPr/>
            <p:nvPr/>
          </p:nvGrpSpPr>
          <p:grpSpPr bwMode="auto">
            <a:xfrm>
              <a:off x="3078" y="3322"/>
              <a:ext cx="652" cy="340"/>
              <a:chOff x="4297" y="1706"/>
              <a:chExt cx="652" cy="340"/>
            </a:xfrm>
            <a:grpFill/>
          </p:grpSpPr>
          <p:sp>
            <p:nvSpPr>
              <p:cNvPr id="97326" name="Rectangle 46">
                <a:extLst>
                  <a:ext uri="{FF2B5EF4-FFF2-40B4-BE49-F238E27FC236}">
                    <a16:creationId xmlns:a16="http://schemas.microsoft.com/office/drawing/2014/main" id="{00061144-1616-AE40-A81D-1329ECC370EA}"/>
                  </a:ext>
                </a:extLst>
              </p:cNvPr>
              <p:cNvSpPr>
                <a:spLocks noChangeArrowheads="1"/>
              </p:cNvSpPr>
              <p:nvPr/>
            </p:nvSpPr>
            <p:spPr bwMode="auto">
              <a:xfrm>
                <a:off x="4297" y="1706"/>
                <a:ext cx="652" cy="340"/>
              </a:xfrm>
              <a:prstGeom prst="rect">
                <a:avLst/>
              </a:prstGeom>
              <a:grpFill/>
              <a:ln w="19050">
                <a:solidFill>
                  <a:schemeClr val="tx1"/>
                </a:solidFill>
                <a:miter lim="800000"/>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sp>
            <p:nvSpPr>
              <p:cNvPr id="97327" name="Oval 47">
                <a:extLst>
                  <a:ext uri="{FF2B5EF4-FFF2-40B4-BE49-F238E27FC236}">
                    <a16:creationId xmlns:a16="http://schemas.microsoft.com/office/drawing/2014/main" id="{A947510A-CD45-0049-A8BA-1AAC6199BD46}"/>
                  </a:ext>
                </a:extLst>
              </p:cNvPr>
              <p:cNvSpPr>
                <a:spLocks noChangeArrowheads="1"/>
              </p:cNvSpPr>
              <p:nvPr/>
            </p:nvSpPr>
            <p:spPr bwMode="auto">
              <a:xfrm>
                <a:off x="4412" y="1857"/>
                <a:ext cx="77" cy="75"/>
              </a:xfrm>
              <a:prstGeom prst="ellipse">
                <a:avLst/>
              </a:prstGeom>
              <a:grpFill/>
              <a:ln w="19050">
                <a:solidFill>
                  <a:schemeClr val="tx1"/>
                </a:solidFill>
                <a:round/>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sp>
            <p:nvSpPr>
              <p:cNvPr id="97328" name="Oval 48">
                <a:extLst>
                  <a:ext uri="{FF2B5EF4-FFF2-40B4-BE49-F238E27FC236}">
                    <a16:creationId xmlns:a16="http://schemas.microsoft.com/office/drawing/2014/main" id="{24417865-D847-4442-B968-14EB85CD94FC}"/>
                  </a:ext>
                </a:extLst>
              </p:cNvPr>
              <p:cNvSpPr>
                <a:spLocks noChangeArrowheads="1"/>
              </p:cNvSpPr>
              <p:nvPr/>
            </p:nvSpPr>
            <p:spPr bwMode="auto">
              <a:xfrm>
                <a:off x="4680" y="1857"/>
                <a:ext cx="77" cy="75"/>
              </a:xfrm>
              <a:prstGeom prst="ellipse">
                <a:avLst/>
              </a:prstGeom>
              <a:grpFill/>
              <a:ln w="19050">
                <a:solidFill>
                  <a:schemeClr val="tx1"/>
                </a:solidFill>
                <a:round/>
              </a:ln>
              <a:effectLst/>
            </p:spPr>
            <p:txBody>
              <a:bodyPr wrap="none" anchor="ctr"/>
              <a:lstStyle/>
              <a:p>
                <a:pPr algn="ctr">
                  <a:defRPr/>
                </a:pPr>
                <a:endParaRPr kumimoji="1" lang="zh-CN" altLang="en-US">
                  <a:latin typeface="Times New Roman" panose="02020603050405020304" charset="0"/>
                  <a:ea typeface="黑体" panose="02010609060101010101" pitchFamily="2" charset="-122"/>
                </a:endParaRPr>
              </a:p>
            </p:txBody>
          </p:sp>
        </p:grpSp>
        <p:sp>
          <p:nvSpPr>
            <p:cNvPr id="97329" name="Oval 49">
              <a:extLst>
                <a:ext uri="{FF2B5EF4-FFF2-40B4-BE49-F238E27FC236}">
                  <a16:creationId xmlns:a16="http://schemas.microsoft.com/office/drawing/2014/main" id="{95D7B22E-7CB7-DD46-B609-BDA71D8D0C8E}"/>
                </a:ext>
              </a:extLst>
            </p:cNvPr>
            <p:cNvSpPr>
              <a:spLocks noChangeArrowheads="1"/>
            </p:cNvSpPr>
            <p:nvPr/>
          </p:nvSpPr>
          <p:spPr bwMode="auto">
            <a:xfrm>
              <a:off x="2625" y="2784"/>
              <a:ext cx="255" cy="255"/>
            </a:xfrm>
            <a:prstGeom prst="ellipse">
              <a:avLst/>
            </a:prstGeom>
            <a:grpFill/>
            <a:ln w="19050">
              <a:solidFill>
                <a:schemeClr val="tx1"/>
              </a:solidFill>
              <a:round/>
            </a:ln>
            <a:effectLst/>
          </p:spPr>
          <p:txBody>
            <a:bodyPr wrap="none" anchor="ctr"/>
            <a:lstStyle/>
            <a:p>
              <a:pPr algn="ctr">
                <a:defRPr/>
              </a:pPr>
              <a:r>
                <a:rPr kumimoji="1" lang="en-US" altLang="zh-CN" sz="2000" dirty="0">
                  <a:solidFill>
                    <a:srgbClr val="0000FF"/>
                  </a:solidFill>
                  <a:latin typeface="隶书" panose="02010509060101010101" pitchFamily="49" charset="-122"/>
                  <a:ea typeface="隶书" panose="02010509060101010101" pitchFamily="49" charset="-122"/>
                </a:rPr>
                <a:t>P1</a:t>
              </a:r>
            </a:p>
          </p:txBody>
        </p:sp>
        <p:sp>
          <p:nvSpPr>
            <p:cNvPr id="97330" name="Oval 50">
              <a:extLst>
                <a:ext uri="{FF2B5EF4-FFF2-40B4-BE49-F238E27FC236}">
                  <a16:creationId xmlns:a16="http://schemas.microsoft.com/office/drawing/2014/main" id="{9639BDEB-90F6-454E-BE2A-A6397A944926}"/>
                </a:ext>
              </a:extLst>
            </p:cNvPr>
            <p:cNvSpPr>
              <a:spLocks noChangeArrowheads="1"/>
            </p:cNvSpPr>
            <p:nvPr/>
          </p:nvSpPr>
          <p:spPr bwMode="auto">
            <a:xfrm>
              <a:off x="2653" y="3833"/>
              <a:ext cx="255" cy="255"/>
            </a:xfrm>
            <a:prstGeom prst="ellipse">
              <a:avLst/>
            </a:prstGeom>
            <a:grpFill/>
            <a:ln w="19050">
              <a:solidFill>
                <a:schemeClr val="tx1"/>
              </a:solidFill>
              <a:round/>
            </a:ln>
            <a:effectLst/>
          </p:spPr>
          <p:txBody>
            <a:bodyPr wrap="none" anchor="ctr"/>
            <a:lstStyle/>
            <a:p>
              <a:pPr algn="ctr">
                <a:defRPr/>
              </a:pPr>
              <a:r>
                <a:rPr kumimoji="1" lang="en-US" altLang="zh-CN" sz="2000">
                  <a:solidFill>
                    <a:srgbClr val="0000FF"/>
                  </a:solidFill>
                  <a:latin typeface="隶书" panose="02010509060101010101" pitchFamily="49" charset="-122"/>
                  <a:ea typeface="隶书" panose="02010509060101010101" pitchFamily="49" charset="-122"/>
                </a:rPr>
                <a:t>P2</a:t>
              </a:r>
            </a:p>
          </p:txBody>
        </p:sp>
        <p:sp>
          <p:nvSpPr>
            <p:cNvPr id="97331" name="Text Box 51">
              <a:extLst>
                <a:ext uri="{FF2B5EF4-FFF2-40B4-BE49-F238E27FC236}">
                  <a16:creationId xmlns:a16="http://schemas.microsoft.com/office/drawing/2014/main" id="{910ECDE7-F949-EB45-A7B7-62B445501284}"/>
                </a:ext>
              </a:extLst>
            </p:cNvPr>
            <p:cNvSpPr txBox="1">
              <a:spLocks noChangeArrowheads="1"/>
            </p:cNvSpPr>
            <p:nvPr/>
          </p:nvSpPr>
          <p:spPr bwMode="auto">
            <a:xfrm>
              <a:off x="1500" y="2528"/>
              <a:ext cx="359" cy="250"/>
            </a:xfrm>
            <a:prstGeom prst="rect">
              <a:avLst/>
            </a:prstGeom>
            <a:noFill/>
            <a:ln w="19050">
              <a:noFill/>
              <a:miter lim="800000"/>
            </a:ln>
            <a:effectLst/>
          </p:spPr>
          <p:txBody>
            <a:bodyPr wrap="none" anchor="b">
              <a:spAutoFit/>
            </a:bodyPr>
            <a:lstStyle/>
            <a:p>
              <a:pPr>
                <a:defRPr/>
              </a:pPr>
              <a:r>
                <a:rPr kumimoji="1" lang="zh-CN" altLang="en-US" sz="2000" b="1">
                  <a:solidFill>
                    <a:srgbClr val="0000FF"/>
                  </a:solidFill>
                  <a:latin typeface="隶书" panose="02010509060101010101" pitchFamily="49" charset="-122"/>
                  <a:ea typeface="隶书" panose="02010509060101010101" pitchFamily="49" charset="-122"/>
                </a:rPr>
                <a:t>(1)</a:t>
              </a:r>
            </a:p>
          </p:txBody>
        </p:sp>
        <p:sp>
          <p:nvSpPr>
            <p:cNvPr id="97332" name="Text Box 52">
              <a:extLst>
                <a:ext uri="{FF2B5EF4-FFF2-40B4-BE49-F238E27FC236}">
                  <a16:creationId xmlns:a16="http://schemas.microsoft.com/office/drawing/2014/main" id="{175C5657-8777-F94F-91C4-EDE26F7AE430}"/>
                </a:ext>
              </a:extLst>
            </p:cNvPr>
            <p:cNvSpPr txBox="1">
              <a:spLocks noChangeArrowheads="1"/>
            </p:cNvSpPr>
            <p:nvPr/>
          </p:nvSpPr>
          <p:spPr bwMode="auto">
            <a:xfrm>
              <a:off x="3984" y="2533"/>
              <a:ext cx="359" cy="250"/>
            </a:xfrm>
            <a:prstGeom prst="rect">
              <a:avLst/>
            </a:prstGeom>
            <a:noFill/>
            <a:ln w="19050">
              <a:noFill/>
              <a:miter lim="800000"/>
            </a:ln>
            <a:effectLst/>
          </p:spPr>
          <p:txBody>
            <a:bodyPr wrap="none" anchor="b">
              <a:spAutoFit/>
            </a:bodyPr>
            <a:lstStyle/>
            <a:p>
              <a:pPr>
                <a:defRPr/>
              </a:pPr>
              <a:r>
                <a:rPr kumimoji="1" lang="zh-CN" altLang="en-US" sz="2000" b="1" dirty="0">
                  <a:solidFill>
                    <a:srgbClr val="0000FF"/>
                  </a:solidFill>
                  <a:latin typeface="隶书" panose="02010509060101010101" pitchFamily="49" charset="-122"/>
                  <a:ea typeface="隶书" panose="02010509060101010101" pitchFamily="49" charset="-122"/>
                </a:rPr>
                <a:t>(2)</a:t>
              </a:r>
            </a:p>
          </p:txBody>
        </p:sp>
        <p:sp>
          <p:nvSpPr>
            <p:cNvPr id="97333" name="Text Box 53">
              <a:extLst>
                <a:ext uri="{FF2B5EF4-FFF2-40B4-BE49-F238E27FC236}">
                  <a16:creationId xmlns:a16="http://schemas.microsoft.com/office/drawing/2014/main" id="{13FCD707-5C66-7B47-8ED0-71AC22B1744F}"/>
                </a:ext>
              </a:extLst>
            </p:cNvPr>
            <p:cNvSpPr txBox="1">
              <a:spLocks noChangeArrowheads="1"/>
            </p:cNvSpPr>
            <p:nvPr/>
          </p:nvSpPr>
          <p:spPr bwMode="auto">
            <a:xfrm>
              <a:off x="2805" y="4324"/>
              <a:ext cx="359" cy="250"/>
            </a:xfrm>
            <a:prstGeom prst="rect">
              <a:avLst/>
            </a:prstGeom>
            <a:noFill/>
            <a:ln w="19050">
              <a:noFill/>
              <a:miter lim="800000"/>
            </a:ln>
            <a:effectLst/>
          </p:spPr>
          <p:txBody>
            <a:bodyPr wrap="none" anchor="b">
              <a:spAutoFit/>
            </a:bodyPr>
            <a:lstStyle/>
            <a:p>
              <a:pPr>
                <a:defRPr/>
              </a:pPr>
              <a:r>
                <a:rPr kumimoji="1" lang="zh-CN" altLang="en-US" sz="2000" b="1" dirty="0">
                  <a:solidFill>
                    <a:srgbClr val="0000FF"/>
                  </a:solidFill>
                  <a:latin typeface="隶书" panose="02010509060101010101" pitchFamily="49" charset="-122"/>
                  <a:ea typeface="隶书" panose="02010509060101010101" pitchFamily="49" charset="-122"/>
                </a:rPr>
                <a:t>(3)</a:t>
              </a:r>
            </a:p>
          </p:txBody>
        </p:sp>
      </p:grpSp>
      <p:sp>
        <p:nvSpPr>
          <p:cNvPr id="53" name="Rectangle 2">
            <a:extLst>
              <a:ext uri="{FF2B5EF4-FFF2-40B4-BE49-F238E27FC236}">
                <a16:creationId xmlns:a16="http://schemas.microsoft.com/office/drawing/2014/main" id="{DE76495E-C9FC-D743-ACAF-69518CE8F963}"/>
              </a:ext>
            </a:extLst>
          </p:cNvPr>
          <p:cNvSpPr>
            <a:spLocks noGrp="1" noChangeArrowheads="1"/>
          </p:cNvSpPr>
          <p:nvPr>
            <p:ph type="title"/>
          </p:nvPr>
        </p:nvSpPr>
        <p:spPr/>
        <p:txBody>
          <a:bodyPr/>
          <a:lstStyle/>
          <a:p>
            <a:r>
              <a:rPr lang="zh-CN" altLang="en-US" sz="4000" dirty="0">
                <a:latin typeface="隶书" pitchFamily="49" charset="-122"/>
              </a:rPr>
              <a:t>死锁处理方法</a:t>
            </a:r>
            <a:r>
              <a:rPr lang="zh-CN" altLang="en-US" sz="2000" dirty="0"/>
              <a:t>（</a:t>
            </a:r>
            <a:r>
              <a:rPr lang="en-US" altLang="zh-CN" sz="2000" dirty="0"/>
              <a:t>7/10</a:t>
            </a:r>
            <a:r>
              <a:rPr lang="zh-CN" altLang="en-US" sz="2000" dirty="0"/>
              <a:t>）</a:t>
            </a:r>
            <a:endParaRPr lang="en-US" altLang="zh-CN" sz="2000" dirty="0"/>
          </a:p>
        </p:txBody>
      </p:sp>
      <p:sp>
        <p:nvSpPr>
          <p:cNvPr id="54" name="矩形 53">
            <a:extLst>
              <a:ext uri="{FF2B5EF4-FFF2-40B4-BE49-F238E27FC236}">
                <a16:creationId xmlns:a16="http://schemas.microsoft.com/office/drawing/2014/main" id="{DDB8BEAF-8164-4940-B699-1F58E7C4C0B5}"/>
              </a:ext>
            </a:extLst>
          </p:cNvPr>
          <p:cNvSpPr/>
          <p:nvPr/>
        </p:nvSpPr>
        <p:spPr>
          <a:xfrm>
            <a:off x="1300163" y="1784350"/>
            <a:ext cx="1906587" cy="739775"/>
          </a:xfrm>
          <a:prstGeom prst="rect">
            <a:avLst/>
          </a:prstGeom>
        </p:spPr>
        <p:txBody>
          <a:bodyPr wrap="none">
            <a:spAutoFit/>
          </a:bodyPr>
          <a:lstStyle/>
          <a:p>
            <a:pPr>
              <a:lnSpc>
                <a:spcPct val="150000"/>
              </a:lnSpc>
              <a:buClr>
                <a:srgbClr val="CC3300"/>
              </a:buClr>
              <a:buFont typeface="Wingdings" pitchFamily="2" charset="2"/>
              <a:buChar char="Ø"/>
            </a:pPr>
            <a:r>
              <a:rPr lang="zh-CN" altLang="en-US" sz="2800">
                <a:latin typeface="隶书" pitchFamily="49" charset="-122"/>
                <a:ea typeface="隶书" pitchFamily="49" charset="-122"/>
              </a:rPr>
              <a:t>检测方法</a:t>
            </a:r>
            <a:endParaRPr lang="en-US" altLang="zh-CN" sz="2800">
              <a:latin typeface="隶书" pitchFamily="49" charset="-122"/>
              <a:ea typeface="隶书" pitchFamily="49" charset="-122"/>
            </a:endParaRPr>
          </a:p>
        </p:txBody>
      </p:sp>
    </p:spTree>
    <p:extLst>
      <p:ext uri="{BB962C8B-B14F-4D97-AF65-F5344CB8AC3E}">
        <p14:creationId xmlns:p14="http://schemas.microsoft.com/office/powerpoint/2010/main" val="4428037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页脚占位符 3">
            <a:extLst>
              <a:ext uri="{FF2B5EF4-FFF2-40B4-BE49-F238E27FC236}">
                <a16:creationId xmlns:a16="http://schemas.microsoft.com/office/drawing/2014/main" id="{1E866426-D8A2-F34F-B1D5-8E5A392F8C8E}"/>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3FC3D651-0595-F143-BD61-7B25C4B1B915}" type="slidenum">
              <a:rPr lang="zh-CN" altLang="en-US" smtClean="0">
                <a:latin typeface="Times New Roman" panose="02020603050405020304" pitchFamily="18" charset="0"/>
              </a:rPr>
              <a:pPr algn="ctr"/>
              <a:t>79</a:t>
            </a:fld>
            <a:endParaRPr lang="zh-CN" altLang="en-US">
              <a:latin typeface="Times New Roman" panose="02020603050405020304" pitchFamily="18" charset="0"/>
            </a:endParaRPr>
          </a:p>
        </p:txBody>
      </p:sp>
      <p:sp>
        <p:nvSpPr>
          <p:cNvPr id="71683" name="Rectangle 3">
            <a:extLst>
              <a:ext uri="{FF2B5EF4-FFF2-40B4-BE49-F238E27FC236}">
                <a16:creationId xmlns:a16="http://schemas.microsoft.com/office/drawing/2014/main" id="{4D627592-CF80-1D42-9203-2E22AB5CDCA4}"/>
              </a:ext>
            </a:extLst>
          </p:cNvPr>
          <p:cNvSpPr>
            <a:spLocks noGrp="1" noChangeArrowheads="1"/>
          </p:cNvSpPr>
          <p:nvPr>
            <p:ph idx="1"/>
          </p:nvPr>
        </p:nvSpPr>
        <p:spPr>
          <a:xfrm>
            <a:off x="914400" y="1828800"/>
            <a:ext cx="7772400" cy="4356100"/>
          </a:xfrm>
        </p:spPr>
        <p:txBody>
          <a:bodyPr/>
          <a:lstStyle/>
          <a:p>
            <a:pPr>
              <a:lnSpc>
                <a:spcPct val="150000"/>
              </a:lnSpc>
              <a:spcBef>
                <a:spcPct val="0"/>
              </a:spcBef>
              <a:buClr>
                <a:srgbClr val="CC3300"/>
              </a:buClr>
              <a:buFontTx/>
              <a:buBlip>
                <a:blip r:embed="rId2"/>
              </a:buBlip>
            </a:pPr>
            <a:r>
              <a:rPr lang="zh-CN" altLang="en-US" sz="2800">
                <a:latin typeface="隶书" pitchFamily="49" charset="-122"/>
              </a:rPr>
              <a:t>死锁恢复</a:t>
            </a:r>
            <a:endParaRPr lang="en-US" altLang="zh-CN" sz="2800">
              <a:latin typeface="隶书" pitchFamily="49" charset="-122"/>
            </a:endParaRPr>
          </a:p>
          <a:p>
            <a:pPr lvl="1">
              <a:lnSpc>
                <a:spcPct val="150000"/>
              </a:lnSpc>
              <a:spcBef>
                <a:spcPct val="0"/>
              </a:spcBef>
              <a:buClr>
                <a:srgbClr val="CC3300"/>
              </a:buClr>
              <a:buFont typeface="Wingdings" pitchFamily="2" charset="2"/>
              <a:buChar char="Ø"/>
            </a:pPr>
            <a:r>
              <a:rPr lang="zh-CN" altLang="en-US" sz="2400">
                <a:latin typeface="隶书" pitchFamily="49" charset="-122"/>
              </a:rPr>
              <a:t>人工处理死锁，让系统从死锁状态中自动恢复</a:t>
            </a:r>
            <a:r>
              <a:rPr lang="en-US" altLang="zh-CN" sz="2400">
                <a:latin typeface="隶书" pitchFamily="49" charset="-122"/>
              </a:rPr>
              <a:t>;</a:t>
            </a:r>
          </a:p>
          <a:p>
            <a:pPr lvl="1">
              <a:lnSpc>
                <a:spcPct val="150000"/>
              </a:lnSpc>
              <a:spcBef>
                <a:spcPct val="0"/>
              </a:spcBef>
              <a:buClr>
                <a:srgbClr val="CC3300"/>
              </a:buClr>
              <a:buFont typeface="Wingdings" pitchFamily="2" charset="2"/>
              <a:buChar char="Ø"/>
            </a:pPr>
            <a:r>
              <a:rPr lang="zh-CN" altLang="en-US" sz="2400">
                <a:latin typeface="隶书" pitchFamily="49" charset="-122"/>
              </a:rPr>
              <a:t>打破死锁状态有两个方法</a:t>
            </a:r>
          </a:p>
          <a:p>
            <a:pPr lvl="2">
              <a:lnSpc>
                <a:spcPct val="150000"/>
              </a:lnSpc>
              <a:spcBef>
                <a:spcPct val="0"/>
              </a:spcBef>
              <a:buClr>
                <a:srgbClr val="C00000"/>
              </a:buClr>
              <a:buSzPct val="80000"/>
              <a:buFont typeface="Wingdings" pitchFamily="2" charset="2"/>
              <a:buChar char="n"/>
            </a:pPr>
            <a:r>
              <a:rPr lang="zh-CN" altLang="en-US">
                <a:latin typeface="隶书" pitchFamily="49" charset="-122"/>
              </a:rPr>
              <a:t>终止进程方法</a:t>
            </a:r>
            <a:endParaRPr lang="en-US" altLang="zh-CN">
              <a:latin typeface="隶书" pitchFamily="49" charset="-122"/>
            </a:endParaRPr>
          </a:p>
          <a:p>
            <a:pPr lvl="3">
              <a:lnSpc>
                <a:spcPct val="150000"/>
              </a:lnSpc>
              <a:spcBef>
                <a:spcPct val="0"/>
              </a:spcBef>
              <a:buClr>
                <a:srgbClr val="C00000"/>
              </a:buClr>
              <a:buSzPct val="80000"/>
              <a:buFont typeface="Wingdings" pitchFamily="2" charset="2"/>
              <a:buChar char="l"/>
            </a:pPr>
            <a:r>
              <a:rPr lang="zh-CN" altLang="en-US">
                <a:latin typeface="隶书" pitchFamily="49" charset="-122"/>
              </a:rPr>
              <a:t>简单地</a:t>
            </a:r>
            <a:r>
              <a:rPr lang="zh-CN" altLang="en-US">
                <a:solidFill>
                  <a:srgbClr val="FF0000"/>
                </a:solidFill>
                <a:latin typeface="隶书" pitchFamily="49" charset="-122"/>
              </a:rPr>
              <a:t>终止</a:t>
            </a:r>
            <a:r>
              <a:rPr lang="zh-CN" altLang="en-US">
                <a:latin typeface="隶书" pitchFamily="49" charset="-122"/>
              </a:rPr>
              <a:t>一个或多个进程以打破循环等待</a:t>
            </a:r>
            <a:r>
              <a:rPr lang="en-US" altLang="zh-CN">
                <a:latin typeface="隶书" pitchFamily="49" charset="-122"/>
              </a:rPr>
              <a:t>;</a:t>
            </a:r>
            <a:endParaRPr lang="zh-CN" altLang="en-US">
              <a:latin typeface="隶书" pitchFamily="49" charset="-122"/>
            </a:endParaRPr>
          </a:p>
          <a:p>
            <a:pPr lvl="2">
              <a:lnSpc>
                <a:spcPct val="150000"/>
              </a:lnSpc>
              <a:spcBef>
                <a:spcPct val="0"/>
              </a:spcBef>
              <a:buClr>
                <a:srgbClr val="C00000"/>
              </a:buClr>
              <a:buSzPct val="80000"/>
              <a:buFont typeface="Wingdings" pitchFamily="2" charset="2"/>
              <a:buChar char="n"/>
            </a:pPr>
            <a:r>
              <a:rPr lang="zh-CN" altLang="en-US">
                <a:latin typeface="隶书" pitchFamily="49" charset="-122"/>
              </a:rPr>
              <a:t>资源抢占方法</a:t>
            </a:r>
            <a:endParaRPr lang="en-US" altLang="zh-CN">
              <a:latin typeface="隶书" pitchFamily="49" charset="-122"/>
            </a:endParaRPr>
          </a:p>
          <a:p>
            <a:pPr lvl="3">
              <a:lnSpc>
                <a:spcPct val="150000"/>
              </a:lnSpc>
              <a:spcBef>
                <a:spcPct val="0"/>
              </a:spcBef>
              <a:buClr>
                <a:srgbClr val="C00000"/>
              </a:buClr>
              <a:buSzPct val="80000"/>
              <a:buFont typeface="Wingdings" pitchFamily="2" charset="2"/>
              <a:buChar char="n"/>
            </a:pPr>
            <a:r>
              <a:rPr lang="zh-CN" altLang="en-US">
                <a:latin typeface="隶书" pitchFamily="49" charset="-122"/>
              </a:rPr>
              <a:t>从一个或多个死锁进程那里</a:t>
            </a:r>
            <a:r>
              <a:rPr lang="zh-CN" altLang="en-US">
                <a:solidFill>
                  <a:srgbClr val="FF0000"/>
                </a:solidFill>
                <a:latin typeface="隶书" pitchFamily="49" charset="-122"/>
              </a:rPr>
              <a:t>抢占</a:t>
            </a:r>
            <a:r>
              <a:rPr lang="zh-CN" altLang="en-US">
                <a:latin typeface="隶书" pitchFamily="49" charset="-122"/>
              </a:rPr>
              <a:t>一个或多个资源。</a:t>
            </a:r>
          </a:p>
          <a:p>
            <a:pPr lvl="1">
              <a:buClr>
                <a:srgbClr val="CC3300"/>
              </a:buClr>
              <a:buFontTx/>
              <a:buNone/>
            </a:pPr>
            <a:endParaRPr lang="en-US" altLang="zh-CN">
              <a:ea typeface="宋体" panose="02010600030101010101" pitchFamily="2" charset="-122"/>
            </a:endParaRPr>
          </a:p>
        </p:txBody>
      </p:sp>
      <p:sp>
        <p:nvSpPr>
          <p:cNvPr id="5" name="Rectangle 2">
            <a:extLst>
              <a:ext uri="{FF2B5EF4-FFF2-40B4-BE49-F238E27FC236}">
                <a16:creationId xmlns:a16="http://schemas.microsoft.com/office/drawing/2014/main" id="{DD63D727-A612-6E40-A04E-B7BE68CC769F}"/>
              </a:ext>
            </a:extLst>
          </p:cNvPr>
          <p:cNvSpPr>
            <a:spLocks noGrp="1" noChangeArrowheads="1"/>
          </p:cNvSpPr>
          <p:nvPr>
            <p:ph type="title"/>
          </p:nvPr>
        </p:nvSpPr>
        <p:spPr/>
        <p:txBody>
          <a:bodyPr/>
          <a:lstStyle/>
          <a:p>
            <a:r>
              <a:rPr lang="zh-CN" altLang="en-US" sz="4000" dirty="0">
                <a:latin typeface="隶书" pitchFamily="49" charset="-122"/>
              </a:rPr>
              <a:t>死锁处理方法</a:t>
            </a:r>
            <a:r>
              <a:rPr lang="zh-CN" altLang="en-US" sz="2000" dirty="0"/>
              <a:t>（</a:t>
            </a:r>
            <a:r>
              <a:rPr lang="en-US" altLang="zh-CN" sz="2000" dirty="0"/>
              <a:t>8/10</a:t>
            </a:r>
            <a:r>
              <a:rPr lang="zh-CN" altLang="en-US" sz="2000" dirty="0"/>
              <a:t>）</a:t>
            </a:r>
            <a:endParaRPr lang="en-US" altLang="zh-CN" sz="2000" dirty="0"/>
          </a:p>
        </p:txBody>
      </p:sp>
    </p:spTree>
    <p:extLst>
      <p:ext uri="{BB962C8B-B14F-4D97-AF65-F5344CB8AC3E}">
        <p14:creationId xmlns:p14="http://schemas.microsoft.com/office/powerpoint/2010/main" val="124964672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页脚占位符 3">
            <a:extLst>
              <a:ext uri="{FF2B5EF4-FFF2-40B4-BE49-F238E27FC236}">
                <a16:creationId xmlns:a16="http://schemas.microsoft.com/office/drawing/2014/main" id="{CB2258BC-DF17-0343-9516-B1B673E0D393}"/>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30D73E76-DE3F-694E-8BBE-0B817E461880}" type="slidenum">
              <a:rPr lang="zh-CN" altLang="en-US" smtClean="0">
                <a:latin typeface="Times New Roman" panose="02020603050405020304" pitchFamily="18" charset="0"/>
              </a:rPr>
              <a:pPr algn="ctr"/>
              <a:t>80</a:t>
            </a:fld>
            <a:endParaRPr lang="zh-CN" altLang="en-US">
              <a:latin typeface="Times New Roman" panose="02020603050405020304" pitchFamily="18" charset="0"/>
            </a:endParaRPr>
          </a:p>
        </p:txBody>
      </p:sp>
      <p:sp>
        <p:nvSpPr>
          <p:cNvPr id="26626" name="Rectangle 3">
            <a:extLst>
              <a:ext uri="{FF2B5EF4-FFF2-40B4-BE49-F238E27FC236}">
                <a16:creationId xmlns:a16="http://schemas.microsoft.com/office/drawing/2014/main" id="{A050DE07-4633-0540-9D7C-E5C039FA92A5}"/>
              </a:ext>
            </a:extLst>
          </p:cNvPr>
          <p:cNvSpPr>
            <a:spLocks noGrp="1" noChangeArrowheads="1"/>
          </p:cNvSpPr>
          <p:nvPr>
            <p:ph idx="1"/>
          </p:nvPr>
        </p:nvSpPr>
        <p:spPr>
          <a:xfrm>
            <a:off x="914400" y="1854200"/>
            <a:ext cx="7543800" cy="4114800"/>
          </a:xfrm>
        </p:spPr>
        <p:txBody>
          <a:bodyPr/>
          <a:lstStyle/>
          <a:p>
            <a:pPr>
              <a:buClr>
                <a:srgbClr val="CC3300"/>
              </a:buClr>
              <a:buFont typeface="Wingdings" pitchFamily="2" charset="2"/>
              <a:buChar char="Ø"/>
            </a:pPr>
            <a:r>
              <a:rPr lang="zh-CN" altLang="en-US" sz="2800">
                <a:latin typeface="隶书" pitchFamily="49" charset="-122"/>
              </a:rPr>
              <a:t>终止进程方法</a:t>
            </a:r>
            <a:endParaRPr lang="en-US" altLang="zh-CN" sz="2800">
              <a:latin typeface="隶书" pitchFamily="49" charset="-122"/>
            </a:endParaRPr>
          </a:p>
          <a:p>
            <a:pPr lvl="1">
              <a:lnSpc>
                <a:spcPct val="150000"/>
              </a:lnSpc>
              <a:spcBef>
                <a:spcPct val="0"/>
              </a:spcBef>
              <a:buClr>
                <a:srgbClr val="CC3300"/>
              </a:buClr>
              <a:buFont typeface="Wingdings" pitchFamily="2" charset="2"/>
              <a:buChar char="§"/>
            </a:pPr>
            <a:r>
              <a:rPr lang="en-US" altLang="zh-CN" sz="2400">
                <a:solidFill>
                  <a:srgbClr val="FF0000"/>
                </a:solidFill>
                <a:ea typeface="宋体" panose="02010600030101010101" pitchFamily="2" charset="-122"/>
              </a:rPr>
              <a:t>Priority</a:t>
            </a:r>
            <a:r>
              <a:rPr lang="en-US" altLang="zh-CN" sz="2400">
                <a:ea typeface="宋体" panose="02010600030101010101" pitchFamily="2" charset="-122"/>
              </a:rPr>
              <a:t> of the process.</a:t>
            </a:r>
          </a:p>
          <a:p>
            <a:pPr lvl="1">
              <a:lnSpc>
                <a:spcPct val="150000"/>
              </a:lnSpc>
              <a:spcBef>
                <a:spcPct val="0"/>
              </a:spcBef>
              <a:buClr>
                <a:srgbClr val="CC3300"/>
              </a:buClr>
              <a:buFont typeface="Wingdings" pitchFamily="2" charset="2"/>
              <a:buChar char="§"/>
            </a:pPr>
            <a:r>
              <a:rPr lang="en-US" altLang="zh-CN" sz="2400">
                <a:ea typeface="宋体" panose="02010600030101010101" pitchFamily="2" charset="-122"/>
              </a:rPr>
              <a:t>How long process has computed, and how much longer to completion.</a:t>
            </a:r>
          </a:p>
          <a:p>
            <a:pPr lvl="1">
              <a:lnSpc>
                <a:spcPct val="150000"/>
              </a:lnSpc>
              <a:spcBef>
                <a:spcPct val="0"/>
              </a:spcBef>
              <a:buClr>
                <a:srgbClr val="CC3300"/>
              </a:buClr>
              <a:buFont typeface="Wingdings" pitchFamily="2" charset="2"/>
              <a:buChar char="§"/>
            </a:pPr>
            <a:r>
              <a:rPr lang="en-US" altLang="zh-CN" sz="2400">
                <a:ea typeface="宋体" panose="02010600030101010101" pitchFamily="2" charset="-122"/>
              </a:rPr>
              <a:t>Resources the process has used.</a:t>
            </a:r>
          </a:p>
          <a:p>
            <a:pPr lvl="1">
              <a:lnSpc>
                <a:spcPct val="150000"/>
              </a:lnSpc>
              <a:spcBef>
                <a:spcPct val="0"/>
              </a:spcBef>
              <a:buClr>
                <a:srgbClr val="CC3300"/>
              </a:buClr>
              <a:buFont typeface="Wingdings" pitchFamily="2" charset="2"/>
              <a:buChar char="§"/>
            </a:pPr>
            <a:r>
              <a:rPr lang="en-US" altLang="zh-CN" sz="2400">
                <a:ea typeface="宋体" panose="02010600030101010101" pitchFamily="2" charset="-122"/>
              </a:rPr>
              <a:t>Resources process needs to complete.</a:t>
            </a:r>
          </a:p>
          <a:p>
            <a:pPr lvl="1">
              <a:lnSpc>
                <a:spcPct val="150000"/>
              </a:lnSpc>
              <a:spcBef>
                <a:spcPct val="0"/>
              </a:spcBef>
              <a:buClr>
                <a:srgbClr val="CC3300"/>
              </a:buClr>
              <a:buFont typeface="Wingdings" pitchFamily="2" charset="2"/>
              <a:buChar char="§"/>
            </a:pPr>
            <a:r>
              <a:rPr lang="en-US" altLang="zh-CN" sz="2400">
                <a:ea typeface="宋体" panose="02010600030101010101" pitchFamily="2" charset="-122"/>
              </a:rPr>
              <a:t>How many processes will need to be terminated. </a:t>
            </a:r>
          </a:p>
          <a:p>
            <a:pPr lvl="1">
              <a:lnSpc>
                <a:spcPct val="150000"/>
              </a:lnSpc>
              <a:spcBef>
                <a:spcPct val="0"/>
              </a:spcBef>
              <a:buClr>
                <a:srgbClr val="CC3300"/>
              </a:buClr>
              <a:buFont typeface="Wingdings" pitchFamily="2" charset="2"/>
              <a:buChar char="§"/>
            </a:pPr>
            <a:r>
              <a:rPr lang="en-US" altLang="zh-CN" sz="2400">
                <a:ea typeface="宋体" panose="02010600030101010101" pitchFamily="2" charset="-122"/>
              </a:rPr>
              <a:t>Is process interactive or batch?</a:t>
            </a:r>
          </a:p>
          <a:p>
            <a:endParaRPr lang="zh-CN" altLang="en-US" sz="2800"/>
          </a:p>
        </p:txBody>
      </p:sp>
      <p:sp>
        <p:nvSpPr>
          <p:cNvPr id="6" name="Rectangle 2">
            <a:extLst>
              <a:ext uri="{FF2B5EF4-FFF2-40B4-BE49-F238E27FC236}">
                <a16:creationId xmlns:a16="http://schemas.microsoft.com/office/drawing/2014/main" id="{81209C07-78CD-1440-A3C0-9AD5448FA706}"/>
              </a:ext>
            </a:extLst>
          </p:cNvPr>
          <p:cNvSpPr>
            <a:spLocks noGrp="1" noChangeArrowheads="1"/>
          </p:cNvSpPr>
          <p:nvPr>
            <p:ph type="title"/>
          </p:nvPr>
        </p:nvSpPr>
        <p:spPr/>
        <p:txBody>
          <a:bodyPr/>
          <a:lstStyle/>
          <a:p>
            <a:r>
              <a:rPr lang="zh-CN" altLang="en-US" sz="4000" dirty="0">
                <a:latin typeface="隶书" pitchFamily="49" charset="-122"/>
              </a:rPr>
              <a:t>死锁处理方法</a:t>
            </a:r>
            <a:r>
              <a:rPr lang="zh-CN" altLang="en-US" sz="2000" dirty="0"/>
              <a:t>（</a:t>
            </a:r>
            <a:r>
              <a:rPr lang="en-US" altLang="zh-CN" sz="2000" dirty="0"/>
              <a:t>9/10</a:t>
            </a:r>
            <a:r>
              <a:rPr lang="zh-CN" altLang="en-US" sz="2000" dirty="0"/>
              <a:t>）</a:t>
            </a:r>
            <a:endParaRPr lang="en-US" altLang="zh-CN" sz="2000" dirty="0"/>
          </a:p>
        </p:txBody>
      </p:sp>
    </p:spTree>
    <p:extLst>
      <p:ext uri="{BB962C8B-B14F-4D97-AF65-F5344CB8AC3E}">
        <p14:creationId xmlns:p14="http://schemas.microsoft.com/office/powerpoint/2010/main" val="157831273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页脚占位符 3">
            <a:extLst>
              <a:ext uri="{FF2B5EF4-FFF2-40B4-BE49-F238E27FC236}">
                <a16:creationId xmlns:a16="http://schemas.microsoft.com/office/drawing/2014/main" id="{B9417020-7C78-4144-A607-AF7E549762EC}"/>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5D6FB242-33C5-9B4D-B8E3-40D8066237BF}" type="slidenum">
              <a:rPr lang="zh-CN" altLang="en-US" smtClean="0">
                <a:latin typeface="Times New Roman" panose="02020603050405020304" pitchFamily="18" charset="0"/>
              </a:rPr>
              <a:pPr algn="ctr"/>
              <a:t>81</a:t>
            </a:fld>
            <a:endParaRPr lang="zh-CN" altLang="en-US">
              <a:latin typeface="Times New Roman" panose="02020603050405020304" pitchFamily="18" charset="0"/>
            </a:endParaRPr>
          </a:p>
        </p:txBody>
      </p:sp>
      <p:sp>
        <p:nvSpPr>
          <p:cNvPr id="72707" name="Rectangle 3">
            <a:extLst>
              <a:ext uri="{FF2B5EF4-FFF2-40B4-BE49-F238E27FC236}">
                <a16:creationId xmlns:a16="http://schemas.microsoft.com/office/drawing/2014/main" id="{8F6EC2D1-578A-EB45-A60F-886E10DB7792}"/>
              </a:ext>
            </a:extLst>
          </p:cNvPr>
          <p:cNvSpPr>
            <a:spLocks noGrp="1" noChangeArrowheads="1"/>
          </p:cNvSpPr>
          <p:nvPr>
            <p:ph idx="1"/>
          </p:nvPr>
        </p:nvSpPr>
        <p:spPr/>
        <p:txBody>
          <a:bodyPr/>
          <a:lstStyle/>
          <a:p>
            <a:pPr>
              <a:lnSpc>
                <a:spcPct val="150000"/>
              </a:lnSpc>
              <a:spcBef>
                <a:spcPct val="0"/>
              </a:spcBef>
              <a:buClr>
                <a:srgbClr val="CC3300"/>
              </a:buClr>
              <a:buFont typeface="Wingdings" pitchFamily="2" charset="2"/>
              <a:buChar char="Ø"/>
            </a:pPr>
            <a:r>
              <a:rPr lang="zh-CN" altLang="en-US" sz="2800">
                <a:latin typeface="隶书" pitchFamily="49" charset="-122"/>
              </a:rPr>
              <a:t>资源抢占法</a:t>
            </a:r>
            <a:endParaRPr lang="en-US" altLang="zh-CN" sz="2800">
              <a:latin typeface="隶书" pitchFamily="49" charset="-122"/>
            </a:endParaRPr>
          </a:p>
          <a:p>
            <a:pPr lvl="1">
              <a:lnSpc>
                <a:spcPct val="150000"/>
              </a:lnSpc>
              <a:spcBef>
                <a:spcPct val="0"/>
              </a:spcBef>
              <a:buClr>
                <a:srgbClr val="CC3300"/>
              </a:buClr>
              <a:buFont typeface="Wingdings" pitchFamily="2" charset="2"/>
              <a:buChar char="§"/>
            </a:pPr>
            <a:r>
              <a:rPr lang="en-US" altLang="zh-CN" sz="2400">
                <a:ea typeface="宋体" panose="02010600030101010101" pitchFamily="2" charset="-122"/>
              </a:rPr>
              <a:t>Selecting a victim </a:t>
            </a:r>
            <a:r>
              <a:rPr lang="en-US" altLang="zh-CN" sz="2400">
                <a:latin typeface="Helvetica" pitchFamily="2" charset="0"/>
                <a:ea typeface="宋体" panose="02010600030101010101" pitchFamily="2" charset="-122"/>
              </a:rPr>
              <a:t>–</a:t>
            </a:r>
            <a:r>
              <a:rPr lang="en-US" altLang="zh-CN" sz="2400">
                <a:ea typeface="宋体" panose="02010600030101010101" pitchFamily="2" charset="-122"/>
              </a:rPr>
              <a:t> minimize cost.</a:t>
            </a:r>
          </a:p>
          <a:p>
            <a:pPr lvl="1">
              <a:lnSpc>
                <a:spcPct val="150000"/>
              </a:lnSpc>
              <a:spcBef>
                <a:spcPct val="0"/>
              </a:spcBef>
              <a:buClr>
                <a:srgbClr val="CC3300"/>
              </a:buClr>
              <a:buFont typeface="Wingdings" pitchFamily="2" charset="2"/>
              <a:buChar char="§"/>
            </a:pPr>
            <a:r>
              <a:rPr lang="en-US" altLang="zh-CN" sz="2400">
                <a:ea typeface="宋体" panose="02010600030101010101" pitchFamily="2" charset="-122"/>
              </a:rPr>
              <a:t>Rollback </a:t>
            </a:r>
            <a:r>
              <a:rPr lang="en-US" altLang="zh-CN" sz="2400">
                <a:latin typeface="Helvetica" pitchFamily="2" charset="0"/>
                <a:ea typeface="宋体" panose="02010600030101010101" pitchFamily="2" charset="-122"/>
              </a:rPr>
              <a:t>–</a:t>
            </a:r>
            <a:r>
              <a:rPr lang="en-US" altLang="zh-CN" sz="2400">
                <a:ea typeface="宋体" panose="02010600030101010101" pitchFamily="2" charset="-122"/>
              </a:rPr>
              <a:t> return to some safe state, restart process fro that state.</a:t>
            </a:r>
          </a:p>
          <a:p>
            <a:pPr lvl="1">
              <a:lnSpc>
                <a:spcPct val="150000"/>
              </a:lnSpc>
              <a:spcBef>
                <a:spcPct val="0"/>
              </a:spcBef>
              <a:buClr>
                <a:srgbClr val="CC3300"/>
              </a:buClr>
              <a:buFont typeface="Wingdings" pitchFamily="2" charset="2"/>
              <a:buChar char="§"/>
            </a:pPr>
            <a:r>
              <a:rPr lang="en-US" altLang="zh-CN" sz="2400">
                <a:ea typeface="宋体" panose="02010600030101010101" pitchFamily="2" charset="-122"/>
              </a:rPr>
              <a:t>Starvation </a:t>
            </a:r>
            <a:r>
              <a:rPr lang="en-US" altLang="zh-CN" sz="2400">
                <a:latin typeface="Helvetica" pitchFamily="2" charset="0"/>
                <a:ea typeface="宋体" panose="02010600030101010101" pitchFamily="2" charset="-122"/>
              </a:rPr>
              <a:t>–</a:t>
            </a:r>
            <a:r>
              <a:rPr lang="en-US" altLang="zh-CN" sz="2400">
                <a:ea typeface="宋体" panose="02010600030101010101" pitchFamily="2" charset="-122"/>
              </a:rPr>
              <a:t>  same process may always be picked as victim, include number of rollback in cost factor.</a:t>
            </a:r>
          </a:p>
        </p:txBody>
      </p:sp>
      <p:sp>
        <p:nvSpPr>
          <p:cNvPr id="6" name="Rectangle 2">
            <a:extLst>
              <a:ext uri="{FF2B5EF4-FFF2-40B4-BE49-F238E27FC236}">
                <a16:creationId xmlns:a16="http://schemas.microsoft.com/office/drawing/2014/main" id="{565FC36A-D977-6A44-A560-530ECB21DE68}"/>
              </a:ext>
            </a:extLst>
          </p:cNvPr>
          <p:cNvSpPr>
            <a:spLocks noGrp="1" noChangeArrowheads="1"/>
          </p:cNvSpPr>
          <p:nvPr>
            <p:ph type="title"/>
          </p:nvPr>
        </p:nvSpPr>
        <p:spPr/>
        <p:txBody>
          <a:bodyPr/>
          <a:lstStyle/>
          <a:p>
            <a:r>
              <a:rPr lang="zh-CN" altLang="en-US" sz="4000" dirty="0">
                <a:latin typeface="隶书" pitchFamily="49" charset="-122"/>
              </a:rPr>
              <a:t>死锁处理方法</a:t>
            </a:r>
            <a:r>
              <a:rPr lang="zh-CN" altLang="en-US" sz="2000" dirty="0"/>
              <a:t>（</a:t>
            </a:r>
            <a:r>
              <a:rPr lang="en-US" altLang="zh-CN" sz="2000" dirty="0"/>
              <a:t>10/10</a:t>
            </a:r>
            <a:r>
              <a:rPr lang="zh-CN" altLang="en-US" sz="2000" dirty="0"/>
              <a:t>）</a:t>
            </a:r>
            <a:endParaRPr lang="en-US" altLang="zh-CN" sz="2000" dirty="0"/>
          </a:p>
        </p:txBody>
      </p:sp>
    </p:spTree>
    <p:extLst>
      <p:ext uri="{BB962C8B-B14F-4D97-AF65-F5344CB8AC3E}">
        <p14:creationId xmlns:p14="http://schemas.microsoft.com/office/powerpoint/2010/main" val="115982031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页脚占位符 3">
            <a:extLst>
              <a:ext uri="{FF2B5EF4-FFF2-40B4-BE49-F238E27FC236}">
                <a16:creationId xmlns:a16="http://schemas.microsoft.com/office/drawing/2014/main" id="{DA9AF5FC-9FD4-8A4E-B794-343E3DD17390}"/>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46F8D7EB-C353-7740-9B91-E11F51070E3C}" type="slidenum">
              <a:rPr lang="zh-CN" altLang="en-US" smtClean="0">
                <a:latin typeface="Times New Roman" panose="02020603050405020304" pitchFamily="18" charset="0"/>
              </a:rPr>
              <a:pPr algn="ctr"/>
              <a:t>82</a:t>
            </a:fld>
            <a:endParaRPr lang="zh-CN" altLang="en-US">
              <a:latin typeface="Times New Roman" panose="02020603050405020304" pitchFamily="18" charset="0"/>
            </a:endParaRPr>
          </a:p>
        </p:txBody>
      </p:sp>
      <p:sp>
        <p:nvSpPr>
          <p:cNvPr id="28674" name="Rectangle 2">
            <a:extLst>
              <a:ext uri="{FF2B5EF4-FFF2-40B4-BE49-F238E27FC236}">
                <a16:creationId xmlns:a16="http://schemas.microsoft.com/office/drawing/2014/main" id="{2D5E9129-DD86-E444-A8E6-51CE0E5241BC}"/>
              </a:ext>
            </a:extLst>
          </p:cNvPr>
          <p:cNvSpPr>
            <a:spLocks noGrp="1" noChangeArrowheads="1"/>
          </p:cNvSpPr>
          <p:nvPr>
            <p:ph type="title"/>
          </p:nvPr>
        </p:nvSpPr>
        <p:spPr/>
        <p:txBody>
          <a:bodyPr/>
          <a:lstStyle/>
          <a:p>
            <a:r>
              <a:rPr lang="zh-CN" altLang="en-US"/>
              <a:t>课堂练习</a:t>
            </a:r>
          </a:p>
        </p:txBody>
      </p:sp>
      <p:pic>
        <p:nvPicPr>
          <p:cNvPr id="28675" name="Picture 4" descr="2">
            <a:extLst>
              <a:ext uri="{FF2B5EF4-FFF2-40B4-BE49-F238E27FC236}">
                <a16:creationId xmlns:a16="http://schemas.microsoft.com/office/drawing/2014/main" id="{5323BF22-A9AD-6F42-AD1F-4302F9EFB66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957388" y="2717800"/>
            <a:ext cx="5178425" cy="3467100"/>
          </a:xfrm>
        </p:spPr>
      </p:pic>
      <p:sp>
        <p:nvSpPr>
          <p:cNvPr id="28676" name="Rectangle 5">
            <a:extLst>
              <a:ext uri="{FF2B5EF4-FFF2-40B4-BE49-F238E27FC236}">
                <a16:creationId xmlns:a16="http://schemas.microsoft.com/office/drawing/2014/main" id="{8D22F741-209E-C94B-AF11-736FB1582CCD}"/>
              </a:ext>
            </a:extLst>
          </p:cNvPr>
          <p:cNvSpPr>
            <a:spLocks noChangeArrowheads="1"/>
          </p:cNvSpPr>
          <p:nvPr/>
        </p:nvSpPr>
        <p:spPr bwMode="auto">
          <a:xfrm>
            <a:off x="1473200" y="1771650"/>
            <a:ext cx="6083300" cy="15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spcBef>
                <a:spcPct val="50000"/>
              </a:spcBef>
              <a:buClr>
                <a:srgbClr val="FF0000"/>
              </a:buClr>
              <a:buFont typeface="Monotype Sorts" pitchFamily="2" charset="2"/>
              <a:buBlip>
                <a:blip r:embed="rId3"/>
              </a:buBlip>
            </a:pPr>
            <a:r>
              <a:rPr lang="zh-CN" altLang="en-US" sz="2800">
                <a:solidFill>
                  <a:schemeClr val="tx1"/>
                </a:solidFill>
                <a:latin typeface="Tahoma" panose="020B0604030504040204" pitchFamily="34" charset="0"/>
                <a:ea typeface="隶书" pitchFamily="49" charset="-122"/>
              </a:rPr>
              <a:t> 简化下面进程－资源图，并说明是否会产生死锁？</a:t>
            </a:r>
          </a:p>
          <a:p>
            <a:pPr>
              <a:spcBef>
                <a:spcPct val="50000"/>
              </a:spcBef>
              <a:buClr>
                <a:srgbClr val="FF0000"/>
              </a:buClr>
              <a:buFont typeface="Monotype Sorts" pitchFamily="2" charset="2"/>
              <a:buNone/>
            </a:pPr>
            <a:endParaRPr lang="zh-CN" altLang="en-US" sz="2800">
              <a:solidFill>
                <a:schemeClr val="tx1"/>
              </a:solidFill>
              <a:latin typeface="Tahoma" panose="020B0604030504040204" pitchFamily="34" charset="0"/>
              <a:ea typeface="隶书" pitchFamily="49" charset="-122"/>
            </a:endParaRPr>
          </a:p>
        </p:txBody>
      </p:sp>
    </p:spTree>
    <p:extLst>
      <p:ext uri="{BB962C8B-B14F-4D97-AF65-F5344CB8AC3E}">
        <p14:creationId xmlns:p14="http://schemas.microsoft.com/office/powerpoint/2010/main" val="61638318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页脚占位符 3">
            <a:extLst>
              <a:ext uri="{FF2B5EF4-FFF2-40B4-BE49-F238E27FC236}">
                <a16:creationId xmlns:a16="http://schemas.microsoft.com/office/drawing/2014/main" id="{8C05C18E-D9A3-7547-B7D2-E920599229E3}"/>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8728EBE4-998F-DA4F-B8C5-7C28E081446E}" type="slidenum">
              <a:rPr lang="zh-CN" altLang="en-US" smtClean="0">
                <a:latin typeface="Times New Roman" panose="02020603050405020304" pitchFamily="18" charset="0"/>
              </a:rPr>
              <a:pPr algn="ctr"/>
              <a:t>83</a:t>
            </a:fld>
            <a:endParaRPr lang="zh-CN" altLang="en-US">
              <a:latin typeface="Times New Roman" panose="02020603050405020304" pitchFamily="18" charset="0"/>
            </a:endParaRPr>
          </a:p>
        </p:txBody>
      </p:sp>
      <p:sp>
        <p:nvSpPr>
          <p:cNvPr id="29698" name="Rectangle 2">
            <a:extLst>
              <a:ext uri="{FF2B5EF4-FFF2-40B4-BE49-F238E27FC236}">
                <a16:creationId xmlns:a16="http://schemas.microsoft.com/office/drawing/2014/main" id="{B7E2D4B2-E1C3-E140-9CDB-7CB88F1CE699}"/>
              </a:ext>
            </a:extLst>
          </p:cNvPr>
          <p:cNvSpPr>
            <a:spLocks noGrp="1" noChangeArrowheads="1"/>
          </p:cNvSpPr>
          <p:nvPr>
            <p:ph type="title"/>
          </p:nvPr>
        </p:nvSpPr>
        <p:spPr/>
        <p:txBody>
          <a:bodyPr/>
          <a:lstStyle/>
          <a:p>
            <a:r>
              <a:rPr lang="zh-CN" altLang="en-US"/>
              <a:t>课堂练习</a:t>
            </a:r>
          </a:p>
        </p:txBody>
      </p:sp>
      <p:pic>
        <p:nvPicPr>
          <p:cNvPr id="29699" name="图片 99">
            <a:extLst>
              <a:ext uri="{FF2B5EF4-FFF2-40B4-BE49-F238E27FC236}">
                <a16:creationId xmlns:a16="http://schemas.microsoft.com/office/drawing/2014/main" id="{6113F34D-ABF2-0C41-A212-81BC6A5AD5CA}"/>
              </a:ext>
            </a:extLst>
          </p:cNvPr>
          <p:cNvPicPr>
            <a:picLocks noChangeArrowheads="1"/>
          </p:cNvPicPr>
          <p:nvPr>
            <p:custDataLst>
              <p:tags r:id="rId1"/>
            </p:custDataLst>
          </p:nvPr>
        </p:nvPicPr>
        <p:blipFill>
          <a:blip r:embed="rId3">
            <a:extLst>
              <a:ext uri="{28A0092B-C50C-407E-A947-70E740481C1C}">
                <a14:useLocalDpi xmlns:a14="http://schemas.microsoft.com/office/drawing/2010/main" val="0"/>
              </a:ext>
            </a:extLst>
          </a:blip>
          <a:srcRect/>
          <a:stretch>
            <a:fillRect/>
          </a:stretch>
        </p:blipFill>
        <p:spPr bwMode="auto">
          <a:xfrm>
            <a:off x="1438275" y="1706563"/>
            <a:ext cx="6048375" cy="4867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759132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页脚占位符 3">
            <a:extLst>
              <a:ext uri="{FF2B5EF4-FFF2-40B4-BE49-F238E27FC236}">
                <a16:creationId xmlns:a16="http://schemas.microsoft.com/office/drawing/2014/main" id="{F0551AC3-9109-8543-941A-1B5A232C731F}"/>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A359B06C-6D2F-8547-BED3-10B81234F13D}" type="slidenum">
              <a:rPr lang="zh-CN" altLang="en-US" smtClean="0">
                <a:latin typeface="Times New Roman" panose="02020603050405020304" pitchFamily="18" charset="0"/>
              </a:rPr>
              <a:pPr algn="ctr"/>
              <a:t>84</a:t>
            </a:fld>
            <a:endParaRPr lang="zh-CN" altLang="en-US">
              <a:latin typeface="Times New Roman" panose="02020603050405020304" pitchFamily="18" charset="0"/>
            </a:endParaRPr>
          </a:p>
        </p:txBody>
      </p:sp>
      <p:sp>
        <p:nvSpPr>
          <p:cNvPr id="30722" name="Rectangle 2">
            <a:extLst>
              <a:ext uri="{FF2B5EF4-FFF2-40B4-BE49-F238E27FC236}">
                <a16:creationId xmlns:a16="http://schemas.microsoft.com/office/drawing/2014/main" id="{BAC02CAF-8316-5647-9824-2033FEED15AD}"/>
              </a:ext>
            </a:extLst>
          </p:cNvPr>
          <p:cNvSpPr>
            <a:spLocks noGrp="1" noChangeArrowheads="1"/>
          </p:cNvSpPr>
          <p:nvPr>
            <p:ph type="title"/>
          </p:nvPr>
        </p:nvSpPr>
        <p:spPr/>
        <p:txBody>
          <a:bodyPr/>
          <a:lstStyle/>
          <a:p>
            <a:r>
              <a:rPr lang="zh-CN" altLang="en-US"/>
              <a:t>课堂练习</a:t>
            </a:r>
          </a:p>
        </p:txBody>
      </p:sp>
      <p:sp>
        <p:nvSpPr>
          <p:cNvPr id="30723" name="文本框 1">
            <a:extLst>
              <a:ext uri="{FF2B5EF4-FFF2-40B4-BE49-F238E27FC236}">
                <a16:creationId xmlns:a16="http://schemas.microsoft.com/office/drawing/2014/main" id="{C8B6C241-16F7-FE4D-8AC7-04C89BD9F93B}"/>
              </a:ext>
            </a:extLst>
          </p:cNvPr>
          <p:cNvSpPr txBox="1">
            <a:spLocks noChangeArrowheads="1"/>
          </p:cNvSpPr>
          <p:nvPr/>
        </p:nvSpPr>
        <p:spPr bwMode="auto">
          <a:xfrm>
            <a:off x="1277938" y="1793875"/>
            <a:ext cx="6588125" cy="412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sz="1800"/>
              <a:t>&gt;第二步了解阻塞节点以及非阻塞节点</a:t>
            </a:r>
          </a:p>
          <a:p>
            <a:endParaRPr lang="zh-CN" altLang="en-US" sz="1800"/>
          </a:p>
          <a:p>
            <a:r>
              <a:rPr lang="zh-CN" altLang="en-US" sz="1800"/>
              <a:t>阻塞节点：进程申请资源得不到满足</a:t>
            </a:r>
          </a:p>
          <a:p>
            <a:endParaRPr lang="zh-CN" altLang="en-US" sz="1800"/>
          </a:p>
          <a:p>
            <a:r>
              <a:rPr lang="zh-CN" altLang="en-US" sz="1800"/>
              <a:t>非阻塞节点：系统有足够的空闲资源分配给该进程</a:t>
            </a:r>
          </a:p>
          <a:p>
            <a:endParaRPr lang="zh-CN" altLang="en-US" sz="1800"/>
          </a:p>
          <a:p>
            <a:r>
              <a:rPr lang="zh-CN" altLang="en-US" sz="1800"/>
              <a:t>&gt;第三步了解什么是进程资源图是否可化简</a:t>
            </a:r>
          </a:p>
          <a:p>
            <a:endParaRPr lang="zh-CN" altLang="en-US" sz="1800"/>
          </a:p>
          <a:p>
            <a:r>
              <a:rPr lang="zh-CN" altLang="en-US" sz="1800"/>
              <a:t>第一步：先看系统还剩下</a:t>
            </a:r>
            <a:r>
              <a:rPr lang="zh-CN" altLang="en-US" sz="1800">
                <a:solidFill>
                  <a:srgbClr val="FF0000"/>
                </a:solidFill>
              </a:rPr>
              <a:t>多少资源没分配</a:t>
            </a:r>
            <a:r>
              <a:rPr lang="zh-CN" altLang="en-US" sz="1800"/>
              <a:t>，再看有哪些进程是不阻塞（“不阻塞”即：系统有足够的空闲资源分配给它）的</a:t>
            </a:r>
          </a:p>
          <a:p>
            <a:r>
              <a:rPr lang="zh-CN" altLang="en-US" sz="1800"/>
              <a:t>第二步：把</a:t>
            </a:r>
            <a:r>
              <a:rPr lang="zh-CN" altLang="en-US" sz="1800">
                <a:solidFill>
                  <a:srgbClr val="FF0000"/>
                </a:solidFill>
              </a:rPr>
              <a:t>不阻塞</a:t>
            </a:r>
            <a:r>
              <a:rPr lang="zh-CN" altLang="en-US" sz="1800"/>
              <a:t>的进程的所有</a:t>
            </a:r>
            <a:r>
              <a:rPr lang="zh-CN" altLang="en-US" sz="1800">
                <a:solidFill>
                  <a:srgbClr val="FF0000"/>
                </a:solidFill>
              </a:rPr>
              <a:t>边都去掉</a:t>
            </a:r>
            <a:r>
              <a:rPr lang="zh-CN" altLang="en-US" sz="1800"/>
              <a:t>，形成</a:t>
            </a:r>
            <a:r>
              <a:rPr lang="zh-CN" altLang="en-US" sz="1800">
                <a:solidFill>
                  <a:srgbClr val="FF0000"/>
                </a:solidFill>
              </a:rPr>
              <a:t>一个孤立的点</a:t>
            </a:r>
            <a:r>
              <a:rPr lang="zh-CN" altLang="en-US" sz="1800"/>
              <a:t>，再把系统分配给这个进程的</a:t>
            </a:r>
            <a:r>
              <a:rPr lang="zh-CN" altLang="en-US" sz="1800">
                <a:solidFill>
                  <a:srgbClr val="FF0000"/>
                </a:solidFill>
              </a:rPr>
              <a:t>资源回收</a:t>
            </a:r>
            <a:r>
              <a:rPr lang="zh-CN" altLang="en-US" sz="1800"/>
              <a:t>回来</a:t>
            </a:r>
          </a:p>
          <a:p>
            <a:r>
              <a:rPr lang="zh-CN" altLang="en-US" sz="1800"/>
              <a:t>第三步：看剩下的进程有哪些是不阻塞的，然后又把它们</a:t>
            </a:r>
            <a:r>
              <a:rPr lang="zh-CN" altLang="en-US" sz="1800">
                <a:solidFill>
                  <a:srgbClr val="FF0000"/>
                </a:solidFill>
              </a:rPr>
              <a:t>逐个变成孤立的点</a:t>
            </a:r>
            <a:r>
              <a:rPr lang="zh-CN" altLang="en-US" sz="1800"/>
              <a:t>。</a:t>
            </a:r>
          </a:p>
          <a:p>
            <a:r>
              <a:rPr lang="zh-CN" altLang="en-US" sz="1800"/>
              <a:t>第四步：最后，所有的资源和进程都变成孤立的点。这样的图就叫做“可完全简化”</a:t>
            </a:r>
          </a:p>
        </p:txBody>
      </p:sp>
    </p:spTree>
    <p:extLst>
      <p:ext uri="{BB962C8B-B14F-4D97-AF65-F5344CB8AC3E}">
        <p14:creationId xmlns:p14="http://schemas.microsoft.com/office/powerpoint/2010/main" val="211560820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页脚占位符 3">
            <a:extLst>
              <a:ext uri="{FF2B5EF4-FFF2-40B4-BE49-F238E27FC236}">
                <a16:creationId xmlns:a16="http://schemas.microsoft.com/office/drawing/2014/main" id="{D19ED84F-ACA5-9441-8D5B-4965E5636B83}"/>
              </a:ext>
            </a:extLst>
          </p:cNvPr>
          <p:cNvSpPr>
            <a:spLocks noGrp="1" noChangeArrowheads="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prstTxWarp prst="textNoShape">
              <a:avLst/>
            </a:prstTxWarp>
          </a:bodyPr>
          <a:lstStyle/>
          <a:p>
            <a:pPr algn="ctr"/>
            <a:fld id="{DA8489AF-C4C8-C846-88E1-90F9B6A985AF}" type="slidenum">
              <a:rPr lang="zh-CN" altLang="en-US" smtClean="0">
                <a:latin typeface="Times New Roman" panose="02020603050405020304" pitchFamily="18" charset="0"/>
              </a:rPr>
              <a:pPr algn="ctr"/>
              <a:t>85</a:t>
            </a:fld>
            <a:endParaRPr lang="zh-CN" altLang="en-US">
              <a:latin typeface="Times New Roman" panose="02020603050405020304" pitchFamily="18" charset="0"/>
            </a:endParaRPr>
          </a:p>
        </p:txBody>
      </p:sp>
      <p:sp>
        <p:nvSpPr>
          <p:cNvPr id="31746" name="Rectangle 2">
            <a:extLst>
              <a:ext uri="{FF2B5EF4-FFF2-40B4-BE49-F238E27FC236}">
                <a16:creationId xmlns:a16="http://schemas.microsoft.com/office/drawing/2014/main" id="{98BAE0AE-6B59-3149-B975-2069F3FD5B84}"/>
              </a:ext>
            </a:extLst>
          </p:cNvPr>
          <p:cNvSpPr>
            <a:spLocks noGrp="1" noChangeArrowheads="1"/>
          </p:cNvSpPr>
          <p:nvPr>
            <p:ph type="title"/>
          </p:nvPr>
        </p:nvSpPr>
        <p:spPr/>
        <p:txBody>
          <a:bodyPr/>
          <a:lstStyle/>
          <a:p>
            <a:r>
              <a:rPr lang="zh-CN" altLang="en-US"/>
              <a:t>课堂练习</a:t>
            </a:r>
          </a:p>
        </p:txBody>
      </p:sp>
      <p:pic>
        <p:nvPicPr>
          <p:cNvPr id="31747" name="Picture 4" descr="2">
            <a:extLst>
              <a:ext uri="{FF2B5EF4-FFF2-40B4-BE49-F238E27FC236}">
                <a16:creationId xmlns:a16="http://schemas.microsoft.com/office/drawing/2014/main" id="{E80C037F-35D3-F948-AF2B-B1AF4B263750}"/>
              </a:ext>
            </a:extLst>
          </p:cNvPr>
          <p:cNvPicPr>
            <a:picLocks noGrp="1" noChangeAspect="1" noChangeArrowheads="1"/>
          </p:cNvPicPr>
          <p:nvPr>
            <p:ph idx="1"/>
            <p:custDataLst>
              <p:tags r:id="rId1"/>
            </p:custDataLst>
          </p:nvPr>
        </p:nvPicPr>
        <p:blipFill>
          <a:blip r:embed="rId3">
            <a:extLst>
              <a:ext uri="{28A0092B-C50C-407E-A947-70E740481C1C}">
                <a14:useLocalDpi xmlns:a14="http://schemas.microsoft.com/office/drawing/2010/main" val="0"/>
              </a:ext>
            </a:extLst>
          </a:blip>
          <a:srcRect/>
          <a:stretch>
            <a:fillRect/>
          </a:stretch>
        </p:blipFill>
        <p:spPr>
          <a:xfrm>
            <a:off x="1909763" y="1879600"/>
            <a:ext cx="4110037" cy="3954463"/>
          </a:xfrm>
        </p:spPr>
      </p:pic>
      <p:sp>
        <p:nvSpPr>
          <p:cNvPr id="31748" name="文本框 1">
            <a:extLst>
              <a:ext uri="{FF2B5EF4-FFF2-40B4-BE49-F238E27FC236}">
                <a16:creationId xmlns:a16="http://schemas.microsoft.com/office/drawing/2014/main" id="{3367A84F-7357-6447-A2BC-6C11EEA7A98E}"/>
              </a:ext>
            </a:extLst>
          </p:cNvPr>
          <p:cNvSpPr txBox="1">
            <a:spLocks noChangeArrowheads="1"/>
          </p:cNvSpPr>
          <p:nvPr/>
        </p:nvSpPr>
        <p:spPr bwMode="auto">
          <a:xfrm>
            <a:off x="5922963" y="2124075"/>
            <a:ext cx="2081212" cy="52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zh-CN" altLang="en-US" sz="2800"/>
              <a:t>都阻塞了</a:t>
            </a:r>
          </a:p>
        </p:txBody>
      </p:sp>
    </p:spTree>
    <p:extLst>
      <p:ext uri="{BB962C8B-B14F-4D97-AF65-F5344CB8AC3E}">
        <p14:creationId xmlns:p14="http://schemas.microsoft.com/office/powerpoint/2010/main" val="52081472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9" name="Rectangle 2">
            <a:extLst>
              <a:ext uri="{FF2B5EF4-FFF2-40B4-BE49-F238E27FC236}">
                <a16:creationId xmlns:a16="http://schemas.microsoft.com/office/drawing/2014/main" id="{3265FD16-9E28-6D4E-A1D0-593DF3161473}"/>
              </a:ext>
            </a:extLst>
          </p:cNvPr>
          <p:cNvSpPr>
            <a:spLocks noGrp="1" noChangeArrowheads="1"/>
          </p:cNvSpPr>
          <p:nvPr>
            <p:ph type="title"/>
          </p:nvPr>
        </p:nvSpPr>
        <p:spPr/>
        <p:txBody>
          <a:bodyPr/>
          <a:lstStyle/>
          <a:p>
            <a:r>
              <a:rPr lang="zh-CN" altLang="en-US" sz="3200" b="1">
                <a:solidFill>
                  <a:srgbClr val="0000FF"/>
                </a:solidFill>
                <a:sym typeface="宋体" panose="02010600030101010101" pitchFamily="2" charset="-122"/>
              </a:rPr>
              <a:t>一、并行编程基础知识</a:t>
            </a:r>
            <a:endParaRPr lang="en-US" altLang="zh-CN" sz="3200" b="1">
              <a:solidFill>
                <a:srgbClr val="0000FF"/>
              </a:solidFill>
            </a:endParaRPr>
          </a:p>
        </p:txBody>
      </p:sp>
      <p:pic>
        <p:nvPicPr>
          <p:cNvPr id="12290" name="图片 3" descr="系统架构图v3">
            <a:extLst>
              <a:ext uri="{FF2B5EF4-FFF2-40B4-BE49-F238E27FC236}">
                <a16:creationId xmlns:a16="http://schemas.microsoft.com/office/drawing/2014/main" id="{BA64BABA-E2BB-6A4D-8BF2-0D6EEB24FD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93888" y="901700"/>
            <a:ext cx="5356225" cy="5940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advTm="41886"/>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3" name="Rectangle 2">
            <a:extLst>
              <a:ext uri="{FF2B5EF4-FFF2-40B4-BE49-F238E27FC236}">
                <a16:creationId xmlns:a16="http://schemas.microsoft.com/office/drawing/2014/main" id="{0FDD55B0-E91A-214E-8B00-A96281764D95}"/>
              </a:ext>
            </a:extLst>
          </p:cNvPr>
          <p:cNvSpPr>
            <a:spLocks noGrp="1" noChangeArrowheads="1"/>
          </p:cNvSpPr>
          <p:nvPr>
            <p:ph type="title"/>
          </p:nvPr>
        </p:nvSpPr>
        <p:spPr/>
        <p:txBody>
          <a:bodyPr/>
          <a:lstStyle/>
          <a:p>
            <a:r>
              <a:rPr lang="zh-CN" altLang="en-US" sz="3200" b="1">
                <a:solidFill>
                  <a:srgbClr val="0000FF"/>
                </a:solidFill>
              </a:rPr>
              <a:t>一、并行编程基础知识</a:t>
            </a:r>
            <a:endParaRPr lang="en-US" altLang="zh-CN" sz="3200" b="1">
              <a:solidFill>
                <a:srgbClr val="0000FF"/>
              </a:solidFill>
            </a:endParaRPr>
          </a:p>
        </p:txBody>
      </p:sp>
      <p:sp>
        <p:nvSpPr>
          <p:cNvPr id="13314" name="Rectangle 3">
            <a:extLst>
              <a:ext uri="{FF2B5EF4-FFF2-40B4-BE49-F238E27FC236}">
                <a16:creationId xmlns:a16="http://schemas.microsoft.com/office/drawing/2014/main" id="{D31421D9-EBD9-834F-9922-E82D27BB519A}"/>
              </a:ext>
            </a:extLst>
          </p:cNvPr>
          <p:cNvSpPr>
            <a:spLocks noGrp="1" noChangeArrowheads="1"/>
          </p:cNvSpPr>
          <p:nvPr>
            <p:ph idx="1"/>
          </p:nvPr>
        </p:nvSpPr>
        <p:spPr>
          <a:xfrm>
            <a:off x="684213" y="1773238"/>
            <a:ext cx="8316912" cy="4870450"/>
          </a:xfrm>
        </p:spPr>
        <p:txBody>
          <a:bodyPr/>
          <a:lstStyle/>
          <a:p>
            <a:pPr eaLnBrk="1" hangingPunct="1">
              <a:buClr>
                <a:srgbClr val="0000FF"/>
              </a:buClr>
              <a:buFont typeface="Wingdings" pitchFamily="2" charset="2"/>
              <a:buChar char="u"/>
            </a:pPr>
            <a:r>
              <a:rPr lang="zh-CN" altLang="en-US" sz="2000">
                <a:solidFill>
                  <a:srgbClr val="FF0000"/>
                </a:solidFill>
              </a:rPr>
              <a:t>程序：</a:t>
            </a:r>
            <a:r>
              <a:rPr lang="zh-CN" altLang="en-US" sz="2000"/>
              <a:t>实现特定目标或解决特定问题而用计算机语言编写的命令序列的集合，或者称之为：</a:t>
            </a:r>
            <a:r>
              <a:rPr lang="zh-CN" altLang="en-US" sz="2000">
                <a:solidFill>
                  <a:srgbClr val="0000FF"/>
                </a:solidFill>
              </a:rPr>
              <a:t>算法</a:t>
            </a:r>
            <a:r>
              <a:rPr lang="en-US" altLang="zh-CN" sz="2000">
                <a:solidFill>
                  <a:srgbClr val="0000FF"/>
                </a:solidFill>
              </a:rPr>
              <a:t>+</a:t>
            </a:r>
            <a:r>
              <a:rPr lang="zh-CN" altLang="en-US" sz="2000">
                <a:solidFill>
                  <a:srgbClr val="0000FF"/>
                </a:solidFill>
              </a:rPr>
              <a:t>数据结构。</a:t>
            </a:r>
          </a:p>
          <a:p>
            <a:pPr eaLnBrk="1" hangingPunct="1">
              <a:buClr>
                <a:srgbClr val="0000FF"/>
              </a:buClr>
              <a:buFont typeface="Wingdings" pitchFamily="2" charset="2"/>
              <a:buChar char="u"/>
            </a:pPr>
            <a:r>
              <a:rPr lang="zh-CN" altLang="en-US" sz="2000">
                <a:solidFill>
                  <a:srgbClr val="FF0000"/>
                </a:solidFill>
                <a:sym typeface="宋体" panose="02010600030101010101" pitchFamily="2" charset="-122"/>
              </a:rPr>
              <a:t>进程：</a:t>
            </a:r>
            <a:r>
              <a:rPr lang="zh-CN" altLang="en-US" sz="2000">
                <a:solidFill>
                  <a:srgbClr val="0000FF"/>
                </a:solidFill>
                <a:sym typeface="宋体" panose="02010600030101010101" pitchFamily="2" charset="-122"/>
              </a:rPr>
              <a:t>可并发执行的程序在一个数据集合上的运行过程。</a:t>
            </a:r>
          </a:p>
          <a:p>
            <a:pPr eaLnBrk="1" hangingPunct="1">
              <a:buClr>
                <a:srgbClr val="0000FF"/>
              </a:buClr>
              <a:buFont typeface="Wingdings" pitchFamily="2" charset="2"/>
              <a:buChar char="Ø"/>
            </a:pPr>
            <a:r>
              <a:rPr lang="zh-CN" altLang="en-US" sz="2000"/>
              <a:t>进程是程序的一次执行；</a:t>
            </a:r>
          </a:p>
          <a:p>
            <a:pPr eaLnBrk="1" hangingPunct="1">
              <a:buClr>
                <a:srgbClr val="0000FF"/>
              </a:buClr>
              <a:buFont typeface="Wingdings" pitchFamily="2" charset="2"/>
              <a:buChar char="Ø"/>
            </a:pPr>
            <a:r>
              <a:rPr lang="zh-CN" altLang="en-US" sz="2000"/>
              <a:t>进程可以是和别的计算并发执行的计算；</a:t>
            </a:r>
          </a:p>
          <a:p>
            <a:pPr eaLnBrk="1" hangingPunct="1">
              <a:buClr>
                <a:srgbClr val="0000FF"/>
              </a:buClr>
              <a:buFont typeface="Wingdings" pitchFamily="2" charset="2"/>
              <a:buChar char="Ø"/>
            </a:pPr>
            <a:r>
              <a:rPr lang="zh-CN" altLang="en-US" sz="2000"/>
              <a:t>进程可以定义为一个数据结构及其能在其上进行操作的一个程序；</a:t>
            </a:r>
          </a:p>
          <a:p>
            <a:pPr eaLnBrk="1" hangingPunct="1">
              <a:buClr>
                <a:srgbClr val="0000FF"/>
              </a:buClr>
              <a:buFont typeface="Wingdings" pitchFamily="2" charset="2"/>
              <a:buChar char="Ø"/>
            </a:pPr>
            <a:r>
              <a:rPr lang="zh-CN" altLang="en-US" sz="2000"/>
              <a:t>进程是一个程序及其数据在处理机上顺序执行时所发生的活动；</a:t>
            </a:r>
          </a:p>
          <a:p>
            <a:pPr eaLnBrk="1" hangingPunct="1">
              <a:buClr>
                <a:srgbClr val="0000FF"/>
              </a:buClr>
              <a:buFont typeface="Wingdings" pitchFamily="2" charset="2"/>
              <a:buChar char="Ø"/>
            </a:pPr>
            <a:r>
              <a:rPr lang="zh-CN" altLang="en-US" sz="2000"/>
              <a:t>进程是程序在一个数据集合上的运行过程，是系统进行资源分配和调度的独立单位。</a:t>
            </a:r>
          </a:p>
          <a:p>
            <a:pPr eaLnBrk="1" hangingPunct="1">
              <a:buClr>
                <a:srgbClr val="0000FF"/>
              </a:buClr>
              <a:buFont typeface="Wingdings" pitchFamily="2" charset="2"/>
              <a:buChar char="u"/>
            </a:pPr>
            <a:r>
              <a:rPr lang="zh-CN" altLang="en-US" sz="2000">
                <a:solidFill>
                  <a:srgbClr val="FF0000"/>
                </a:solidFill>
                <a:sym typeface="宋体" panose="02010600030101010101" pitchFamily="2" charset="-122"/>
              </a:rPr>
              <a:t>线程：</a:t>
            </a:r>
            <a:r>
              <a:rPr lang="zh-CN" altLang="en-US" sz="2000">
                <a:solidFill>
                  <a:srgbClr val="0000FF"/>
                </a:solidFill>
                <a:sym typeface="宋体" panose="02010600030101010101" pitchFamily="2" charset="-122"/>
              </a:rPr>
              <a:t>线程是进程中的一个实体</a:t>
            </a:r>
            <a:r>
              <a:rPr lang="zh-CN" altLang="en-US" sz="2000">
                <a:sym typeface="宋体" panose="02010600030101010101" pitchFamily="2" charset="-122"/>
              </a:rPr>
              <a:t>，是被系统独立调度和分派的基本单位。线程自己基本不拥有系统资源，只拥有一点在运行中必不可少的资源（如程序计数器、一组寄存器和堆栈），但他与同属于一个进程中的其他线程共享进程所拥有的全部资源。</a:t>
            </a:r>
            <a:endParaRPr lang="zh-CN" altLang="en-US" sz="2400"/>
          </a:p>
        </p:txBody>
      </p:sp>
      <p:sp>
        <p:nvSpPr>
          <p:cNvPr id="13315" name="Rectangle 2">
            <a:extLst>
              <a:ext uri="{FF2B5EF4-FFF2-40B4-BE49-F238E27FC236}">
                <a16:creationId xmlns:a16="http://schemas.microsoft.com/office/drawing/2014/main" id="{2616D0D3-5652-9D4B-B260-51F91B8BF21B}"/>
              </a:ext>
            </a:extLst>
          </p:cNvPr>
          <p:cNvSpPr txBox="1">
            <a:spLocks noChangeArrowheads="1"/>
          </p:cNvSpPr>
          <p:nvPr/>
        </p:nvSpPr>
        <p:spPr bwMode="auto">
          <a:xfrm>
            <a:off x="1214438" y="1084263"/>
            <a:ext cx="72580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2400" b="1">
                <a:solidFill>
                  <a:srgbClr val="0000FF"/>
                </a:solidFill>
                <a:latin typeface="黑体" panose="02010609060101010101" pitchFamily="49" charset="-122"/>
                <a:ea typeface="黑体" panose="02010609060101010101" pitchFamily="49" charset="-122"/>
              </a:rPr>
              <a:t>两个重要概念：进程与线程</a:t>
            </a:r>
          </a:p>
        </p:txBody>
      </p:sp>
    </p:spTree>
  </p:cSld>
  <p:clrMapOvr>
    <a:masterClrMapping/>
  </p:clrMapOvr>
  <p:transition advTm="130901"/>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Rectangle 2">
            <a:extLst>
              <a:ext uri="{FF2B5EF4-FFF2-40B4-BE49-F238E27FC236}">
                <a16:creationId xmlns:a16="http://schemas.microsoft.com/office/drawing/2014/main" id="{039C78EF-53BD-4C45-9534-8F8040472077}"/>
              </a:ext>
            </a:extLst>
          </p:cNvPr>
          <p:cNvSpPr>
            <a:spLocks noGrp="1" noChangeArrowheads="1"/>
          </p:cNvSpPr>
          <p:nvPr>
            <p:ph type="title"/>
          </p:nvPr>
        </p:nvSpPr>
        <p:spPr/>
        <p:txBody>
          <a:bodyPr/>
          <a:lstStyle/>
          <a:p>
            <a:r>
              <a:rPr lang="zh-CN" altLang="en-US" sz="3200" b="1">
                <a:solidFill>
                  <a:srgbClr val="0000FF"/>
                </a:solidFill>
                <a:sym typeface="宋体" panose="02010600030101010101" pitchFamily="2" charset="-122"/>
              </a:rPr>
              <a:t>一、并行编程基础知识</a:t>
            </a:r>
            <a:endParaRPr lang="en-US" altLang="zh-CN" sz="3200" b="1">
              <a:solidFill>
                <a:srgbClr val="0000FF"/>
              </a:solidFill>
            </a:endParaRPr>
          </a:p>
        </p:txBody>
      </p:sp>
      <p:sp>
        <p:nvSpPr>
          <p:cNvPr id="14338" name="Rectangle 3">
            <a:extLst>
              <a:ext uri="{FF2B5EF4-FFF2-40B4-BE49-F238E27FC236}">
                <a16:creationId xmlns:a16="http://schemas.microsoft.com/office/drawing/2014/main" id="{E8055DF0-E974-8444-994F-96A77C32CFAA}"/>
              </a:ext>
            </a:extLst>
          </p:cNvPr>
          <p:cNvSpPr>
            <a:spLocks noGrp="1" noChangeArrowheads="1"/>
          </p:cNvSpPr>
          <p:nvPr>
            <p:ph idx="1"/>
          </p:nvPr>
        </p:nvSpPr>
        <p:spPr>
          <a:xfrm>
            <a:off x="684213" y="1773238"/>
            <a:ext cx="8316912" cy="4870450"/>
          </a:xfrm>
        </p:spPr>
        <p:txBody>
          <a:bodyPr/>
          <a:lstStyle/>
          <a:p>
            <a:pPr eaLnBrk="1" hangingPunct="1">
              <a:buClr>
                <a:srgbClr val="0000FF"/>
              </a:buClr>
              <a:buFont typeface="Wingdings" pitchFamily="2" charset="2"/>
              <a:buChar char="u"/>
            </a:pPr>
            <a:r>
              <a:rPr lang="zh-CN" altLang="en-US" sz="2000"/>
              <a:t>并行编程通常是指软件代码，它促进在同一时间执行多个计算任务的性能。</a:t>
            </a:r>
            <a:endParaRPr lang="en-US" altLang="zh-CN" sz="2000"/>
          </a:p>
          <a:p>
            <a:pPr eaLnBrk="1" hangingPunct="1">
              <a:buClr>
                <a:srgbClr val="0000FF"/>
              </a:buClr>
              <a:buFont typeface="Wingdings" pitchFamily="2" charset="2"/>
              <a:buChar char="u"/>
            </a:pPr>
            <a:r>
              <a:rPr lang="en-US" altLang="zh-CN" sz="2000"/>
              <a:t>For example</a:t>
            </a:r>
            <a:r>
              <a:rPr lang="zh-CN" altLang="en-US" sz="2000"/>
              <a:t>：</a:t>
            </a:r>
            <a:endParaRPr lang="en-US" altLang="zh-CN" sz="2000"/>
          </a:p>
          <a:p>
            <a:pPr eaLnBrk="1" hangingPunct="1">
              <a:buClr>
                <a:srgbClr val="0000FF"/>
              </a:buClr>
              <a:buFont typeface="Wingdings" pitchFamily="2" charset="2"/>
              <a:buChar char="Ø"/>
            </a:pPr>
            <a:r>
              <a:rPr lang="zh-CN" altLang="en-US" sz="2000"/>
              <a:t>操场上有</a:t>
            </a:r>
            <a:r>
              <a:rPr lang="en-US" altLang="zh-CN" sz="2000"/>
              <a:t>20</a:t>
            </a:r>
            <a:r>
              <a:rPr lang="zh-CN" altLang="en-US" sz="2000"/>
              <a:t>个滑梯而不是一个。孩子们不必排队等待轮到自己，因为他们可以同时玩。</a:t>
            </a:r>
            <a:endParaRPr lang="en-US" altLang="zh-CN" sz="2000"/>
          </a:p>
          <a:p>
            <a:pPr eaLnBrk="1" hangingPunct="1">
              <a:buClr>
                <a:srgbClr val="0000FF"/>
              </a:buClr>
              <a:buFont typeface="Wingdings" pitchFamily="2" charset="2"/>
              <a:buChar char="Ø"/>
            </a:pPr>
            <a:r>
              <a:rPr lang="zh-CN" altLang="en-US" sz="2000"/>
              <a:t>使用电脑鼠标，一边听音乐，一边写毕业论文，同时对个人电脑做病毒扫描，这唯一的理由就是</a:t>
            </a:r>
            <a:r>
              <a:rPr lang="zh-CN" altLang="en-US" sz="2000">
                <a:solidFill>
                  <a:srgbClr val="FF0000"/>
                </a:solidFill>
              </a:rPr>
              <a:t>并发编程。</a:t>
            </a:r>
            <a:endParaRPr lang="en-US" altLang="zh-CN" sz="2000">
              <a:solidFill>
                <a:srgbClr val="FF0000"/>
              </a:solidFill>
            </a:endParaRPr>
          </a:p>
          <a:p>
            <a:pPr eaLnBrk="1" hangingPunct="1">
              <a:buClr>
                <a:srgbClr val="0000FF"/>
              </a:buClr>
              <a:buFont typeface="Wingdings" pitchFamily="2" charset="2"/>
              <a:buChar char="Ø"/>
            </a:pPr>
            <a:r>
              <a:rPr lang="zh-CN" altLang="en-US" sz="2000"/>
              <a:t>在这种情况下，它的多重任务允许</a:t>
            </a:r>
            <a:r>
              <a:rPr lang="zh-CN" altLang="en-US" sz="2000">
                <a:solidFill>
                  <a:srgbClr val="FF0000"/>
                </a:solidFill>
              </a:rPr>
              <a:t>多个程序或进程</a:t>
            </a:r>
            <a:r>
              <a:rPr lang="zh-CN" altLang="en-US" sz="2000"/>
              <a:t>访问</a:t>
            </a:r>
            <a:r>
              <a:rPr lang="en-US" altLang="zh-CN" sz="2000"/>
              <a:t>CPU</a:t>
            </a:r>
            <a:r>
              <a:rPr lang="zh-CN" altLang="en-US" sz="2000"/>
              <a:t>而没有等待。这一设置允许使用多任务共享的资源进行密集的</a:t>
            </a:r>
            <a:r>
              <a:rPr lang="en-US" altLang="zh-CN" sz="2000"/>
              <a:t>I/O</a:t>
            </a:r>
            <a:r>
              <a:rPr lang="zh-CN" altLang="en-US" sz="2000"/>
              <a:t>处理和有效的信号处理。</a:t>
            </a:r>
            <a:endParaRPr lang="en-US" altLang="zh-CN" sz="2000"/>
          </a:p>
          <a:p>
            <a:pPr eaLnBrk="1" hangingPunct="1">
              <a:buClr>
                <a:srgbClr val="0000FF"/>
              </a:buClr>
              <a:buFont typeface="Wingdings" pitchFamily="2" charset="2"/>
              <a:buChar char="Ø"/>
            </a:pPr>
            <a:r>
              <a:rPr lang="zh-CN" altLang="en-US" sz="2000"/>
              <a:t>并发性也可以通过实施</a:t>
            </a:r>
            <a:r>
              <a:rPr lang="zh-CN" altLang="en-US" sz="2000">
                <a:solidFill>
                  <a:srgbClr val="FF0000"/>
                </a:solidFill>
              </a:rPr>
              <a:t>多个计算线程发生</a:t>
            </a:r>
            <a:r>
              <a:rPr lang="en-US" altLang="zh-CN" sz="2000">
                <a:solidFill>
                  <a:srgbClr val="FF0000"/>
                </a:solidFill>
              </a:rPr>
              <a:t>(</a:t>
            </a:r>
            <a:r>
              <a:rPr lang="zh-CN" altLang="en-US" sz="2000"/>
              <a:t>通常采用交错启动和完成点</a:t>
            </a:r>
            <a:r>
              <a:rPr lang="en-US" altLang="zh-CN" sz="2000"/>
              <a:t>)</a:t>
            </a:r>
            <a:r>
              <a:rPr lang="zh-CN" altLang="en-US" sz="2000"/>
              <a:t>。</a:t>
            </a:r>
            <a:r>
              <a:rPr lang="zh-CN" altLang="en-US" sz="2000">
                <a:solidFill>
                  <a:srgbClr val="FF0000"/>
                </a:solidFill>
              </a:rPr>
              <a:t>这叫做多线程，</a:t>
            </a:r>
            <a:r>
              <a:rPr lang="zh-CN" altLang="en-US" sz="2000"/>
              <a:t>并且它发生在一个单一的进程或程序中。这就是为什么你可以打印一个文档，同时继续编辑另一个文档。如果没有多线程，</a:t>
            </a:r>
            <a:r>
              <a:rPr lang="en-US" altLang="zh-CN" sz="2000"/>
              <a:t>UI</a:t>
            </a:r>
            <a:r>
              <a:rPr lang="zh-CN" altLang="en-US" sz="2000"/>
              <a:t>会太慢</a:t>
            </a:r>
            <a:r>
              <a:rPr lang="en-US" altLang="zh-CN" sz="2000"/>
              <a:t>,</a:t>
            </a:r>
            <a:r>
              <a:rPr lang="zh-CN" altLang="en-US" sz="2000"/>
              <a:t>因为系统将无法在同一时间应对多个用户操作。</a:t>
            </a:r>
          </a:p>
          <a:p>
            <a:pPr eaLnBrk="1" hangingPunct="1">
              <a:buClr>
                <a:srgbClr val="0000FF"/>
              </a:buClr>
              <a:buFont typeface="Wingdings" pitchFamily="2" charset="2"/>
              <a:buChar char="u"/>
            </a:pPr>
            <a:endParaRPr lang="zh-CN" altLang="en-US" sz="2400"/>
          </a:p>
          <a:p>
            <a:pPr eaLnBrk="1" hangingPunct="1"/>
            <a:endParaRPr lang="zh-CN" altLang="en-US" sz="2400"/>
          </a:p>
        </p:txBody>
      </p:sp>
      <p:sp>
        <p:nvSpPr>
          <p:cNvPr id="14339" name="Rectangle 2">
            <a:extLst>
              <a:ext uri="{FF2B5EF4-FFF2-40B4-BE49-F238E27FC236}">
                <a16:creationId xmlns:a16="http://schemas.microsoft.com/office/drawing/2014/main" id="{2A03A418-00D7-8245-838D-074445527B58}"/>
              </a:ext>
            </a:extLst>
          </p:cNvPr>
          <p:cNvSpPr txBox="1">
            <a:spLocks noChangeArrowheads="1"/>
          </p:cNvSpPr>
          <p:nvPr/>
        </p:nvSpPr>
        <p:spPr bwMode="auto">
          <a:xfrm>
            <a:off x="1214438" y="1084263"/>
            <a:ext cx="72580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2400" b="1">
                <a:solidFill>
                  <a:srgbClr val="0000FF"/>
                </a:solidFill>
                <a:latin typeface="黑体" panose="02010609060101010101" pitchFamily="49" charset="-122"/>
                <a:ea typeface="黑体" panose="02010609060101010101" pitchFamily="49" charset="-122"/>
              </a:rPr>
              <a:t>并行编程概述</a:t>
            </a:r>
            <a:endParaRPr lang="en-US" altLang="zh-CN" sz="24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41512"/>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F617E025-C066-6242-ACE1-EA24CDB286E1}"/>
              </a:ext>
            </a:extLst>
          </p:cNvPr>
          <p:cNvSpPr>
            <a:spLocks noGrp="1" noChangeArrowheads="1"/>
          </p:cNvSpPr>
          <p:nvPr>
            <p:ph type="title"/>
          </p:nvPr>
        </p:nvSpPr>
        <p:spPr/>
        <p:txBody>
          <a:bodyPr/>
          <a:lstStyle/>
          <a:p>
            <a:r>
              <a:rPr lang="zh-CN" altLang="en-US" sz="3200" b="1">
                <a:solidFill>
                  <a:srgbClr val="0000FF"/>
                </a:solidFill>
                <a:sym typeface="宋体" panose="02010600030101010101" pitchFamily="2" charset="-122"/>
              </a:rPr>
              <a:t>一、并行编程基础知识</a:t>
            </a:r>
            <a:endParaRPr lang="en-US" altLang="zh-CN" sz="3200" b="1">
              <a:solidFill>
                <a:srgbClr val="0000FF"/>
              </a:solidFill>
            </a:endParaRPr>
          </a:p>
        </p:txBody>
      </p:sp>
      <p:sp>
        <p:nvSpPr>
          <p:cNvPr id="15362" name="Rectangle 3">
            <a:extLst>
              <a:ext uri="{FF2B5EF4-FFF2-40B4-BE49-F238E27FC236}">
                <a16:creationId xmlns:a16="http://schemas.microsoft.com/office/drawing/2014/main" id="{9F187C13-73EB-3142-9DA9-32FC59F14CA7}"/>
              </a:ext>
            </a:extLst>
          </p:cNvPr>
          <p:cNvSpPr>
            <a:spLocks noGrp="1" noChangeArrowheads="1"/>
          </p:cNvSpPr>
          <p:nvPr>
            <p:ph idx="1"/>
          </p:nvPr>
        </p:nvSpPr>
        <p:spPr>
          <a:xfrm>
            <a:off x="684213" y="1643063"/>
            <a:ext cx="8316912" cy="5084762"/>
          </a:xfrm>
        </p:spPr>
        <p:txBody>
          <a:bodyPr/>
          <a:lstStyle/>
          <a:p>
            <a:pPr eaLnBrk="1" hangingPunct="1">
              <a:buClr>
                <a:srgbClr val="0000FF"/>
              </a:buClr>
              <a:buFont typeface="Wingdings" pitchFamily="2" charset="2"/>
              <a:buChar char="u"/>
            </a:pPr>
            <a:r>
              <a:rPr lang="zh-CN" altLang="en-US" sz="2000"/>
              <a:t>并行编程模式，主要指并行编程时，</a:t>
            </a:r>
            <a:r>
              <a:rPr lang="zh-CN" altLang="en-US" sz="2000">
                <a:hlinkClick r:id="rId2"/>
              </a:rPr>
              <a:t>程序员</a:t>
            </a:r>
            <a:r>
              <a:rPr lang="zh-CN" altLang="en-US" sz="2000"/>
              <a:t>将程序各模块并行执行时，模块间的通信方式，目前并行编程模式主要包括以下三种：</a:t>
            </a:r>
            <a:endParaRPr lang="en-US" altLang="zh-CN" sz="2000"/>
          </a:p>
          <a:p>
            <a:pPr eaLnBrk="1" hangingPunct="1">
              <a:buClr>
                <a:srgbClr val="0000FF"/>
              </a:buClr>
              <a:buFont typeface="Wingdings" pitchFamily="2" charset="2"/>
              <a:buChar char="Ø"/>
            </a:pPr>
            <a:r>
              <a:rPr lang="zh-CN" altLang="en-US" sz="2000"/>
              <a:t>共享内存：共享内存是进程间传递数据的一种高效方法。在共享内存模型中，并行进程共享一个进行异步读取的全局地址空间。异步并发访问可能导致条件竞争，因此需要同步机制来避免条件竞争，这些机制包括锁，信号量，管程（</a:t>
            </a:r>
            <a:r>
              <a:rPr lang="en-US" altLang="zh-CN" sz="2000"/>
              <a:t>monitor</a:t>
            </a:r>
            <a:r>
              <a:rPr lang="zh-CN" altLang="en-US" sz="2000"/>
              <a:t>）。传统的多核处理器是直接支持共享内存的，所以导致很多利用该特性的语言和库出现，</a:t>
            </a:r>
            <a:r>
              <a:rPr lang="zh-CN" altLang="en-US" sz="2000">
                <a:solidFill>
                  <a:srgbClr val="0000FF"/>
                </a:solidFill>
              </a:rPr>
              <a:t>以</a:t>
            </a:r>
            <a:r>
              <a:rPr lang="en-US" altLang="zh-CN" sz="2000">
                <a:solidFill>
                  <a:srgbClr val="0000FF"/>
                </a:solidFill>
              </a:rPr>
              <a:t>OpenMP</a:t>
            </a:r>
            <a:r>
              <a:rPr lang="zh-CN" altLang="en-US" sz="2000">
                <a:solidFill>
                  <a:srgbClr val="0000FF"/>
                </a:solidFill>
              </a:rPr>
              <a:t>为代表；</a:t>
            </a:r>
          </a:p>
          <a:p>
            <a:pPr eaLnBrk="1" hangingPunct="1">
              <a:buClr>
                <a:srgbClr val="0000FF"/>
              </a:buClr>
              <a:buFont typeface="Wingdings" pitchFamily="2" charset="2"/>
              <a:buChar char="Ø"/>
            </a:pPr>
            <a:r>
              <a:rPr lang="zh-CN" altLang="en-US" sz="2000"/>
              <a:t>消息传递：在消息传递模型中，并行进程是通过消息传递来交换数据的。这些通信可以是异步的，即消息可以在接收者做好准备前发送，也可以是同步的，即只有接受者准备好接收消息时才能发送。消息传递的</a:t>
            </a:r>
            <a:r>
              <a:rPr lang="en-US" altLang="zh-CN" sz="2000"/>
              <a:t>CSP</a:t>
            </a:r>
            <a:r>
              <a:rPr lang="zh-CN" altLang="en-US" sz="2000"/>
              <a:t>（</a:t>
            </a:r>
            <a:r>
              <a:rPr lang="en-US" altLang="zh-CN" sz="2000"/>
              <a:t>Communicating sequential processes</a:t>
            </a:r>
            <a:r>
              <a:rPr lang="zh-CN" altLang="en-US" sz="2000"/>
              <a:t>）模型使用同步通信</a:t>
            </a:r>
            <a:r>
              <a:rPr lang="en-US" altLang="zh-CN" sz="2000"/>
              <a:t>channel</a:t>
            </a:r>
            <a:r>
              <a:rPr lang="zh-CN" altLang="en-US" sz="2000"/>
              <a:t>来连接进程，</a:t>
            </a:r>
            <a:r>
              <a:rPr lang="zh-CN" altLang="en-US" sz="2000">
                <a:solidFill>
                  <a:srgbClr val="0000FF"/>
                </a:solidFill>
              </a:rPr>
              <a:t>以</a:t>
            </a:r>
            <a:r>
              <a:rPr lang="en-US" altLang="en-US" sz="2000">
                <a:solidFill>
                  <a:srgbClr val="0000FF"/>
                </a:solidFill>
              </a:rPr>
              <a:t>MPI,PVM</a:t>
            </a:r>
            <a:r>
              <a:rPr lang="zh-CN" altLang="en-US" sz="2000">
                <a:solidFill>
                  <a:srgbClr val="0000FF"/>
                </a:solidFill>
              </a:rPr>
              <a:t>为代表；</a:t>
            </a:r>
          </a:p>
          <a:p>
            <a:pPr eaLnBrk="1" hangingPunct="1">
              <a:buClr>
                <a:srgbClr val="0000FF"/>
              </a:buClr>
              <a:buFont typeface="Wingdings" pitchFamily="2" charset="2"/>
              <a:buChar char="Ø"/>
            </a:pPr>
            <a:r>
              <a:rPr lang="zh-CN" altLang="en-US" sz="2000"/>
              <a:t>数据并行模式：数据并行化关注在数据集上执行的操作。一组任务对数据集进行运算，但是会对不同的分区进行运算，</a:t>
            </a:r>
            <a:r>
              <a:rPr lang="zh-CN" altLang="en-US" sz="2000">
                <a:solidFill>
                  <a:srgbClr val="0000FF"/>
                </a:solidFill>
              </a:rPr>
              <a:t>以</a:t>
            </a:r>
            <a:r>
              <a:rPr lang="en-US" altLang="zh-CN" sz="2000">
                <a:solidFill>
                  <a:srgbClr val="0000FF"/>
                </a:solidFill>
              </a:rPr>
              <a:t>Fortran</a:t>
            </a:r>
            <a:r>
              <a:rPr lang="zh-CN" altLang="en-US" sz="2000">
                <a:solidFill>
                  <a:srgbClr val="0000FF"/>
                </a:solidFill>
              </a:rPr>
              <a:t>为代表。</a:t>
            </a:r>
          </a:p>
        </p:txBody>
      </p:sp>
      <p:sp>
        <p:nvSpPr>
          <p:cNvPr id="15363" name="Rectangle 2">
            <a:extLst>
              <a:ext uri="{FF2B5EF4-FFF2-40B4-BE49-F238E27FC236}">
                <a16:creationId xmlns:a16="http://schemas.microsoft.com/office/drawing/2014/main" id="{43040213-F561-EB46-97B4-017ACA43F9C9}"/>
              </a:ext>
            </a:extLst>
          </p:cNvPr>
          <p:cNvSpPr txBox="1">
            <a:spLocks noChangeArrowheads="1"/>
          </p:cNvSpPr>
          <p:nvPr/>
        </p:nvSpPr>
        <p:spPr bwMode="auto">
          <a:xfrm>
            <a:off x="1214438" y="1071563"/>
            <a:ext cx="72580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2400" b="1">
                <a:solidFill>
                  <a:srgbClr val="0000FF"/>
                </a:solidFill>
                <a:latin typeface="黑体" panose="02010609060101010101" pitchFamily="49" charset="-122"/>
                <a:ea typeface="黑体" panose="02010609060101010101" pitchFamily="49" charset="-122"/>
              </a:rPr>
              <a:t>并行编程模式</a:t>
            </a:r>
            <a:endParaRPr lang="en-US" altLang="zh-CN" sz="24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114848"/>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Rectangle 2">
            <a:extLst>
              <a:ext uri="{FF2B5EF4-FFF2-40B4-BE49-F238E27FC236}">
                <a16:creationId xmlns:a16="http://schemas.microsoft.com/office/drawing/2014/main" id="{8C161EE6-2AE3-4443-BE52-5E6C3D4A088E}"/>
              </a:ext>
            </a:extLst>
          </p:cNvPr>
          <p:cNvSpPr>
            <a:spLocks noGrp="1" noChangeArrowheads="1"/>
          </p:cNvSpPr>
          <p:nvPr>
            <p:ph type="title"/>
          </p:nvPr>
        </p:nvSpPr>
        <p:spPr/>
        <p:txBody>
          <a:bodyPr/>
          <a:lstStyle/>
          <a:p>
            <a:r>
              <a:rPr lang="zh-CN" altLang="en-US" sz="3200" b="1">
                <a:solidFill>
                  <a:srgbClr val="0000FF"/>
                </a:solidFill>
                <a:sym typeface="宋体" panose="02010600030101010101" pitchFamily="2" charset="-122"/>
              </a:rPr>
              <a:t>一、并行编程基础知识</a:t>
            </a:r>
            <a:endParaRPr lang="en-US" altLang="zh-CN" sz="3200" b="1">
              <a:solidFill>
                <a:srgbClr val="0000FF"/>
              </a:solidFill>
            </a:endParaRPr>
          </a:p>
        </p:txBody>
      </p:sp>
      <p:sp>
        <p:nvSpPr>
          <p:cNvPr id="16386" name="Rectangle 3">
            <a:extLst>
              <a:ext uri="{FF2B5EF4-FFF2-40B4-BE49-F238E27FC236}">
                <a16:creationId xmlns:a16="http://schemas.microsoft.com/office/drawing/2014/main" id="{0B34E584-BC5A-B14C-9812-5F7E8A1143AD}"/>
              </a:ext>
            </a:extLst>
          </p:cNvPr>
          <p:cNvSpPr>
            <a:spLocks noGrp="1" noChangeArrowheads="1"/>
          </p:cNvSpPr>
          <p:nvPr>
            <p:ph idx="1"/>
          </p:nvPr>
        </p:nvSpPr>
        <p:spPr>
          <a:xfrm>
            <a:off x="684213" y="1773238"/>
            <a:ext cx="7770812" cy="4113212"/>
          </a:xfrm>
        </p:spPr>
        <p:txBody>
          <a:bodyPr/>
          <a:lstStyle/>
          <a:p>
            <a:pPr eaLnBrk="1" hangingPunct="1">
              <a:buClr>
                <a:srgbClr val="0000FF"/>
              </a:buClr>
              <a:buFont typeface="Wingdings" pitchFamily="2" charset="2"/>
              <a:buChar char="Ø"/>
            </a:pPr>
            <a:r>
              <a:rPr lang="en-US" altLang="zh-CN" sz="2400"/>
              <a:t>Massage Passing Interface:</a:t>
            </a:r>
            <a:r>
              <a:rPr lang="zh-CN" altLang="en-US" sz="2400"/>
              <a:t>是消息传递函数库的标准规范；</a:t>
            </a:r>
          </a:p>
          <a:p>
            <a:pPr eaLnBrk="1" hangingPunct="1">
              <a:buClr>
                <a:srgbClr val="0000FF"/>
              </a:buClr>
              <a:buFont typeface="Wingdings" pitchFamily="2" charset="2"/>
              <a:buChar char="Ø"/>
            </a:pPr>
            <a:r>
              <a:rPr lang="zh-CN" altLang="en-US" sz="2400"/>
              <a:t>由</a:t>
            </a:r>
            <a:r>
              <a:rPr lang="en-US" altLang="zh-CN" sz="2400"/>
              <a:t>MPI</a:t>
            </a:r>
            <a:r>
              <a:rPr lang="zh-CN" altLang="en-US" sz="2400"/>
              <a:t>论坛开发.支持</a:t>
            </a:r>
            <a:r>
              <a:rPr lang="en-US" altLang="zh-CN" sz="2400"/>
              <a:t>Fortran</a:t>
            </a:r>
            <a:r>
              <a:rPr lang="zh-CN" altLang="en-US" sz="2400"/>
              <a:t>、</a:t>
            </a:r>
            <a:r>
              <a:rPr lang="en-US" altLang="zh-CN" sz="2400"/>
              <a:t>C</a:t>
            </a:r>
            <a:r>
              <a:rPr lang="zh-CN" altLang="en-US" sz="2400"/>
              <a:t>和</a:t>
            </a:r>
            <a:r>
              <a:rPr lang="en-US" altLang="zh-CN" sz="2400"/>
              <a:t>C++</a:t>
            </a:r>
            <a:r>
              <a:rPr lang="zh-CN" altLang="en-US" sz="2400"/>
              <a:t>；</a:t>
            </a:r>
          </a:p>
          <a:p>
            <a:pPr eaLnBrk="1" hangingPunct="1">
              <a:buClr>
                <a:srgbClr val="0000FF"/>
              </a:buClr>
              <a:buFont typeface="Wingdings" pitchFamily="2" charset="2"/>
              <a:buChar char="Ø"/>
            </a:pPr>
            <a:r>
              <a:rPr lang="zh-CN" altLang="en-US" sz="2400"/>
              <a:t>一种新的库描述, 不是一种语言。</a:t>
            </a:r>
          </a:p>
        </p:txBody>
      </p:sp>
      <p:sp>
        <p:nvSpPr>
          <p:cNvPr id="16387" name="Rectangle 2">
            <a:extLst>
              <a:ext uri="{FF2B5EF4-FFF2-40B4-BE49-F238E27FC236}">
                <a16:creationId xmlns:a16="http://schemas.microsoft.com/office/drawing/2014/main" id="{AF2625E5-C503-5243-859D-B94BB9E9B911}"/>
              </a:ext>
            </a:extLst>
          </p:cNvPr>
          <p:cNvSpPr txBox="1">
            <a:spLocks noChangeArrowheads="1"/>
          </p:cNvSpPr>
          <p:nvPr/>
        </p:nvSpPr>
        <p:spPr bwMode="auto">
          <a:xfrm>
            <a:off x="1214438" y="1071563"/>
            <a:ext cx="72580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2400" b="1">
                <a:solidFill>
                  <a:srgbClr val="0000FF"/>
                </a:solidFill>
                <a:latin typeface="黑体" panose="02010609060101010101" pitchFamily="49" charset="-122"/>
                <a:ea typeface="黑体" panose="02010609060101010101" pitchFamily="49" charset="-122"/>
              </a:rPr>
              <a:t>什么是</a:t>
            </a:r>
            <a:r>
              <a:rPr lang="en-US" altLang="zh-CN" sz="2400" b="1">
                <a:solidFill>
                  <a:srgbClr val="0000FF"/>
                </a:solidFill>
                <a:latin typeface="黑体" panose="02010609060101010101" pitchFamily="49" charset="-122"/>
                <a:ea typeface="黑体" panose="02010609060101010101" pitchFamily="49" charset="-122"/>
              </a:rPr>
              <a:t>MPI?</a:t>
            </a:r>
          </a:p>
        </p:txBody>
      </p:sp>
    </p:spTree>
  </p:cSld>
  <p:clrMapOvr>
    <a:masterClrMapping/>
  </p:clrMapOvr>
  <p:transition advTm="25318"/>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Rectangle 3">
            <a:extLst>
              <a:ext uri="{FF2B5EF4-FFF2-40B4-BE49-F238E27FC236}">
                <a16:creationId xmlns:a16="http://schemas.microsoft.com/office/drawing/2014/main" id="{E6212EA5-2F09-1543-93BC-ADA065600153}"/>
              </a:ext>
            </a:extLst>
          </p:cNvPr>
          <p:cNvSpPr>
            <a:spLocks noGrp="1" noChangeArrowheads="1"/>
          </p:cNvSpPr>
          <p:nvPr>
            <p:ph idx="1"/>
          </p:nvPr>
        </p:nvSpPr>
        <p:spPr>
          <a:xfrm>
            <a:off x="395288" y="1268413"/>
            <a:ext cx="8569325" cy="4752975"/>
          </a:xfrm>
        </p:spPr>
        <p:txBody>
          <a:bodyPr/>
          <a:lstStyle/>
          <a:p>
            <a:pPr eaLnBrk="1" hangingPunct="1">
              <a:buClr>
                <a:srgbClr val="0000FF"/>
              </a:buClr>
              <a:buFont typeface="Wingdings" pitchFamily="2" charset="2"/>
              <a:buChar char="u"/>
            </a:pPr>
            <a:r>
              <a:rPr lang="zh-CN" altLang="en-US" sz="2600" b="1"/>
              <a:t>消息传递并行程序设计</a:t>
            </a:r>
          </a:p>
          <a:p>
            <a:pPr lvl="1" eaLnBrk="1" hangingPunct="1"/>
            <a:r>
              <a:rPr lang="zh-CN" altLang="en-US" sz="2000"/>
              <a:t>用户必须通过显式地发送和接收消息来实现处理机间的数据交换。</a:t>
            </a:r>
          </a:p>
          <a:p>
            <a:pPr lvl="1" eaLnBrk="1" hangingPunct="1"/>
            <a:r>
              <a:rPr lang="zh-CN" altLang="en-US" sz="2000"/>
              <a:t>每个并行进程均有自己独立的地址空间，相互之间访问不能直接进行，必须通过显式的消息传递来实现。</a:t>
            </a:r>
          </a:p>
          <a:p>
            <a:pPr lvl="1" eaLnBrk="1" hangingPunct="1"/>
            <a:r>
              <a:rPr lang="zh-CN" altLang="en-US" sz="2000"/>
              <a:t>这种编程方式是大规模并行处理机（</a:t>
            </a:r>
            <a:r>
              <a:rPr lang="en-US" altLang="zh-CN" sz="2000"/>
              <a:t>MPP）</a:t>
            </a:r>
            <a:r>
              <a:rPr lang="zh-CN" altLang="en-US" sz="2000"/>
              <a:t>和机群（</a:t>
            </a:r>
            <a:r>
              <a:rPr lang="en-US" altLang="zh-CN" sz="2000"/>
              <a:t>Cluster）</a:t>
            </a:r>
            <a:r>
              <a:rPr lang="zh-CN" altLang="en-US" sz="2000"/>
              <a:t>采用的主要编程方式。</a:t>
            </a:r>
          </a:p>
          <a:p>
            <a:pPr eaLnBrk="1" hangingPunct="1">
              <a:buFont typeface="Wingdings" pitchFamily="2" charset="2"/>
              <a:buChar char="Ø"/>
            </a:pPr>
            <a:r>
              <a:rPr lang="zh-CN" altLang="en-US" sz="2400" b="1"/>
              <a:t>并行计算粒度大，特别适合于大规模可扩展并行算法</a:t>
            </a:r>
          </a:p>
          <a:p>
            <a:pPr lvl="1" eaLnBrk="1" hangingPunct="1"/>
            <a:r>
              <a:rPr lang="zh-CN" altLang="en-US" sz="2000"/>
              <a:t>由于消息传递程序设计要求用户很好地分解问题,组织不同进程间的数据交换,并行计算粒度大,特别适合于大规模可扩展并行算法.</a:t>
            </a:r>
          </a:p>
          <a:p>
            <a:pPr eaLnBrk="1" hangingPunct="1">
              <a:buFont typeface="Wingdings" pitchFamily="2" charset="2"/>
              <a:buChar char="Ø"/>
            </a:pPr>
            <a:r>
              <a:rPr lang="zh-CN" altLang="en-US" sz="2400" b="1">
                <a:solidFill>
                  <a:srgbClr val="0000FF"/>
                </a:solidFill>
              </a:rPr>
              <a:t>消息传递</a:t>
            </a:r>
            <a:r>
              <a:rPr lang="zh-CN" altLang="en-US" sz="2400" b="1"/>
              <a:t>是当前并行计算领域的一个非常重要的并行程序设计方式</a:t>
            </a:r>
          </a:p>
        </p:txBody>
      </p:sp>
      <p:sp>
        <p:nvSpPr>
          <p:cNvPr id="17410" name="Rectangle 2">
            <a:extLst>
              <a:ext uri="{FF2B5EF4-FFF2-40B4-BE49-F238E27FC236}">
                <a16:creationId xmlns:a16="http://schemas.microsoft.com/office/drawing/2014/main" id="{E676237E-E9DC-3F40-B030-C8D17A193100}"/>
              </a:ext>
            </a:extLst>
          </p:cNvPr>
          <p:cNvSpPr>
            <a:spLocks noGrp="1" noChangeArrowheads="1"/>
          </p:cNvSpPr>
          <p:nvPr>
            <p:ph type="title"/>
          </p:nvPr>
        </p:nvSpPr>
        <p:spPr/>
        <p:txBody>
          <a:bodyPr/>
          <a:lstStyle/>
          <a:p>
            <a:r>
              <a:rPr lang="zh-CN" altLang="en-US" sz="3200" b="1">
                <a:solidFill>
                  <a:srgbClr val="0000FF"/>
                </a:solidFill>
                <a:sym typeface="宋体" panose="02010600030101010101" pitchFamily="2" charset="-122"/>
              </a:rPr>
              <a:t>一、并行编程基础知识</a:t>
            </a:r>
            <a:endParaRPr lang="en-US" altLang="zh-CN" sz="3200" b="1">
              <a:solidFill>
                <a:srgbClr val="0000FF"/>
              </a:solidFill>
            </a:endParaRPr>
          </a:p>
        </p:txBody>
      </p:sp>
    </p:spTree>
  </p:cSld>
  <p:clrMapOvr>
    <a:masterClrMapping/>
  </p:clrMapOvr>
  <p:transition advTm="79327"/>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Rectangle 3">
            <a:extLst>
              <a:ext uri="{FF2B5EF4-FFF2-40B4-BE49-F238E27FC236}">
                <a16:creationId xmlns:a16="http://schemas.microsoft.com/office/drawing/2014/main" id="{8DA517B9-C617-6F41-A938-7C152DFF4DFD}"/>
              </a:ext>
            </a:extLst>
          </p:cNvPr>
          <p:cNvSpPr>
            <a:spLocks noGrp="1" noChangeArrowheads="1"/>
          </p:cNvSpPr>
          <p:nvPr>
            <p:ph idx="1"/>
          </p:nvPr>
        </p:nvSpPr>
        <p:spPr>
          <a:xfrm>
            <a:off x="714375" y="1857375"/>
            <a:ext cx="8015288" cy="2500313"/>
          </a:xfrm>
        </p:spPr>
        <p:txBody>
          <a:bodyPr/>
          <a:lstStyle/>
          <a:p>
            <a:pPr eaLnBrk="1" hangingPunct="1"/>
            <a:r>
              <a:rPr lang="zh-CN" altLang="en-US"/>
              <a:t>下面我们以</a:t>
            </a:r>
            <a:r>
              <a:rPr lang="en-US" altLang="zh-CN"/>
              <a:t>C</a:t>
            </a:r>
            <a:r>
              <a:rPr lang="zh-CN" altLang="en-US"/>
              <a:t>语言的形式给出一个最简单的</a:t>
            </a:r>
            <a:r>
              <a:rPr lang="en-US" altLang="zh-CN"/>
              <a:t>MPI</a:t>
            </a:r>
            <a:r>
              <a:rPr lang="zh-CN" altLang="en-US"/>
              <a:t>并行程序</a:t>
            </a:r>
            <a:r>
              <a:rPr lang="en-US" altLang="zh-CN"/>
              <a:t>Hello (</a:t>
            </a:r>
            <a:r>
              <a:rPr lang="zh-CN" altLang="en-US"/>
              <a:t>下页).</a:t>
            </a:r>
          </a:p>
          <a:p>
            <a:pPr eaLnBrk="1" hangingPunct="1"/>
            <a:r>
              <a:rPr lang="zh-CN" altLang="en-US"/>
              <a:t>该程序在终端打印出</a:t>
            </a:r>
            <a:r>
              <a:rPr lang="en-US" altLang="zh-CN"/>
              <a:t>Hello World!</a:t>
            </a:r>
            <a:r>
              <a:rPr lang="zh-CN" altLang="en-US"/>
              <a:t>字样.</a:t>
            </a:r>
          </a:p>
          <a:p>
            <a:pPr eaLnBrk="1" hangingPunct="1"/>
            <a:r>
              <a:rPr lang="en-US" altLang="zh-CN"/>
              <a:t>“Hello World”:</a:t>
            </a:r>
            <a:r>
              <a:rPr lang="zh-CN" altLang="en-US"/>
              <a:t>一声来自新生儿的问候. </a:t>
            </a:r>
          </a:p>
        </p:txBody>
      </p:sp>
      <p:sp>
        <p:nvSpPr>
          <p:cNvPr id="18434" name="Rectangle 2">
            <a:extLst>
              <a:ext uri="{FF2B5EF4-FFF2-40B4-BE49-F238E27FC236}">
                <a16:creationId xmlns:a16="http://schemas.microsoft.com/office/drawing/2014/main" id="{8D8D3FAA-5D36-4A4F-AC2B-E4049F3EDC1D}"/>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二、</a:t>
            </a:r>
            <a:r>
              <a:rPr lang="en-US" altLang="zh-CN" sz="3200" b="1">
                <a:solidFill>
                  <a:srgbClr val="0000FF"/>
                </a:solidFill>
                <a:latin typeface="黑体" panose="02010609060101010101" pitchFamily="49" charset="-122"/>
                <a:ea typeface="黑体" panose="02010609060101010101" pitchFamily="49" charset="-122"/>
              </a:rPr>
              <a:t>MPI</a:t>
            </a:r>
            <a:r>
              <a:rPr lang="zh-CN" altLang="en-US" sz="3200" b="1">
                <a:solidFill>
                  <a:srgbClr val="0000FF"/>
                </a:solidFill>
                <a:latin typeface="黑体" panose="02010609060101010101" pitchFamily="49" charset="-122"/>
                <a:ea typeface="黑体" panose="02010609060101010101" pitchFamily="49" charset="-122"/>
              </a:rPr>
              <a:t>编程实例演示</a:t>
            </a:r>
            <a:endParaRPr lang="en-US" altLang="zh-CN" sz="3200" b="1">
              <a:solidFill>
                <a:srgbClr val="0000FF"/>
              </a:solidFill>
              <a:latin typeface="黑体" panose="02010609060101010101" pitchFamily="49" charset="-122"/>
              <a:ea typeface="黑体" panose="02010609060101010101" pitchFamily="49" charset="-122"/>
            </a:endParaRPr>
          </a:p>
        </p:txBody>
      </p:sp>
      <p:sp>
        <p:nvSpPr>
          <p:cNvPr id="18435" name="Rectangle 2">
            <a:extLst>
              <a:ext uri="{FF2B5EF4-FFF2-40B4-BE49-F238E27FC236}">
                <a16:creationId xmlns:a16="http://schemas.microsoft.com/office/drawing/2014/main" id="{69B57B34-9391-984D-A39B-32378D9DB3D1}"/>
              </a:ext>
            </a:extLst>
          </p:cNvPr>
          <p:cNvSpPr txBox="1">
            <a:spLocks noChangeArrowheads="1"/>
          </p:cNvSpPr>
          <p:nvPr/>
        </p:nvSpPr>
        <p:spPr bwMode="auto">
          <a:xfrm>
            <a:off x="1214438" y="1071563"/>
            <a:ext cx="7258050" cy="500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2400" b="1">
                <a:solidFill>
                  <a:srgbClr val="0000FF"/>
                </a:solidFill>
                <a:latin typeface="黑体" panose="02010609060101010101" pitchFamily="49" charset="-122"/>
                <a:ea typeface="黑体" panose="02010609060101010101" pitchFamily="49" charset="-122"/>
              </a:rPr>
              <a:t>从简单入手！</a:t>
            </a:r>
            <a:endParaRPr lang="en-US" altLang="zh-CN" sz="24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9360"/>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Rectangle 2">
            <a:extLst>
              <a:ext uri="{FF2B5EF4-FFF2-40B4-BE49-F238E27FC236}">
                <a16:creationId xmlns:a16="http://schemas.microsoft.com/office/drawing/2014/main" id="{92233B80-A22B-2747-B7DB-6FD3E7494BA3}"/>
              </a:ext>
            </a:extLst>
          </p:cNvPr>
          <p:cNvSpPr>
            <a:spLocks noGrp="1" noChangeArrowheads="1"/>
          </p:cNvSpPr>
          <p:nvPr>
            <p:ph type="title"/>
          </p:nvPr>
        </p:nvSpPr>
        <p:spPr>
          <a:xfrm>
            <a:off x="1214438" y="928688"/>
            <a:ext cx="7258050" cy="725487"/>
          </a:xfrm>
        </p:spPr>
        <p:txBody>
          <a:bodyPr/>
          <a:lstStyle/>
          <a:p>
            <a:pPr eaLnBrk="1" hangingPunct="1"/>
            <a:r>
              <a:rPr lang="en-US" altLang="zh-CN" sz="2800">
                <a:solidFill>
                  <a:srgbClr val="0000FF"/>
                </a:solidFill>
              </a:rPr>
              <a:t>Hello world </a:t>
            </a:r>
            <a:r>
              <a:rPr lang="zh-CN" altLang="en-US" sz="2800">
                <a:solidFill>
                  <a:srgbClr val="0000FF"/>
                </a:solidFill>
              </a:rPr>
              <a:t>(</a:t>
            </a:r>
            <a:r>
              <a:rPr lang="en-US" altLang="zh-CN" sz="2800">
                <a:solidFill>
                  <a:srgbClr val="0000FF"/>
                </a:solidFill>
              </a:rPr>
              <a:t>C)</a:t>
            </a:r>
            <a:endParaRPr lang="zh-CN" altLang="en-US" sz="2800">
              <a:solidFill>
                <a:srgbClr val="0000FF"/>
              </a:solidFill>
            </a:endParaRPr>
          </a:p>
        </p:txBody>
      </p:sp>
      <p:sp>
        <p:nvSpPr>
          <p:cNvPr id="247811" name="Rectangle 3">
            <a:extLst>
              <a:ext uri="{FF2B5EF4-FFF2-40B4-BE49-F238E27FC236}">
                <a16:creationId xmlns:a16="http://schemas.microsoft.com/office/drawing/2014/main" id="{4E2F0047-3E59-2F46-8FDF-11155407479D}"/>
              </a:ext>
            </a:extLst>
          </p:cNvPr>
          <p:cNvSpPr>
            <a:spLocks noGrp="1" noChangeArrowheads="1"/>
          </p:cNvSpPr>
          <p:nvPr>
            <p:ph idx="1"/>
          </p:nvPr>
        </p:nvSpPr>
        <p:spPr>
          <a:xfrm>
            <a:off x="1928813" y="2000250"/>
            <a:ext cx="5105400" cy="4171950"/>
          </a:xfrm>
        </p:spPr>
        <p:txBody>
          <a:bodyPr/>
          <a:lstStyle/>
          <a:p>
            <a:pPr eaLnBrk="1" hangingPunct="1">
              <a:buFont typeface="Monotype Sorts" pitchFamily="2" charset="2"/>
              <a:buNone/>
              <a:defRPr/>
            </a:pPr>
            <a:r>
              <a:rPr lang="en-US" altLang="zh-CN" sz="2000" b="1" noProof="1">
                <a:latin typeface="Courier New" panose="02070309020205020404" pitchFamily="49" charset="0"/>
              </a:rPr>
              <a:t>#include &lt;stdio.h&gt;</a:t>
            </a:r>
          </a:p>
          <a:p>
            <a:pPr eaLnBrk="1" hangingPunct="1">
              <a:buFont typeface="Monotype Sorts" pitchFamily="2" charset="2"/>
              <a:buNone/>
              <a:defRPr/>
            </a:pPr>
            <a:r>
              <a:rPr lang="zh-CN" altLang="en-US" sz="2000" b="1" noProof="1">
                <a:solidFill>
                  <a:schemeClr val="accent5">
                    <a:lumMod val="75000"/>
                  </a:schemeClr>
                </a:solidFill>
                <a:latin typeface="Courier New" panose="02070309020205020404" pitchFamily="49" charset="0"/>
              </a:rPr>
              <a:t>#</a:t>
            </a:r>
            <a:r>
              <a:rPr lang="en-US" altLang="zh-CN" sz="2000" b="1" noProof="1">
                <a:solidFill>
                  <a:schemeClr val="accent5">
                    <a:lumMod val="75000"/>
                  </a:schemeClr>
                </a:solidFill>
                <a:latin typeface="Courier New" panose="02070309020205020404" pitchFamily="49" charset="0"/>
              </a:rPr>
              <a:t>include "mpi.h“</a:t>
            </a:r>
          </a:p>
          <a:p>
            <a:pPr eaLnBrk="1" hangingPunct="1">
              <a:buFont typeface="Monotype Sorts" pitchFamily="2" charset="2"/>
              <a:buNone/>
              <a:defRPr/>
            </a:pPr>
            <a:endParaRPr lang="en-US" altLang="zh-CN" sz="2000" b="1" noProof="1">
              <a:solidFill>
                <a:srgbClr val="0066FF"/>
              </a:solidFill>
              <a:latin typeface="Courier New" panose="02070309020205020404" pitchFamily="49" charset="0"/>
            </a:endParaRPr>
          </a:p>
          <a:p>
            <a:pPr eaLnBrk="1" hangingPunct="1">
              <a:buFont typeface="Monotype Sorts" pitchFamily="2" charset="2"/>
              <a:buNone/>
              <a:defRPr/>
            </a:pPr>
            <a:r>
              <a:rPr lang="en-US" altLang="zh-CN" sz="2000" b="1" noProof="1">
                <a:latin typeface="Courier New" panose="02070309020205020404" pitchFamily="49" charset="0"/>
              </a:rPr>
              <a:t>main(</a:t>
            </a:r>
          </a:p>
          <a:p>
            <a:pPr eaLnBrk="1" hangingPunct="1">
              <a:buFont typeface="Monotype Sorts" pitchFamily="2" charset="2"/>
              <a:buNone/>
              <a:defRPr/>
            </a:pPr>
            <a:r>
              <a:rPr lang="en-US" altLang="zh-CN" sz="2000" b="1" noProof="1">
                <a:latin typeface="Courier New" panose="02070309020205020404" pitchFamily="49" charset="0"/>
              </a:rPr>
              <a:t>	 int argc,</a:t>
            </a:r>
          </a:p>
          <a:p>
            <a:pPr eaLnBrk="1" hangingPunct="1">
              <a:buFont typeface="Monotype Sorts" pitchFamily="2" charset="2"/>
              <a:buNone/>
              <a:defRPr/>
            </a:pPr>
            <a:r>
              <a:rPr lang="en-US" altLang="zh-CN" sz="2000" b="1" noProof="1">
                <a:latin typeface="Courier New" panose="02070309020205020404" pitchFamily="49" charset="0"/>
              </a:rPr>
              <a:t>	 char *argv[] )</a:t>
            </a:r>
          </a:p>
          <a:p>
            <a:pPr eaLnBrk="1" hangingPunct="1">
              <a:buFont typeface="Monotype Sorts" pitchFamily="2" charset="2"/>
              <a:buNone/>
              <a:defRPr/>
            </a:pPr>
            <a:r>
              <a:rPr lang="en-US" altLang="zh-CN" sz="2000" b="1" noProof="1">
                <a:latin typeface="Courier New" panose="02070309020205020404" pitchFamily="49" charset="0"/>
              </a:rPr>
              <a:t>{</a:t>
            </a:r>
          </a:p>
          <a:p>
            <a:pPr eaLnBrk="1" hangingPunct="1">
              <a:buFont typeface="Monotype Sorts" pitchFamily="2" charset="2"/>
              <a:buNone/>
              <a:defRPr/>
            </a:pPr>
            <a:r>
              <a:rPr lang="en-US" altLang="zh-CN" sz="2000" b="1" noProof="1">
                <a:latin typeface="Courier New" panose="02070309020205020404" pitchFamily="49" charset="0"/>
              </a:rPr>
              <a:t>    </a:t>
            </a:r>
            <a:r>
              <a:rPr lang="en-US" altLang="zh-CN" sz="2000" b="1" noProof="1">
                <a:solidFill>
                  <a:schemeClr val="accent5">
                    <a:lumMod val="75000"/>
                  </a:schemeClr>
                </a:solidFill>
                <a:latin typeface="Courier New" panose="02070309020205020404" pitchFamily="49" charset="0"/>
              </a:rPr>
              <a:t>MPI_Init( &amp;argc, &amp;argv );</a:t>
            </a:r>
          </a:p>
          <a:p>
            <a:pPr eaLnBrk="1" hangingPunct="1">
              <a:buFont typeface="Monotype Sorts" pitchFamily="2" charset="2"/>
              <a:buNone/>
              <a:defRPr/>
            </a:pPr>
            <a:r>
              <a:rPr lang="en-US" altLang="zh-CN" sz="2000" b="1" noProof="1">
                <a:latin typeface="Courier New" panose="02070309020205020404" pitchFamily="49" charset="0"/>
              </a:rPr>
              <a:t>    printf( "Hello, world!\n" );</a:t>
            </a:r>
          </a:p>
          <a:p>
            <a:pPr eaLnBrk="1" hangingPunct="1">
              <a:buFont typeface="Monotype Sorts" pitchFamily="2" charset="2"/>
              <a:buNone/>
              <a:defRPr/>
            </a:pPr>
            <a:r>
              <a:rPr lang="en-US" altLang="zh-CN" sz="2000" b="1" noProof="1">
                <a:solidFill>
                  <a:schemeClr val="accent5">
                    <a:lumMod val="75000"/>
                  </a:schemeClr>
                </a:solidFill>
                <a:latin typeface="Courier New" panose="02070309020205020404" pitchFamily="49" charset="0"/>
              </a:rPr>
              <a:t>    MPI_Finalize();</a:t>
            </a:r>
          </a:p>
          <a:p>
            <a:pPr eaLnBrk="1" hangingPunct="1">
              <a:buFont typeface="Monotype Sorts" pitchFamily="2" charset="2"/>
              <a:buNone/>
              <a:defRPr/>
            </a:pPr>
            <a:r>
              <a:rPr lang="en-US" altLang="zh-CN" sz="2000" noProof="1">
                <a:latin typeface="Courier New" panose="02070309020205020404" pitchFamily="49" charset="0"/>
              </a:rPr>
              <a:t>}</a:t>
            </a:r>
            <a:endParaRPr lang="zh-CN" altLang="en-US" sz="2000" noProof="1">
              <a:latin typeface="Courier New" panose="02070309020205020404" pitchFamily="49" charset="0"/>
            </a:endParaRPr>
          </a:p>
        </p:txBody>
      </p:sp>
      <p:sp>
        <p:nvSpPr>
          <p:cNvPr id="19459" name="Rectangle 2">
            <a:extLst>
              <a:ext uri="{FF2B5EF4-FFF2-40B4-BE49-F238E27FC236}">
                <a16:creationId xmlns:a16="http://schemas.microsoft.com/office/drawing/2014/main" id="{B60D6889-837A-EB44-A2B3-239C7E7F6F19}"/>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二、</a:t>
            </a:r>
            <a:r>
              <a:rPr lang="en-US" altLang="zh-CN" sz="3200" b="1">
                <a:solidFill>
                  <a:srgbClr val="0000FF"/>
                </a:solidFill>
                <a:latin typeface="黑体" panose="02010609060101010101" pitchFamily="49" charset="-122"/>
                <a:ea typeface="黑体" panose="02010609060101010101" pitchFamily="49" charset="-122"/>
              </a:rPr>
              <a:t>MPI</a:t>
            </a:r>
            <a:r>
              <a:rPr lang="zh-CN" altLang="en-US" sz="3200" b="1">
                <a:solidFill>
                  <a:srgbClr val="0000FF"/>
                </a:solidFill>
                <a:latin typeface="黑体" panose="02010609060101010101" pitchFamily="49" charset="-122"/>
                <a:ea typeface="黑体" panose="02010609060101010101" pitchFamily="49" charset="-122"/>
              </a:rPr>
              <a:t>编程实例演示</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31965"/>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2">
            <a:extLst>
              <a:ext uri="{FF2B5EF4-FFF2-40B4-BE49-F238E27FC236}">
                <a16:creationId xmlns:a16="http://schemas.microsoft.com/office/drawing/2014/main" id="{F2DB3C06-DA93-634B-BD7D-030017DE069C}"/>
              </a:ext>
            </a:extLst>
          </p:cNvPr>
          <p:cNvSpPr>
            <a:spLocks noGrp="1" noChangeArrowheads="1"/>
          </p:cNvSpPr>
          <p:nvPr>
            <p:ph type="title"/>
          </p:nvPr>
        </p:nvSpPr>
        <p:spPr>
          <a:xfrm>
            <a:off x="1214438" y="928688"/>
            <a:ext cx="7258050" cy="725487"/>
          </a:xfrm>
        </p:spPr>
        <p:txBody>
          <a:bodyPr/>
          <a:lstStyle/>
          <a:p>
            <a:pPr eaLnBrk="1" hangingPunct="1"/>
            <a:r>
              <a:rPr lang="en-US" altLang="zh-CN" sz="2800">
                <a:solidFill>
                  <a:srgbClr val="0000FF"/>
                </a:solidFill>
              </a:rPr>
              <a:t>Hello world </a:t>
            </a:r>
            <a:r>
              <a:rPr lang="zh-CN" altLang="en-US" sz="2800">
                <a:solidFill>
                  <a:srgbClr val="0000FF"/>
                </a:solidFill>
              </a:rPr>
              <a:t>(</a:t>
            </a:r>
            <a:r>
              <a:rPr lang="en-US" altLang="zh-CN" sz="2800">
                <a:solidFill>
                  <a:srgbClr val="0000FF"/>
                </a:solidFill>
              </a:rPr>
              <a:t>Fortran)</a:t>
            </a:r>
            <a:endParaRPr lang="zh-CN" altLang="en-US" sz="2800">
              <a:solidFill>
                <a:srgbClr val="0000FF"/>
              </a:solidFill>
            </a:endParaRPr>
          </a:p>
        </p:txBody>
      </p:sp>
      <p:sp>
        <p:nvSpPr>
          <p:cNvPr id="20482" name="Rectangle 2">
            <a:extLst>
              <a:ext uri="{FF2B5EF4-FFF2-40B4-BE49-F238E27FC236}">
                <a16:creationId xmlns:a16="http://schemas.microsoft.com/office/drawing/2014/main" id="{0C166A12-7322-3140-9339-1EC060C1EC04}"/>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二、</a:t>
            </a:r>
            <a:r>
              <a:rPr lang="en-US" altLang="zh-CN" sz="3200" b="1">
                <a:solidFill>
                  <a:srgbClr val="0000FF"/>
                </a:solidFill>
                <a:latin typeface="黑体" panose="02010609060101010101" pitchFamily="49" charset="-122"/>
                <a:ea typeface="黑体" panose="02010609060101010101" pitchFamily="49" charset="-122"/>
              </a:rPr>
              <a:t>MPI</a:t>
            </a:r>
            <a:r>
              <a:rPr lang="zh-CN" altLang="en-US" sz="3200" b="1">
                <a:solidFill>
                  <a:srgbClr val="0000FF"/>
                </a:solidFill>
                <a:latin typeface="黑体" panose="02010609060101010101" pitchFamily="49" charset="-122"/>
                <a:ea typeface="黑体" panose="02010609060101010101" pitchFamily="49" charset="-122"/>
              </a:rPr>
              <a:t>编程实例演示</a:t>
            </a:r>
            <a:endParaRPr lang="en-US" altLang="zh-CN" sz="3200" b="1">
              <a:solidFill>
                <a:srgbClr val="0000FF"/>
              </a:solidFill>
              <a:latin typeface="黑体" panose="02010609060101010101" pitchFamily="49" charset="-122"/>
              <a:ea typeface="黑体" panose="02010609060101010101" pitchFamily="49" charset="-122"/>
            </a:endParaRPr>
          </a:p>
        </p:txBody>
      </p:sp>
      <p:sp>
        <p:nvSpPr>
          <p:cNvPr id="7" name="Rectangle 3">
            <a:extLst>
              <a:ext uri="{FF2B5EF4-FFF2-40B4-BE49-F238E27FC236}">
                <a16:creationId xmlns:a16="http://schemas.microsoft.com/office/drawing/2014/main" id="{B9B5C90B-D673-4042-914C-804EAEA18D16}"/>
              </a:ext>
            </a:extLst>
          </p:cNvPr>
          <p:cNvSpPr txBox="1">
            <a:spLocks noChangeArrowheads="1"/>
          </p:cNvSpPr>
          <p:nvPr/>
        </p:nvSpPr>
        <p:spPr bwMode="auto">
          <a:xfrm>
            <a:off x="2071688" y="2000250"/>
            <a:ext cx="5334000" cy="422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342900" indent="-342900">
              <a:spcBef>
                <a:spcPct val="20000"/>
              </a:spcBef>
              <a:buFont typeface="Monotype Sorts" pitchFamily="2" charset="2"/>
              <a:buNone/>
              <a:defRPr/>
            </a:pPr>
            <a:r>
              <a:rPr lang="en-US" altLang="zh-CN" sz="2400" b="1" kern="0">
                <a:latin typeface="Courier New" panose="02070309020205020404" pitchFamily="49" charset="0"/>
                <a:ea typeface="黑体" panose="02010609060101010101" pitchFamily="49" charset="-122"/>
              </a:rPr>
              <a:t>program main</a:t>
            </a:r>
          </a:p>
          <a:p>
            <a:pPr marL="342900" indent="-342900">
              <a:spcBef>
                <a:spcPct val="20000"/>
              </a:spcBef>
              <a:buFont typeface="Monotype Sorts" pitchFamily="2" charset="2"/>
              <a:buNone/>
              <a:defRPr/>
            </a:pPr>
            <a:r>
              <a:rPr lang="en-US" altLang="zh-CN" sz="2400" b="1" kern="0">
                <a:solidFill>
                  <a:schemeClr val="accent5">
                    <a:lumMod val="75000"/>
                  </a:schemeClr>
                </a:solidFill>
                <a:latin typeface="Courier New" panose="02070309020205020404" pitchFamily="49" charset="0"/>
                <a:ea typeface="黑体" panose="02010609060101010101" pitchFamily="49" charset="-122"/>
              </a:rPr>
              <a:t>include ‘mpif.h’</a:t>
            </a:r>
          </a:p>
          <a:p>
            <a:pPr marL="342900" indent="-342900">
              <a:spcBef>
                <a:spcPct val="20000"/>
              </a:spcBef>
              <a:buFont typeface="Monotype Sorts" pitchFamily="2" charset="2"/>
              <a:buNone/>
              <a:defRPr/>
            </a:pPr>
            <a:r>
              <a:rPr lang="en-US" altLang="zh-CN" sz="2400" b="1" kern="0">
                <a:latin typeface="Courier New" panose="02070309020205020404" pitchFamily="49" charset="0"/>
                <a:ea typeface="黑体" panose="02010609060101010101" pitchFamily="49" charset="-122"/>
              </a:rPr>
              <a:t>integer ierr</a:t>
            </a:r>
          </a:p>
          <a:p>
            <a:pPr marL="342900" indent="-342900">
              <a:spcBef>
                <a:spcPct val="20000"/>
              </a:spcBef>
              <a:buFont typeface="Monotype Sorts" pitchFamily="2" charset="2"/>
              <a:buNone/>
              <a:defRPr/>
            </a:pPr>
            <a:endParaRPr lang="en-US" altLang="zh-CN" sz="2400" b="1" kern="0">
              <a:latin typeface="Courier New" panose="02070309020205020404" pitchFamily="49" charset="0"/>
              <a:ea typeface="黑体" panose="02010609060101010101" pitchFamily="49" charset="-122"/>
            </a:endParaRPr>
          </a:p>
          <a:p>
            <a:pPr marL="342900" indent="-342900">
              <a:spcBef>
                <a:spcPct val="20000"/>
              </a:spcBef>
              <a:buFont typeface="Monotype Sorts" pitchFamily="2" charset="2"/>
              <a:buNone/>
              <a:defRPr/>
            </a:pPr>
            <a:r>
              <a:rPr lang="en-US" altLang="zh-CN" sz="2400" b="1" kern="0">
                <a:solidFill>
                  <a:schemeClr val="accent5">
                    <a:lumMod val="75000"/>
                  </a:schemeClr>
                </a:solidFill>
                <a:latin typeface="Courier New" panose="02070309020205020404" pitchFamily="49" charset="0"/>
                <a:ea typeface="黑体" panose="02010609060101010101" pitchFamily="49" charset="-122"/>
              </a:rPr>
              <a:t>call MPI_INIT( ierr )</a:t>
            </a:r>
          </a:p>
          <a:p>
            <a:pPr marL="342900" indent="-342900">
              <a:spcBef>
                <a:spcPct val="20000"/>
              </a:spcBef>
              <a:buFont typeface="Monotype Sorts" pitchFamily="2" charset="2"/>
              <a:buNone/>
              <a:defRPr/>
            </a:pPr>
            <a:r>
              <a:rPr lang="en-US" altLang="zh-CN" sz="2400" b="1" kern="0">
                <a:latin typeface="Courier New" panose="02070309020205020404" pitchFamily="49" charset="0"/>
                <a:ea typeface="黑体" panose="02010609060101010101" pitchFamily="49" charset="-122"/>
              </a:rPr>
              <a:t>print *, 'Hello, world!'</a:t>
            </a:r>
          </a:p>
          <a:p>
            <a:pPr marL="342900" indent="-342900">
              <a:spcBef>
                <a:spcPct val="20000"/>
              </a:spcBef>
              <a:buFont typeface="Monotype Sorts" pitchFamily="2" charset="2"/>
              <a:buNone/>
              <a:defRPr/>
            </a:pPr>
            <a:r>
              <a:rPr lang="en-US" altLang="zh-CN" sz="2400" b="1" kern="0">
                <a:solidFill>
                  <a:schemeClr val="accent5">
                    <a:lumMod val="75000"/>
                  </a:schemeClr>
                </a:solidFill>
                <a:latin typeface="Courier New" panose="02070309020205020404" pitchFamily="49" charset="0"/>
                <a:ea typeface="黑体" panose="02010609060101010101" pitchFamily="49" charset="-122"/>
              </a:rPr>
              <a:t>call MPI_FINALIZE( ierr )</a:t>
            </a:r>
          </a:p>
          <a:p>
            <a:pPr marL="342900" indent="-342900">
              <a:spcBef>
                <a:spcPct val="20000"/>
              </a:spcBef>
              <a:buFont typeface="Monotype Sorts" pitchFamily="2" charset="2"/>
              <a:buNone/>
              <a:defRPr/>
            </a:pPr>
            <a:r>
              <a:rPr lang="en-US" altLang="zh-CN" sz="2400" b="1" kern="0">
                <a:latin typeface="Courier New" panose="02070309020205020404" pitchFamily="49" charset="0"/>
                <a:ea typeface="黑体" panose="02010609060101010101" pitchFamily="49" charset="-122"/>
              </a:rPr>
              <a:t>end</a:t>
            </a:r>
            <a:endParaRPr lang="zh-CN" altLang="en-US" sz="2800" kern="0" dirty="0">
              <a:latin typeface="黑体" panose="02010609060101010101" pitchFamily="49" charset="-122"/>
              <a:ea typeface="黑体" panose="02010609060101010101" pitchFamily="49" charset="-122"/>
            </a:endParaRPr>
          </a:p>
        </p:txBody>
      </p:sp>
    </p:spTree>
  </p:cSld>
  <p:clrMapOvr>
    <a:masterClrMapping/>
  </p:clrMapOvr>
  <p:transition advTm="2714"/>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2">
            <a:extLst>
              <a:ext uri="{FF2B5EF4-FFF2-40B4-BE49-F238E27FC236}">
                <a16:creationId xmlns:a16="http://schemas.microsoft.com/office/drawing/2014/main" id="{E93C9FB8-3721-7A4F-95C6-FA08F76657C8}"/>
              </a:ext>
            </a:extLst>
          </p:cNvPr>
          <p:cNvSpPr>
            <a:spLocks noGrp="1" noChangeArrowheads="1"/>
          </p:cNvSpPr>
          <p:nvPr>
            <p:ph type="title"/>
          </p:nvPr>
        </p:nvSpPr>
        <p:spPr>
          <a:xfrm>
            <a:off x="1285875" y="1000125"/>
            <a:ext cx="6215063" cy="571500"/>
          </a:xfrm>
        </p:spPr>
        <p:txBody>
          <a:bodyPr/>
          <a:lstStyle/>
          <a:p>
            <a:pPr eaLnBrk="1" hangingPunct="1"/>
            <a:r>
              <a:rPr lang="en-US" altLang="zh-CN" sz="2400">
                <a:solidFill>
                  <a:srgbClr val="0000FF"/>
                </a:solidFill>
              </a:rPr>
              <a:t>MPI</a:t>
            </a:r>
            <a:r>
              <a:rPr lang="zh-CN" altLang="en-US" sz="2400">
                <a:solidFill>
                  <a:srgbClr val="0000FF"/>
                </a:solidFill>
              </a:rPr>
              <a:t>程序的的编译与运行</a:t>
            </a:r>
          </a:p>
        </p:txBody>
      </p:sp>
      <p:sp>
        <p:nvSpPr>
          <p:cNvPr id="21506" name="Rectangle 3">
            <a:extLst>
              <a:ext uri="{FF2B5EF4-FFF2-40B4-BE49-F238E27FC236}">
                <a16:creationId xmlns:a16="http://schemas.microsoft.com/office/drawing/2014/main" id="{824F326C-7B1F-AD4B-91A8-8244AD585A16}"/>
              </a:ext>
            </a:extLst>
          </p:cNvPr>
          <p:cNvSpPr>
            <a:spLocks noGrp="1" noChangeArrowheads="1"/>
          </p:cNvSpPr>
          <p:nvPr>
            <p:ph idx="1"/>
          </p:nvPr>
        </p:nvSpPr>
        <p:spPr>
          <a:xfrm>
            <a:off x="500063" y="2143125"/>
            <a:ext cx="7770812" cy="2571750"/>
          </a:xfrm>
        </p:spPr>
        <p:txBody>
          <a:bodyPr/>
          <a:lstStyle/>
          <a:p>
            <a:pPr eaLnBrk="1" hangingPunct="1">
              <a:lnSpc>
                <a:spcPct val="90000"/>
              </a:lnSpc>
            </a:pPr>
            <a:r>
              <a:rPr lang="en-US" altLang="zh-CN"/>
              <a:t>mpicc  –o   hello  hello.c</a:t>
            </a:r>
          </a:p>
          <a:p>
            <a:pPr lvl="1" eaLnBrk="1" hangingPunct="1">
              <a:lnSpc>
                <a:spcPct val="90000"/>
              </a:lnSpc>
            </a:pPr>
            <a:r>
              <a:rPr lang="zh-CN" altLang="en-US"/>
              <a:t>生成</a:t>
            </a:r>
            <a:r>
              <a:rPr lang="en-US" altLang="zh-CN"/>
              <a:t>hello</a:t>
            </a:r>
            <a:r>
              <a:rPr lang="zh-CN" altLang="en-US"/>
              <a:t>的可执行代码.</a:t>
            </a:r>
          </a:p>
          <a:p>
            <a:pPr eaLnBrk="1" hangingPunct="1">
              <a:lnSpc>
                <a:spcPct val="90000"/>
              </a:lnSpc>
            </a:pPr>
            <a:r>
              <a:rPr lang="en-US" altLang="zh-CN"/>
              <a:t>mpirun –np 4 hello</a:t>
            </a:r>
          </a:p>
          <a:p>
            <a:pPr lvl="1" eaLnBrk="1" hangingPunct="1">
              <a:lnSpc>
                <a:spcPct val="90000"/>
              </a:lnSpc>
            </a:pPr>
            <a:r>
              <a:rPr lang="en-US" altLang="zh-CN"/>
              <a:t>4 </a:t>
            </a:r>
            <a:r>
              <a:rPr lang="zh-CN" altLang="en-US"/>
              <a:t>指定</a:t>
            </a:r>
            <a:r>
              <a:rPr lang="en-US" altLang="zh-CN"/>
              <a:t>np</a:t>
            </a:r>
            <a:r>
              <a:rPr lang="zh-CN" altLang="en-US"/>
              <a:t>的实参,表示进程数,由用户指定.</a:t>
            </a:r>
          </a:p>
          <a:p>
            <a:pPr lvl="1" eaLnBrk="1" hangingPunct="1">
              <a:lnSpc>
                <a:spcPct val="90000"/>
              </a:lnSpc>
            </a:pPr>
            <a:r>
              <a:rPr lang="en-US" altLang="zh-CN"/>
              <a:t>hello </a:t>
            </a:r>
            <a:r>
              <a:rPr lang="zh-CN" altLang="en-US"/>
              <a:t>要运行的</a:t>
            </a:r>
            <a:r>
              <a:rPr lang="en-US" altLang="zh-CN"/>
              <a:t>MPI</a:t>
            </a:r>
            <a:r>
              <a:rPr lang="zh-CN" altLang="en-US"/>
              <a:t>并行程序.</a:t>
            </a:r>
          </a:p>
        </p:txBody>
      </p:sp>
      <p:sp>
        <p:nvSpPr>
          <p:cNvPr id="21507" name="Oval 4">
            <a:extLst>
              <a:ext uri="{FF2B5EF4-FFF2-40B4-BE49-F238E27FC236}">
                <a16:creationId xmlns:a16="http://schemas.microsoft.com/office/drawing/2014/main" id="{B1ABA056-7851-094C-8D56-B5BE14343E2C}"/>
              </a:ext>
            </a:extLst>
          </p:cNvPr>
          <p:cNvSpPr>
            <a:spLocks noChangeArrowheads="1"/>
          </p:cNvSpPr>
          <p:nvPr/>
        </p:nvSpPr>
        <p:spPr bwMode="auto">
          <a:xfrm>
            <a:off x="2143125" y="2071688"/>
            <a:ext cx="609600" cy="614362"/>
          </a:xfrm>
          <a:prstGeom prst="ellipse">
            <a:avLst/>
          </a:prstGeom>
          <a:noFill/>
          <a:ln w="1270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1508" name="Line 5">
            <a:extLst>
              <a:ext uri="{FF2B5EF4-FFF2-40B4-BE49-F238E27FC236}">
                <a16:creationId xmlns:a16="http://schemas.microsoft.com/office/drawing/2014/main" id="{CA967326-D3E3-2A4E-8A21-0EAF9AA38983}"/>
              </a:ext>
            </a:extLst>
          </p:cNvPr>
          <p:cNvSpPr>
            <a:spLocks noChangeShapeType="1"/>
          </p:cNvSpPr>
          <p:nvPr/>
        </p:nvSpPr>
        <p:spPr bwMode="auto">
          <a:xfrm flipH="1">
            <a:off x="2714625" y="2000250"/>
            <a:ext cx="3071813" cy="395288"/>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1509" name="Text Box 6">
            <a:extLst>
              <a:ext uri="{FF2B5EF4-FFF2-40B4-BE49-F238E27FC236}">
                <a16:creationId xmlns:a16="http://schemas.microsoft.com/office/drawing/2014/main" id="{4F2CD29C-D366-A140-9975-BF014D1E0944}"/>
              </a:ext>
            </a:extLst>
          </p:cNvPr>
          <p:cNvSpPr txBox="1">
            <a:spLocks noChangeArrowheads="1"/>
          </p:cNvSpPr>
          <p:nvPr/>
        </p:nvSpPr>
        <p:spPr bwMode="auto">
          <a:xfrm>
            <a:off x="5786438" y="1571625"/>
            <a:ext cx="1522412" cy="782638"/>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en-US" altLang="zh-CN" sz="4400">
                <a:latin typeface="Wingdings" pitchFamily="2" charset="2"/>
              </a:rPr>
              <a:t>%</a:t>
            </a:r>
            <a:r>
              <a:rPr lang="zh-CN" altLang="en-US"/>
              <a:t>小写</a:t>
            </a:r>
            <a:r>
              <a:rPr lang="en-US" altLang="zh-CN"/>
              <a:t>o</a:t>
            </a:r>
          </a:p>
        </p:txBody>
      </p:sp>
      <p:sp>
        <p:nvSpPr>
          <p:cNvPr id="21510" name="Oval 7">
            <a:extLst>
              <a:ext uri="{FF2B5EF4-FFF2-40B4-BE49-F238E27FC236}">
                <a16:creationId xmlns:a16="http://schemas.microsoft.com/office/drawing/2014/main" id="{8147C071-F8DD-2B4A-9483-2A519AB36F9C}"/>
              </a:ext>
            </a:extLst>
          </p:cNvPr>
          <p:cNvSpPr>
            <a:spLocks noChangeArrowheads="1"/>
          </p:cNvSpPr>
          <p:nvPr/>
        </p:nvSpPr>
        <p:spPr bwMode="auto">
          <a:xfrm>
            <a:off x="2214563" y="3000375"/>
            <a:ext cx="785812" cy="500063"/>
          </a:xfrm>
          <a:prstGeom prst="ellipse">
            <a:avLst/>
          </a:prstGeom>
          <a:noFill/>
          <a:ln w="1270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1511" name="Text Box 8">
            <a:extLst>
              <a:ext uri="{FF2B5EF4-FFF2-40B4-BE49-F238E27FC236}">
                <a16:creationId xmlns:a16="http://schemas.microsoft.com/office/drawing/2014/main" id="{AD4112FB-7A49-794D-9899-C0080ADC9BAB}"/>
              </a:ext>
            </a:extLst>
          </p:cNvPr>
          <p:cNvSpPr txBox="1">
            <a:spLocks noChangeArrowheads="1"/>
          </p:cNvSpPr>
          <p:nvPr/>
        </p:nvSpPr>
        <p:spPr bwMode="auto">
          <a:xfrm>
            <a:off x="5072063" y="2786063"/>
            <a:ext cx="4071937" cy="369887"/>
          </a:xfrm>
          <a:prstGeom prst="rect">
            <a:avLst/>
          </a:prstGeom>
          <a:noFill/>
          <a:ln w="952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buFont typeface="Wingdings" pitchFamily="2" charset="2"/>
              <a:buChar char="%"/>
            </a:pPr>
            <a:r>
              <a:rPr lang="en-US" altLang="zh-CN"/>
              <a:t>np: The number of process.</a:t>
            </a:r>
          </a:p>
        </p:txBody>
      </p:sp>
      <p:sp>
        <p:nvSpPr>
          <p:cNvPr id="21512" name="Line 9">
            <a:extLst>
              <a:ext uri="{FF2B5EF4-FFF2-40B4-BE49-F238E27FC236}">
                <a16:creationId xmlns:a16="http://schemas.microsoft.com/office/drawing/2014/main" id="{1DA47313-A87C-274C-AF1A-D340D8ADCBE2}"/>
              </a:ext>
            </a:extLst>
          </p:cNvPr>
          <p:cNvSpPr>
            <a:spLocks noChangeShapeType="1"/>
          </p:cNvSpPr>
          <p:nvPr/>
        </p:nvSpPr>
        <p:spPr bwMode="auto">
          <a:xfrm flipH="1">
            <a:off x="3000375" y="3000375"/>
            <a:ext cx="2071688" cy="230188"/>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1513" name="Rectangle 2">
            <a:extLst>
              <a:ext uri="{FF2B5EF4-FFF2-40B4-BE49-F238E27FC236}">
                <a16:creationId xmlns:a16="http://schemas.microsoft.com/office/drawing/2014/main" id="{52847A68-0600-1F4B-AED0-CF5EBA2FD406}"/>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二、</a:t>
            </a:r>
            <a:r>
              <a:rPr lang="en-US" altLang="zh-CN" sz="3200" b="1">
                <a:solidFill>
                  <a:srgbClr val="0000FF"/>
                </a:solidFill>
                <a:latin typeface="黑体" panose="02010609060101010101" pitchFamily="49" charset="-122"/>
                <a:ea typeface="黑体" panose="02010609060101010101" pitchFamily="49" charset="-122"/>
              </a:rPr>
              <a:t>MPI</a:t>
            </a:r>
            <a:r>
              <a:rPr lang="zh-CN" altLang="en-US" sz="3200" b="1">
                <a:solidFill>
                  <a:srgbClr val="0000FF"/>
                </a:solidFill>
                <a:latin typeface="黑体" panose="02010609060101010101" pitchFamily="49" charset="-122"/>
                <a:ea typeface="黑体" panose="02010609060101010101" pitchFamily="49" charset="-122"/>
              </a:rPr>
              <a:t>编程实例演示</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27893"/>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3">
            <a:extLst>
              <a:ext uri="{FF2B5EF4-FFF2-40B4-BE49-F238E27FC236}">
                <a16:creationId xmlns:a16="http://schemas.microsoft.com/office/drawing/2014/main" id="{047C8057-14E2-A043-8836-8E58ECB9D20C}"/>
              </a:ext>
            </a:extLst>
          </p:cNvPr>
          <p:cNvSpPr>
            <a:spLocks noGrp="1" noChangeArrowheads="1"/>
          </p:cNvSpPr>
          <p:nvPr>
            <p:ph idx="1"/>
          </p:nvPr>
        </p:nvSpPr>
        <p:spPr>
          <a:xfrm>
            <a:off x="285750" y="1857375"/>
            <a:ext cx="8686800" cy="4594225"/>
          </a:xfrm>
        </p:spPr>
        <p:txBody>
          <a:bodyPr/>
          <a:lstStyle/>
          <a:p>
            <a:pPr eaLnBrk="1" hangingPunct="1"/>
            <a:r>
              <a:rPr lang="en-US" altLang="zh-CN"/>
              <a:t>SPMD: Single Program Multiple Data(MIMD)</a:t>
            </a:r>
          </a:p>
          <a:p>
            <a:pPr eaLnBrk="1" hangingPunct="1"/>
            <a:endParaRPr lang="zh-CN" altLang="en-US"/>
          </a:p>
          <a:p>
            <a:pPr eaLnBrk="1" hangingPunct="1">
              <a:buFont typeface="Monotype Sorts" pitchFamily="2" charset="2"/>
              <a:buNone/>
            </a:pPr>
            <a:r>
              <a:rPr lang="en-US" altLang="zh-CN">
                <a:latin typeface="Wingdings" pitchFamily="2" charset="2"/>
              </a:rPr>
              <a:t>             </a:t>
            </a:r>
          </a:p>
          <a:p>
            <a:pPr eaLnBrk="1" hangingPunct="1">
              <a:buFont typeface="Monotype Sorts" pitchFamily="2" charset="2"/>
              <a:buNone/>
            </a:pPr>
            <a:r>
              <a:rPr lang="en-US" altLang="zh-CN">
                <a:latin typeface="Wingdings" pitchFamily="2" charset="2"/>
              </a:rPr>
              <a:t>             </a:t>
            </a:r>
            <a:r>
              <a:rPr lang="en-US" altLang="zh-CN" sz="4800">
                <a:latin typeface="Wingdings" pitchFamily="2" charset="2"/>
              </a:rPr>
              <a:t>::::</a:t>
            </a:r>
            <a:endParaRPr lang="zh-CN" altLang="en-US" sz="4800">
              <a:latin typeface="Wingdings" pitchFamily="2" charset="2"/>
            </a:endParaRPr>
          </a:p>
        </p:txBody>
      </p:sp>
      <p:sp>
        <p:nvSpPr>
          <p:cNvPr id="22530" name="Rectangle 4">
            <a:extLst>
              <a:ext uri="{FF2B5EF4-FFF2-40B4-BE49-F238E27FC236}">
                <a16:creationId xmlns:a16="http://schemas.microsoft.com/office/drawing/2014/main" id="{D4857B7B-D6E1-8349-8B87-6FB9BD262D93}"/>
              </a:ext>
            </a:extLst>
          </p:cNvPr>
          <p:cNvSpPr>
            <a:spLocks noChangeArrowheads="1"/>
          </p:cNvSpPr>
          <p:nvPr/>
        </p:nvSpPr>
        <p:spPr bwMode="auto">
          <a:xfrm>
            <a:off x="347663" y="2809875"/>
            <a:ext cx="1676400" cy="1701800"/>
          </a:xfrm>
          <a:prstGeom prst="rect">
            <a:avLst/>
          </a:prstGeom>
          <a:solidFill>
            <a:srgbClr val="00FFFF"/>
          </a:solidFill>
          <a:ln w="9525">
            <a:solidFill>
              <a:srgbClr val="FF3300"/>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pPr>
            <a:r>
              <a:rPr lang="zh-CN" altLang="en-US" sz="1000">
                <a:solidFill>
                  <a:schemeClr val="tx2"/>
                </a:solidFill>
                <a:latin typeface="Arial Narrow" panose="020B0604020202020204" pitchFamily="34" charset="0"/>
              </a:rPr>
              <a:t>#</a:t>
            </a:r>
            <a:r>
              <a:rPr lang="en-US" altLang="zh-CN" sz="1000">
                <a:solidFill>
                  <a:schemeClr val="tx2"/>
                </a:solidFill>
                <a:latin typeface="Arial Narrow" panose="020B0604020202020204" pitchFamily="34" charset="0"/>
              </a:rPr>
              <a:t>include "mpi.h"</a:t>
            </a:r>
          </a:p>
          <a:p>
            <a:pPr>
              <a:lnSpc>
                <a:spcPct val="50000"/>
              </a:lnSpc>
              <a:spcBef>
                <a:spcPct val="50000"/>
              </a:spcBef>
            </a:pPr>
            <a:r>
              <a:rPr lang="en-US" altLang="zh-CN" sz="1000">
                <a:solidFill>
                  <a:schemeClr val="tx2"/>
                </a:solidFill>
                <a:latin typeface="Arial Narrow" panose="020B0604020202020204" pitchFamily="34" charset="0"/>
              </a:rPr>
              <a:t>#include &lt;stdio.h&gt;</a:t>
            </a:r>
          </a:p>
          <a:p>
            <a:pPr>
              <a:lnSpc>
                <a:spcPct val="50000"/>
              </a:lnSpc>
              <a:spcBef>
                <a:spcPct val="50000"/>
              </a:spcBef>
            </a:pPr>
            <a:endParaRPr lang="en-US" altLang="zh-CN" sz="1000">
              <a:solidFill>
                <a:schemeClr val="tx2"/>
              </a:solidFill>
              <a:latin typeface="Arial Narrow" panose="020B0604020202020204" pitchFamily="34" charset="0"/>
            </a:endParaRPr>
          </a:p>
          <a:p>
            <a:pPr>
              <a:lnSpc>
                <a:spcPct val="50000"/>
              </a:lnSpc>
              <a:spcBef>
                <a:spcPct val="50000"/>
              </a:spcBef>
            </a:pPr>
            <a:r>
              <a:rPr lang="en-US" altLang="zh-CN" sz="1000">
                <a:solidFill>
                  <a:schemeClr val="tx2"/>
                </a:solidFill>
                <a:latin typeface="Arial Narrow" panose="020B0604020202020204" pitchFamily="34" charset="0"/>
              </a:rPr>
              <a:t>main(</a:t>
            </a:r>
          </a:p>
          <a:p>
            <a:pPr>
              <a:lnSpc>
                <a:spcPct val="50000"/>
              </a:lnSpc>
              <a:spcBef>
                <a:spcPct val="50000"/>
              </a:spcBef>
            </a:pPr>
            <a:r>
              <a:rPr lang="en-US" altLang="zh-CN" sz="1000">
                <a:solidFill>
                  <a:schemeClr val="tx2"/>
                </a:solidFill>
                <a:latin typeface="Arial Narrow" panose="020B0604020202020204" pitchFamily="34" charset="0"/>
              </a:rPr>
              <a:t>  int argc,</a:t>
            </a:r>
          </a:p>
          <a:p>
            <a:pPr>
              <a:lnSpc>
                <a:spcPct val="50000"/>
              </a:lnSpc>
              <a:spcBef>
                <a:spcPct val="50000"/>
              </a:spcBef>
            </a:pPr>
            <a:r>
              <a:rPr lang="en-US" altLang="zh-CN" sz="1000">
                <a:solidFill>
                  <a:schemeClr val="tx2"/>
                </a:solidFill>
                <a:latin typeface="Arial Narrow" panose="020B0604020202020204" pitchFamily="34" charset="0"/>
              </a:rPr>
              <a:t>   char *argv[] )</a:t>
            </a:r>
          </a:p>
          <a:p>
            <a:pPr>
              <a:lnSpc>
                <a:spcPct val="50000"/>
              </a:lnSpc>
              <a:spcBef>
                <a:spcPct val="50000"/>
              </a:spcBef>
            </a:pPr>
            <a:r>
              <a:rPr lang="en-US" altLang="zh-CN" sz="1000">
                <a:solidFill>
                  <a:schemeClr val="tx2"/>
                </a:solidFill>
                <a:latin typeface="Arial Narrow" panose="020B0604020202020204" pitchFamily="34" charset="0"/>
              </a:rPr>
              <a:t>{</a:t>
            </a:r>
          </a:p>
          <a:p>
            <a:pPr>
              <a:lnSpc>
                <a:spcPct val="50000"/>
              </a:lnSpc>
              <a:spcBef>
                <a:spcPct val="50000"/>
              </a:spcBef>
            </a:pPr>
            <a:r>
              <a:rPr lang="en-US" altLang="zh-CN" sz="1000">
                <a:solidFill>
                  <a:schemeClr val="tx2"/>
                </a:solidFill>
                <a:latin typeface="Arial Narrow" panose="020B0604020202020204" pitchFamily="34" charset="0"/>
              </a:rPr>
              <a:t>    MPI_Init( &amp;argc, &amp;argv );</a:t>
            </a:r>
          </a:p>
          <a:p>
            <a:pPr>
              <a:lnSpc>
                <a:spcPct val="50000"/>
              </a:lnSpc>
              <a:spcBef>
                <a:spcPct val="50000"/>
              </a:spcBef>
            </a:pPr>
            <a:r>
              <a:rPr lang="en-US" altLang="zh-CN" sz="1000">
                <a:solidFill>
                  <a:schemeClr val="tx2"/>
                </a:solidFill>
                <a:latin typeface="Arial Narrow" panose="020B0604020202020204" pitchFamily="34" charset="0"/>
              </a:rPr>
              <a:t>    printf( "Hello, world!\n" );</a:t>
            </a:r>
          </a:p>
          <a:p>
            <a:pPr>
              <a:lnSpc>
                <a:spcPct val="50000"/>
              </a:lnSpc>
              <a:spcBef>
                <a:spcPct val="50000"/>
              </a:spcBef>
            </a:pPr>
            <a:r>
              <a:rPr lang="en-US" altLang="zh-CN" sz="1000">
                <a:solidFill>
                  <a:schemeClr val="tx2"/>
                </a:solidFill>
                <a:latin typeface="Arial Narrow" panose="020B0604020202020204" pitchFamily="34" charset="0"/>
              </a:rPr>
              <a:t>    MPI_Finalize();</a:t>
            </a:r>
          </a:p>
          <a:p>
            <a:pPr>
              <a:lnSpc>
                <a:spcPct val="50000"/>
              </a:lnSpc>
              <a:spcBef>
                <a:spcPct val="50000"/>
              </a:spcBef>
            </a:pPr>
            <a:r>
              <a:rPr lang="en-US" altLang="zh-CN" sz="1000">
                <a:solidFill>
                  <a:schemeClr val="tx2"/>
                </a:solidFill>
                <a:latin typeface="Arial Narrow" panose="020B0604020202020204" pitchFamily="34" charset="0"/>
              </a:rPr>
              <a:t>}</a:t>
            </a:r>
            <a:endParaRPr lang="zh-CN" altLang="en-US" sz="1000">
              <a:solidFill>
                <a:schemeClr val="tx2"/>
              </a:solidFill>
              <a:latin typeface="Arial Narrow" panose="020B0604020202020204" pitchFamily="34" charset="0"/>
            </a:endParaRPr>
          </a:p>
        </p:txBody>
      </p:sp>
      <p:sp>
        <p:nvSpPr>
          <p:cNvPr id="22531" name="Rectangle 5">
            <a:extLst>
              <a:ext uri="{FF2B5EF4-FFF2-40B4-BE49-F238E27FC236}">
                <a16:creationId xmlns:a16="http://schemas.microsoft.com/office/drawing/2014/main" id="{C6A89B19-3FEA-DF49-B87D-7DB694561371}"/>
              </a:ext>
            </a:extLst>
          </p:cNvPr>
          <p:cNvSpPr>
            <a:spLocks noChangeArrowheads="1"/>
          </p:cNvSpPr>
          <p:nvPr/>
        </p:nvSpPr>
        <p:spPr bwMode="auto">
          <a:xfrm>
            <a:off x="2862263" y="2809875"/>
            <a:ext cx="1676400" cy="1701800"/>
          </a:xfrm>
          <a:prstGeom prst="rect">
            <a:avLst/>
          </a:prstGeom>
          <a:solidFill>
            <a:srgbClr val="00FFFF"/>
          </a:solidFill>
          <a:ln w="9525">
            <a:solidFill>
              <a:srgbClr val="FF3300"/>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pPr>
            <a:r>
              <a:rPr lang="zh-CN" altLang="en-US" sz="1000">
                <a:solidFill>
                  <a:schemeClr val="tx2"/>
                </a:solidFill>
                <a:latin typeface="Arial Narrow" panose="020B0604020202020204" pitchFamily="34" charset="0"/>
              </a:rPr>
              <a:t>#</a:t>
            </a:r>
            <a:r>
              <a:rPr lang="en-US" altLang="zh-CN" sz="1000">
                <a:solidFill>
                  <a:schemeClr val="tx2"/>
                </a:solidFill>
                <a:latin typeface="Arial Narrow" panose="020B0604020202020204" pitchFamily="34" charset="0"/>
              </a:rPr>
              <a:t>include "mpi.h"</a:t>
            </a:r>
          </a:p>
          <a:p>
            <a:pPr>
              <a:lnSpc>
                <a:spcPct val="50000"/>
              </a:lnSpc>
              <a:spcBef>
                <a:spcPct val="50000"/>
              </a:spcBef>
            </a:pPr>
            <a:r>
              <a:rPr lang="en-US" altLang="zh-CN" sz="1000">
                <a:solidFill>
                  <a:schemeClr val="tx2"/>
                </a:solidFill>
                <a:latin typeface="Arial Narrow" panose="020B0604020202020204" pitchFamily="34" charset="0"/>
              </a:rPr>
              <a:t>#include &lt;stdio.h&gt;</a:t>
            </a:r>
          </a:p>
          <a:p>
            <a:pPr>
              <a:lnSpc>
                <a:spcPct val="50000"/>
              </a:lnSpc>
              <a:spcBef>
                <a:spcPct val="50000"/>
              </a:spcBef>
            </a:pPr>
            <a:endParaRPr lang="en-US" altLang="zh-CN" sz="1000">
              <a:solidFill>
                <a:schemeClr val="tx2"/>
              </a:solidFill>
              <a:latin typeface="Arial Narrow" panose="020B0604020202020204" pitchFamily="34" charset="0"/>
            </a:endParaRPr>
          </a:p>
          <a:p>
            <a:pPr>
              <a:lnSpc>
                <a:spcPct val="50000"/>
              </a:lnSpc>
              <a:spcBef>
                <a:spcPct val="50000"/>
              </a:spcBef>
            </a:pPr>
            <a:r>
              <a:rPr lang="en-US" altLang="zh-CN" sz="1000">
                <a:solidFill>
                  <a:schemeClr val="tx2"/>
                </a:solidFill>
                <a:latin typeface="Arial Narrow" panose="020B0604020202020204" pitchFamily="34" charset="0"/>
              </a:rPr>
              <a:t>main(</a:t>
            </a:r>
          </a:p>
          <a:p>
            <a:pPr>
              <a:lnSpc>
                <a:spcPct val="50000"/>
              </a:lnSpc>
              <a:spcBef>
                <a:spcPct val="50000"/>
              </a:spcBef>
            </a:pPr>
            <a:r>
              <a:rPr lang="en-US" altLang="zh-CN" sz="1000">
                <a:solidFill>
                  <a:schemeClr val="tx2"/>
                </a:solidFill>
                <a:latin typeface="Arial Narrow" panose="020B0604020202020204" pitchFamily="34" charset="0"/>
              </a:rPr>
              <a:t>  int argc,</a:t>
            </a:r>
          </a:p>
          <a:p>
            <a:pPr>
              <a:lnSpc>
                <a:spcPct val="50000"/>
              </a:lnSpc>
              <a:spcBef>
                <a:spcPct val="50000"/>
              </a:spcBef>
            </a:pPr>
            <a:r>
              <a:rPr lang="en-US" altLang="zh-CN" sz="1000">
                <a:solidFill>
                  <a:schemeClr val="tx2"/>
                </a:solidFill>
                <a:latin typeface="Arial Narrow" panose="020B0604020202020204" pitchFamily="34" charset="0"/>
              </a:rPr>
              <a:t>   char *argv[] )</a:t>
            </a:r>
          </a:p>
          <a:p>
            <a:pPr>
              <a:lnSpc>
                <a:spcPct val="50000"/>
              </a:lnSpc>
              <a:spcBef>
                <a:spcPct val="50000"/>
              </a:spcBef>
            </a:pPr>
            <a:r>
              <a:rPr lang="en-US" altLang="zh-CN" sz="1000">
                <a:solidFill>
                  <a:schemeClr val="tx2"/>
                </a:solidFill>
                <a:latin typeface="Arial Narrow" panose="020B0604020202020204" pitchFamily="34" charset="0"/>
              </a:rPr>
              <a:t>{</a:t>
            </a:r>
          </a:p>
          <a:p>
            <a:pPr>
              <a:lnSpc>
                <a:spcPct val="50000"/>
              </a:lnSpc>
              <a:spcBef>
                <a:spcPct val="50000"/>
              </a:spcBef>
            </a:pPr>
            <a:r>
              <a:rPr lang="en-US" altLang="zh-CN" sz="1000">
                <a:solidFill>
                  <a:schemeClr val="tx2"/>
                </a:solidFill>
                <a:latin typeface="Arial Narrow" panose="020B0604020202020204" pitchFamily="34" charset="0"/>
              </a:rPr>
              <a:t>    MPI_Init( &amp;argc, &amp;argv );</a:t>
            </a:r>
          </a:p>
          <a:p>
            <a:pPr>
              <a:lnSpc>
                <a:spcPct val="50000"/>
              </a:lnSpc>
              <a:spcBef>
                <a:spcPct val="50000"/>
              </a:spcBef>
            </a:pPr>
            <a:r>
              <a:rPr lang="en-US" altLang="zh-CN" sz="1000">
                <a:solidFill>
                  <a:schemeClr val="tx2"/>
                </a:solidFill>
                <a:latin typeface="Arial Narrow" panose="020B0604020202020204" pitchFamily="34" charset="0"/>
              </a:rPr>
              <a:t>    printf( "Hello, world!\n" );</a:t>
            </a:r>
          </a:p>
          <a:p>
            <a:pPr>
              <a:lnSpc>
                <a:spcPct val="50000"/>
              </a:lnSpc>
              <a:spcBef>
                <a:spcPct val="50000"/>
              </a:spcBef>
            </a:pPr>
            <a:r>
              <a:rPr lang="en-US" altLang="zh-CN" sz="1000">
                <a:solidFill>
                  <a:schemeClr val="tx2"/>
                </a:solidFill>
                <a:latin typeface="Arial Narrow" panose="020B0604020202020204" pitchFamily="34" charset="0"/>
              </a:rPr>
              <a:t>    MPI_Finalize();</a:t>
            </a:r>
          </a:p>
          <a:p>
            <a:pPr>
              <a:lnSpc>
                <a:spcPct val="50000"/>
              </a:lnSpc>
              <a:spcBef>
                <a:spcPct val="50000"/>
              </a:spcBef>
            </a:pPr>
            <a:r>
              <a:rPr lang="en-US" altLang="zh-CN" sz="1000">
                <a:solidFill>
                  <a:schemeClr val="tx2"/>
                </a:solidFill>
                <a:latin typeface="Arial Narrow" panose="020B0604020202020204" pitchFamily="34" charset="0"/>
              </a:rPr>
              <a:t>}</a:t>
            </a:r>
            <a:endParaRPr lang="zh-CN" altLang="en-US" sz="1000">
              <a:solidFill>
                <a:schemeClr val="tx2"/>
              </a:solidFill>
              <a:latin typeface="Arial Narrow" panose="020B0604020202020204" pitchFamily="34" charset="0"/>
            </a:endParaRPr>
          </a:p>
        </p:txBody>
      </p:sp>
      <p:sp>
        <p:nvSpPr>
          <p:cNvPr id="22532" name="Rectangle 6">
            <a:extLst>
              <a:ext uri="{FF2B5EF4-FFF2-40B4-BE49-F238E27FC236}">
                <a16:creationId xmlns:a16="http://schemas.microsoft.com/office/drawing/2014/main" id="{F2A3AA02-E95F-314B-8B13-01379AA7F448}"/>
              </a:ext>
            </a:extLst>
          </p:cNvPr>
          <p:cNvSpPr>
            <a:spLocks noChangeArrowheads="1"/>
          </p:cNvSpPr>
          <p:nvPr/>
        </p:nvSpPr>
        <p:spPr bwMode="auto">
          <a:xfrm>
            <a:off x="3014663" y="2962275"/>
            <a:ext cx="1676400" cy="1701800"/>
          </a:xfrm>
          <a:prstGeom prst="rect">
            <a:avLst/>
          </a:prstGeom>
          <a:solidFill>
            <a:srgbClr val="00FFFF"/>
          </a:solidFill>
          <a:ln w="9525">
            <a:solidFill>
              <a:srgbClr val="FF3300"/>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pPr>
            <a:r>
              <a:rPr lang="zh-CN" altLang="en-US" sz="1000">
                <a:solidFill>
                  <a:schemeClr val="tx2"/>
                </a:solidFill>
                <a:latin typeface="Arial Narrow" panose="020B0604020202020204" pitchFamily="34" charset="0"/>
              </a:rPr>
              <a:t>#</a:t>
            </a:r>
            <a:r>
              <a:rPr lang="en-US" altLang="zh-CN" sz="1000">
                <a:solidFill>
                  <a:schemeClr val="tx2"/>
                </a:solidFill>
                <a:latin typeface="Arial Narrow" panose="020B0604020202020204" pitchFamily="34" charset="0"/>
              </a:rPr>
              <a:t>include "mpi.h"</a:t>
            </a:r>
          </a:p>
          <a:p>
            <a:pPr>
              <a:lnSpc>
                <a:spcPct val="50000"/>
              </a:lnSpc>
              <a:spcBef>
                <a:spcPct val="50000"/>
              </a:spcBef>
            </a:pPr>
            <a:r>
              <a:rPr lang="en-US" altLang="zh-CN" sz="1000">
                <a:solidFill>
                  <a:schemeClr val="tx2"/>
                </a:solidFill>
                <a:latin typeface="Arial Narrow" panose="020B0604020202020204" pitchFamily="34" charset="0"/>
              </a:rPr>
              <a:t>#include &lt;stdio.h&gt;</a:t>
            </a:r>
          </a:p>
          <a:p>
            <a:pPr>
              <a:lnSpc>
                <a:spcPct val="50000"/>
              </a:lnSpc>
              <a:spcBef>
                <a:spcPct val="50000"/>
              </a:spcBef>
            </a:pPr>
            <a:endParaRPr lang="en-US" altLang="zh-CN" sz="1000">
              <a:solidFill>
                <a:schemeClr val="tx2"/>
              </a:solidFill>
              <a:latin typeface="Arial Narrow" panose="020B0604020202020204" pitchFamily="34" charset="0"/>
            </a:endParaRPr>
          </a:p>
          <a:p>
            <a:pPr>
              <a:lnSpc>
                <a:spcPct val="50000"/>
              </a:lnSpc>
              <a:spcBef>
                <a:spcPct val="50000"/>
              </a:spcBef>
            </a:pPr>
            <a:r>
              <a:rPr lang="en-US" altLang="zh-CN" sz="1000">
                <a:solidFill>
                  <a:schemeClr val="tx2"/>
                </a:solidFill>
                <a:latin typeface="Arial Narrow" panose="020B0604020202020204" pitchFamily="34" charset="0"/>
              </a:rPr>
              <a:t>main(</a:t>
            </a:r>
          </a:p>
          <a:p>
            <a:pPr>
              <a:lnSpc>
                <a:spcPct val="50000"/>
              </a:lnSpc>
              <a:spcBef>
                <a:spcPct val="50000"/>
              </a:spcBef>
            </a:pPr>
            <a:r>
              <a:rPr lang="en-US" altLang="zh-CN" sz="1000">
                <a:solidFill>
                  <a:schemeClr val="tx2"/>
                </a:solidFill>
                <a:latin typeface="Arial Narrow" panose="020B0604020202020204" pitchFamily="34" charset="0"/>
              </a:rPr>
              <a:t>  int argc,</a:t>
            </a:r>
          </a:p>
          <a:p>
            <a:pPr>
              <a:lnSpc>
                <a:spcPct val="50000"/>
              </a:lnSpc>
              <a:spcBef>
                <a:spcPct val="50000"/>
              </a:spcBef>
            </a:pPr>
            <a:r>
              <a:rPr lang="en-US" altLang="zh-CN" sz="1000">
                <a:solidFill>
                  <a:schemeClr val="tx2"/>
                </a:solidFill>
                <a:latin typeface="Arial Narrow" panose="020B0604020202020204" pitchFamily="34" charset="0"/>
              </a:rPr>
              <a:t>   char *argv[] )</a:t>
            </a:r>
          </a:p>
          <a:p>
            <a:pPr>
              <a:lnSpc>
                <a:spcPct val="50000"/>
              </a:lnSpc>
              <a:spcBef>
                <a:spcPct val="50000"/>
              </a:spcBef>
            </a:pPr>
            <a:r>
              <a:rPr lang="en-US" altLang="zh-CN" sz="1000">
                <a:solidFill>
                  <a:schemeClr val="tx2"/>
                </a:solidFill>
                <a:latin typeface="Arial Narrow" panose="020B0604020202020204" pitchFamily="34" charset="0"/>
              </a:rPr>
              <a:t>{</a:t>
            </a:r>
          </a:p>
          <a:p>
            <a:pPr>
              <a:lnSpc>
                <a:spcPct val="50000"/>
              </a:lnSpc>
              <a:spcBef>
                <a:spcPct val="50000"/>
              </a:spcBef>
            </a:pPr>
            <a:r>
              <a:rPr lang="en-US" altLang="zh-CN" sz="1000">
                <a:solidFill>
                  <a:schemeClr val="tx2"/>
                </a:solidFill>
                <a:latin typeface="Arial Narrow" panose="020B0604020202020204" pitchFamily="34" charset="0"/>
              </a:rPr>
              <a:t>    MPI_Init( &amp;argc, &amp;argv );</a:t>
            </a:r>
          </a:p>
          <a:p>
            <a:pPr>
              <a:lnSpc>
                <a:spcPct val="50000"/>
              </a:lnSpc>
              <a:spcBef>
                <a:spcPct val="50000"/>
              </a:spcBef>
            </a:pPr>
            <a:r>
              <a:rPr lang="en-US" altLang="zh-CN" sz="1000">
                <a:solidFill>
                  <a:schemeClr val="tx2"/>
                </a:solidFill>
                <a:latin typeface="Arial Narrow" panose="020B0604020202020204" pitchFamily="34" charset="0"/>
              </a:rPr>
              <a:t>    printf( "Hello, world!\n" );</a:t>
            </a:r>
          </a:p>
          <a:p>
            <a:pPr>
              <a:lnSpc>
                <a:spcPct val="50000"/>
              </a:lnSpc>
              <a:spcBef>
                <a:spcPct val="50000"/>
              </a:spcBef>
            </a:pPr>
            <a:r>
              <a:rPr lang="en-US" altLang="zh-CN" sz="1000">
                <a:solidFill>
                  <a:schemeClr val="tx2"/>
                </a:solidFill>
                <a:latin typeface="Arial Narrow" panose="020B0604020202020204" pitchFamily="34" charset="0"/>
              </a:rPr>
              <a:t>    MPI_Finalize();</a:t>
            </a:r>
          </a:p>
          <a:p>
            <a:pPr>
              <a:lnSpc>
                <a:spcPct val="50000"/>
              </a:lnSpc>
              <a:spcBef>
                <a:spcPct val="50000"/>
              </a:spcBef>
            </a:pPr>
            <a:r>
              <a:rPr lang="en-US" altLang="zh-CN" sz="1000">
                <a:solidFill>
                  <a:schemeClr val="tx2"/>
                </a:solidFill>
                <a:latin typeface="Arial Narrow" panose="020B0604020202020204" pitchFamily="34" charset="0"/>
              </a:rPr>
              <a:t>}</a:t>
            </a:r>
            <a:endParaRPr lang="zh-CN" altLang="en-US" sz="1000">
              <a:solidFill>
                <a:schemeClr val="tx2"/>
              </a:solidFill>
              <a:latin typeface="Arial Narrow" panose="020B0604020202020204" pitchFamily="34" charset="0"/>
            </a:endParaRPr>
          </a:p>
        </p:txBody>
      </p:sp>
      <p:sp>
        <p:nvSpPr>
          <p:cNvPr id="22533" name="Rectangle 7">
            <a:extLst>
              <a:ext uri="{FF2B5EF4-FFF2-40B4-BE49-F238E27FC236}">
                <a16:creationId xmlns:a16="http://schemas.microsoft.com/office/drawing/2014/main" id="{46CB7B7A-A192-6942-AFA9-28456E798A00}"/>
              </a:ext>
            </a:extLst>
          </p:cNvPr>
          <p:cNvSpPr>
            <a:spLocks noChangeArrowheads="1"/>
          </p:cNvSpPr>
          <p:nvPr/>
        </p:nvSpPr>
        <p:spPr bwMode="auto">
          <a:xfrm>
            <a:off x="3167063" y="3114675"/>
            <a:ext cx="1676400" cy="1701800"/>
          </a:xfrm>
          <a:prstGeom prst="rect">
            <a:avLst/>
          </a:prstGeom>
          <a:solidFill>
            <a:srgbClr val="00FFFF"/>
          </a:solidFill>
          <a:ln w="9525">
            <a:solidFill>
              <a:srgbClr val="FF3300"/>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pPr>
            <a:r>
              <a:rPr lang="zh-CN" altLang="en-US" sz="1000">
                <a:solidFill>
                  <a:schemeClr val="tx2"/>
                </a:solidFill>
                <a:latin typeface="Arial Narrow" panose="020B0604020202020204" pitchFamily="34" charset="0"/>
              </a:rPr>
              <a:t>#</a:t>
            </a:r>
            <a:r>
              <a:rPr lang="en-US" altLang="zh-CN" sz="1000">
                <a:solidFill>
                  <a:schemeClr val="tx2"/>
                </a:solidFill>
                <a:latin typeface="Arial Narrow" panose="020B0604020202020204" pitchFamily="34" charset="0"/>
              </a:rPr>
              <a:t>include "mpi.h"</a:t>
            </a:r>
          </a:p>
          <a:p>
            <a:pPr>
              <a:lnSpc>
                <a:spcPct val="50000"/>
              </a:lnSpc>
              <a:spcBef>
                <a:spcPct val="50000"/>
              </a:spcBef>
            </a:pPr>
            <a:r>
              <a:rPr lang="en-US" altLang="zh-CN" sz="1000">
                <a:solidFill>
                  <a:schemeClr val="tx2"/>
                </a:solidFill>
                <a:latin typeface="Arial Narrow" panose="020B0604020202020204" pitchFamily="34" charset="0"/>
              </a:rPr>
              <a:t>#include &lt;stdio.h&gt;</a:t>
            </a:r>
          </a:p>
          <a:p>
            <a:pPr>
              <a:lnSpc>
                <a:spcPct val="50000"/>
              </a:lnSpc>
              <a:spcBef>
                <a:spcPct val="50000"/>
              </a:spcBef>
            </a:pPr>
            <a:endParaRPr lang="en-US" altLang="zh-CN" sz="1000">
              <a:solidFill>
                <a:schemeClr val="tx2"/>
              </a:solidFill>
              <a:latin typeface="Arial Narrow" panose="020B0604020202020204" pitchFamily="34" charset="0"/>
            </a:endParaRPr>
          </a:p>
          <a:p>
            <a:pPr>
              <a:lnSpc>
                <a:spcPct val="50000"/>
              </a:lnSpc>
              <a:spcBef>
                <a:spcPct val="50000"/>
              </a:spcBef>
            </a:pPr>
            <a:r>
              <a:rPr lang="en-US" altLang="zh-CN" sz="1000">
                <a:solidFill>
                  <a:schemeClr val="tx2"/>
                </a:solidFill>
                <a:latin typeface="Arial Narrow" panose="020B0604020202020204" pitchFamily="34" charset="0"/>
              </a:rPr>
              <a:t>main(</a:t>
            </a:r>
          </a:p>
          <a:p>
            <a:pPr>
              <a:lnSpc>
                <a:spcPct val="50000"/>
              </a:lnSpc>
              <a:spcBef>
                <a:spcPct val="50000"/>
              </a:spcBef>
            </a:pPr>
            <a:r>
              <a:rPr lang="en-US" altLang="zh-CN" sz="1000">
                <a:solidFill>
                  <a:schemeClr val="tx2"/>
                </a:solidFill>
                <a:latin typeface="Arial Narrow" panose="020B0604020202020204" pitchFamily="34" charset="0"/>
              </a:rPr>
              <a:t>  int argc,</a:t>
            </a:r>
          </a:p>
          <a:p>
            <a:pPr>
              <a:lnSpc>
                <a:spcPct val="50000"/>
              </a:lnSpc>
              <a:spcBef>
                <a:spcPct val="50000"/>
              </a:spcBef>
            </a:pPr>
            <a:r>
              <a:rPr lang="en-US" altLang="zh-CN" sz="1000">
                <a:solidFill>
                  <a:schemeClr val="tx2"/>
                </a:solidFill>
                <a:latin typeface="Arial Narrow" panose="020B0604020202020204" pitchFamily="34" charset="0"/>
              </a:rPr>
              <a:t>   char *argv[] )</a:t>
            </a:r>
          </a:p>
          <a:p>
            <a:pPr>
              <a:lnSpc>
                <a:spcPct val="50000"/>
              </a:lnSpc>
              <a:spcBef>
                <a:spcPct val="50000"/>
              </a:spcBef>
            </a:pPr>
            <a:r>
              <a:rPr lang="en-US" altLang="zh-CN" sz="1000">
                <a:solidFill>
                  <a:schemeClr val="tx2"/>
                </a:solidFill>
                <a:latin typeface="Arial Narrow" panose="020B0604020202020204" pitchFamily="34" charset="0"/>
              </a:rPr>
              <a:t>{</a:t>
            </a:r>
          </a:p>
          <a:p>
            <a:pPr>
              <a:lnSpc>
                <a:spcPct val="50000"/>
              </a:lnSpc>
              <a:spcBef>
                <a:spcPct val="50000"/>
              </a:spcBef>
            </a:pPr>
            <a:r>
              <a:rPr lang="en-US" altLang="zh-CN" sz="1000">
                <a:solidFill>
                  <a:schemeClr val="tx2"/>
                </a:solidFill>
                <a:latin typeface="Arial Narrow" panose="020B0604020202020204" pitchFamily="34" charset="0"/>
              </a:rPr>
              <a:t>    MPI_Init( &amp;argc, &amp;argv );</a:t>
            </a:r>
          </a:p>
          <a:p>
            <a:pPr>
              <a:lnSpc>
                <a:spcPct val="50000"/>
              </a:lnSpc>
              <a:spcBef>
                <a:spcPct val="50000"/>
              </a:spcBef>
            </a:pPr>
            <a:r>
              <a:rPr lang="en-US" altLang="zh-CN" sz="1000">
                <a:solidFill>
                  <a:schemeClr val="tx2"/>
                </a:solidFill>
                <a:latin typeface="Arial Narrow" panose="020B0604020202020204" pitchFamily="34" charset="0"/>
              </a:rPr>
              <a:t>    printf( "Hello, world!\n" );</a:t>
            </a:r>
          </a:p>
          <a:p>
            <a:pPr>
              <a:lnSpc>
                <a:spcPct val="50000"/>
              </a:lnSpc>
              <a:spcBef>
                <a:spcPct val="50000"/>
              </a:spcBef>
            </a:pPr>
            <a:r>
              <a:rPr lang="en-US" altLang="zh-CN" sz="1000">
                <a:solidFill>
                  <a:schemeClr val="tx2"/>
                </a:solidFill>
                <a:latin typeface="Arial Narrow" panose="020B0604020202020204" pitchFamily="34" charset="0"/>
              </a:rPr>
              <a:t>    MPI_Finalize();</a:t>
            </a:r>
          </a:p>
          <a:p>
            <a:pPr>
              <a:lnSpc>
                <a:spcPct val="50000"/>
              </a:lnSpc>
              <a:spcBef>
                <a:spcPct val="50000"/>
              </a:spcBef>
            </a:pPr>
            <a:r>
              <a:rPr lang="en-US" altLang="zh-CN" sz="1000">
                <a:solidFill>
                  <a:schemeClr val="tx2"/>
                </a:solidFill>
                <a:latin typeface="Arial Narrow" panose="020B0604020202020204" pitchFamily="34" charset="0"/>
              </a:rPr>
              <a:t>}</a:t>
            </a:r>
            <a:endParaRPr lang="zh-CN" altLang="en-US" sz="1000">
              <a:solidFill>
                <a:schemeClr val="tx2"/>
              </a:solidFill>
              <a:latin typeface="Arial Narrow" panose="020B0604020202020204" pitchFamily="34" charset="0"/>
            </a:endParaRPr>
          </a:p>
        </p:txBody>
      </p:sp>
      <p:sp>
        <p:nvSpPr>
          <p:cNvPr id="22534" name="Line 8">
            <a:extLst>
              <a:ext uri="{FF2B5EF4-FFF2-40B4-BE49-F238E27FC236}">
                <a16:creationId xmlns:a16="http://schemas.microsoft.com/office/drawing/2014/main" id="{371ECB93-DF02-524B-BFB6-2192AE64903D}"/>
              </a:ext>
            </a:extLst>
          </p:cNvPr>
          <p:cNvSpPr>
            <a:spLocks noChangeShapeType="1"/>
          </p:cNvSpPr>
          <p:nvPr/>
        </p:nvSpPr>
        <p:spPr bwMode="auto">
          <a:xfrm>
            <a:off x="4538663" y="2886075"/>
            <a:ext cx="3276600" cy="68580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2535" name="Line 9">
            <a:extLst>
              <a:ext uri="{FF2B5EF4-FFF2-40B4-BE49-F238E27FC236}">
                <a16:creationId xmlns:a16="http://schemas.microsoft.com/office/drawing/2014/main" id="{598E45F8-B256-4444-8E30-07C22033A939}"/>
              </a:ext>
            </a:extLst>
          </p:cNvPr>
          <p:cNvSpPr>
            <a:spLocks noChangeShapeType="1"/>
          </p:cNvSpPr>
          <p:nvPr/>
        </p:nvSpPr>
        <p:spPr bwMode="auto">
          <a:xfrm>
            <a:off x="4691063" y="3038475"/>
            <a:ext cx="2438400" cy="53340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2536" name="Line 10">
            <a:extLst>
              <a:ext uri="{FF2B5EF4-FFF2-40B4-BE49-F238E27FC236}">
                <a16:creationId xmlns:a16="http://schemas.microsoft.com/office/drawing/2014/main" id="{08ECAA02-2596-0948-828B-757DA1174919}"/>
              </a:ext>
            </a:extLst>
          </p:cNvPr>
          <p:cNvSpPr>
            <a:spLocks noChangeShapeType="1"/>
          </p:cNvSpPr>
          <p:nvPr/>
        </p:nvSpPr>
        <p:spPr bwMode="auto">
          <a:xfrm>
            <a:off x="4843463" y="3190875"/>
            <a:ext cx="1752600" cy="38100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2537" name="Text Box 11">
            <a:extLst>
              <a:ext uri="{FF2B5EF4-FFF2-40B4-BE49-F238E27FC236}">
                <a16:creationId xmlns:a16="http://schemas.microsoft.com/office/drawing/2014/main" id="{33017A6E-5E60-3241-AF86-47EE35B4EA17}"/>
              </a:ext>
            </a:extLst>
          </p:cNvPr>
          <p:cNvSpPr txBox="1">
            <a:spLocks noChangeArrowheads="1"/>
          </p:cNvSpPr>
          <p:nvPr/>
        </p:nvSpPr>
        <p:spPr bwMode="auto">
          <a:xfrm>
            <a:off x="6215063" y="4613275"/>
            <a:ext cx="1554162" cy="1320800"/>
          </a:xfrm>
          <a:prstGeom prst="rect">
            <a:avLst/>
          </a:prstGeom>
          <a:noFill/>
          <a:ln w="9525">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en-US" altLang="zh-CN"/>
              <a:t>Hello World!</a:t>
            </a:r>
          </a:p>
          <a:p>
            <a:pPr eaLnBrk="0" hangingPunct="0"/>
            <a:r>
              <a:rPr lang="en-US" altLang="zh-CN"/>
              <a:t>Hello World!</a:t>
            </a:r>
          </a:p>
          <a:p>
            <a:pPr eaLnBrk="0" hangingPunct="0"/>
            <a:r>
              <a:rPr lang="en-US" altLang="zh-CN"/>
              <a:t>Hello World!</a:t>
            </a:r>
          </a:p>
          <a:p>
            <a:pPr eaLnBrk="0" hangingPunct="0"/>
            <a:r>
              <a:rPr lang="en-US" altLang="zh-CN"/>
              <a:t>Hello World!</a:t>
            </a:r>
          </a:p>
        </p:txBody>
      </p:sp>
      <p:sp>
        <p:nvSpPr>
          <p:cNvPr id="22538" name="AutoShape 12">
            <a:extLst>
              <a:ext uri="{FF2B5EF4-FFF2-40B4-BE49-F238E27FC236}">
                <a16:creationId xmlns:a16="http://schemas.microsoft.com/office/drawing/2014/main" id="{4F4C6D7B-DC93-1241-976F-611639D1CE1B}"/>
              </a:ext>
            </a:extLst>
          </p:cNvPr>
          <p:cNvSpPr>
            <a:spLocks/>
          </p:cNvSpPr>
          <p:nvPr/>
        </p:nvSpPr>
        <p:spPr bwMode="auto">
          <a:xfrm rot="5400000" flipH="1" flipV="1">
            <a:off x="6786563" y="3114675"/>
            <a:ext cx="342900" cy="2400300"/>
          </a:xfrm>
          <a:prstGeom prst="leftBrace">
            <a:avLst>
              <a:gd name="adj1" fmla="val 58171"/>
              <a:gd name="adj2" fmla="val 50000"/>
            </a:avLst>
          </a:prstGeom>
          <a:noFill/>
          <a:ln w="381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2539" name="AutoShape 13">
            <a:extLst>
              <a:ext uri="{FF2B5EF4-FFF2-40B4-BE49-F238E27FC236}">
                <a16:creationId xmlns:a16="http://schemas.microsoft.com/office/drawing/2014/main" id="{AA9FBA5E-24D3-E74C-B837-8C6CD1B25F9D}"/>
              </a:ext>
            </a:extLst>
          </p:cNvPr>
          <p:cNvSpPr>
            <a:spLocks noChangeArrowheads="1"/>
          </p:cNvSpPr>
          <p:nvPr/>
        </p:nvSpPr>
        <p:spPr bwMode="auto">
          <a:xfrm>
            <a:off x="2100263" y="3419475"/>
            <a:ext cx="685800" cy="304800"/>
          </a:xfrm>
          <a:prstGeom prst="rightArrow">
            <a:avLst>
              <a:gd name="adj1" fmla="val 50000"/>
              <a:gd name="adj2" fmla="val 5625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2540" name="Rectangle 14">
            <a:extLst>
              <a:ext uri="{FF2B5EF4-FFF2-40B4-BE49-F238E27FC236}">
                <a16:creationId xmlns:a16="http://schemas.microsoft.com/office/drawing/2014/main" id="{21C09F1E-FD06-5B4F-BF7B-39E07DC03A71}"/>
              </a:ext>
            </a:extLst>
          </p:cNvPr>
          <p:cNvSpPr>
            <a:spLocks noChangeArrowheads="1"/>
          </p:cNvSpPr>
          <p:nvPr/>
        </p:nvSpPr>
        <p:spPr bwMode="auto">
          <a:xfrm>
            <a:off x="3319463" y="3267075"/>
            <a:ext cx="1676400" cy="1701800"/>
          </a:xfrm>
          <a:prstGeom prst="rect">
            <a:avLst/>
          </a:prstGeom>
          <a:solidFill>
            <a:srgbClr val="00FFFF"/>
          </a:solidFill>
          <a:ln w="9525">
            <a:solidFill>
              <a:srgbClr val="FF3300"/>
            </a:solidFill>
            <a:miter lim="800000"/>
            <a:headEnd/>
            <a:tailEnd/>
          </a:ln>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50000"/>
              </a:lnSpc>
              <a:spcBef>
                <a:spcPct val="50000"/>
              </a:spcBef>
            </a:pPr>
            <a:r>
              <a:rPr lang="zh-CN" altLang="en-US" sz="1000">
                <a:solidFill>
                  <a:schemeClr val="tx2"/>
                </a:solidFill>
                <a:latin typeface="Arial Narrow" panose="020B0604020202020204" pitchFamily="34" charset="0"/>
              </a:rPr>
              <a:t>#</a:t>
            </a:r>
            <a:r>
              <a:rPr lang="en-US" altLang="zh-CN" sz="1000">
                <a:solidFill>
                  <a:schemeClr val="tx2"/>
                </a:solidFill>
                <a:latin typeface="Arial Narrow" panose="020B0604020202020204" pitchFamily="34" charset="0"/>
              </a:rPr>
              <a:t>include "mpi.h"</a:t>
            </a:r>
          </a:p>
          <a:p>
            <a:pPr>
              <a:lnSpc>
                <a:spcPct val="50000"/>
              </a:lnSpc>
              <a:spcBef>
                <a:spcPct val="50000"/>
              </a:spcBef>
            </a:pPr>
            <a:r>
              <a:rPr lang="en-US" altLang="zh-CN" sz="1000">
                <a:solidFill>
                  <a:schemeClr val="tx2"/>
                </a:solidFill>
                <a:latin typeface="Arial Narrow" panose="020B0604020202020204" pitchFamily="34" charset="0"/>
              </a:rPr>
              <a:t>#include &lt;stdio.h&gt;</a:t>
            </a:r>
          </a:p>
          <a:p>
            <a:pPr>
              <a:lnSpc>
                <a:spcPct val="50000"/>
              </a:lnSpc>
              <a:spcBef>
                <a:spcPct val="50000"/>
              </a:spcBef>
            </a:pPr>
            <a:endParaRPr lang="en-US" altLang="zh-CN" sz="1000">
              <a:solidFill>
                <a:schemeClr val="tx2"/>
              </a:solidFill>
              <a:latin typeface="Arial Narrow" panose="020B0604020202020204" pitchFamily="34" charset="0"/>
            </a:endParaRPr>
          </a:p>
          <a:p>
            <a:pPr>
              <a:lnSpc>
                <a:spcPct val="50000"/>
              </a:lnSpc>
              <a:spcBef>
                <a:spcPct val="50000"/>
              </a:spcBef>
            </a:pPr>
            <a:r>
              <a:rPr lang="en-US" altLang="zh-CN" sz="1000">
                <a:solidFill>
                  <a:schemeClr val="tx2"/>
                </a:solidFill>
                <a:latin typeface="Arial Narrow" panose="020B0604020202020204" pitchFamily="34" charset="0"/>
              </a:rPr>
              <a:t>main(</a:t>
            </a:r>
          </a:p>
          <a:p>
            <a:pPr>
              <a:lnSpc>
                <a:spcPct val="50000"/>
              </a:lnSpc>
              <a:spcBef>
                <a:spcPct val="50000"/>
              </a:spcBef>
            </a:pPr>
            <a:r>
              <a:rPr lang="en-US" altLang="zh-CN" sz="1000">
                <a:solidFill>
                  <a:schemeClr val="tx2"/>
                </a:solidFill>
                <a:latin typeface="Arial Narrow" panose="020B0604020202020204" pitchFamily="34" charset="0"/>
              </a:rPr>
              <a:t>  int argc,</a:t>
            </a:r>
          </a:p>
          <a:p>
            <a:pPr>
              <a:lnSpc>
                <a:spcPct val="50000"/>
              </a:lnSpc>
              <a:spcBef>
                <a:spcPct val="50000"/>
              </a:spcBef>
            </a:pPr>
            <a:r>
              <a:rPr lang="en-US" altLang="zh-CN" sz="1000">
                <a:solidFill>
                  <a:schemeClr val="tx2"/>
                </a:solidFill>
                <a:latin typeface="Arial Narrow" panose="020B0604020202020204" pitchFamily="34" charset="0"/>
              </a:rPr>
              <a:t>   char *argv[] )</a:t>
            </a:r>
          </a:p>
          <a:p>
            <a:pPr>
              <a:lnSpc>
                <a:spcPct val="50000"/>
              </a:lnSpc>
              <a:spcBef>
                <a:spcPct val="50000"/>
              </a:spcBef>
            </a:pPr>
            <a:r>
              <a:rPr lang="en-US" altLang="zh-CN" sz="1000">
                <a:solidFill>
                  <a:schemeClr val="tx2"/>
                </a:solidFill>
                <a:latin typeface="Arial Narrow" panose="020B0604020202020204" pitchFamily="34" charset="0"/>
              </a:rPr>
              <a:t>{</a:t>
            </a:r>
          </a:p>
          <a:p>
            <a:pPr>
              <a:lnSpc>
                <a:spcPct val="50000"/>
              </a:lnSpc>
              <a:spcBef>
                <a:spcPct val="50000"/>
              </a:spcBef>
            </a:pPr>
            <a:r>
              <a:rPr lang="en-US" altLang="zh-CN" sz="1000">
                <a:solidFill>
                  <a:schemeClr val="tx2"/>
                </a:solidFill>
                <a:latin typeface="Arial Narrow" panose="020B0604020202020204" pitchFamily="34" charset="0"/>
              </a:rPr>
              <a:t>    MPI_Init( &amp;argc, &amp;argv );</a:t>
            </a:r>
          </a:p>
          <a:p>
            <a:pPr>
              <a:lnSpc>
                <a:spcPct val="50000"/>
              </a:lnSpc>
              <a:spcBef>
                <a:spcPct val="50000"/>
              </a:spcBef>
            </a:pPr>
            <a:r>
              <a:rPr lang="en-US" altLang="zh-CN" sz="1000">
                <a:solidFill>
                  <a:schemeClr val="tx2"/>
                </a:solidFill>
                <a:latin typeface="Arial Narrow" panose="020B0604020202020204" pitchFamily="34" charset="0"/>
              </a:rPr>
              <a:t>    printf( "Hello, world!\n" );</a:t>
            </a:r>
          </a:p>
          <a:p>
            <a:pPr>
              <a:lnSpc>
                <a:spcPct val="50000"/>
              </a:lnSpc>
              <a:spcBef>
                <a:spcPct val="50000"/>
              </a:spcBef>
            </a:pPr>
            <a:r>
              <a:rPr lang="en-US" altLang="zh-CN" sz="1000">
                <a:solidFill>
                  <a:schemeClr val="tx2"/>
                </a:solidFill>
                <a:latin typeface="Arial Narrow" panose="020B0604020202020204" pitchFamily="34" charset="0"/>
              </a:rPr>
              <a:t>    MPI_Finalize();</a:t>
            </a:r>
          </a:p>
          <a:p>
            <a:pPr>
              <a:lnSpc>
                <a:spcPct val="50000"/>
              </a:lnSpc>
              <a:spcBef>
                <a:spcPct val="50000"/>
              </a:spcBef>
            </a:pPr>
            <a:r>
              <a:rPr lang="en-US" altLang="zh-CN" sz="1000">
                <a:solidFill>
                  <a:schemeClr val="tx2"/>
                </a:solidFill>
                <a:latin typeface="Arial Narrow" panose="020B0604020202020204" pitchFamily="34" charset="0"/>
              </a:rPr>
              <a:t>}</a:t>
            </a:r>
            <a:endParaRPr lang="zh-CN" altLang="en-US" sz="1000">
              <a:solidFill>
                <a:schemeClr val="tx2"/>
              </a:solidFill>
              <a:latin typeface="Arial Narrow" panose="020B0604020202020204" pitchFamily="34" charset="0"/>
            </a:endParaRPr>
          </a:p>
        </p:txBody>
      </p:sp>
      <p:sp>
        <p:nvSpPr>
          <p:cNvPr id="22541" name="Line 15">
            <a:extLst>
              <a:ext uri="{FF2B5EF4-FFF2-40B4-BE49-F238E27FC236}">
                <a16:creationId xmlns:a16="http://schemas.microsoft.com/office/drawing/2014/main" id="{59CC0DB2-17E2-5C4B-8A5E-26FB223B0DB5}"/>
              </a:ext>
            </a:extLst>
          </p:cNvPr>
          <p:cNvSpPr>
            <a:spLocks noChangeShapeType="1"/>
          </p:cNvSpPr>
          <p:nvPr/>
        </p:nvSpPr>
        <p:spPr bwMode="auto">
          <a:xfrm>
            <a:off x="4995863" y="3343275"/>
            <a:ext cx="914400" cy="381000"/>
          </a:xfrm>
          <a:prstGeom prst="line">
            <a:avLst/>
          </a:prstGeom>
          <a:noFill/>
          <a:ln w="9525">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22542" name="Rectangle 2">
            <a:extLst>
              <a:ext uri="{FF2B5EF4-FFF2-40B4-BE49-F238E27FC236}">
                <a16:creationId xmlns:a16="http://schemas.microsoft.com/office/drawing/2014/main" id="{24DCAD22-E6B4-524A-B7D5-59B2A66AA558}"/>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a:solidFill>
                  <a:srgbClr val="0000FF"/>
                </a:solidFill>
                <a:sym typeface="Webdings" pitchFamily="2" charset="2"/>
              </a:rPr>
              <a:t>Hello</a:t>
            </a:r>
            <a:r>
              <a:rPr lang="zh-CN" altLang="en-US" sz="2400">
                <a:solidFill>
                  <a:srgbClr val="0000FF"/>
                </a:solidFill>
                <a:sym typeface="Webdings" pitchFamily="2" charset="2"/>
              </a:rPr>
              <a:t>是如何被执行的?</a:t>
            </a:r>
            <a:endParaRPr lang="zh-CN" altLang="en-US" sz="2400">
              <a:solidFill>
                <a:srgbClr val="0000FF"/>
              </a:solidFill>
              <a:latin typeface="黑体" panose="02010609060101010101" pitchFamily="49" charset="-122"/>
              <a:ea typeface="黑体" panose="02010609060101010101" pitchFamily="49" charset="-122"/>
            </a:endParaRPr>
          </a:p>
        </p:txBody>
      </p:sp>
      <p:sp>
        <p:nvSpPr>
          <p:cNvPr id="22543" name="Rectangle 2">
            <a:extLst>
              <a:ext uri="{FF2B5EF4-FFF2-40B4-BE49-F238E27FC236}">
                <a16:creationId xmlns:a16="http://schemas.microsoft.com/office/drawing/2014/main" id="{31DFB04F-0D08-4D44-9299-BE1ACAECADF8}"/>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三、</a:t>
            </a:r>
            <a:r>
              <a:rPr lang="en-US" altLang="zh-CN" sz="3200" b="1">
                <a:solidFill>
                  <a:srgbClr val="0000FF"/>
                </a:solidFill>
                <a:latin typeface="黑体" panose="02010609060101010101" pitchFamily="49" charset="-122"/>
                <a:ea typeface="黑体" panose="02010609060101010101" pitchFamily="49" charset="-122"/>
              </a:rPr>
              <a:t>MPI</a:t>
            </a:r>
            <a:r>
              <a:rPr lang="zh-CN" altLang="en-US" sz="3200" b="1">
                <a:solidFill>
                  <a:srgbClr val="0000FF"/>
                </a:solidFill>
                <a:latin typeface="黑体" panose="02010609060101010101" pitchFamily="49" charset="-122"/>
                <a:ea typeface="黑体" panose="02010609060101010101" pitchFamily="49" charset="-122"/>
              </a:rPr>
              <a:t>程序分析及编程入门</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64444"/>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3">
            <a:extLst>
              <a:ext uri="{FF2B5EF4-FFF2-40B4-BE49-F238E27FC236}">
                <a16:creationId xmlns:a16="http://schemas.microsoft.com/office/drawing/2014/main" id="{D9281342-43B0-6F48-BF39-38CFEBD33C25}"/>
              </a:ext>
            </a:extLst>
          </p:cNvPr>
          <p:cNvSpPr>
            <a:spLocks noGrp="1" noChangeArrowheads="1"/>
          </p:cNvSpPr>
          <p:nvPr>
            <p:ph idx="1"/>
          </p:nvPr>
        </p:nvSpPr>
        <p:spPr>
          <a:xfrm>
            <a:off x="571500" y="1714500"/>
            <a:ext cx="8178800" cy="3303588"/>
          </a:xfrm>
        </p:spPr>
        <p:txBody>
          <a:bodyPr/>
          <a:lstStyle/>
          <a:p>
            <a:pPr algn="just" eaLnBrk="1" hangingPunct="1">
              <a:lnSpc>
                <a:spcPct val="90000"/>
              </a:lnSpc>
            </a:pPr>
            <a:r>
              <a:rPr lang="en-US" altLang="zh-CN" sz="2400"/>
              <a:t>C</a:t>
            </a:r>
          </a:p>
          <a:p>
            <a:pPr lvl="1" algn="just" eaLnBrk="1" hangingPunct="1">
              <a:lnSpc>
                <a:spcPct val="90000"/>
              </a:lnSpc>
            </a:pPr>
            <a:r>
              <a:rPr lang="zh-CN" altLang="en-US" sz="2000"/>
              <a:t>必须包含</a:t>
            </a:r>
            <a:r>
              <a:rPr lang="en-US" altLang="zh-CN" sz="2000"/>
              <a:t>mpi.h.</a:t>
            </a:r>
          </a:p>
          <a:p>
            <a:pPr lvl="1" algn="just" eaLnBrk="1" hangingPunct="1">
              <a:lnSpc>
                <a:spcPct val="90000"/>
              </a:lnSpc>
            </a:pPr>
            <a:r>
              <a:rPr lang="en-US" altLang="zh-CN" sz="2000"/>
              <a:t>MPI </a:t>
            </a:r>
            <a:r>
              <a:rPr lang="zh-CN" altLang="en-US" sz="2000"/>
              <a:t>函数返回出错代码或</a:t>
            </a:r>
            <a:r>
              <a:rPr lang="en-US" altLang="zh-CN" sz="2000"/>
              <a:t> </a:t>
            </a:r>
            <a:r>
              <a:rPr lang="en-US" altLang="zh-CN" sz="2000" b="1">
                <a:latin typeface="Courier New" panose="02070309020205020404" pitchFamily="49" charset="0"/>
              </a:rPr>
              <a:t>MPI_SUCCESS</a:t>
            </a:r>
            <a:r>
              <a:rPr lang="zh-CN" altLang="en-US" sz="2000" b="1">
                <a:latin typeface="Courier New" panose="02070309020205020404" pitchFamily="49" charset="0"/>
              </a:rPr>
              <a:t>成功标志.</a:t>
            </a:r>
          </a:p>
          <a:p>
            <a:pPr lvl="1" algn="just" eaLnBrk="1" hangingPunct="1">
              <a:lnSpc>
                <a:spcPct val="90000"/>
              </a:lnSpc>
            </a:pPr>
            <a:r>
              <a:rPr lang="en-US" altLang="zh-CN" sz="2000"/>
              <a:t>MPI-</a:t>
            </a:r>
            <a:r>
              <a:rPr lang="zh-CN" altLang="en-US" sz="2000"/>
              <a:t>前缀，且只有</a:t>
            </a:r>
            <a:r>
              <a:rPr lang="en-US" altLang="zh-CN" sz="2000"/>
              <a:t>MPI</a:t>
            </a:r>
            <a:r>
              <a:rPr lang="zh-CN" altLang="en-US" sz="2000"/>
              <a:t>以及</a:t>
            </a:r>
            <a:r>
              <a:rPr lang="en-US" altLang="zh-CN" sz="2000"/>
              <a:t>MPI_</a:t>
            </a:r>
            <a:r>
              <a:rPr lang="zh-CN" altLang="en-US" sz="2000"/>
              <a:t>标志后的第一个字母大写，其余小写.</a:t>
            </a:r>
          </a:p>
          <a:p>
            <a:pPr algn="just" eaLnBrk="1" hangingPunct="1">
              <a:lnSpc>
                <a:spcPct val="90000"/>
              </a:lnSpc>
            </a:pPr>
            <a:r>
              <a:rPr lang="en-US" altLang="zh-CN" sz="2400"/>
              <a:t>MPI</a:t>
            </a:r>
            <a:r>
              <a:rPr lang="zh-CN" altLang="en-US" sz="2400"/>
              <a:t>函数的参数被标志为以下三种类型：</a:t>
            </a:r>
          </a:p>
          <a:p>
            <a:pPr lvl="1" algn="just" eaLnBrk="1" hangingPunct="1">
              <a:lnSpc>
                <a:spcPct val="90000"/>
              </a:lnSpc>
            </a:pPr>
            <a:r>
              <a:rPr lang="en-US" altLang="zh-CN" sz="2000"/>
              <a:t>IN：</a:t>
            </a:r>
            <a:r>
              <a:rPr lang="zh-CN" altLang="en-US" sz="2000"/>
              <a:t>参数在例程的调用中不会被修正.</a:t>
            </a:r>
          </a:p>
          <a:p>
            <a:pPr lvl="1" algn="just" eaLnBrk="1" hangingPunct="1">
              <a:lnSpc>
                <a:spcPct val="90000"/>
              </a:lnSpc>
            </a:pPr>
            <a:r>
              <a:rPr lang="en-US" altLang="zh-CN" sz="2000"/>
              <a:t>OUT：</a:t>
            </a:r>
            <a:r>
              <a:rPr lang="zh-CN" altLang="en-US" sz="2000"/>
              <a:t>参数在例程的调用中可能会被修正.</a:t>
            </a:r>
          </a:p>
          <a:p>
            <a:pPr lvl="1" algn="just" eaLnBrk="1" hangingPunct="1">
              <a:lnSpc>
                <a:spcPct val="90000"/>
              </a:lnSpc>
            </a:pPr>
            <a:r>
              <a:rPr lang="en-US" altLang="zh-CN" sz="2000"/>
              <a:t>INOUT：</a:t>
            </a:r>
            <a:r>
              <a:rPr lang="zh-CN" altLang="en-US" sz="2000"/>
              <a:t>参数在一些例程中为</a:t>
            </a:r>
            <a:r>
              <a:rPr lang="en-US" altLang="zh-CN" sz="2000"/>
              <a:t>IN，</a:t>
            </a:r>
            <a:r>
              <a:rPr lang="zh-CN" altLang="en-US" sz="2000"/>
              <a:t>而在另一些例程中为</a:t>
            </a:r>
            <a:r>
              <a:rPr lang="en-US" altLang="zh-CN" sz="2000"/>
              <a:t>OUT.</a:t>
            </a:r>
            <a:endParaRPr lang="zh-CN" altLang="en-US" sz="2000"/>
          </a:p>
        </p:txBody>
      </p:sp>
      <p:sp>
        <p:nvSpPr>
          <p:cNvPr id="23554" name="Rectangle 2">
            <a:extLst>
              <a:ext uri="{FF2B5EF4-FFF2-40B4-BE49-F238E27FC236}">
                <a16:creationId xmlns:a16="http://schemas.microsoft.com/office/drawing/2014/main" id="{38CBE457-F91E-F546-98A7-CCDC38C7B087}"/>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a:solidFill>
                  <a:srgbClr val="0000FF"/>
                </a:solidFill>
                <a:sym typeface="Webdings" pitchFamily="2" charset="2"/>
              </a:rPr>
              <a:t>C</a:t>
            </a:r>
            <a:r>
              <a:rPr lang="zh-CN" altLang="en-US" sz="2400">
                <a:solidFill>
                  <a:srgbClr val="0000FF"/>
                </a:solidFill>
                <a:sym typeface="Webdings" pitchFamily="2" charset="2"/>
              </a:rPr>
              <a:t>语言中</a:t>
            </a:r>
            <a:r>
              <a:rPr lang="en-US" altLang="zh-CN" sz="2400">
                <a:solidFill>
                  <a:srgbClr val="0000FF"/>
                </a:solidFill>
                <a:sym typeface="Webdings" pitchFamily="2" charset="2"/>
              </a:rPr>
              <a:t>MPI</a:t>
            </a:r>
            <a:r>
              <a:rPr lang="zh-CN" altLang="en-US" sz="2400">
                <a:solidFill>
                  <a:srgbClr val="0000FF"/>
                </a:solidFill>
                <a:sym typeface="Webdings" pitchFamily="2" charset="2"/>
              </a:rPr>
              <a:t>函数约定</a:t>
            </a:r>
            <a:endParaRPr lang="zh-CN" altLang="en-US" sz="2400">
              <a:solidFill>
                <a:srgbClr val="0000FF"/>
              </a:solidFill>
              <a:latin typeface="黑体" panose="02010609060101010101" pitchFamily="49" charset="-122"/>
              <a:ea typeface="黑体" panose="02010609060101010101" pitchFamily="49" charset="-122"/>
            </a:endParaRPr>
          </a:p>
        </p:txBody>
      </p:sp>
      <p:sp>
        <p:nvSpPr>
          <p:cNvPr id="23555" name="Rectangle 2">
            <a:extLst>
              <a:ext uri="{FF2B5EF4-FFF2-40B4-BE49-F238E27FC236}">
                <a16:creationId xmlns:a16="http://schemas.microsoft.com/office/drawing/2014/main" id="{CCD4CA65-3EF7-954A-B200-E66DD6AE1D14}"/>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三、</a:t>
            </a:r>
            <a:r>
              <a:rPr lang="en-US" altLang="zh-CN" sz="3200" b="1">
                <a:solidFill>
                  <a:srgbClr val="0000FF"/>
                </a:solidFill>
                <a:latin typeface="黑体" panose="02010609060101010101" pitchFamily="49" charset="-122"/>
                <a:ea typeface="黑体" panose="02010609060101010101" pitchFamily="49" charset="-122"/>
              </a:rPr>
              <a:t>MPI</a:t>
            </a:r>
            <a:r>
              <a:rPr lang="zh-CN" altLang="en-US" sz="3200" b="1">
                <a:solidFill>
                  <a:srgbClr val="0000FF"/>
                </a:solidFill>
                <a:latin typeface="黑体" panose="02010609060101010101" pitchFamily="49" charset="-122"/>
                <a:ea typeface="黑体" panose="02010609060101010101" pitchFamily="49" charset="-122"/>
              </a:rPr>
              <a:t>程序分析及编程入门</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63649"/>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3">
            <a:extLst>
              <a:ext uri="{FF2B5EF4-FFF2-40B4-BE49-F238E27FC236}">
                <a16:creationId xmlns:a16="http://schemas.microsoft.com/office/drawing/2014/main" id="{10050DCB-A41B-7D4C-9EBB-EEA163D4D6ED}"/>
              </a:ext>
            </a:extLst>
          </p:cNvPr>
          <p:cNvSpPr>
            <a:spLocks noGrp="1" noChangeArrowheads="1"/>
          </p:cNvSpPr>
          <p:nvPr>
            <p:ph idx="1"/>
          </p:nvPr>
        </p:nvSpPr>
        <p:spPr>
          <a:xfrm>
            <a:off x="642938" y="1857375"/>
            <a:ext cx="8015287" cy="3357563"/>
          </a:xfrm>
        </p:spPr>
        <p:txBody>
          <a:bodyPr/>
          <a:lstStyle/>
          <a:p>
            <a:pPr eaLnBrk="1" hangingPunct="1"/>
            <a:r>
              <a:rPr lang="zh-CN" altLang="en-US"/>
              <a:t>在写</a:t>
            </a:r>
            <a:r>
              <a:rPr lang="en-US" altLang="zh-CN"/>
              <a:t>MPI</a:t>
            </a:r>
            <a:r>
              <a:rPr lang="zh-CN" altLang="en-US"/>
              <a:t>程序时，我们通常需要知道以下两个问题的答案：</a:t>
            </a:r>
          </a:p>
          <a:p>
            <a:pPr eaLnBrk="1" hangingPunct="1">
              <a:buFont typeface="Monotype Sorts" pitchFamily="2" charset="2"/>
              <a:buNone/>
            </a:pPr>
            <a:endParaRPr lang="en-US" altLang="zh-CN"/>
          </a:p>
          <a:p>
            <a:pPr lvl="1" eaLnBrk="1" hangingPunct="1"/>
            <a:r>
              <a:rPr lang="zh-CN" altLang="en-US" b="1"/>
              <a:t>任务由</a:t>
            </a:r>
            <a:r>
              <a:rPr lang="zh-CN" altLang="en-US" b="1">
                <a:solidFill>
                  <a:srgbClr val="FF3300"/>
                </a:solidFill>
              </a:rPr>
              <a:t>多少</a:t>
            </a:r>
            <a:r>
              <a:rPr lang="zh-CN" altLang="en-US" b="1"/>
              <a:t>个进程来进行并行计算？</a:t>
            </a:r>
          </a:p>
          <a:p>
            <a:pPr lvl="1" eaLnBrk="1" hangingPunct="1"/>
            <a:endParaRPr lang="en-US" altLang="zh-CN"/>
          </a:p>
          <a:p>
            <a:pPr lvl="1" eaLnBrk="1" hangingPunct="1"/>
            <a:r>
              <a:rPr lang="zh-CN" altLang="en-US" b="1"/>
              <a:t>我是</a:t>
            </a:r>
            <a:r>
              <a:rPr lang="zh-CN" altLang="en-US" b="1">
                <a:solidFill>
                  <a:srgbClr val="FF3300"/>
                </a:solidFill>
              </a:rPr>
              <a:t>哪一个</a:t>
            </a:r>
            <a:r>
              <a:rPr lang="zh-CN" altLang="en-US" b="1"/>
              <a:t>进程</a:t>
            </a:r>
            <a:r>
              <a:rPr lang="en-US" altLang="zh-CN" b="1"/>
              <a:t>?</a:t>
            </a:r>
            <a:r>
              <a:rPr lang="en-US" altLang="zh-CN"/>
              <a:t>                         </a:t>
            </a:r>
          </a:p>
          <a:p>
            <a:pPr lvl="1" eaLnBrk="1" hangingPunct="1">
              <a:buFont typeface="Monotype Sorts" pitchFamily="2" charset="2"/>
              <a:buNone/>
            </a:pPr>
            <a:endParaRPr lang="zh-CN" altLang="en-US"/>
          </a:p>
          <a:p>
            <a:pPr eaLnBrk="1" hangingPunct="1"/>
            <a:endParaRPr lang="zh-CN" altLang="en-US"/>
          </a:p>
        </p:txBody>
      </p:sp>
      <p:sp>
        <p:nvSpPr>
          <p:cNvPr id="24578" name="Rectangle 2">
            <a:extLst>
              <a:ext uri="{FF2B5EF4-FFF2-40B4-BE49-F238E27FC236}">
                <a16:creationId xmlns:a16="http://schemas.microsoft.com/office/drawing/2014/main" id="{D46276C5-4B9D-1C46-A6EE-03A870A91C33}"/>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solidFill>
                  <a:srgbClr val="0000FF"/>
                </a:solidFill>
                <a:sym typeface="Webdings" pitchFamily="2" charset="2"/>
              </a:rPr>
              <a:t>开始写</a:t>
            </a:r>
            <a:r>
              <a:rPr lang="en-US" altLang="zh-CN" sz="2400">
                <a:solidFill>
                  <a:srgbClr val="0000FF"/>
                </a:solidFill>
                <a:sym typeface="Webdings" pitchFamily="2" charset="2"/>
              </a:rPr>
              <a:t>MPI</a:t>
            </a:r>
            <a:r>
              <a:rPr lang="zh-CN" altLang="en-US" sz="2400">
                <a:solidFill>
                  <a:srgbClr val="0000FF"/>
                </a:solidFill>
                <a:sym typeface="Webdings" pitchFamily="2" charset="2"/>
              </a:rPr>
              <a:t>并行程序</a:t>
            </a:r>
            <a:endParaRPr lang="zh-CN" altLang="en-US" sz="2400">
              <a:solidFill>
                <a:srgbClr val="0000FF"/>
              </a:solidFill>
              <a:latin typeface="黑体" panose="02010609060101010101" pitchFamily="49" charset="-122"/>
              <a:ea typeface="黑体" panose="02010609060101010101" pitchFamily="49" charset="-122"/>
            </a:endParaRPr>
          </a:p>
        </p:txBody>
      </p:sp>
      <p:sp>
        <p:nvSpPr>
          <p:cNvPr id="24579" name="Rectangle 2">
            <a:extLst>
              <a:ext uri="{FF2B5EF4-FFF2-40B4-BE49-F238E27FC236}">
                <a16:creationId xmlns:a16="http://schemas.microsoft.com/office/drawing/2014/main" id="{AAB939A1-64CB-8B48-8A8D-517F3061E8DD}"/>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三、</a:t>
            </a:r>
            <a:r>
              <a:rPr lang="en-US" altLang="zh-CN" sz="3200" b="1">
                <a:solidFill>
                  <a:srgbClr val="0000FF"/>
                </a:solidFill>
                <a:latin typeface="黑体" panose="02010609060101010101" pitchFamily="49" charset="-122"/>
                <a:ea typeface="黑体" panose="02010609060101010101" pitchFamily="49" charset="-122"/>
              </a:rPr>
              <a:t>MPI</a:t>
            </a:r>
            <a:r>
              <a:rPr lang="zh-CN" altLang="en-US" sz="3200" b="1">
                <a:solidFill>
                  <a:srgbClr val="0000FF"/>
                </a:solidFill>
                <a:latin typeface="黑体" panose="02010609060101010101" pitchFamily="49" charset="-122"/>
                <a:ea typeface="黑体" panose="02010609060101010101" pitchFamily="49" charset="-122"/>
              </a:rPr>
              <a:t>程序分析及编程入门</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9734"/>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2">
            <a:extLst>
              <a:ext uri="{FF2B5EF4-FFF2-40B4-BE49-F238E27FC236}">
                <a16:creationId xmlns:a16="http://schemas.microsoft.com/office/drawing/2014/main" id="{2CE53232-0896-8F49-9BE9-8E0C2708B1FB}"/>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solidFill>
                  <a:srgbClr val="0000FF"/>
                </a:solidFill>
                <a:sym typeface="Webdings" pitchFamily="2" charset="2"/>
              </a:rPr>
              <a:t>开始写</a:t>
            </a:r>
            <a:r>
              <a:rPr lang="en-US" altLang="zh-CN" sz="2400">
                <a:solidFill>
                  <a:srgbClr val="0000FF"/>
                </a:solidFill>
                <a:sym typeface="Webdings" pitchFamily="2" charset="2"/>
              </a:rPr>
              <a:t>MPI</a:t>
            </a:r>
            <a:r>
              <a:rPr lang="zh-CN" altLang="en-US" sz="2400">
                <a:solidFill>
                  <a:srgbClr val="0000FF"/>
                </a:solidFill>
                <a:sym typeface="Webdings" pitchFamily="2" charset="2"/>
              </a:rPr>
              <a:t>并行程序</a:t>
            </a:r>
            <a:endParaRPr lang="zh-CN" altLang="en-US" sz="2400">
              <a:solidFill>
                <a:srgbClr val="0000FF"/>
              </a:solidFill>
              <a:latin typeface="黑体" panose="02010609060101010101" pitchFamily="49" charset="-122"/>
              <a:ea typeface="黑体" panose="02010609060101010101" pitchFamily="49" charset="-122"/>
            </a:endParaRPr>
          </a:p>
        </p:txBody>
      </p:sp>
      <p:sp>
        <p:nvSpPr>
          <p:cNvPr id="8" name="Rectangle 2051">
            <a:extLst>
              <a:ext uri="{FF2B5EF4-FFF2-40B4-BE49-F238E27FC236}">
                <a16:creationId xmlns:a16="http://schemas.microsoft.com/office/drawing/2014/main" id="{3758356F-873A-624B-B4BC-854F1CBB29B0}"/>
              </a:ext>
            </a:extLst>
          </p:cNvPr>
          <p:cNvSpPr txBox="1">
            <a:spLocks noChangeArrowheads="1"/>
          </p:cNvSpPr>
          <p:nvPr/>
        </p:nvSpPr>
        <p:spPr bwMode="auto">
          <a:xfrm>
            <a:off x="857250" y="1785938"/>
            <a:ext cx="8015288" cy="3214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20000"/>
              </a:spcBef>
              <a:buFont typeface="Arial" panose="020B0604020202020204" pitchFamily="34" charset="0"/>
              <a:buChar char="•"/>
            </a:pPr>
            <a:r>
              <a:rPr lang="en-US" altLang="zh-CN" sz="2800">
                <a:latin typeface="黑体" panose="02010609060101010101" pitchFamily="49" charset="-122"/>
                <a:ea typeface="黑体" panose="02010609060101010101" pitchFamily="49" charset="-122"/>
              </a:rPr>
              <a:t>MPI </a:t>
            </a:r>
            <a:r>
              <a:rPr lang="zh-CN" altLang="en-US" sz="2800">
                <a:latin typeface="黑体" panose="02010609060101010101" pitchFamily="49" charset="-122"/>
                <a:ea typeface="黑体" panose="02010609060101010101" pitchFamily="49" charset="-122"/>
              </a:rPr>
              <a:t>提供了下列函数来回答这些问题：</a:t>
            </a:r>
            <a:endParaRPr lang="en-US" altLang="zh-CN" sz="2800">
              <a:latin typeface="黑体" panose="02010609060101010101" pitchFamily="49" charset="-122"/>
              <a:ea typeface="黑体" panose="02010609060101010101" pitchFamily="49" charset="-122"/>
            </a:endParaRPr>
          </a:p>
          <a:p>
            <a:pPr lvl="1">
              <a:spcBef>
                <a:spcPct val="20000"/>
              </a:spcBef>
              <a:buFont typeface="Arial" panose="020B0604020202020204" pitchFamily="34" charset="0"/>
              <a:buChar char="–"/>
            </a:pPr>
            <a:r>
              <a:rPr lang="zh-CN" altLang="en-US" sz="2400" b="1">
                <a:latin typeface="Courier New" panose="02070309020205020404" pitchFamily="49" charset="0"/>
                <a:ea typeface="黑体" panose="02010609060101010101" pitchFamily="49" charset="-122"/>
              </a:rPr>
              <a:t>用</a:t>
            </a:r>
            <a:r>
              <a:rPr lang="en-US" altLang="zh-CN" sz="2400" b="1">
                <a:latin typeface="Courier New" panose="02070309020205020404" pitchFamily="49" charset="0"/>
                <a:ea typeface="黑体" panose="02010609060101010101" pitchFamily="49" charset="-122"/>
              </a:rPr>
              <a:t>MPI_Comm_size</a:t>
            </a:r>
            <a:r>
              <a:rPr lang="en-US" altLang="zh-CN" sz="2400">
                <a:latin typeface="黑体" panose="02010609060101010101" pitchFamily="49" charset="-122"/>
                <a:ea typeface="黑体" panose="02010609060101010101" pitchFamily="49" charset="-122"/>
              </a:rPr>
              <a:t> </a:t>
            </a:r>
            <a:r>
              <a:rPr lang="zh-CN" altLang="en-US" sz="2400">
                <a:latin typeface="黑体" panose="02010609060101010101" pitchFamily="49" charset="-122"/>
                <a:ea typeface="黑体" panose="02010609060101010101" pitchFamily="49" charset="-122"/>
              </a:rPr>
              <a:t>获得进程个数</a:t>
            </a:r>
            <a:r>
              <a:rPr lang="en-US" altLang="zh-CN" sz="2400">
                <a:latin typeface="黑体" panose="02010609060101010101" pitchFamily="49" charset="-122"/>
                <a:ea typeface="黑体" panose="02010609060101010101" pitchFamily="49" charset="-122"/>
              </a:rPr>
              <a:t>p</a:t>
            </a:r>
          </a:p>
          <a:p>
            <a:pPr lvl="1">
              <a:spcBef>
                <a:spcPct val="20000"/>
              </a:spcBef>
              <a:buFont typeface="Monotype Sorts" pitchFamily="2" charset="2"/>
              <a:buNone/>
            </a:pPr>
            <a:r>
              <a:rPr lang="en-US" altLang="zh-CN" sz="2400">
                <a:latin typeface="黑体" panose="02010609060101010101" pitchFamily="49" charset="-122"/>
                <a:ea typeface="黑体" panose="02010609060101010101" pitchFamily="49" charset="-122"/>
              </a:rPr>
              <a:t>	int MPI_Comm_rank(MPI_Comm comm, int *rank);</a:t>
            </a:r>
          </a:p>
          <a:p>
            <a:pPr lvl="1">
              <a:spcBef>
                <a:spcPct val="20000"/>
              </a:spcBef>
              <a:buFont typeface="Monotype Sorts" pitchFamily="2" charset="2"/>
              <a:buNone/>
            </a:pPr>
            <a:endParaRPr lang="en-US" altLang="zh-CN" sz="2400">
              <a:latin typeface="黑体" panose="02010609060101010101" pitchFamily="49" charset="-122"/>
              <a:ea typeface="黑体" panose="02010609060101010101" pitchFamily="49" charset="-122"/>
            </a:endParaRPr>
          </a:p>
          <a:p>
            <a:pPr lvl="1">
              <a:spcBef>
                <a:spcPct val="20000"/>
              </a:spcBef>
              <a:buFont typeface="Arial" panose="020B0604020202020204" pitchFamily="34" charset="0"/>
              <a:buChar char="–"/>
            </a:pPr>
            <a:r>
              <a:rPr lang="zh-CN" altLang="en-US" sz="2400" b="1">
                <a:latin typeface="Courier New" panose="02070309020205020404" pitchFamily="49" charset="0"/>
                <a:ea typeface="黑体" panose="02010609060101010101" pitchFamily="49" charset="-122"/>
              </a:rPr>
              <a:t>用</a:t>
            </a:r>
            <a:r>
              <a:rPr lang="en-US" altLang="zh-CN" sz="2400" b="1">
                <a:latin typeface="Courier New" panose="02070309020205020404" pitchFamily="49" charset="0"/>
                <a:ea typeface="黑体" panose="02010609060101010101" pitchFamily="49" charset="-122"/>
              </a:rPr>
              <a:t>MPI_Comm_rank</a:t>
            </a:r>
            <a:r>
              <a:rPr lang="en-US" altLang="zh-CN" sz="2400">
                <a:latin typeface="黑体" panose="02010609060101010101" pitchFamily="49" charset="-122"/>
                <a:ea typeface="黑体" panose="02010609060101010101" pitchFamily="49" charset="-122"/>
              </a:rPr>
              <a:t> </a:t>
            </a:r>
            <a:r>
              <a:rPr lang="zh-CN" altLang="en-US" sz="2400">
                <a:latin typeface="黑体" panose="02010609060101010101" pitchFamily="49" charset="-122"/>
                <a:ea typeface="黑体" panose="02010609060101010101" pitchFamily="49" charset="-122"/>
              </a:rPr>
              <a:t>获得进程的一个叫</a:t>
            </a:r>
            <a:r>
              <a:rPr lang="en-US" altLang="zh-CN" sz="2400" i="1">
                <a:latin typeface="黑体" panose="02010609060101010101" pitchFamily="49" charset="-122"/>
                <a:ea typeface="黑体" panose="02010609060101010101" pitchFamily="49" charset="-122"/>
              </a:rPr>
              <a:t>rank</a:t>
            </a:r>
            <a:r>
              <a:rPr lang="zh-CN" altLang="en-US" sz="2400">
                <a:latin typeface="黑体" panose="02010609060101010101" pitchFamily="49" charset="-122"/>
                <a:ea typeface="黑体" panose="02010609060101010101" pitchFamily="49" charset="-122"/>
              </a:rPr>
              <a:t>的值，该</a:t>
            </a:r>
            <a:r>
              <a:rPr lang="en-US" altLang="zh-CN" sz="2400">
                <a:latin typeface="黑体" panose="02010609060101010101" pitchFamily="49" charset="-122"/>
                <a:ea typeface="黑体" panose="02010609060101010101" pitchFamily="49" charset="-122"/>
              </a:rPr>
              <a:t> </a:t>
            </a:r>
            <a:r>
              <a:rPr lang="en-US" altLang="zh-CN" sz="2400" i="1">
                <a:latin typeface="黑体" panose="02010609060101010101" pitchFamily="49" charset="-122"/>
                <a:ea typeface="黑体" panose="02010609060101010101" pitchFamily="49" charset="-122"/>
              </a:rPr>
              <a:t>rank</a:t>
            </a:r>
            <a:r>
              <a:rPr lang="zh-CN" altLang="en-US" sz="2400">
                <a:latin typeface="黑体" panose="02010609060101010101" pitchFamily="49" charset="-122"/>
                <a:ea typeface="黑体" panose="02010609060101010101" pitchFamily="49" charset="-122"/>
              </a:rPr>
              <a:t>值为0到</a:t>
            </a:r>
            <a:r>
              <a:rPr lang="en-US" altLang="zh-CN" sz="2400">
                <a:latin typeface="黑体" panose="02010609060101010101" pitchFamily="49" charset="-122"/>
                <a:ea typeface="黑体" panose="02010609060101010101" pitchFamily="49" charset="-122"/>
              </a:rPr>
              <a:t>p-1</a:t>
            </a:r>
            <a:r>
              <a:rPr lang="zh-CN" altLang="en-US" sz="2400">
                <a:latin typeface="黑体" panose="02010609060101010101" pitchFamily="49" charset="-122"/>
                <a:ea typeface="黑体" panose="02010609060101010101" pitchFamily="49" charset="-122"/>
              </a:rPr>
              <a:t>间的整数,相当于进程的</a:t>
            </a:r>
            <a:r>
              <a:rPr lang="en-US" altLang="zh-CN" sz="2400">
                <a:latin typeface="黑体" panose="02010609060101010101" pitchFamily="49" charset="-122"/>
                <a:ea typeface="黑体" panose="02010609060101010101" pitchFamily="49" charset="-122"/>
              </a:rPr>
              <a:t>ID</a:t>
            </a:r>
          </a:p>
          <a:p>
            <a:pPr lvl="1">
              <a:spcBef>
                <a:spcPct val="20000"/>
              </a:spcBef>
              <a:buFont typeface="Monotype Sorts" pitchFamily="2" charset="2"/>
              <a:buNone/>
            </a:pPr>
            <a:r>
              <a:rPr lang="zh-CN" altLang="en-US" sz="2400">
                <a:latin typeface="黑体" panose="02010609060101010101" pitchFamily="49" charset="-122"/>
                <a:ea typeface="黑体" panose="02010609060101010101" pitchFamily="49" charset="-122"/>
              </a:rPr>
              <a:t>	</a:t>
            </a:r>
            <a:r>
              <a:rPr lang="en-US" altLang="zh-CN" sz="2400">
                <a:latin typeface="黑体" panose="02010609060101010101" pitchFamily="49" charset="-122"/>
                <a:ea typeface="黑体" panose="02010609060101010101" pitchFamily="49" charset="-122"/>
              </a:rPr>
              <a:t>int MPI_Comm_size(MPI_Comm comm, int *size);</a:t>
            </a:r>
          </a:p>
        </p:txBody>
      </p:sp>
      <p:sp>
        <p:nvSpPr>
          <p:cNvPr id="25603" name="Rectangle 2">
            <a:extLst>
              <a:ext uri="{FF2B5EF4-FFF2-40B4-BE49-F238E27FC236}">
                <a16:creationId xmlns:a16="http://schemas.microsoft.com/office/drawing/2014/main" id="{22ACC9FD-2F6B-A347-AAA7-D86105758776}"/>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三、</a:t>
            </a:r>
            <a:r>
              <a:rPr lang="en-US" altLang="zh-CN" sz="3200" b="1">
                <a:solidFill>
                  <a:srgbClr val="0000FF"/>
                </a:solidFill>
                <a:latin typeface="黑体" panose="02010609060101010101" pitchFamily="49" charset="-122"/>
                <a:ea typeface="黑体" panose="02010609060101010101" pitchFamily="49" charset="-122"/>
              </a:rPr>
              <a:t>MPI</a:t>
            </a:r>
            <a:r>
              <a:rPr lang="zh-CN" altLang="en-US" sz="3200" b="1">
                <a:solidFill>
                  <a:srgbClr val="0000FF"/>
                </a:solidFill>
                <a:latin typeface="黑体" panose="02010609060101010101" pitchFamily="49" charset="-122"/>
                <a:ea typeface="黑体" panose="02010609060101010101" pitchFamily="49" charset="-122"/>
              </a:rPr>
              <a:t>程序分析及编程入门</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141"/>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2">
            <a:extLst>
              <a:ext uri="{FF2B5EF4-FFF2-40B4-BE49-F238E27FC236}">
                <a16:creationId xmlns:a16="http://schemas.microsoft.com/office/drawing/2014/main" id="{72513FD3-5BD1-F64A-AE46-22F7689982A6}"/>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a:solidFill>
                  <a:srgbClr val="0000FF"/>
                </a:solidFill>
                <a:sym typeface="Webdings" pitchFamily="2" charset="2"/>
              </a:rPr>
              <a:t>MPI</a:t>
            </a:r>
            <a:r>
              <a:rPr lang="zh-CN" altLang="en-US" sz="2400">
                <a:solidFill>
                  <a:srgbClr val="0000FF"/>
                </a:solidFill>
                <a:sym typeface="Webdings" pitchFamily="2" charset="2"/>
              </a:rPr>
              <a:t>基本函数</a:t>
            </a:r>
            <a:endParaRPr lang="zh-CN" altLang="en-US" sz="2400">
              <a:solidFill>
                <a:srgbClr val="0000FF"/>
              </a:solidFill>
              <a:latin typeface="黑体" panose="02010609060101010101" pitchFamily="49" charset="-122"/>
              <a:ea typeface="黑体" panose="02010609060101010101" pitchFamily="49" charset="-122"/>
            </a:endParaRPr>
          </a:p>
        </p:txBody>
      </p:sp>
      <p:sp>
        <p:nvSpPr>
          <p:cNvPr id="7" name="Rectangle 3">
            <a:extLst>
              <a:ext uri="{FF2B5EF4-FFF2-40B4-BE49-F238E27FC236}">
                <a16:creationId xmlns:a16="http://schemas.microsoft.com/office/drawing/2014/main" id="{C54C4656-4503-694F-A994-369F2DFA24CE}"/>
              </a:ext>
            </a:extLst>
          </p:cNvPr>
          <p:cNvSpPr txBox="1">
            <a:spLocks noChangeArrowheads="1"/>
          </p:cNvSpPr>
          <p:nvPr/>
        </p:nvSpPr>
        <p:spPr bwMode="auto">
          <a:xfrm>
            <a:off x="857250" y="1928813"/>
            <a:ext cx="8015288" cy="3071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20000"/>
              </a:spcBef>
              <a:buFont typeface="Arial" panose="020B0604020202020204" pitchFamily="34" charset="0"/>
              <a:buChar char="•"/>
            </a:pPr>
            <a:r>
              <a:rPr lang="en-US" altLang="zh-CN" sz="2800">
                <a:solidFill>
                  <a:srgbClr val="FF0000"/>
                </a:solidFill>
                <a:latin typeface="黑体" panose="02010609060101010101" pitchFamily="49" charset="-122"/>
                <a:ea typeface="黑体" panose="02010609060101010101" pitchFamily="49" charset="-122"/>
              </a:rPr>
              <a:t>int MPI_Init (</a:t>
            </a:r>
          </a:p>
          <a:p>
            <a:pPr>
              <a:lnSpc>
                <a:spcPct val="50000"/>
              </a:lnSpc>
              <a:spcBef>
                <a:spcPct val="25000"/>
              </a:spcBef>
              <a:buFont typeface="Times New Roman" panose="02020603050405020304" pitchFamily="18" charset="0"/>
              <a:buNone/>
            </a:pPr>
            <a:r>
              <a:rPr lang="en-US" altLang="zh-CN" sz="2800">
                <a:solidFill>
                  <a:srgbClr val="FF0000"/>
                </a:solidFill>
                <a:latin typeface="黑体" panose="02010609060101010101" pitchFamily="49" charset="-122"/>
                <a:ea typeface="黑体" panose="02010609060101010101" pitchFamily="49" charset="-122"/>
              </a:rPr>
              <a:t>			int*		argc     /* in/out */,</a:t>
            </a:r>
          </a:p>
          <a:p>
            <a:pPr>
              <a:lnSpc>
                <a:spcPct val="50000"/>
              </a:lnSpc>
              <a:spcBef>
                <a:spcPct val="25000"/>
              </a:spcBef>
              <a:buFont typeface="Times New Roman" panose="02020603050405020304" pitchFamily="18" charset="0"/>
              <a:buNone/>
            </a:pPr>
            <a:r>
              <a:rPr lang="en-US" altLang="zh-CN" sz="2800">
                <a:solidFill>
                  <a:srgbClr val="FF0000"/>
                </a:solidFill>
                <a:latin typeface="黑体" panose="02010609060101010101" pitchFamily="49" charset="-122"/>
                <a:ea typeface="黑体" panose="02010609060101010101" pitchFamily="49" charset="-122"/>
              </a:rPr>
              <a:t>			char** 	argv[]  /* in/out */)</a:t>
            </a:r>
          </a:p>
          <a:p>
            <a:pPr lvl="1">
              <a:spcBef>
                <a:spcPct val="50000"/>
              </a:spcBef>
              <a:buFont typeface="Arial" panose="020B0604020202020204" pitchFamily="34" charset="0"/>
              <a:buChar char="–"/>
            </a:pPr>
            <a:r>
              <a:rPr lang="zh-CN" altLang="en-US" sz="2400">
                <a:latin typeface="黑体" panose="02010609060101010101" pitchFamily="49" charset="-122"/>
                <a:ea typeface="黑体" panose="02010609060101010101" pitchFamily="49" charset="-122"/>
              </a:rPr>
              <a:t>通常应该是第一个被调用的</a:t>
            </a:r>
            <a:r>
              <a:rPr lang="en-US" altLang="zh-CN" sz="2400">
                <a:latin typeface="黑体" panose="02010609060101010101" pitchFamily="49" charset="-122"/>
                <a:ea typeface="黑体" panose="02010609060101010101" pitchFamily="49" charset="-122"/>
              </a:rPr>
              <a:t>MPI</a:t>
            </a:r>
            <a:r>
              <a:rPr lang="zh-CN" altLang="en-US" sz="2400">
                <a:latin typeface="黑体" panose="02010609060101010101" pitchFamily="49" charset="-122"/>
                <a:ea typeface="黑体" panose="02010609060101010101" pitchFamily="49" charset="-122"/>
              </a:rPr>
              <a:t>函数</a:t>
            </a:r>
          </a:p>
          <a:p>
            <a:pPr lvl="1">
              <a:spcBef>
                <a:spcPct val="20000"/>
              </a:spcBef>
              <a:buFont typeface="Arial" panose="020B0604020202020204" pitchFamily="34" charset="0"/>
              <a:buChar char="–"/>
            </a:pPr>
            <a:r>
              <a:rPr lang="zh-CN" altLang="en-US" sz="2400">
                <a:latin typeface="黑体" panose="02010609060101010101" pitchFamily="49" charset="-122"/>
                <a:ea typeface="黑体" panose="02010609060101010101" pitchFamily="49" charset="-122"/>
              </a:rPr>
              <a:t>除</a:t>
            </a:r>
            <a:r>
              <a:rPr lang="en-US" altLang="zh-CN" sz="2400">
                <a:latin typeface="黑体" panose="02010609060101010101" pitchFamily="49" charset="-122"/>
                <a:ea typeface="黑体" panose="02010609060101010101" pitchFamily="49" charset="-122"/>
              </a:rPr>
              <a:t>MPI_Initialized()</a:t>
            </a:r>
            <a:r>
              <a:rPr lang="zh-CN" altLang="en-US" sz="2400">
                <a:latin typeface="黑体" panose="02010609060101010101" pitchFamily="49" charset="-122"/>
                <a:ea typeface="黑体" panose="02010609060101010101" pitchFamily="49" charset="-122"/>
              </a:rPr>
              <a:t>外，其余所有的</a:t>
            </a:r>
            <a:r>
              <a:rPr lang="en-US" altLang="zh-CN" sz="2400">
                <a:latin typeface="黑体" panose="02010609060101010101" pitchFamily="49" charset="-122"/>
                <a:ea typeface="黑体" panose="02010609060101010101" pitchFamily="49" charset="-122"/>
              </a:rPr>
              <a:t>MPI</a:t>
            </a:r>
            <a:r>
              <a:rPr lang="zh-CN" altLang="en-US" sz="2400">
                <a:latin typeface="黑体" panose="02010609060101010101" pitchFamily="49" charset="-122"/>
                <a:ea typeface="黑体" panose="02010609060101010101" pitchFamily="49" charset="-122"/>
              </a:rPr>
              <a:t>函数应该在其后被调用</a:t>
            </a:r>
          </a:p>
          <a:p>
            <a:pPr lvl="1">
              <a:spcBef>
                <a:spcPct val="20000"/>
              </a:spcBef>
              <a:buFont typeface="Arial" panose="020B0604020202020204" pitchFamily="34" charset="0"/>
              <a:buChar char="–"/>
            </a:pPr>
            <a:r>
              <a:rPr lang="en-US" altLang="zh-CN" sz="2400">
                <a:latin typeface="黑体" panose="02010609060101010101" pitchFamily="49" charset="-122"/>
                <a:ea typeface="黑体" panose="02010609060101010101" pitchFamily="49" charset="-122"/>
              </a:rPr>
              <a:t>MPI</a:t>
            </a:r>
            <a:r>
              <a:rPr lang="zh-CN" altLang="en-US" sz="2400">
                <a:latin typeface="黑体" panose="02010609060101010101" pitchFamily="49" charset="-122"/>
                <a:ea typeface="黑体" panose="02010609060101010101" pitchFamily="49" charset="-122"/>
              </a:rPr>
              <a:t>系统将通过</a:t>
            </a:r>
            <a:r>
              <a:rPr lang="en-US" altLang="zh-CN" sz="2400">
                <a:latin typeface="黑体" panose="02010609060101010101" pitchFamily="49" charset="-122"/>
                <a:ea typeface="黑体" panose="02010609060101010101" pitchFamily="49" charset="-122"/>
              </a:rPr>
              <a:t>argc,argv</a:t>
            </a:r>
            <a:r>
              <a:rPr lang="zh-CN" altLang="en-US" sz="2400">
                <a:latin typeface="黑体" panose="02010609060101010101" pitchFamily="49" charset="-122"/>
                <a:ea typeface="黑体" panose="02010609060101010101" pitchFamily="49" charset="-122"/>
              </a:rPr>
              <a:t>得到命令行参数</a:t>
            </a:r>
          </a:p>
        </p:txBody>
      </p:sp>
      <p:sp>
        <p:nvSpPr>
          <p:cNvPr id="26627" name="Rectangle 2">
            <a:extLst>
              <a:ext uri="{FF2B5EF4-FFF2-40B4-BE49-F238E27FC236}">
                <a16:creationId xmlns:a16="http://schemas.microsoft.com/office/drawing/2014/main" id="{86D50B14-2CC8-4C47-A12B-51C427CC3326}"/>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三、</a:t>
            </a:r>
            <a:r>
              <a:rPr lang="en-US" altLang="zh-CN" sz="3200" b="1">
                <a:solidFill>
                  <a:srgbClr val="0000FF"/>
                </a:solidFill>
                <a:latin typeface="黑体" panose="02010609060101010101" pitchFamily="49" charset="-122"/>
                <a:ea typeface="黑体" panose="02010609060101010101" pitchFamily="49" charset="-122"/>
              </a:rPr>
              <a:t>MPI</a:t>
            </a:r>
            <a:r>
              <a:rPr lang="zh-CN" altLang="en-US" sz="3200" b="1">
                <a:solidFill>
                  <a:srgbClr val="0000FF"/>
                </a:solidFill>
                <a:latin typeface="黑体" panose="02010609060101010101" pitchFamily="49" charset="-122"/>
                <a:ea typeface="黑体" panose="02010609060101010101" pitchFamily="49" charset="-122"/>
              </a:rPr>
              <a:t>程序分析及编程入门</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140"/>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2">
            <a:extLst>
              <a:ext uri="{FF2B5EF4-FFF2-40B4-BE49-F238E27FC236}">
                <a16:creationId xmlns:a16="http://schemas.microsoft.com/office/drawing/2014/main" id="{E778F477-99FD-1D4C-BA24-31ED0385D173}"/>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a:solidFill>
                  <a:srgbClr val="0000FF"/>
                </a:solidFill>
                <a:sym typeface="Webdings" pitchFamily="2" charset="2"/>
              </a:rPr>
              <a:t>MPI</a:t>
            </a:r>
            <a:r>
              <a:rPr lang="zh-CN" altLang="en-US" sz="2400">
                <a:solidFill>
                  <a:srgbClr val="0000FF"/>
                </a:solidFill>
                <a:sym typeface="Webdings" pitchFamily="2" charset="2"/>
              </a:rPr>
              <a:t>基本函数</a:t>
            </a:r>
            <a:endParaRPr lang="zh-CN" altLang="en-US" sz="2400">
              <a:solidFill>
                <a:srgbClr val="0000FF"/>
              </a:solidFill>
              <a:latin typeface="黑体" panose="02010609060101010101" pitchFamily="49" charset="-122"/>
              <a:ea typeface="黑体" panose="02010609060101010101" pitchFamily="49" charset="-122"/>
            </a:endParaRPr>
          </a:p>
        </p:txBody>
      </p:sp>
      <p:sp>
        <p:nvSpPr>
          <p:cNvPr id="8" name="Rectangle 3">
            <a:extLst>
              <a:ext uri="{FF2B5EF4-FFF2-40B4-BE49-F238E27FC236}">
                <a16:creationId xmlns:a16="http://schemas.microsoft.com/office/drawing/2014/main" id="{FED6F41F-AA67-4B44-B1DE-42C83667F5D9}"/>
              </a:ext>
            </a:extLst>
          </p:cNvPr>
          <p:cNvSpPr txBox="1">
            <a:spLocks noChangeArrowheads="1"/>
          </p:cNvSpPr>
          <p:nvPr/>
        </p:nvSpPr>
        <p:spPr bwMode="auto">
          <a:xfrm>
            <a:off x="785813" y="1857375"/>
            <a:ext cx="8015287" cy="2571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20000"/>
              </a:spcBef>
              <a:buFont typeface="Arial" panose="020B0604020202020204" pitchFamily="34" charset="0"/>
              <a:buChar char="•"/>
            </a:pPr>
            <a:r>
              <a:rPr lang="en-US" altLang="zh-CN" sz="2800">
                <a:solidFill>
                  <a:srgbClr val="FF0000"/>
                </a:solidFill>
                <a:latin typeface="黑体" panose="02010609060101010101" pitchFamily="49" charset="-122"/>
                <a:ea typeface="黑体" panose="02010609060101010101" pitchFamily="49" charset="-122"/>
              </a:rPr>
              <a:t>int MPI_Finalize (void) </a:t>
            </a:r>
          </a:p>
          <a:p>
            <a:pPr lvl="1">
              <a:spcBef>
                <a:spcPct val="20000"/>
              </a:spcBef>
              <a:buFont typeface="Arial" panose="020B0604020202020204" pitchFamily="34" charset="0"/>
              <a:buChar char="–"/>
            </a:pPr>
            <a:r>
              <a:rPr lang="zh-CN" altLang="en-US" sz="2400">
                <a:latin typeface="黑体" panose="02010609060101010101" pitchFamily="49" charset="-122"/>
                <a:ea typeface="黑体" panose="02010609060101010101" pitchFamily="49" charset="-122"/>
              </a:rPr>
              <a:t>退出</a:t>
            </a:r>
            <a:r>
              <a:rPr lang="en-US" altLang="zh-CN" sz="2400">
                <a:latin typeface="黑体" panose="02010609060101010101" pitchFamily="49" charset="-122"/>
                <a:ea typeface="黑体" panose="02010609060101010101" pitchFamily="49" charset="-122"/>
              </a:rPr>
              <a:t>MPI</a:t>
            </a:r>
            <a:r>
              <a:rPr lang="zh-CN" altLang="en-US" sz="2400">
                <a:latin typeface="黑体" panose="02010609060101010101" pitchFamily="49" charset="-122"/>
                <a:ea typeface="黑体" panose="02010609060101010101" pitchFamily="49" charset="-122"/>
              </a:rPr>
              <a:t>系统，所有进程正常退出都必须调用。表明并行代码的结束</a:t>
            </a:r>
            <a:r>
              <a:rPr lang="en-US" altLang="zh-CN" sz="2400">
                <a:latin typeface="黑体" panose="02010609060101010101" pitchFamily="49" charset="-122"/>
                <a:ea typeface="黑体" panose="02010609060101010101" pitchFamily="49" charset="-122"/>
              </a:rPr>
              <a:t>,</a:t>
            </a:r>
            <a:r>
              <a:rPr lang="zh-CN" altLang="en-US" sz="2400">
                <a:latin typeface="黑体" panose="02010609060101010101" pitchFamily="49" charset="-122"/>
                <a:ea typeface="黑体" panose="02010609060101010101" pitchFamily="49" charset="-122"/>
              </a:rPr>
              <a:t>结束除主进程外其它进程</a:t>
            </a:r>
            <a:r>
              <a:rPr lang="en-US" altLang="zh-CN" sz="2400">
                <a:latin typeface="黑体" panose="02010609060101010101" pitchFamily="49" charset="-122"/>
                <a:ea typeface="黑体" panose="02010609060101010101" pitchFamily="49" charset="-122"/>
              </a:rPr>
              <a:t>.</a:t>
            </a:r>
          </a:p>
          <a:p>
            <a:pPr lvl="1">
              <a:spcBef>
                <a:spcPct val="20000"/>
              </a:spcBef>
              <a:buFont typeface="Arial" panose="020B0604020202020204" pitchFamily="34" charset="0"/>
              <a:buChar char="–"/>
            </a:pPr>
            <a:r>
              <a:rPr lang="zh-CN" altLang="en-US" sz="2400">
                <a:latin typeface="黑体" panose="02010609060101010101" pitchFamily="49" charset="-122"/>
                <a:ea typeface="黑体" panose="02010609060101010101" pitchFamily="49" charset="-122"/>
              </a:rPr>
              <a:t>串行代码仍可在主进程</a:t>
            </a:r>
            <a:r>
              <a:rPr lang="en-US" altLang="zh-CN" sz="2400">
                <a:latin typeface="黑体" panose="02010609060101010101" pitchFamily="49" charset="-122"/>
                <a:ea typeface="黑体" panose="02010609060101010101" pitchFamily="49" charset="-122"/>
              </a:rPr>
              <a:t>(rank = 0)</a:t>
            </a:r>
            <a:r>
              <a:rPr lang="zh-CN" altLang="en-US" sz="2400">
                <a:latin typeface="黑体" panose="02010609060101010101" pitchFamily="49" charset="-122"/>
                <a:ea typeface="黑体" panose="02010609060101010101" pitchFamily="49" charset="-122"/>
              </a:rPr>
              <a:t>上运行，但不能再有</a:t>
            </a:r>
            <a:r>
              <a:rPr lang="en-US" altLang="zh-CN" sz="2400">
                <a:latin typeface="黑体" panose="02010609060101010101" pitchFamily="49" charset="-122"/>
                <a:ea typeface="黑体" panose="02010609060101010101" pitchFamily="49" charset="-122"/>
              </a:rPr>
              <a:t>MPI</a:t>
            </a:r>
            <a:r>
              <a:rPr lang="zh-CN" altLang="en-US" sz="2400">
                <a:latin typeface="黑体" panose="02010609060101010101" pitchFamily="49" charset="-122"/>
                <a:ea typeface="黑体" panose="02010609060101010101" pitchFamily="49" charset="-122"/>
              </a:rPr>
              <a:t>函数（包括</a:t>
            </a:r>
            <a:r>
              <a:rPr lang="en-US" altLang="zh-CN" sz="2400">
                <a:latin typeface="黑体" panose="02010609060101010101" pitchFamily="49" charset="-122"/>
                <a:ea typeface="黑体" panose="02010609060101010101" pitchFamily="49" charset="-122"/>
              </a:rPr>
              <a:t>MPI_Init()</a:t>
            </a:r>
            <a:r>
              <a:rPr lang="zh-CN" altLang="en-US" sz="2400">
                <a:latin typeface="黑体" panose="02010609060101010101" pitchFamily="49" charset="-122"/>
                <a:ea typeface="黑体" panose="02010609060101010101" pitchFamily="49" charset="-122"/>
              </a:rPr>
              <a:t>）</a:t>
            </a:r>
          </a:p>
        </p:txBody>
      </p:sp>
      <p:sp>
        <p:nvSpPr>
          <p:cNvPr id="27651" name="Rectangle 2">
            <a:extLst>
              <a:ext uri="{FF2B5EF4-FFF2-40B4-BE49-F238E27FC236}">
                <a16:creationId xmlns:a16="http://schemas.microsoft.com/office/drawing/2014/main" id="{03A5065D-4A96-B14F-85B2-FD48012F682F}"/>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三、</a:t>
            </a:r>
            <a:r>
              <a:rPr lang="en-US" altLang="zh-CN" sz="3200" b="1">
                <a:solidFill>
                  <a:srgbClr val="0000FF"/>
                </a:solidFill>
                <a:latin typeface="黑体" panose="02010609060101010101" pitchFamily="49" charset="-122"/>
                <a:ea typeface="黑体" panose="02010609060101010101" pitchFamily="49" charset="-122"/>
              </a:rPr>
              <a:t>MPI</a:t>
            </a:r>
            <a:r>
              <a:rPr lang="zh-CN" altLang="en-US" sz="3200" b="1">
                <a:solidFill>
                  <a:srgbClr val="0000FF"/>
                </a:solidFill>
                <a:latin typeface="黑体" panose="02010609060101010101" pitchFamily="49" charset="-122"/>
                <a:ea typeface="黑体" panose="02010609060101010101" pitchFamily="49" charset="-122"/>
              </a:rPr>
              <a:t>程序分析及编程入门</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140"/>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969D9731-FBE9-BD45-B43E-D70F057F92BD}"/>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a:solidFill>
                  <a:srgbClr val="0000FF"/>
                </a:solidFill>
                <a:sym typeface="Webdings" pitchFamily="2" charset="2"/>
              </a:rPr>
              <a:t>MPI</a:t>
            </a:r>
            <a:r>
              <a:rPr lang="zh-CN" altLang="en-US" sz="2400">
                <a:solidFill>
                  <a:srgbClr val="0000FF"/>
                </a:solidFill>
                <a:sym typeface="Webdings" pitchFamily="2" charset="2"/>
              </a:rPr>
              <a:t>基本函数</a:t>
            </a:r>
            <a:endParaRPr lang="zh-CN" altLang="en-US" sz="2400">
              <a:solidFill>
                <a:srgbClr val="0000FF"/>
              </a:solidFill>
              <a:latin typeface="黑体" panose="02010609060101010101" pitchFamily="49" charset="-122"/>
              <a:ea typeface="黑体" panose="02010609060101010101" pitchFamily="49" charset="-122"/>
            </a:endParaRPr>
          </a:p>
        </p:txBody>
      </p:sp>
      <p:sp>
        <p:nvSpPr>
          <p:cNvPr id="7" name="Rectangle 3">
            <a:extLst>
              <a:ext uri="{FF2B5EF4-FFF2-40B4-BE49-F238E27FC236}">
                <a16:creationId xmlns:a16="http://schemas.microsoft.com/office/drawing/2014/main" id="{C46CC9C0-3B3D-E84B-BCCD-72F0DE89E8A2}"/>
              </a:ext>
            </a:extLst>
          </p:cNvPr>
          <p:cNvSpPr txBox="1">
            <a:spLocks noChangeArrowheads="1"/>
          </p:cNvSpPr>
          <p:nvPr/>
        </p:nvSpPr>
        <p:spPr bwMode="auto">
          <a:xfrm>
            <a:off x="928688" y="1857375"/>
            <a:ext cx="8015287" cy="328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Font typeface="Arial" panose="020B0604020202020204" pitchFamily="34" charset="0"/>
              <a:buChar char="•"/>
            </a:pPr>
            <a:r>
              <a:rPr lang="en-US" altLang="zh-CN" sz="2800">
                <a:solidFill>
                  <a:srgbClr val="FF0000"/>
                </a:solidFill>
                <a:latin typeface="黑体" panose="02010609060101010101" pitchFamily="49" charset="-122"/>
                <a:ea typeface="黑体" panose="02010609060101010101" pitchFamily="49" charset="-122"/>
              </a:rPr>
              <a:t>int MPI_Comm_size (</a:t>
            </a:r>
          </a:p>
          <a:p>
            <a:pPr>
              <a:lnSpc>
                <a:spcPct val="50000"/>
              </a:lnSpc>
              <a:spcBef>
                <a:spcPct val="25000"/>
              </a:spcBef>
              <a:buFont typeface="Times New Roman" panose="02020603050405020304" pitchFamily="18" charset="0"/>
              <a:buNone/>
            </a:pPr>
            <a:r>
              <a:rPr lang="en-US" altLang="zh-CN" sz="2800">
                <a:solidFill>
                  <a:srgbClr val="FF0000"/>
                </a:solidFill>
                <a:latin typeface="黑体" panose="02010609060101010101" pitchFamily="49" charset="-122"/>
                <a:ea typeface="黑体" panose="02010609060101010101" pitchFamily="49" charset="-122"/>
              </a:rPr>
              <a:t>			MPI_Comm   comm   /* in  */,</a:t>
            </a:r>
          </a:p>
          <a:p>
            <a:pPr>
              <a:lnSpc>
                <a:spcPct val="50000"/>
              </a:lnSpc>
              <a:spcBef>
                <a:spcPct val="25000"/>
              </a:spcBef>
              <a:buFont typeface="Times New Roman" panose="02020603050405020304" pitchFamily="18" charset="0"/>
              <a:buNone/>
            </a:pPr>
            <a:r>
              <a:rPr lang="en-US" altLang="zh-CN" sz="2800">
                <a:solidFill>
                  <a:srgbClr val="FF0000"/>
                </a:solidFill>
                <a:latin typeface="黑体" panose="02010609060101010101" pitchFamily="49" charset="-122"/>
                <a:ea typeface="黑体" panose="02010609060101010101" pitchFamily="49" charset="-122"/>
              </a:rPr>
              <a:t>			int* 	              size      /* out */)</a:t>
            </a:r>
          </a:p>
          <a:p>
            <a:pPr lvl="1">
              <a:lnSpc>
                <a:spcPct val="90000"/>
              </a:lnSpc>
              <a:spcBef>
                <a:spcPct val="50000"/>
              </a:spcBef>
              <a:buFont typeface="Arial" panose="020B0604020202020204" pitchFamily="34" charset="0"/>
              <a:buChar char="–"/>
            </a:pPr>
            <a:r>
              <a:rPr lang="zh-CN" altLang="en-US" sz="2400">
                <a:latin typeface="黑体" panose="02010609060101010101" pitchFamily="49" charset="-122"/>
                <a:ea typeface="黑体" panose="02010609060101010101" pitchFamily="49" charset="-122"/>
              </a:rPr>
              <a:t>获得进程个数 </a:t>
            </a:r>
            <a:r>
              <a:rPr lang="en-US" altLang="zh-CN" sz="2400">
                <a:latin typeface="黑体" panose="02010609060101010101" pitchFamily="49" charset="-122"/>
                <a:ea typeface="黑体" panose="02010609060101010101" pitchFamily="49" charset="-122"/>
              </a:rPr>
              <a:t>size</a:t>
            </a:r>
          </a:p>
          <a:p>
            <a:pPr lvl="1">
              <a:lnSpc>
                <a:spcPct val="90000"/>
              </a:lnSpc>
              <a:spcBef>
                <a:spcPct val="50000"/>
              </a:spcBef>
              <a:buFont typeface="Arial" panose="020B0604020202020204" pitchFamily="34" charset="0"/>
              <a:buChar char="–"/>
            </a:pPr>
            <a:r>
              <a:rPr lang="zh-CN" altLang="en-US" sz="2400">
                <a:latin typeface="黑体" panose="02010609060101010101" pitchFamily="49" charset="-122"/>
                <a:ea typeface="黑体" panose="02010609060101010101" pitchFamily="49" charset="-122"/>
              </a:rPr>
              <a:t>指定一个通信子</a:t>
            </a:r>
            <a:r>
              <a:rPr lang="en-US" altLang="zh-CN" sz="2400">
                <a:latin typeface="黑体" panose="02010609060101010101" pitchFamily="49" charset="-122"/>
                <a:ea typeface="黑体" panose="02010609060101010101" pitchFamily="49" charset="-122"/>
              </a:rPr>
              <a:t>,</a:t>
            </a:r>
            <a:r>
              <a:rPr lang="zh-CN" altLang="en-US" sz="2400">
                <a:latin typeface="黑体" panose="02010609060101010101" pitchFamily="49" charset="-122"/>
                <a:ea typeface="黑体" panose="02010609060101010101" pitchFamily="49" charset="-122"/>
              </a:rPr>
              <a:t>也指定了一组共享该空间的进程</a:t>
            </a:r>
            <a:r>
              <a:rPr lang="en-US" altLang="zh-CN" sz="2400">
                <a:latin typeface="黑体" panose="02010609060101010101" pitchFamily="49" charset="-122"/>
                <a:ea typeface="黑体" panose="02010609060101010101" pitchFamily="49" charset="-122"/>
              </a:rPr>
              <a:t>, </a:t>
            </a:r>
            <a:r>
              <a:rPr lang="zh-CN" altLang="en-US" sz="2400">
                <a:latin typeface="黑体" panose="02010609060101010101" pitchFamily="49" charset="-122"/>
                <a:ea typeface="黑体" panose="02010609060101010101" pitchFamily="49" charset="-122"/>
              </a:rPr>
              <a:t>这些进程组成该通信子的</a:t>
            </a:r>
            <a:r>
              <a:rPr lang="en-US" altLang="zh-CN" sz="2400">
                <a:latin typeface="黑体" panose="02010609060101010101" pitchFamily="49" charset="-122"/>
                <a:ea typeface="黑体" panose="02010609060101010101" pitchFamily="49" charset="-122"/>
              </a:rPr>
              <a:t>group.</a:t>
            </a:r>
          </a:p>
          <a:p>
            <a:pPr lvl="1">
              <a:lnSpc>
                <a:spcPct val="90000"/>
              </a:lnSpc>
              <a:spcBef>
                <a:spcPct val="20000"/>
              </a:spcBef>
              <a:buFont typeface="Arial" panose="020B0604020202020204" pitchFamily="34" charset="0"/>
              <a:buChar char="–"/>
            </a:pPr>
            <a:r>
              <a:rPr lang="zh-CN" altLang="en-US" sz="2400">
                <a:latin typeface="黑体" panose="02010609060101010101" pitchFamily="49" charset="-122"/>
                <a:ea typeface="黑体" panose="02010609060101010101" pitchFamily="49" charset="-122"/>
              </a:rPr>
              <a:t>获得通信子</a:t>
            </a:r>
            <a:r>
              <a:rPr lang="en-US" altLang="zh-CN" sz="2400">
                <a:latin typeface="黑体" panose="02010609060101010101" pitchFamily="49" charset="-122"/>
                <a:ea typeface="黑体" panose="02010609060101010101" pitchFamily="49" charset="-122"/>
              </a:rPr>
              <a:t>comm</a:t>
            </a:r>
            <a:r>
              <a:rPr lang="zh-CN" altLang="en-US" sz="2400">
                <a:latin typeface="黑体" panose="02010609060101010101" pitchFamily="49" charset="-122"/>
                <a:ea typeface="黑体" panose="02010609060101010101" pitchFamily="49" charset="-122"/>
              </a:rPr>
              <a:t>中规定的</a:t>
            </a:r>
            <a:r>
              <a:rPr lang="en-US" altLang="zh-CN" sz="2400">
                <a:latin typeface="黑体" panose="02010609060101010101" pitchFamily="49" charset="-122"/>
                <a:ea typeface="黑体" panose="02010609060101010101" pitchFamily="49" charset="-122"/>
              </a:rPr>
              <a:t>group</a:t>
            </a:r>
            <a:r>
              <a:rPr lang="zh-CN" altLang="en-US" sz="2400">
                <a:latin typeface="黑体" panose="02010609060101010101" pitchFamily="49" charset="-122"/>
                <a:ea typeface="黑体" panose="02010609060101010101" pitchFamily="49" charset="-122"/>
              </a:rPr>
              <a:t>包含的进程的数量</a:t>
            </a:r>
            <a:r>
              <a:rPr lang="en-US" altLang="zh-CN" sz="2400">
                <a:latin typeface="黑体" panose="02010609060101010101" pitchFamily="49" charset="-122"/>
                <a:ea typeface="黑体" panose="02010609060101010101" pitchFamily="49" charset="-122"/>
              </a:rPr>
              <a:t>.</a:t>
            </a:r>
          </a:p>
        </p:txBody>
      </p:sp>
      <p:sp>
        <p:nvSpPr>
          <p:cNvPr id="28675" name="Rectangle 2">
            <a:extLst>
              <a:ext uri="{FF2B5EF4-FFF2-40B4-BE49-F238E27FC236}">
                <a16:creationId xmlns:a16="http://schemas.microsoft.com/office/drawing/2014/main" id="{2093C9E9-4E07-9646-9A55-9BF6586C8909}"/>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三、</a:t>
            </a:r>
            <a:r>
              <a:rPr lang="en-US" altLang="zh-CN" sz="3200" b="1">
                <a:solidFill>
                  <a:srgbClr val="0000FF"/>
                </a:solidFill>
                <a:latin typeface="黑体" panose="02010609060101010101" pitchFamily="49" charset="-122"/>
                <a:ea typeface="黑体" panose="02010609060101010101" pitchFamily="49" charset="-122"/>
              </a:rPr>
              <a:t>MPI</a:t>
            </a:r>
            <a:r>
              <a:rPr lang="zh-CN" altLang="en-US" sz="3200" b="1">
                <a:solidFill>
                  <a:srgbClr val="0000FF"/>
                </a:solidFill>
                <a:latin typeface="黑体" panose="02010609060101010101" pitchFamily="49" charset="-122"/>
                <a:ea typeface="黑体" panose="02010609060101010101" pitchFamily="49" charset="-122"/>
              </a:rPr>
              <a:t>程序分析及编程入门</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141"/>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2">
            <a:extLst>
              <a:ext uri="{FF2B5EF4-FFF2-40B4-BE49-F238E27FC236}">
                <a16:creationId xmlns:a16="http://schemas.microsoft.com/office/drawing/2014/main" id="{8CB398B4-FFE9-5048-8F15-9FCDF3C8754C}"/>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a:solidFill>
                  <a:srgbClr val="0000FF"/>
                </a:solidFill>
                <a:sym typeface="Webdings" pitchFamily="2" charset="2"/>
              </a:rPr>
              <a:t>MPI</a:t>
            </a:r>
            <a:r>
              <a:rPr lang="zh-CN" altLang="en-US" sz="2400">
                <a:solidFill>
                  <a:srgbClr val="0000FF"/>
                </a:solidFill>
                <a:sym typeface="Webdings" pitchFamily="2" charset="2"/>
              </a:rPr>
              <a:t>基本函数</a:t>
            </a:r>
            <a:endParaRPr lang="zh-CN" altLang="en-US" sz="2400">
              <a:solidFill>
                <a:srgbClr val="0000FF"/>
              </a:solidFill>
              <a:latin typeface="黑体" panose="02010609060101010101" pitchFamily="49" charset="-122"/>
              <a:ea typeface="黑体" panose="02010609060101010101" pitchFamily="49" charset="-122"/>
            </a:endParaRPr>
          </a:p>
        </p:txBody>
      </p:sp>
      <p:sp>
        <p:nvSpPr>
          <p:cNvPr id="8" name="Rectangle 3">
            <a:extLst>
              <a:ext uri="{FF2B5EF4-FFF2-40B4-BE49-F238E27FC236}">
                <a16:creationId xmlns:a16="http://schemas.microsoft.com/office/drawing/2014/main" id="{C192960C-9353-B24A-9016-539FA2A851BB}"/>
              </a:ext>
            </a:extLst>
          </p:cNvPr>
          <p:cNvSpPr txBox="1">
            <a:spLocks noChangeArrowheads="1"/>
          </p:cNvSpPr>
          <p:nvPr/>
        </p:nvSpPr>
        <p:spPr bwMode="auto">
          <a:xfrm>
            <a:off x="857250" y="1714500"/>
            <a:ext cx="8015288" cy="2928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90000"/>
              </a:lnSpc>
              <a:spcBef>
                <a:spcPct val="20000"/>
              </a:spcBef>
              <a:buFont typeface="Arial" panose="020B0604020202020204" pitchFamily="34" charset="0"/>
              <a:buChar char="•"/>
            </a:pPr>
            <a:r>
              <a:rPr lang="en-US" altLang="zh-CN" sz="2400">
                <a:solidFill>
                  <a:srgbClr val="FF0000"/>
                </a:solidFill>
                <a:latin typeface="黑体" panose="02010609060101010101" pitchFamily="49" charset="-122"/>
                <a:ea typeface="黑体" panose="02010609060101010101" pitchFamily="49" charset="-122"/>
              </a:rPr>
              <a:t>int MPI_Comm_rank (MPI_Comm   comm   /* in  */,</a:t>
            </a:r>
          </a:p>
          <a:p>
            <a:pPr>
              <a:lnSpc>
                <a:spcPct val="50000"/>
              </a:lnSpc>
              <a:spcBef>
                <a:spcPct val="25000"/>
              </a:spcBef>
              <a:buFont typeface="Times New Roman" panose="02020603050405020304" pitchFamily="18" charset="0"/>
              <a:buNone/>
            </a:pPr>
            <a:r>
              <a:rPr lang="en-US" altLang="zh-CN" sz="2400">
                <a:solidFill>
                  <a:srgbClr val="FF0000"/>
                </a:solidFill>
                <a:latin typeface="黑体" panose="02010609060101010101" pitchFamily="49" charset="-122"/>
                <a:ea typeface="黑体" panose="02010609060101010101" pitchFamily="49" charset="-122"/>
              </a:rPr>
              <a:t>			        int* 	 rank    /* out */)</a:t>
            </a:r>
          </a:p>
          <a:p>
            <a:pPr lvl="1">
              <a:lnSpc>
                <a:spcPct val="90000"/>
              </a:lnSpc>
              <a:spcBef>
                <a:spcPct val="50000"/>
              </a:spcBef>
              <a:buFont typeface="Arial" panose="020B0604020202020204" pitchFamily="34" charset="0"/>
              <a:buChar char="–"/>
            </a:pPr>
            <a:r>
              <a:rPr lang="zh-CN" altLang="en-US" sz="2800">
                <a:latin typeface="黑体" panose="02010609060101010101" pitchFamily="49" charset="-122"/>
                <a:ea typeface="黑体" panose="02010609060101010101" pitchFamily="49" charset="-122"/>
              </a:rPr>
              <a:t>得到本进程在通信空间中的</a:t>
            </a:r>
            <a:r>
              <a:rPr lang="en-US" altLang="zh-CN" sz="2800">
                <a:latin typeface="黑体" panose="02010609060101010101" pitchFamily="49" charset="-122"/>
                <a:ea typeface="黑体" panose="02010609060101010101" pitchFamily="49" charset="-122"/>
              </a:rPr>
              <a:t>rank</a:t>
            </a:r>
            <a:r>
              <a:rPr lang="zh-CN" altLang="en-US" sz="2800">
                <a:latin typeface="黑体" panose="02010609060101010101" pitchFamily="49" charset="-122"/>
                <a:ea typeface="黑体" panose="02010609060101010101" pitchFamily="49" charset="-122"/>
              </a:rPr>
              <a:t>值</a:t>
            </a:r>
            <a:r>
              <a:rPr lang="en-US" altLang="zh-CN" sz="2800">
                <a:latin typeface="黑体" panose="02010609060101010101" pitchFamily="49" charset="-122"/>
                <a:ea typeface="黑体" panose="02010609060101010101" pitchFamily="49" charset="-122"/>
              </a:rPr>
              <a:t>,</a:t>
            </a:r>
            <a:r>
              <a:rPr lang="zh-CN" altLang="en-US" sz="2800">
                <a:latin typeface="黑体" panose="02010609060101010101" pitchFamily="49" charset="-122"/>
                <a:ea typeface="黑体" panose="02010609060101010101" pitchFamily="49" charset="-122"/>
              </a:rPr>
              <a:t>即在组中的逻辑编号</a:t>
            </a:r>
            <a:r>
              <a:rPr lang="en-US" altLang="zh-CN" sz="2800">
                <a:latin typeface="黑体" panose="02010609060101010101" pitchFamily="49" charset="-122"/>
                <a:ea typeface="黑体" panose="02010609060101010101" pitchFamily="49" charset="-122"/>
              </a:rPr>
              <a:t>(</a:t>
            </a:r>
            <a:r>
              <a:rPr lang="zh-CN" altLang="en-US" sz="2800">
                <a:latin typeface="黑体" panose="02010609060101010101" pitchFamily="49" charset="-122"/>
                <a:ea typeface="黑体" panose="02010609060101010101" pitchFamily="49" charset="-122"/>
              </a:rPr>
              <a:t>该</a:t>
            </a:r>
            <a:r>
              <a:rPr lang="en-US" altLang="zh-CN" sz="2800" i="1">
                <a:latin typeface="黑体" panose="02010609060101010101" pitchFamily="49" charset="-122"/>
                <a:ea typeface="黑体" panose="02010609060101010101" pitchFamily="49" charset="-122"/>
              </a:rPr>
              <a:t>rank</a:t>
            </a:r>
            <a:r>
              <a:rPr lang="zh-CN" altLang="en-US" sz="2800">
                <a:latin typeface="黑体" panose="02010609060101010101" pitchFamily="49" charset="-122"/>
                <a:ea typeface="黑体" panose="02010609060101010101" pitchFamily="49" charset="-122"/>
              </a:rPr>
              <a:t>值为</a:t>
            </a:r>
            <a:r>
              <a:rPr lang="en-US" altLang="zh-CN" sz="2800">
                <a:latin typeface="黑体" panose="02010609060101010101" pitchFamily="49" charset="-122"/>
                <a:ea typeface="黑体" panose="02010609060101010101" pitchFamily="49" charset="-122"/>
              </a:rPr>
              <a:t>0</a:t>
            </a:r>
            <a:r>
              <a:rPr lang="zh-CN" altLang="en-US" sz="2800">
                <a:latin typeface="黑体" panose="02010609060101010101" pitchFamily="49" charset="-122"/>
                <a:ea typeface="黑体" panose="02010609060101010101" pitchFamily="49" charset="-122"/>
              </a:rPr>
              <a:t>到</a:t>
            </a:r>
            <a:r>
              <a:rPr lang="en-US" altLang="zh-CN" sz="2800">
                <a:latin typeface="黑体" panose="02010609060101010101" pitchFamily="49" charset="-122"/>
                <a:ea typeface="黑体" panose="02010609060101010101" pitchFamily="49" charset="-122"/>
              </a:rPr>
              <a:t>p-1</a:t>
            </a:r>
            <a:r>
              <a:rPr lang="zh-CN" altLang="en-US" sz="2800">
                <a:latin typeface="黑体" panose="02010609060101010101" pitchFamily="49" charset="-122"/>
                <a:ea typeface="黑体" panose="02010609060101010101" pitchFamily="49" charset="-122"/>
              </a:rPr>
              <a:t>间的整数</a:t>
            </a:r>
            <a:r>
              <a:rPr lang="en-US" altLang="zh-CN" sz="2800">
                <a:latin typeface="黑体" panose="02010609060101010101" pitchFamily="49" charset="-122"/>
                <a:ea typeface="黑体" panose="02010609060101010101" pitchFamily="49" charset="-122"/>
              </a:rPr>
              <a:t>,</a:t>
            </a:r>
            <a:r>
              <a:rPr lang="zh-CN" altLang="en-US" sz="2800">
                <a:latin typeface="黑体" panose="02010609060101010101" pitchFamily="49" charset="-122"/>
                <a:ea typeface="黑体" panose="02010609060101010101" pitchFamily="49" charset="-122"/>
              </a:rPr>
              <a:t>相当于进程的</a:t>
            </a:r>
            <a:r>
              <a:rPr lang="en-US" altLang="zh-CN" sz="2800">
                <a:latin typeface="黑体" panose="02010609060101010101" pitchFamily="49" charset="-122"/>
                <a:ea typeface="黑体" panose="02010609060101010101" pitchFamily="49" charset="-122"/>
              </a:rPr>
              <a:t>ID)</a:t>
            </a:r>
            <a:r>
              <a:rPr lang="zh-CN" altLang="en-US" sz="2800">
                <a:latin typeface="黑体" panose="02010609060101010101" pitchFamily="49" charset="-122"/>
                <a:ea typeface="黑体" panose="02010609060101010101" pitchFamily="49" charset="-122"/>
              </a:rPr>
              <a:t>。</a:t>
            </a:r>
            <a:endParaRPr lang="en-US" altLang="zh-CN" sz="2800">
              <a:latin typeface="黑体" panose="02010609060101010101" pitchFamily="49" charset="-122"/>
              <a:ea typeface="黑体" panose="02010609060101010101" pitchFamily="49" charset="-122"/>
            </a:endParaRPr>
          </a:p>
        </p:txBody>
      </p:sp>
      <p:sp>
        <p:nvSpPr>
          <p:cNvPr id="29699" name="Rectangle 2">
            <a:extLst>
              <a:ext uri="{FF2B5EF4-FFF2-40B4-BE49-F238E27FC236}">
                <a16:creationId xmlns:a16="http://schemas.microsoft.com/office/drawing/2014/main" id="{18F42CBC-B0B1-F347-A69A-A25132B44DFB}"/>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三、</a:t>
            </a:r>
            <a:r>
              <a:rPr lang="en-US" altLang="zh-CN" sz="3200" b="1">
                <a:solidFill>
                  <a:srgbClr val="0000FF"/>
                </a:solidFill>
                <a:latin typeface="黑体" panose="02010609060101010101" pitchFamily="49" charset="-122"/>
                <a:ea typeface="黑体" panose="02010609060101010101" pitchFamily="49" charset="-122"/>
              </a:rPr>
              <a:t>MPI</a:t>
            </a:r>
            <a:r>
              <a:rPr lang="zh-CN" altLang="en-US" sz="3200" b="1">
                <a:solidFill>
                  <a:srgbClr val="0000FF"/>
                </a:solidFill>
                <a:latin typeface="黑体" panose="02010609060101010101" pitchFamily="49" charset="-122"/>
                <a:ea typeface="黑体" panose="02010609060101010101" pitchFamily="49" charset="-122"/>
              </a:rPr>
              <a:t>程序分析及编程入门</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140"/>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E34509C2-3785-AC49-BD5F-1D2561A673F7}"/>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a:solidFill>
                  <a:srgbClr val="0000FF"/>
                </a:solidFill>
                <a:sym typeface="Webdings" pitchFamily="2" charset="2"/>
              </a:rPr>
              <a:t>MPI</a:t>
            </a:r>
            <a:r>
              <a:rPr lang="zh-CN" altLang="en-US" sz="2400">
                <a:solidFill>
                  <a:srgbClr val="0000FF"/>
                </a:solidFill>
                <a:sym typeface="Webdings" pitchFamily="2" charset="2"/>
              </a:rPr>
              <a:t>程序的基本结构</a:t>
            </a:r>
            <a:endParaRPr lang="zh-CN" altLang="en-US" sz="2400">
              <a:solidFill>
                <a:srgbClr val="0000FF"/>
              </a:solidFill>
              <a:latin typeface="黑体" panose="02010609060101010101" pitchFamily="49" charset="-122"/>
              <a:ea typeface="黑体" panose="02010609060101010101" pitchFamily="49" charset="-122"/>
            </a:endParaRPr>
          </a:p>
        </p:txBody>
      </p:sp>
      <p:sp>
        <p:nvSpPr>
          <p:cNvPr id="30722" name="Rectangle 3">
            <a:extLst>
              <a:ext uri="{FF2B5EF4-FFF2-40B4-BE49-F238E27FC236}">
                <a16:creationId xmlns:a16="http://schemas.microsoft.com/office/drawing/2014/main" id="{10F4ABAD-4255-8942-B7D1-1EF94AD16A5E}"/>
              </a:ext>
            </a:extLst>
          </p:cNvPr>
          <p:cNvSpPr txBox="1">
            <a:spLocks noChangeArrowheads="1"/>
          </p:cNvSpPr>
          <p:nvPr/>
        </p:nvSpPr>
        <p:spPr bwMode="auto">
          <a:xfrm>
            <a:off x="857250" y="1928813"/>
            <a:ext cx="8015288" cy="4357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80000"/>
              </a:lnSpc>
              <a:spcBef>
                <a:spcPct val="20000"/>
              </a:spcBef>
              <a:buFont typeface="Times New Roman" panose="02020603050405020304" pitchFamily="18" charset="0"/>
              <a:buNone/>
            </a:pPr>
            <a:r>
              <a:rPr lang="en-US" altLang="zh-CN" sz="2400">
                <a:solidFill>
                  <a:srgbClr val="FF0000"/>
                </a:solidFill>
                <a:latin typeface="黑体" panose="02010609060101010101" pitchFamily="49" charset="-122"/>
                <a:ea typeface="黑体" panose="02010609060101010101" pitchFamily="49" charset="-122"/>
              </a:rPr>
              <a:t>#include "mpi.h"</a:t>
            </a:r>
          </a:p>
          <a:p>
            <a:pPr>
              <a:lnSpc>
                <a:spcPct val="80000"/>
              </a:lnSpc>
              <a:spcBef>
                <a:spcPct val="20000"/>
              </a:spcBef>
              <a:buFont typeface="Times New Roman" panose="02020603050405020304" pitchFamily="18" charset="0"/>
              <a:buNone/>
            </a:pPr>
            <a:r>
              <a:rPr lang="en-US" altLang="zh-CN" sz="2400">
                <a:latin typeface="黑体" panose="02010609060101010101" pitchFamily="49" charset="-122"/>
                <a:ea typeface="黑体" panose="02010609060101010101" pitchFamily="49" charset="-122"/>
              </a:rPr>
              <a:t>... ...</a:t>
            </a:r>
          </a:p>
          <a:p>
            <a:pPr>
              <a:lnSpc>
                <a:spcPct val="80000"/>
              </a:lnSpc>
              <a:spcBef>
                <a:spcPct val="20000"/>
              </a:spcBef>
              <a:buFont typeface="Times New Roman" panose="02020603050405020304" pitchFamily="18" charset="0"/>
              <a:buNone/>
            </a:pPr>
            <a:r>
              <a:rPr lang="en-US" altLang="zh-CN" sz="2400">
                <a:latin typeface="黑体" panose="02010609060101010101" pitchFamily="49" charset="-122"/>
                <a:ea typeface="黑体" panose="02010609060101010101" pitchFamily="49" charset="-122"/>
              </a:rPr>
              <a:t>int main(int argc, char *argv[])</a:t>
            </a:r>
          </a:p>
          <a:p>
            <a:pPr>
              <a:lnSpc>
                <a:spcPct val="80000"/>
              </a:lnSpc>
              <a:spcBef>
                <a:spcPct val="20000"/>
              </a:spcBef>
              <a:buFont typeface="Times New Roman" panose="02020603050405020304" pitchFamily="18" charset="0"/>
              <a:buNone/>
            </a:pPr>
            <a:r>
              <a:rPr lang="en-US" altLang="zh-CN" sz="2400">
                <a:latin typeface="黑体" panose="02010609060101010101" pitchFamily="49" charset="-122"/>
                <a:ea typeface="黑体" panose="02010609060101010101" pitchFamily="49" charset="-122"/>
              </a:rPr>
              <a:t>{</a:t>
            </a:r>
          </a:p>
          <a:p>
            <a:pPr>
              <a:lnSpc>
                <a:spcPct val="80000"/>
              </a:lnSpc>
              <a:spcBef>
                <a:spcPct val="20000"/>
              </a:spcBef>
              <a:buFont typeface="Times New Roman" panose="02020603050405020304" pitchFamily="18" charset="0"/>
              <a:buNone/>
            </a:pPr>
            <a:r>
              <a:rPr lang="en-US" altLang="zh-CN" sz="2400">
                <a:latin typeface="黑体" panose="02010609060101010101" pitchFamily="49" charset="-122"/>
                <a:ea typeface="黑体" panose="02010609060101010101" pitchFamily="49" charset="-122"/>
              </a:rPr>
              <a:t>	int myrank, nprocs;</a:t>
            </a:r>
          </a:p>
          <a:p>
            <a:pPr>
              <a:lnSpc>
                <a:spcPct val="80000"/>
              </a:lnSpc>
              <a:spcBef>
                <a:spcPct val="20000"/>
              </a:spcBef>
              <a:buFont typeface="Times New Roman" panose="02020603050405020304" pitchFamily="18" charset="0"/>
              <a:buNone/>
            </a:pPr>
            <a:r>
              <a:rPr lang="en-US" altLang="zh-CN" sz="2400">
                <a:solidFill>
                  <a:srgbClr val="FF0000"/>
                </a:solidFill>
                <a:latin typeface="黑体" panose="02010609060101010101" pitchFamily="49" charset="-122"/>
                <a:ea typeface="黑体" panose="02010609060101010101" pitchFamily="49" charset="-122"/>
              </a:rPr>
              <a:t>	MPI_Init(&amp;argc,&amp;argv);</a:t>
            </a:r>
          </a:p>
          <a:p>
            <a:pPr>
              <a:lnSpc>
                <a:spcPct val="80000"/>
              </a:lnSpc>
              <a:spcBef>
                <a:spcPct val="20000"/>
              </a:spcBef>
              <a:buFont typeface="Times New Roman" panose="02020603050405020304" pitchFamily="18" charset="0"/>
              <a:buNone/>
            </a:pPr>
            <a:r>
              <a:rPr lang="en-US" altLang="zh-CN" sz="2400">
                <a:latin typeface="黑体" panose="02010609060101010101" pitchFamily="49" charset="-122"/>
                <a:ea typeface="黑体" panose="02010609060101010101" pitchFamily="49" charset="-122"/>
              </a:rPr>
              <a:t>	MPI_Comm_size(MPI_COMM_WORLD,&amp;nprocs);</a:t>
            </a:r>
          </a:p>
          <a:p>
            <a:pPr>
              <a:lnSpc>
                <a:spcPct val="80000"/>
              </a:lnSpc>
              <a:spcBef>
                <a:spcPct val="20000"/>
              </a:spcBef>
              <a:buFont typeface="Times New Roman" panose="02020603050405020304" pitchFamily="18" charset="0"/>
              <a:buNone/>
            </a:pPr>
            <a:r>
              <a:rPr lang="en-US" altLang="zh-CN" sz="2400">
                <a:latin typeface="黑体" panose="02010609060101010101" pitchFamily="49" charset="-122"/>
                <a:ea typeface="黑体" panose="02010609060101010101" pitchFamily="49" charset="-122"/>
              </a:rPr>
              <a:t>	MPI_Comm_rank(MPI_COMM_WORLD,&amp;myrank);</a:t>
            </a:r>
          </a:p>
          <a:p>
            <a:pPr>
              <a:lnSpc>
                <a:spcPct val="80000"/>
              </a:lnSpc>
              <a:spcBef>
                <a:spcPct val="20000"/>
              </a:spcBef>
              <a:buFont typeface="Times New Roman" panose="02020603050405020304" pitchFamily="18" charset="0"/>
              <a:buNone/>
            </a:pPr>
            <a:r>
              <a:rPr lang="en-US" altLang="zh-CN" sz="2400">
                <a:latin typeface="黑体" panose="02010609060101010101" pitchFamily="49" charset="-122"/>
                <a:ea typeface="黑体" panose="02010609060101010101" pitchFamily="49" charset="-122"/>
              </a:rPr>
              <a:t>	... ...</a:t>
            </a:r>
          </a:p>
          <a:p>
            <a:pPr>
              <a:lnSpc>
                <a:spcPct val="80000"/>
              </a:lnSpc>
              <a:spcBef>
                <a:spcPct val="20000"/>
              </a:spcBef>
              <a:buFont typeface="Times New Roman" panose="02020603050405020304" pitchFamily="18" charset="0"/>
              <a:buNone/>
            </a:pPr>
            <a:r>
              <a:rPr lang="en-US" altLang="zh-CN" sz="2400">
                <a:solidFill>
                  <a:srgbClr val="FF0000"/>
                </a:solidFill>
                <a:latin typeface="黑体" panose="02010609060101010101" pitchFamily="49" charset="-122"/>
                <a:ea typeface="黑体" panose="02010609060101010101" pitchFamily="49" charset="-122"/>
              </a:rPr>
              <a:t>	MPI_Finalize();</a:t>
            </a:r>
          </a:p>
          <a:p>
            <a:pPr>
              <a:lnSpc>
                <a:spcPct val="80000"/>
              </a:lnSpc>
              <a:spcBef>
                <a:spcPct val="20000"/>
              </a:spcBef>
              <a:buFont typeface="Times New Roman" panose="02020603050405020304" pitchFamily="18" charset="0"/>
              <a:buNone/>
            </a:pPr>
            <a:r>
              <a:rPr lang="en-US" altLang="zh-CN" sz="2400">
                <a:latin typeface="黑体" panose="02010609060101010101" pitchFamily="49" charset="-122"/>
                <a:ea typeface="黑体" panose="02010609060101010101" pitchFamily="49" charset="-122"/>
              </a:rPr>
              <a:t>}</a:t>
            </a:r>
          </a:p>
          <a:p>
            <a:pPr>
              <a:lnSpc>
                <a:spcPct val="80000"/>
              </a:lnSpc>
              <a:spcBef>
                <a:spcPct val="20000"/>
              </a:spcBef>
              <a:buFont typeface="Times New Roman" panose="02020603050405020304" pitchFamily="18" charset="0"/>
              <a:buNone/>
            </a:pPr>
            <a:endParaRPr lang="zh-CN" altLang="en-US" sz="2400">
              <a:latin typeface="黑体" panose="02010609060101010101" pitchFamily="49" charset="-122"/>
              <a:ea typeface="黑体" panose="02010609060101010101" pitchFamily="49" charset="-122"/>
            </a:endParaRPr>
          </a:p>
        </p:txBody>
      </p:sp>
      <p:sp>
        <p:nvSpPr>
          <p:cNvPr id="30723" name="Rectangle 2">
            <a:extLst>
              <a:ext uri="{FF2B5EF4-FFF2-40B4-BE49-F238E27FC236}">
                <a16:creationId xmlns:a16="http://schemas.microsoft.com/office/drawing/2014/main" id="{7C78B1C1-4415-A74A-932C-52E72E784D3F}"/>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三、</a:t>
            </a:r>
            <a:r>
              <a:rPr lang="en-US" altLang="zh-CN" sz="3200" b="1">
                <a:solidFill>
                  <a:srgbClr val="0000FF"/>
                </a:solidFill>
                <a:latin typeface="黑体" panose="02010609060101010101" pitchFamily="49" charset="-122"/>
                <a:ea typeface="黑体" panose="02010609060101010101" pitchFamily="49" charset="-122"/>
              </a:rPr>
              <a:t>MPI</a:t>
            </a:r>
            <a:r>
              <a:rPr lang="zh-CN" altLang="en-US" sz="3200" b="1">
                <a:solidFill>
                  <a:srgbClr val="0000FF"/>
                </a:solidFill>
                <a:latin typeface="黑体" panose="02010609060101010101" pitchFamily="49" charset="-122"/>
                <a:ea typeface="黑体" panose="02010609060101010101" pitchFamily="49" charset="-122"/>
              </a:rPr>
              <a:t>程序分析及编程入门</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141"/>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2">
            <a:extLst>
              <a:ext uri="{FF2B5EF4-FFF2-40B4-BE49-F238E27FC236}">
                <a16:creationId xmlns:a16="http://schemas.microsoft.com/office/drawing/2014/main" id="{E1CE85E3-047A-EE46-B6A8-739303F97458}"/>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solidFill>
                  <a:srgbClr val="0000FF"/>
                </a:solidFill>
                <a:sym typeface="Webdings" pitchFamily="2" charset="2"/>
              </a:rPr>
              <a:t>更新的</a:t>
            </a:r>
            <a:r>
              <a:rPr lang="en-US" altLang="zh-CN" sz="2400">
                <a:solidFill>
                  <a:srgbClr val="0000FF"/>
                </a:solidFill>
                <a:sym typeface="Webdings" pitchFamily="2" charset="2"/>
              </a:rPr>
              <a:t>Hello World (c)</a:t>
            </a:r>
            <a:endParaRPr lang="zh-CN" altLang="en-US" sz="2400">
              <a:solidFill>
                <a:srgbClr val="0000FF"/>
              </a:solidFill>
              <a:sym typeface="Webdings" pitchFamily="2" charset="2"/>
            </a:endParaRPr>
          </a:p>
        </p:txBody>
      </p:sp>
      <p:sp>
        <p:nvSpPr>
          <p:cNvPr id="31746" name="Rectangle 3">
            <a:extLst>
              <a:ext uri="{FF2B5EF4-FFF2-40B4-BE49-F238E27FC236}">
                <a16:creationId xmlns:a16="http://schemas.microsoft.com/office/drawing/2014/main" id="{E00D2664-1357-3A43-AC5A-1466BAA130DD}"/>
              </a:ext>
            </a:extLst>
          </p:cNvPr>
          <p:cNvSpPr txBox="1">
            <a:spLocks noChangeArrowheads="1"/>
          </p:cNvSpPr>
          <p:nvPr/>
        </p:nvSpPr>
        <p:spPr bwMode="auto">
          <a:xfrm>
            <a:off x="1214438" y="1785938"/>
            <a:ext cx="7086600" cy="4171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ct val="80000"/>
              </a:lnSpc>
              <a:spcBef>
                <a:spcPct val="20000"/>
              </a:spcBef>
              <a:buFont typeface="Monotype Sorts" pitchFamily="2" charset="2"/>
              <a:buNone/>
            </a:pPr>
            <a:r>
              <a:rPr lang="en-US" altLang="zh-CN" sz="2000" b="1">
                <a:latin typeface="Courier New" panose="02070309020205020404" pitchFamily="49" charset="0"/>
                <a:ea typeface="黑体" panose="02010609060101010101" pitchFamily="49" charset="-122"/>
              </a:rPr>
              <a:t>#include &lt;stdio.h&gt;</a:t>
            </a:r>
          </a:p>
          <a:p>
            <a:pPr>
              <a:lnSpc>
                <a:spcPct val="80000"/>
              </a:lnSpc>
              <a:spcBef>
                <a:spcPct val="20000"/>
              </a:spcBef>
              <a:buFont typeface="Monotype Sorts" pitchFamily="2" charset="2"/>
              <a:buNone/>
            </a:pPr>
            <a:r>
              <a:rPr lang="zh-CN" altLang="en-US" sz="2000" b="1">
                <a:solidFill>
                  <a:srgbClr val="0066FF"/>
                </a:solidFill>
                <a:latin typeface="Courier New" panose="02070309020205020404" pitchFamily="49" charset="0"/>
                <a:ea typeface="黑体" panose="02010609060101010101" pitchFamily="49" charset="-122"/>
              </a:rPr>
              <a:t>#</a:t>
            </a:r>
            <a:r>
              <a:rPr lang="en-US" altLang="zh-CN" sz="2000" b="1">
                <a:solidFill>
                  <a:srgbClr val="0066FF"/>
                </a:solidFill>
                <a:latin typeface="Courier New" panose="02070309020205020404" pitchFamily="49" charset="0"/>
                <a:ea typeface="黑体" panose="02010609060101010101" pitchFamily="49" charset="-122"/>
              </a:rPr>
              <a:t>include "mpi.h"</a:t>
            </a:r>
          </a:p>
          <a:p>
            <a:pPr>
              <a:lnSpc>
                <a:spcPct val="80000"/>
              </a:lnSpc>
              <a:spcBef>
                <a:spcPct val="20000"/>
              </a:spcBef>
              <a:buFont typeface="Monotype Sorts" pitchFamily="2" charset="2"/>
              <a:buNone/>
            </a:pPr>
            <a:endParaRPr lang="en-US" altLang="zh-CN" sz="2000" b="1">
              <a:latin typeface="Courier New" panose="02070309020205020404" pitchFamily="49" charset="0"/>
              <a:ea typeface="黑体" panose="02010609060101010101" pitchFamily="49" charset="-122"/>
            </a:endParaRPr>
          </a:p>
          <a:p>
            <a:pPr>
              <a:lnSpc>
                <a:spcPct val="80000"/>
              </a:lnSpc>
              <a:spcBef>
                <a:spcPct val="20000"/>
              </a:spcBef>
              <a:buFont typeface="Monotype Sorts" pitchFamily="2" charset="2"/>
              <a:buNone/>
            </a:pPr>
            <a:r>
              <a:rPr lang="en-US" altLang="zh-CN" sz="2000" b="1">
                <a:latin typeface="Courier New" panose="02070309020205020404" pitchFamily="49" charset="0"/>
                <a:ea typeface="黑体" panose="02010609060101010101" pitchFamily="49" charset="-122"/>
              </a:rPr>
              <a:t>main( int argc, char *argv[] )</a:t>
            </a:r>
          </a:p>
          <a:p>
            <a:pPr>
              <a:lnSpc>
                <a:spcPct val="80000"/>
              </a:lnSpc>
              <a:spcBef>
                <a:spcPct val="20000"/>
              </a:spcBef>
              <a:buFont typeface="Monotype Sorts" pitchFamily="2" charset="2"/>
              <a:buNone/>
            </a:pPr>
            <a:r>
              <a:rPr lang="en-US" altLang="zh-CN" sz="2000" b="1">
                <a:latin typeface="Courier New" panose="02070309020205020404" pitchFamily="49" charset="0"/>
                <a:ea typeface="黑体" panose="02010609060101010101" pitchFamily="49" charset="-122"/>
              </a:rPr>
              <a:t>{</a:t>
            </a:r>
          </a:p>
          <a:p>
            <a:pPr>
              <a:lnSpc>
                <a:spcPct val="80000"/>
              </a:lnSpc>
              <a:spcBef>
                <a:spcPct val="20000"/>
              </a:spcBef>
              <a:buFont typeface="Monotype Sorts" pitchFamily="2" charset="2"/>
              <a:buNone/>
            </a:pPr>
            <a:r>
              <a:rPr lang="en-US" altLang="zh-CN" sz="2000" b="1">
                <a:latin typeface="Courier New" panose="02070309020205020404" pitchFamily="49" charset="0"/>
                <a:ea typeface="黑体" panose="02010609060101010101" pitchFamily="49" charset="-122"/>
              </a:rPr>
              <a:t>   </a:t>
            </a:r>
            <a:r>
              <a:rPr lang="en-US" altLang="zh-CN" sz="2000" b="1">
                <a:solidFill>
                  <a:srgbClr val="FF3300"/>
                </a:solidFill>
                <a:latin typeface="Courier New" panose="02070309020205020404" pitchFamily="49" charset="0"/>
                <a:ea typeface="黑体" panose="02010609060101010101" pitchFamily="49" charset="-122"/>
              </a:rPr>
              <a:t>int  myid,</a:t>
            </a:r>
            <a:r>
              <a:rPr lang="en-US" altLang="zh-CN" sz="2000" b="1">
                <a:latin typeface="Courier New" panose="02070309020205020404" pitchFamily="49" charset="0"/>
                <a:ea typeface="黑体" panose="02010609060101010101" pitchFamily="49" charset="-122"/>
              </a:rPr>
              <a:t> </a:t>
            </a:r>
            <a:r>
              <a:rPr lang="en-US" altLang="zh-CN" sz="2000" b="1">
                <a:solidFill>
                  <a:srgbClr val="FF3300"/>
                </a:solidFill>
                <a:latin typeface="Courier New" panose="02070309020205020404" pitchFamily="49" charset="0"/>
                <a:ea typeface="黑体" panose="02010609060101010101" pitchFamily="49" charset="-122"/>
              </a:rPr>
              <a:t>numprocs;</a:t>
            </a:r>
          </a:p>
          <a:p>
            <a:pPr>
              <a:lnSpc>
                <a:spcPct val="80000"/>
              </a:lnSpc>
              <a:spcBef>
                <a:spcPct val="20000"/>
              </a:spcBef>
              <a:buFont typeface="Monotype Sorts" pitchFamily="2" charset="2"/>
              <a:buNone/>
            </a:pPr>
            <a:endParaRPr lang="en-US" altLang="zh-CN" sz="2000" b="1">
              <a:solidFill>
                <a:srgbClr val="FF3300"/>
              </a:solidFill>
              <a:latin typeface="Courier New" panose="02070309020205020404" pitchFamily="49" charset="0"/>
              <a:ea typeface="黑体" panose="02010609060101010101" pitchFamily="49" charset="-122"/>
            </a:endParaRPr>
          </a:p>
          <a:p>
            <a:pPr>
              <a:lnSpc>
                <a:spcPct val="80000"/>
              </a:lnSpc>
              <a:spcBef>
                <a:spcPct val="20000"/>
              </a:spcBef>
              <a:buFont typeface="Monotype Sorts" pitchFamily="2" charset="2"/>
              <a:buNone/>
            </a:pPr>
            <a:r>
              <a:rPr lang="en-US" altLang="zh-CN" sz="2000" b="1">
                <a:latin typeface="Courier New" panose="02070309020205020404" pitchFamily="49" charset="0"/>
                <a:ea typeface="黑体" panose="02010609060101010101" pitchFamily="49" charset="-122"/>
              </a:rPr>
              <a:t>   </a:t>
            </a:r>
            <a:r>
              <a:rPr lang="en-US" altLang="zh-CN" sz="2000" b="1">
                <a:solidFill>
                  <a:srgbClr val="0066FF"/>
                </a:solidFill>
                <a:latin typeface="Courier New" panose="02070309020205020404" pitchFamily="49" charset="0"/>
                <a:ea typeface="黑体" panose="02010609060101010101" pitchFamily="49" charset="-122"/>
              </a:rPr>
              <a:t>MPI_Init( &amp;argc, &amp;argv );</a:t>
            </a:r>
          </a:p>
          <a:p>
            <a:pPr>
              <a:lnSpc>
                <a:spcPct val="80000"/>
              </a:lnSpc>
              <a:spcBef>
                <a:spcPct val="20000"/>
              </a:spcBef>
              <a:buFont typeface="Monotype Sorts" pitchFamily="2" charset="2"/>
              <a:buNone/>
            </a:pPr>
            <a:r>
              <a:rPr lang="en-US" altLang="zh-CN" sz="2000" b="1">
                <a:latin typeface="Courier New" panose="02070309020205020404" pitchFamily="49" charset="0"/>
                <a:ea typeface="黑体" panose="02010609060101010101" pitchFamily="49" charset="-122"/>
              </a:rPr>
              <a:t>   </a:t>
            </a:r>
            <a:r>
              <a:rPr lang="en-US" altLang="zh-CN" sz="2000" b="1">
                <a:solidFill>
                  <a:srgbClr val="FF3300"/>
                </a:solidFill>
                <a:latin typeface="Courier New" panose="02070309020205020404" pitchFamily="49" charset="0"/>
                <a:ea typeface="黑体" panose="02010609060101010101" pitchFamily="49" charset="-122"/>
              </a:rPr>
              <a:t>MPI_Comm_rank( MPI_COMM_WORLD, &amp;myid );</a:t>
            </a:r>
          </a:p>
          <a:p>
            <a:pPr>
              <a:lnSpc>
                <a:spcPct val="80000"/>
              </a:lnSpc>
              <a:spcBef>
                <a:spcPct val="20000"/>
              </a:spcBef>
              <a:buFont typeface="Monotype Sorts" pitchFamily="2" charset="2"/>
              <a:buNone/>
            </a:pPr>
            <a:r>
              <a:rPr lang="en-US" altLang="zh-CN" sz="2000" b="1">
                <a:latin typeface="Courier New" panose="02070309020205020404" pitchFamily="49" charset="0"/>
                <a:ea typeface="黑体" panose="02010609060101010101" pitchFamily="49" charset="-122"/>
              </a:rPr>
              <a:t>   </a:t>
            </a:r>
            <a:r>
              <a:rPr lang="en-US" altLang="zh-CN" sz="2000" b="1">
                <a:solidFill>
                  <a:srgbClr val="FF3300"/>
                </a:solidFill>
                <a:latin typeface="Courier New" panose="02070309020205020404" pitchFamily="49" charset="0"/>
                <a:ea typeface="黑体" panose="02010609060101010101" pitchFamily="49" charset="-122"/>
              </a:rPr>
              <a:t>MPI_Comm_size( MPI_COMM_WORLD, &amp;numprocs );</a:t>
            </a:r>
          </a:p>
          <a:p>
            <a:pPr>
              <a:lnSpc>
                <a:spcPct val="80000"/>
              </a:lnSpc>
              <a:spcBef>
                <a:spcPct val="20000"/>
              </a:spcBef>
              <a:buFont typeface="Monotype Sorts" pitchFamily="2" charset="2"/>
              <a:buNone/>
            </a:pPr>
            <a:r>
              <a:rPr lang="en-US" altLang="zh-CN" sz="2000" b="1">
                <a:latin typeface="Courier New" panose="02070309020205020404" pitchFamily="49" charset="0"/>
                <a:ea typeface="黑体" panose="02010609060101010101" pitchFamily="49" charset="-122"/>
              </a:rPr>
              <a:t>   printf(“I am %d of %d\n", myid, numprocs );</a:t>
            </a:r>
          </a:p>
          <a:p>
            <a:pPr>
              <a:lnSpc>
                <a:spcPct val="80000"/>
              </a:lnSpc>
              <a:spcBef>
                <a:spcPct val="20000"/>
              </a:spcBef>
              <a:buFont typeface="Monotype Sorts" pitchFamily="2" charset="2"/>
              <a:buNone/>
            </a:pPr>
            <a:r>
              <a:rPr lang="en-US" altLang="zh-CN" sz="2000" b="1">
                <a:latin typeface="Courier New" panose="02070309020205020404" pitchFamily="49" charset="0"/>
                <a:ea typeface="黑体" panose="02010609060101010101" pitchFamily="49" charset="-122"/>
              </a:rPr>
              <a:t>   </a:t>
            </a:r>
            <a:r>
              <a:rPr lang="en-US" altLang="zh-CN" sz="2000" b="1">
                <a:solidFill>
                  <a:srgbClr val="0066FF"/>
                </a:solidFill>
                <a:latin typeface="Courier New" panose="02070309020205020404" pitchFamily="49" charset="0"/>
                <a:ea typeface="黑体" panose="02010609060101010101" pitchFamily="49" charset="-122"/>
              </a:rPr>
              <a:t>MPI_Finalize();</a:t>
            </a:r>
          </a:p>
          <a:p>
            <a:pPr>
              <a:lnSpc>
                <a:spcPct val="80000"/>
              </a:lnSpc>
              <a:spcBef>
                <a:spcPct val="20000"/>
              </a:spcBef>
              <a:buFont typeface="Monotype Sorts" pitchFamily="2" charset="2"/>
              <a:buNone/>
            </a:pPr>
            <a:r>
              <a:rPr lang="en-US" altLang="zh-CN" sz="2000" b="1">
                <a:latin typeface="Courier New" panose="02070309020205020404" pitchFamily="49" charset="0"/>
                <a:ea typeface="黑体" panose="02010609060101010101" pitchFamily="49" charset="-122"/>
              </a:rPr>
              <a:t>}</a:t>
            </a:r>
            <a:endParaRPr lang="zh-CN" altLang="en-US" sz="2000" b="1">
              <a:latin typeface="Courier New" panose="02070309020205020404" pitchFamily="49" charset="0"/>
              <a:ea typeface="黑体" panose="02010609060101010101" pitchFamily="49" charset="-122"/>
            </a:endParaRPr>
          </a:p>
        </p:txBody>
      </p:sp>
      <p:sp>
        <p:nvSpPr>
          <p:cNvPr id="31747" name="Rectangle 2">
            <a:extLst>
              <a:ext uri="{FF2B5EF4-FFF2-40B4-BE49-F238E27FC236}">
                <a16:creationId xmlns:a16="http://schemas.microsoft.com/office/drawing/2014/main" id="{C2A9C476-A9CF-F94E-8778-FE98825B1EF1}"/>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三、</a:t>
            </a:r>
            <a:r>
              <a:rPr lang="en-US" altLang="zh-CN" sz="3200" b="1">
                <a:solidFill>
                  <a:srgbClr val="0000FF"/>
                </a:solidFill>
                <a:latin typeface="黑体" panose="02010609060101010101" pitchFamily="49" charset="-122"/>
                <a:ea typeface="黑体" panose="02010609060101010101" pitchFamily="49" charset="-122"/>
              </a:rPr>
              <a:t>MPI</a:t>
            </a:r>
            <a:r>
              <a:rPr lang="zh-CN" altLang="en-US" sz="3200" b="1">
                <a:solidFill>
                  <a:srgbClr val="0000FF"/>
                </a:solidFill>
                <a:latin typeface="黑体" panose="02010609060101010101" pitchFamily="49" charset="-122"/>
                <a:ea typeface="黑体" panose="02010609060101010101" pitchFamily="49" charset="-122"/>
              </a:rPr>
              <a:t>程序分析及编程入门</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93"/>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3">
            <a:extLst>
              <a:ext uri="{FF2B5EF4-FFF2-40B4-BE49-F238E27FC236}">
                <a16:creationId xmlns:a16="http://schemas.microsoft.com/office/drawing/2014/main" id="{C6CA81A9-9C11-1C48-8A36-8AF77DFA385C}"/>
              </a:ext>
            </a:extLst>
          </p:cNvPr>
          <p:cNvSpPr>
            <a:spLocks noGrp="1" noChangeArrowheads="1"/>
          </p:cNvSpPr>
          <p:nvPr>
            <p:ph idx="1"/>
          </p:nvPr>
        </p:nvSpPr>
        <p:spPr>
          <a:xfrm>
            <a:off x="1428750" y="1857375"/>
            <a:ext cx="6357938" cy="4171950"/>
          </a:xfrm>
        </p:spPr>
        <p:txBody>
          <a:bodyPr/>
          <a:lstStyle/>
          <a:p>
            <a:pPr eaLnBrk="1" hangingPunct="1"/>
            <a:r>
              <a:rPr lang="en-US" altLang="zh-CN">
                <a:solidFill>
                  <a:srgbClr val="FF0000"/>
                </a:solidFill>
              </a:rPr>
              <a:t>mpicc –o hello1 hello1.c</a:t>
            </a:r>
          </a:p>
          <a:p>
            <a:pPr eaLnBrk="1" hangingPunct="1"/>
            <a:r>
              <a:rPr lang="en-US" altLang="zh-CN">
                <a:solidFill>
                  <a:srgbClr val="FF0000"/>
                </a:solidFill>
              </a:rPr>
              <a:t>mpirun -np 4 hello1</a:t>
            </a:r>
          </a:p>
          <a:p>
            <a:pPr lvl="1" eaLnBrk="1" hangingPunct="1">
              <a:buFont typeface="Monotype Sorts" pitchFamily="2" charset="2"/>
              <a:buNone/>
            </a:pPr>
            <a:r>
              <a:rPr lang="en-US" altLang="zh-CN"/>
              <a:t>I am 0 of 4</a:t>
            </a:r>
          </a:p>
          <a:p>
            <a:pPr lvl="1" eaLnBrk="1" hangingPunct="1">
              <a:buFont typeface="Monotype Sorts" pitchFamily="2" charset="2"/>
              <a:buNone/>
            </a:pPr>
            <a:r>
              <a:rPr lang="en-US" altLang="zh-CN"/>
              <a:t>I am 1 of 4</a:t>
            </a:r>
          </a:p>
          <a:p>
            <a:pPr lvl="1" eaLnBrk="1" hangingPunct="1">
              <a:buFont typeface="Monotype Sorts" pitchFamily="2" charset="2"/>
              <a:buNone/>
            </a:pPr>
            <a:r>
              <a:rPr lang="en-US" altLang="zh-CN"/>
              <a:t>I am 2 of 4</a:t>
            </a:r>
          </a:p>
          <a:p>
            <a:pPr lvl="1" eaLnBrk="1" hangingPunct="1">
              <a:buFont typeface="Monotype Sorts" pitchFamily="2" charset="2"/>
              <a:buNone/>
            </a:pPr>
            <a:r>
              <a:rPr lang="en-US" altLang="zh-CN"/>
              <a:t>I am 3 of 4</a:t>
            </a:r>
          </a:p>
        </p:txBody>
      </p:sp>
      <p:sp>
        <p:nvSpPr>
          <p:cNvPr id="32770" name="Oval 4">
            <a:extLst>
              <a:ext uri="{FF2B5EF4-FFF2-40B4-BE49-F238E27FC236}">
                <a16:creationId xmlns:a16="http://schemas.microsoft.com/office/drawing/2014/main" id="{43043514-76FA-8C47-B0D5-5ED11477991D}"/>
              </a:ext>
            </a:extLst>
          </p:cNvPr>
          <p:cNvSpPr>
            <a:spLocks noChangeArrowheads="1"/>
          </p:cNvSpPr>
          <p:nvPr/>
        </p:nvSpPr>
        <p:spPr bwMode="auto">
          <a:xfrm>
            <a:off x="1500188" y="2857500"/>
            <a:ext cx="2667000" cy="1828800"/>
          </a:xfrm>
          <a:prstGeom prst="ellipse">
            <a:avLst/>
          </a:pr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771" name="Oval 5">
            <a:extLst>
              <a:ext uri="{FF2B5EF4-FFF2-40B4-BE49-F238E27FC236}">
                <a16:creationId xmlns:a16="http://schemas.microsoft.com/office/drawing/2014/main" id="{9D6692D2-5CEA-A64E-B926-8D50BCDFCCDE}"/>
              </a:ext>
            </a:extLst>
          </p:cNvPr>
          <p:cNvSpPr>
            <a:spLocks noChangeArrowheads="1"/>
          </p:cNvSpPr>
          <p:nvPr/>
        </p:nvSpPr>
        <p:spPr bwMode="auto">
          <a:xfrm>
            <a:off x="3071813" y="2357438"/>
            <a:ext cx="571500" cy="533400"/>
          </a:xfrm>
          <a:prstGeom prst="ellipse">
            <a:avLst/>
          </a:pr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2772" name="Rectangle 2">
            <a:extLst>
              <a:ext uri="{FF2B5EF4-FFF2-40B4-BE49-F238E27FC236}">
                <a16:creationId xmlns:a16="http://schemas.microsoft.com/office/drawing/2014/main" id="{CB693FFA-5895-5E49-85EB-0BE04311EB7C}"/>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solidFill>
                  <a:srgbClr val="0000FF"/>
                </a:solidFill>
                <a:sym typeface="Webdings" pitchFamily="2" charset="2"/>
              </a:rPr>
              <a:t>更新后的的</a:t>
            </a:r>
            <a:r>
              <a:rPr lang="en-US" altLang="zh-CN" sz="2400">
                <a:solidFill>
                  <a:srgbClr val="0000FF"/>
                </a:solidFill>
                <a:sym typeface="Webdings" pitchFamily="2" charset="2"/>
              </a:rPr>
              <a:t>Hello World </a:t>
            </a:r>
            <a:r>
              <a:rPr lang="zh-CN" altLang="en-US" sz="2400">
                <a:solidFill>
                  <a:srgbClr val="0000FF"/>
                </a:solidFill>
                <a:sym typeface="Webdings" pitchFamily="2" charset="2"/>
              </a:rPr>
              <a:t>的允许结果</a:t>
            </a:r>
          </a:p>
        </p:txBody>
      </p:sp>
      <p:sp>
        <p:nvSpPr>
          <p:cNvPr id="32773" name="Rectangle 2">
            <a:extLst>
              <a:ext uri="{FF2B5EF4-FFF2-40B4-BE49-F238E27FC236}">
                <a16:creationId xmlns:a16="http://schemas.microsoft.com/office/drawing/2014/main" id="{A1328934-8714-2D49-B9BB-0BD82F0C39F3}"/>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三、</a:t>
            </a:r>
            <a:r>
              <a:rPr lang="en-US" altLang="zh-CN" sz="3200" b="1">
                <a:solidFill>
                  <a:srgbClr val="0000FF"/>
                </a:solidFill>
                <a:latin typeface="黑体" panose="02010609060101010101" pitchFamily="49" charset="-122"/>
                <a:ea typeface="黑体" panose="02010609060101010101" pitchFamily="49" charset="-122"/>
              </a:rPr>
              <a:t>MPI</a:t>
            </a:r>
            <a:r>
              <a:rPr lang="zh-CN" altLang="en-US" sz="3200" b="1">
                <a:solidFill>
                  <a:srgbClr val="0000FF"/>
                </a:solidFill>
                <a:latin typeface="黑体" panose="02010609060101010101" pitchFamily="49" charset="-122"/>
                <a:ea typeface="黑体" panose="02010609060101010101" pitchFamily="49" charset="-122"/>
              </a:rPr>
              <a:t>程序分析及编程入门</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141"/>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3">
            <a:extLst>
              <a:ext uri="{FF2B5EF4-FFF2-40B4-BE49-F238E27FC236}">
                <a16:creationId xmlns:a16="http://schemas.microsoft.com/office/drawing/2014/main" id="{28F6DD19-EA03-E04A-A5E1-49F7247ABF2D}"/>
              </a:ext>
            </a:extLst>
          </p:cNvPr>
          <p:cNvSpPr>
            <a:spLocks noGrp="1" noChangeArrowheads="1"/>
          </p:cNvSpPr>
          <p:nvPr>
            <p:ph idx="1"/>
          </p:nvPr>
        </p:nvSpPr>
        <p:spPr>
          <a:xfrm>
            <a:off x="714375" y="1785938"/>
            <a:ext cx="8015288" cy="4857750"/>
          </a:xfrm>
        </p:spPr>
        <p:txBody>
          <a:bodyPr/>
          <a:lstStyle/>
          <a:p>
            <a:pPr marL="0" indent="0" eaLnBrk="1" hangingPunct="1">
              <a:buFont typeface="Monotype Sorts" pitchFamily="2" charset="2"/>
              <a:buNone/>
            </a:pPr>
            <a:r>
              <a:rPr lang="en-US" altLang="zh-CN" sz="2400"/>
              <a:t>MPI</a:t>
            </a:r>
            <a:r>
              <a:rPr lang="zh-CN" altLang="en-US" sz="2400"/>
              <a:t>调用借口的总数虽然庞大，但根据实际编写</a:t>
            </a:r>
            <a:r>
              <a:rPr lang="en-US" altLang="zh-CN" sz="2400"/>
              <a:t>MPI</a:t>
            </a:r>
            <a:r>
              <a:rPr lang="zh-CN" altLang="en-US" sz="2400"/>
              <a:t>的经验，常用的</a:t>
            </a:r>
            <a:r>
              <a:rPr lang="en-US" altLang="zh-CN" sz="2400"/>
              <a:t>MPI</a:t>
            </a:r>
            <a:r>
              <a:rPr lang="zh-CN" altLang="en-US" sz="2400"/>
              <a:t>调用的个数确什么有限。下面是6个最基本的</a:t>
            </a:r>
            <a:r>
              <a:rPr lang="en-US" altLang="zh-CN" sz="2400"/>
              <a:t>MPI</a:t>
            </a:r>
            <a:r>
              <a:rPr lang="zh-CN" altLang="en-US" sz="2400"/>
              <a:t>函数。</a:t>
            </a:r>
          </a:p>
          <a:p>
            <a:pPr marL="850900" lvl="1" indent="-374650" eaLnBrk="1" hangingPunct="1">
              <a:buFont typeface="Monotype Sorts" pitchFamily="2" charset="2"/>
              <a:buAutoNum type="arabicPeriod"/>
            </a:pPr>
            <a:r>
              <a:rPr lang="en-US" altLang="zh-CN"/>
              <a:t>MPI_Init(…);</a:t>
            </a:r>
          </a:p>
          <a:p>
            <a:pPr marL="850900" lvl="1" indent="-374650" eaLnBrk="1" hangingPunct="1">
              <a:buFont typeface="Monotype Sorts" pitchFamily="2" charset="2"/>
              <a:buAutoNum type="arabicPeriod"/>
            </a:pPr>
            <a:r>
              <a:rPr lang="en-US" altLang="zh-CN"/>
              <a:t>MPI_Comm_size(…);</a:t>
            </a:r>
          </a:p>
          <a:p>
            <a:pPr marL="850900" lvl="1" indent="-374650" eaLnBrk="1" hangingPunct="1">
              <a:buFont typeface="Monotype Sorts" pitchFamily="2" charset="2"/>
              <a:buAutoNum type="arabicPeriod"/>
            </a:pPr>
            <a:r>
              <a:rPr lang="en-US" altLang="zh-CN"/>
              <a:t>MPI_Comm_rank(…);</a:t>
            </a:r>
          </a:p>
          <a:p>
            <a:pPr marL="850900" lvl="1" indent="-374650" eaLnBrk="1" hangingPunct="1">
              <a:buFont typeface="Monotype Sorts" pitchFamily="2" charset="2"/>
              <a:buAutoNum type="arabicPeriod"/>
            </a:pPr>
            <a:r>
              <a:rPr lang="en-US" altLang="zh-CN"/>
              <a:t>MPI_Send(…);</a:t>
            </a:r>
          </a:p>
          <a:p>
            <a:pPr marL="850900" lvl="1" indent="-374650" eaLnBrk="1" hangingPunct="1">
              <a:buFont typeface="Monotype Sorts" pitchFamily="2" charset="2"/>
              <a:buAutoNum type="arabicPeriod"/>
            </a:pPr>
            <a:r>
              <a:rPr lang="en-US" altLang="zh-CN"/>
              <a:t>MPI_Recv(…);</a:t>
            </a:r>
          </a:p>
          <a:p>
            <a:pPr marL="850900" lvl="1" indent="-374650" eaLnBrk="1" hangingPunct="1">
              <a:buFont typeface="Monotype Sorts" pitchFamily="2" charset="2"/>
              <a:buAutoNum type="arabicPeriod"/>
            </a:pPr>
            <a:r>
              <a:rPr lang="en-US" altLang="zh-CN"/>
              <a:t>MPI_Finalize();</a:t>
            </a:r>
          </a:p>
        </p:txBody>
      </p:sp>
      <p:sp>
        <p:nvSpPr>
          <p:cNvPr id="33794" name="Text Box 4">
            <a:extLst>
              <a:ext uri="{FF2B5EF4-FFF2-40B4-BE49-F238E27FC236}">
                <a16:creationId xmlns:a16="http://schemas.microsoft.com/office/drawing/2014/main" id="{375B87F0-DC30-AE48-8405-9D1F9C246E2E}"/>
              </a:ext>
            </a:extLst>
          </p:cNvPr>
          <p:cNvSpPr txBox="1">
            <a:spLocks noChangeArrowheads="1"/>
          </p:cNvSpPr>
          <p:nvPr/>
        </p:nvSpPr>
        <p:spPr bwMode="auto">
          <a:xfrm>
            <a:off x="6096000" y="3657600"/>
            <a:ext cx="2424113" cy="2352675"/>
          </a:xfrm>
          <a:prstGeom prst="rect">
            <a:avLst/>
          </a:prstGeom>
          <a:solidFill>
            <a:srgbClr val="00FFFF"/>
          </a:solidFill>
          <a:ln w="9525">
            <a:solidFill>
              <a:srgbClr val="FF3300"/>
            </a:solidFill>
            <a:miter lim="800000"/>
            <a:headEnd/>
            <a:tailEnd/>
          </a:ln>
          <a:effectLst>
            <a:outerShdw dist="107763" dir="2700000" algn="ctr" rotWithShape="0">
              <a:schemeClr val="bg2"/>
            </a:outerShdw>
          </a:effec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en-US" altLang="zh-CN">
                <a:solidFill>
                  <a:srgbClr val="FF0000"/>
                </a:solidFill>
              </a:rPr>
              <a:t>MPI_Init(…);</a:t>
            </a:r>
          </a:p>
          <a:p>
            <a:pPr eaLnBrk="0" hangingPunct="0"/>
            <a:r>
              <a:rPr lang="en-US" altLang="zh-CN">
                <a:solidFill>
                  <a:srgbClr val="FF0000"/>
                </a:solidFill>
              </a:rPr>
              <a:t>…</a:t>
            </a:r>
          </a:p>
          <a:p>
            <a:pPr eaLnBrk="0" hangingPunct="0"/>
            <a:r>
              <a:rPr lang="zh-CN" altLang="en-US">
                <a:solidFill>
                  <a:srgbClr val="FF0000"/>
                </a:solidFill>
              </a:rPr>
              <a:t>并行代码;</a:t>
            </a:r>
          </a:p>
          <a:p>
            <a:pPr eaLnBrk="0" hangingPunct="0"/>
            <a:r>
              <a:rPr lang="en-US" altLang="zh-CN">
                <a:solidFill>
                  <a:srgbClr val="FF0000"/>
                </a:solidFill>
              </a:rPr>
              <a:t>…</a:t>
            </a:r>
          </a:p>
          <a:p>
            <a:pPr eaLnBrk="0" hangingPunct="0"/>
            <a:r>
              <a:rPr lang="en-US" altLang="zh-CN">
                <a:solidFill>
                  <a:srgbClr val="FF0000"/>
                </a:solidFill>
              </a:rPr>
              <a:t>MPI_Fainalize();</a:t>
            </a:r>
          </a:p>
          <a:p>
            <a:pPr eaLnBrk="0" hangingPunct="0"/>
            <a:r>
              <a:rPr lang="zh-CN" altLang="en-US">
                <a:solidFill>
                  <a:srgbClr val="FF0000"/>
                </a:solidFill>
              </a:rPr>
              <a:t>只能有串行代码;</a:t>
            </a:r>
          </a:p>
        </p:txBody>
      </p:sp>
      <p:sp>
        <p:nvSpPr>
          <p:cNvPr id="33795" name="AutoShape 5">
            <a:extLst>
              <a:ext uri="{FF2B5EF4-FFF2-40B4-BE49-F238E27FC236}">
                <a16:creationId xmlns:a16="http://schemas.microsoft.com/office/drawing/2014/main" id="{FF93DC67-02DF-8A49-9628-EBE5D04C4EF1}"/>
              </a:ext>
            </a:extLst>
          </p:cNvPr>
          <p:cNvSpPr>
            <a:spLocks/>
          </p:cNvSpPr>
          <p:nvPr/>
        </p:nvSpPr>
        <p:spPr bwMode="auto">
          <a:xfrm>
            <a:off x="5791200" y="4038600"/>
            <a:ext cx="228600" cy="1143000"/>
          </a:xfrm>
          <a:prstGeom prst="leftBrace">
            <a:avLst>
              <a:gd name="adj1" fmla="val 41574"/>
              <a:gd name="adj2" fmla="val 50000"/>
            </a:avLst>
          </a:prstGeom>
          <a:noFill/>
          <a:ln w="9525">
            <a:solidFill>
              <a:srgbClr val="FF33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3796" name="Rectangle 2">
            <a:extLst>
              <a:ext uri="{FF2B5EF4-FFF2-40B4-BE49-F238E27FC236}">
                <a16:creationId xmlns:a16="http://schemas.microsoft.com/office/drawing/2014/main" id="{7AC36254-9647-AE4C-81F2-FCFD93D19C93}"/>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solidFill>
                  <a:srgbClr val="0000FF"/>
                </a:solidFill>
                <a:sym typeface="Webdings" pitchFamily="2" charset="2"/>
              </a:rPr>
              <a:t>最基本的</a:t>
            </a:r>
            <a:r>
              <a:rPr lang="en-US" altLang="zh-CN" sz="2400">
                <a:solidFill>
                  <a:srgbClr val="0000FF"/>
                </a:solidFill>
                <a:sym typeface="Webdings" pitchFamily="2" charset="2"/>
              </a:rPr>
              <a:t>MPI</a:t>
            </a:r>
            <a:endParaRPr lang="zh-CN" altLang="en-US" sz="2400">
              <a:solidFill>
                <a:srgbClr val="0000FF"/>
              </a:solidFill>
              <a:sym typeface="Webdings" pitchFamily="2" charset="2"/>
            </a:endParaRPr>
          </a:p>
        </p:txBody>
      </p:sp>
      <p:sp>
        <p:nvSpPr>
          <p:cNvPr id="33797" name="Rectangle 2">
            <a:extLst>
              <a:ext uri="{FF2B5EF4-FFF2-40B4-BE49-F238E27FC236}">
                <a16:creationId xmlns:a16="http://schemas.microsoft.com/office/drawing/2014/main" id="{FAEF5617-8DF6-7C45-99AC-2C533A6443C0}"/>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三、</a:t>
            </a:r>
            <a:r>
              <a:rPr lang="en-US" altLang="zh-CN" sz="3200" b="1">
                <a:solidFill>
                  <a:srgbClr val="0000FF"/>
                </a:solidFill>
                <a:latin typeface="黑体" panose="02010609060101010101" pitchFamily="49" charset="-122"/>
                <a:ea typeface="黑体" panose="02010609060101010101" pitchFamily="49" charset="-122"/>
              </a:rPr>
              <a:t>MPI</a:t>
            </a:r>
            <a:r>
              <a:rPr lang="zh-CN" altLang="en-US" sz="3200" b="1">
                <a:solidFill>
                  <a:srgbClr val="0000FF"/>
                </a:solidFill>
                <a:latin typeface="黑体" panose="02010609060101010101" pitchFamily="49" charset="-122"/>
                <a:ea typeface="黑体" panose="02010609060101010101" pitchFamily="49" charset="-122"/>
              </a:rPr>
              <a:t>程序分析及编程入门</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187"/>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3">
            <a:extLst>
              <a:ext uri="{FF2B5EF4-FFF2-40B4-BE49-F238E27FC236}">
                <a16:creationId xmlns:a16="http://schemas.microsoft.com/office/drawing/2014/main" id="{5CE1FB7F-4DBD-A641-8D20-DD3F8822E407}"/>
              </a:ext>
            </a:extLst>
          </p:cNvPr>
          <p:cNvSpPr>
            <a:spLocks noGrp="1" noChangeArrowheads="1"/>
          </p:cNvSpPr>
          <p:nvPr>
            <p:ph idx="1"/>
          </p:nvPr>
        </p:nvSpPr>
        <p:spPr>
          <a:xfrm>
            <a:off x="500063" y="1785938"/>
            <a:ext cx="8207375" cy="4714875"/>
          </a:xfrm>
        </p:spPr>
        <p:txBody>
          <a:bodyPr/>
          <a:lstStyle/>
          <a:p>
            <a:pPr eaLnBrk="1" hangingPunct="1">
              <a:lnSpc>
                <a:spcPct val="90000"/>
              </a:lnSpc>
            </a:pPr>
            <a:r>
              <a:rPr lang="en-US" altLang="zh-CN" b="1">
                <a:solidFill>
                  <a:srgbClr val="FF0000"/>
                </a:solidFill>
              </a:rPr>
              <a:t>SPMD </a:t>
            </a:r>
            <a:r>
              <a:rPr lang="zh-CN" altLang="en-US" b="1">
                <a:solidFill>
                  <a:srgbClr val="FF0000"/>
                </a:solidFill>
              </a:rPr>
              <a:t>编程模式</a:t>
            </a:r>
            <a:r>
              <a:rPr lang="zh-CN" altLang="en-US">
                <a:solidFill>
                  <a:srgbClr val="FF0000"/>
                </a:solidFill>
              </a:rPr>
              <a:t>：</a:t>
            </a:r>
            <a:r>
              <a:rPr lang="zh-CN" altLang="en-US"/>
              <a:t>构成一个程序的所有进程运行的是同一份执行代码</a:t>
            </a:r>
            <a:r>
              <a:rPr lang="en-US" altLang="zh-CN"/>
              <a:t>. </a:t>
            </a:r>
            <a:r>
              <a:rPr lang="zh-CN" altLang="en-US"/>
              <a:t>不同进程根据自己的序号可能执行该代码中的不同分支</a:t>
            </a:r>
            <a:r>
              <a:rPr lang="en-US" altLang="zh-CN"/>
              <a:t>. MPI </a:t>
            </a:r>
            <a:r>
              <a:rPr lang="zh-CN" altLang="en-US"/>
              <a:t>编程中最常用的编程方式</a:t>
            </a:r>
            <a:r>
              <a:rPr lang="en-US" altLang="zh-CN"/>
              <a:t>. </a:t>
            </a:r>
            <a:r>
              <a:rPr lang="zh-CN" altLang="en-US"/>
              <a:t>用户只需要编写、维护一份源代码</a:t>
            </a:r>
            <a:r>
              <a:rPr lang="en-US" altLang="zh-CN"/>
              <a:t>.</a:t>
            </a:r>
          </a:p>
          <a:p>
            <a:pPr eaLnBrk="1" hangingPunct="1">
              <a:lnSpc>
                <a:spcPct val="90000"/>
              </a:lnSpc>
            </a:pPr>
            <a:r>
              <a:rPr lang="en-US" altLang="zh-CN" b="1">
                <a:solidFill>
                  <a:srgbClr val="FF0000"/>
                </a:solidFill>
              </a:rPr>
              <a:t>MPMD </a:t>
            </a:r>
            <a:r>
              <a:rPr lang="zh-CN" altLang="en-US" b="1">
                <a:solidFill>
                  <a:srgbClr val="FF0000"/>
                </a:solidFill>
              </a:rPr>
              <a:t>编程模式</a:t>
            </a:r>
            <a:r>
              <a:rPr lang="zh-CN" altLang="en-US">
                <a:solidFill>
                  <a:srgbClr val="FF0000"/>
                </a:solidFill>
              </a:rPr>
              <a:t>：</a:t>
            </a:r>
            <a:r>
              <a:rPr lang="zh-CN" altLang="en-US"/>
              <a:t>构成一个程序的不同进程运行不同的执行代码</a:t>
            </a:r>
            <a:r>
              <a:rPr lang="en-US" altLang="zh-CN"/>
              <a:t>. </a:t>
            </a:r>
            <a:r>
              <a:rPr lang="zh-CN" altLang="en-US"/>
              <a:t>用户需要编写、维护多份源代码</a:t>
            </a:r>
            <a:r>
              <a:rPr lang="en-US" altLang="zh-CN"/>
              <a:t>.</a:t>
            </a:r>
          </a:p>
          <a:p>
            <a:pPr eaLnBrk="1" hangingPunct="1">
              <a:lnSpc>
                <a:spcPct val="90000"/>
              </a:lnSpc>
            </a:pPr>
            <a:r>
              <a:rPr lang="zh-CN" altLang="en-US" b="1">
                <a:solidFill>
                  <a:srgbClr val="FF0000"/>
                </a:solidFill>
              </a:rPr>
              <a:t>主</a:t>
            </a:r>
            <a:r>
              <a:rPr lang="en-US" altLang="zh-CN" b="1">
                <a:solidFill>
                  <a:srgbClr val="FF0000"/>
                </a:solidFill>
              </a:rPr>
              <a:t>/</a:t>
            </a:r>
            <a:r>
              <a:rPr lang="zh-CN" altLang="en-US" b="1">
                <a:solidFill>
                  <a:srgbClr val="FF0000"/>
                </a:solidFill>
              </a:rPr>
              <a:t>从编程模式</a:t>
            </a:r>
            <a:r>
              <a:rPr lang="zh-CN" altLang="en-US">
                <a:solidFill>
                  <a:srgbClr val="FF0000"/>
                </a:solidFill>
              </a:rPr>
              <a:t>：</a:t>
            </a:r>
            <a:r>
              <a:rPr lang="zh-CN" altLang="en-US"/>
              <a:t>它是</a:t>
            </a:r>
            <a:r>
              <a:rPr lang="en-US" altLang="zh-CN"/>
              <a:t>MPMD </a:t>
            </a:r>
            <a:r>
              <a:rPr lang="zh-CN" altLang="en-US"/>
              <a:t>编程模式的一个特例</a:t>
            </a:r>
            <a:r>
              <a:rPr lang="en-US" altLang="zh-CN"/>
              <a:t>, </a:t>
            </a:r>
            <a:r>
              <a:rPr lang="zh-CN" altLang="en-US"/>
              <a:t>也是</a:t>
            </a:r>
            <a:r>
              <a:rPr lang="en-US" altLang="zh-CN"/>
              <a:t>MPMD </a:t>
            </a:r>
            <a:r>
              <a:rPr lang="zh-CN" altLang="en-US"/>
              <a:t>编程模式中最常见的方式</a:t>
            </a:r>
            <a:r>
              <a:rPr lang="en-US" altLang="zh-CN"/>
              <a:t>. </a:t>
            </a:r>
            <a:r>
              <a:rPr lang="zh-CN" altLang="en-US"/>
              <a:t>构成一个程序的进程之一负责所有进程间的协调及任务调度</a:t>
            </a:r>
            <a:r>
              <a:rPr lang="en-US" altLang="zh-CN"/>
              <a:t>, </a:t>
            </a:r>
            <a:r>
              <a:rPr lang="zh-CN" altLang="en-US"/>
              <a:t>该进程称为主进程</a:t>
            </a:r>
            <a:r>
              <a:rPr lang="en-US" altLang="zh-CN"/>
              <a:t>(Master), </a:t>
            </a:r>
            <a:r>
              <a:rPr lang="zh-CN" altLang="en-US"/>
              <a:t>其余进程称为从进程</a:t>
            </a:r>
            <a:r>
              <a:rPr lang="en-US" altLang="zh-CN"/>
              <a:t>(Slave). </a:t>
            </a:r>
            <a:r>
              <a:rPr lang="zh-CN" altLang="en-US"/>
              <a:t>通常用户需要维护两份源代码</a:t>
            </a:r>
            <a:r>
              <a:rPr lang="en-US" altLang="zh-CN" sz="2700"/>
              <a:t>.</a:t>
            </a:r>
          </a:p>
        </p:txBody>
      </p:sp>
      <p:sp>
        <p:nvSpPr>
          <p:cNvPr id="34818" name="Rectangle 2">
            <a:extLst>
              <a:ext uri="{FF2B5EF4-FFF2-40B4-BE49-F238E27FC236}">
                <a16:creationId xmlns:a16="http://schemas.microsoft.com/office/drawing/2014/main" id="{5A514384-E0A3-FD4B-806E-ACB3C78E3A36}"/>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a:solidFill>
                  <a:srgbClr val="0000FF"/>
                </a:solidFill>
                <a:sym typeface="Webdings" pitchFamily="2" charset="2"/>
              </a:rPr>
              <a:t>MPI</a:t>
            </a:r>
            <a:r>
              <a:rPr lang="zh-CN" altLang="en-US" sz="2400" b="1">
                <a:solidFill>
                  <a:srgbClr val="0000FF"/>
                </a:solidFill>
                <a:sym typeface="Webdings" pitchFamily="2" charset="2"/>
              </a:rPr>
              <a:t>编程模式</a:t>
            </a:r>
          </a:p>
        </p:txBody>
      </p:sp>
      <p:sp>
        <p:nvSpPr>
          <p:cNvPr id="34819" name="Rectangle 2">
            <a:extLst>
              <a:ext uri="{FF2B5EF4-FFF2-40B4-BE49-F238E27FC236}">
                <a16:creationId xmlns:a16="http://schemas.microsoft.com/office/drawing/2014/main" id="{99062819-0D8F-6E4C-A360-54EA1A79E9BD}"/>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三、</a:t>
            </a:r>
            <a:r>
              <a:rPr lang="en-US" altLang="zh-CN" sz="3200" b="1">
                <a:solidFill>
                  <a:srgbClr val="0000FF"/>
                </a:solidFill>
                <a:latin typeface="黑体" panose="02010609060101010101" pitchFamily="49" charset="-122"/>
                <a:ea typeface="黑体" panose="02010609060101010101" pitchFamily="49" charset="-122"/>
              </a:rPr>
              <a:t>MPI</a:t>
            </a:r>
            <a:r>
              <a:rPr lang="zh-CN" altLang="en-US" sz="3200" b="1">
                <a:solidFill>
                  <a:srgbClr val="0000FF"/>
                </a:solidFill>
                <a:latin typeface="黑体" panose="02010609060101010101" pitchFamily="49" charset="-122"/>
                <a:ea typeface="黑体" panose="02010609060101010101" pitchFamily="49" charset="-122"/>
              </a:rPr>
              <a:t>程序分析及编程入门</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44601"/>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2">
            <a:extLst>
              <a:ext uri="{FF2B5EF4-FFF2-40B4-BE49-F238E27FC236}">
                <a16:creationId xmlns:a16="http://schemas.microsoft.com/office/drawing/2014/main" id="{28A68773-02B9-E54B-BA36-CC5646D65D31}"/>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b="1">
                <a:solidFill>
                  <a:srgbClr val="0000FF"/>
                </a:solidFill>
                <a:sym typeface="Webdings" pitchFamily="2" charset="2"/>
              </a:rPr>
              <a:t>MPI</a:t>
            </a:r>
            <a:r>
              <a:rPr lang="zh-CN" altLang="en-US" sz="2400" b="1">
                <a:solidFill>
                  <a:srgbClr val="0000FF"/>
                </a:solidFill>
                <a:sym typeface="Webdings" pitchFamily="2" charset="2"/>
              </a:rPr>
              <a:t>程序设计方法</a:t>
            </a:r>
          </a:p>
        </p:txBody>
      </p:sp>
      <p:sp>
        <p:nvSpPr>
          <p:cNvPr id="35842" name="Rectangle 3">
            <a:extLst>
              <a:ext uri="{FF2B5EF4-FFF2-40B4-BE49-F238E27FC236}">
                <a16:creationId xmlns:a16="http://schemas.microsoft.com/office/drawing/2014/main" id="{2EFC159C-78F5-B94A-9E4C-BD76B6694B82}"/>
              </a:ext>
            </a:extLst>
          </p:cNvPr>
          <p:cNvSpPr>
            <a:spLocks noChangeArrowheads="1"/>
          </p:cNvSpPr>
          <p:nvPr/>
        </p:nvSpPr>
        <p:spPr bwMode="auto">
          <a:xfrm>
            <a:off x="928688" y="1714500"/>
            <a:ext cx="7772400" cy="4981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lvl="1">
              <a:spcBef>
                <a:spcPct val="20000"/>
              </a:spcBef>
              <a:buClr>
                <a:schemeClr val="hlink"/>
              </a:buClr>
              <a:buSzPct val="55000"/>
              <a:buFont typeface="Wingdings" pitchFamily="2" charset="2"/>
              <a:buChar char="n"/>
            </a:pPr>
            <a:r>
              <a:rPr lang="zh-CN" altLang="en-US" sz="2800">
                <a:latin typeface="Tahoma" panose="020B0604030504040204" pitchFamily="34" charset="0"/>
              </a:rPr>
              <a:t>明确并行任务</a:t>
            </a:r>
          </a:p>
          <a:p>
            <a:pPr lvl="1">
              <a:spcBef>
                <a:spcPct val="20000"/>
              </a:spcBef>
              <a:buClr>
                <a:schemeClr val="hlink"/>
              </a:buClr>
              <a:buSzPct val="55000"/>
              <a:buFont typeface="Wingdings" pitchFamily="2" charset="2"/>
              <a:buChar char="n"/>
            </a:pPr>
            <a:r>
              <a:rPr lang="zh-CN" altLang="en-US" sz="2800">
                <a:latin typeface="Tahoma" panose="020B0604030504040204" pitchFamily="34" charset="0"/>
              </a:rPr>
              <a:t>设计单个任务的串行程序</a:t>
            </a:r>
          </a:p>
          <a:p>
            <a:pPr lvl="1">
              <a:spcBef>
                <a:spcPct val="20000"/>
              </a:spcBef>
              <a:buClr>
                <a:schemeClr val="hlink"/>
              </a:buClr>
              <a:buSzPct val="55000"/>
              <a:buFont typeface="Wingdings" pitchFamily="2" charset="2"/>
              <a:buChar char="n"/>
            </a:pPr>
            <a:r>
              <a:rPr lang="zh-CN" altLang="en-US" sz="2800">
                <a:latin typeface="Tahoma" panose="020B0604030504040204" pitchFamily="34" charset="0"/>
              </a:rPr>
              <a:t>所有任务的统一表示</a:t>
            </a:r>
            <a:r>
              <a:rPr lang="en-US" altLang="zh-CN" sz="2800">
                <a:latin typeface="Tahoma" panose="020B0604030504040204" pitchFamily="34" charset="0"/>
              </a:rPr>
              <a:t>--SPMD</a:t>
            </a:r>
            <a:r>
              <a:rPr lang="zh-CN" altLang="en-US" sz="2800">
                <a:latin typeface="Tahoma" panose="020B0604030504040204" pitchFamily="34" charset="0"/>
              </a:rPr>
              <a:t>并行程序</a:t>
            </a:r>
          </a:p>
          <a:p>
            <a:pPr>
              <a:spcBef>
                <a:spcPct val="20000"/>
              </a:spcBef>
              <a:buClr>
                <a:schemeClr val="folHlink"/>
              </a:buClr>
              <a:buSzPct val="60000"/>
              <a:buFont typeface="Wingdings" pitchFamily="2" charset="2"/>
              <a:buChar char="n"/>
            </a:pPr>
            <a:endParaRPr lang="zh-CN" altLang="en-US" sz="3200">
              <a:latin typeface="Tahoma" panose="020B0604030504040204" pitchFamily="34" charset="0"/>
            </a:endParaRPr>
          </a:p>
        </p:txBody>
      </p:sp>
      <p:sp>
        <p:nvSpPr>
          <p:cNvPr id="35843" name="AutoShape 4">
            <a:extLst>
              <a:ext uri="{FF2B5EF4-FFF2-40B4-BE49-F238E27FC236}">
                <a16:creationId xmlns:a16="http://schemas.microsoft.com/office/drawing/2014/main" id="{EE234289-A5A6-974A-B1DA-C77B7770D011}"/>
              </a:ext>
            </a:extLst>
          </p:cNvPr>
          <p:cNvSpPr>
            <a:spLocks noChangeArrowheads="1"/>
          </p:cNvSpPr>
          <p:nvPr/>
        </p:nvSpPr>
        <p:spPr bwMode="auto">
          <a:xfrm>
            <a:off x="1828800" y="4191000"/>
            <a:ext cx="228600" cy="1905000"/>
          </a:xfrm>
          <a:prstGeom prst="roundRect">
            <a:avLst>
              <a:gd name="adj" fmla="val 16667"/>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5844" name="AutoShape 5">
            <a:extLst>
              <a:ext uri="{FF2B5EF4-FFF2-40B4-BE49-F238E27FC236}">
                <a16:creationId xmlns:a16="http://schemas.microsoft.com/office/drawing/2014/main" id="{987BE972-C9F1-9D49-B5C4-CB25F687491B}"/>
              </a:ext>
            </a:extLst>
          </p:cNvPr>
          <p:cNvSpPr>
            <a:spLocks noChangeArrowheads="1"/>
          </p:cNvSpPr>
          <p:nvPr/>
        </p:nvSpPr>
        <p:spPr bwMode="auto">
          <a:xfrm>
            <a:off x="2590800" y="4191000"/>
            <a:ext cx="228600" cy="1828800"/>
          </a:xfrm>
          <a:prstGeom prst="triangle">
            <a:avLst>
              <a:gd name="adj" fmla="val 50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5845" name="AutoShape 6">
            <a:extLst>
              <a:ext uri="{FF2B5EF4-FFF2-40B4-BE49-F238E27FC236}">
                <a16:creationId xmlns:a16="http://schemas.microsoft.com/office/drawing/2014/main" id="{E0D34EFE-9F21-E441-ADA2-EDD17814B184}"/>
              </a:ext>
            </a:extLst>
          </p:cNvPr>
          <p:cNvSpPr>
            <a:spLocks noChangeArrowheads="1"/>
          </p:cNvSpPr>
          <p:nvPr/>
        </p:nvSpPr>
        <p:spPr bwMode="auto">
          <a:xfrm>
            <a:off x="3352800" y="4191000"/>
            <a:ext cx="228600" cy="1905000"/>
          </a:xfrm>
          <a:prstGeom prst="diamond">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5846" name="AutoShape 7">
            <a:extLst>
              <a:ext uri="{FF2B5EF4-FFF2-40B4-BE49-F238E27FC236}">
                <a16:creationId xmlns:a16="http://schemas.microsoft.com/office/drawing/2014/main" id="{474730A3-6236-064D-89E6-1F944B965AE9}"/>
              </a:ext>
            </a:extLst>
          </p:cNvPr>
          <p:cNvSpPr>
            <a:spLocks noChangeArrowheads="1"/>
          </p:cNvSpPr>
          <p:nvPr/>
        </p:nvSpPr>
        <p:spPr bwMode="auto">
          <a:xfrm>
            <a:off x="4038600" y="4191000"/>
            <a:ext cx="152400" cy="1905000"/>
          </a:xfrm>
          <a:prstGeom prst="plus">
            <a:avLst>
              <a:gd name="adj" fmla="val 25000"/>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5847" name="AutoShape 8">
            <a:extLst>
              <a:ext uri="{FF2B5EF4-FFF2-40B4-BE49-F238E27FC236}">
                <a16:creationId xmlns:a16="http://schemas.microsoft.com/office/drawing/2014/main" id="{C677EC0A-7C61-F94B-A466-42666C0D4EB1}"/>
              </a:ext>
            </a:extLst>
          </p:cNvPr>
          <p:cNvSpPr>
            <a:spLocks noChangeArrowheads="1"/>
          </p:cNvSpPr>
          <p:nvPr/>
        </p:nvSpPr>
        <p:spPr bwMode="auto">
          <a:xfrm>
            <a:off x="4724400" y="4191000"/>
            <a:ext cx="228600" cy="1828800"/>
          </a:xfrm>
          <a:prstGeom prst="can">
            <a:avLst>
              <a:gd name="adj" fmla="val 200000"/>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5848" name="AutoShape 9">
            <a:extLst>
              <a:ext uri="{FF2B5EF4-FFF2-40B4-BE49-F238E27FC236}">
                <a16:creationId xmlns:a16="http://schemas.microsoft.com/office/drawing/2014/main" id="{196FBDEA-9F97-C448-BB10-B2FDE4AB20E0}"/>
              </a:ext>
            </a:extLst>
          </p:cNvPr>
          <p:cNvSpPr>
            <a:spLocks noChangeArrowheads="1"/>
          </p:cNvSpPr>
          <p:nvPr/>
        </p:nvSpPr>
        <p:spPr bwMode="auto">
          <a:xfrm>
            <a:off x="5334000" y="4876800"/>
            <a:ext cx="609600" cy="457200"/>
          </a:xfrm>
          <a:prstGeom prst="rightArrow">
            <a:avLst>
              <a:gd name="adj1" fmla="val 50000"/>
              <a:gd name="adj2" fmla="val 33302"/>
            </a:avLst>
          </a:prstGeom>
          <a:solidFill>
            <a:schemeClr val="accent1"/>
          </a:solidFill>
          <a:ln w="9525">
            <a:solidFill>
              <a:schemeClr val="tx1"/>
            </a:solidFill>
            <a:miter lim="800000"/>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35849" name="Oval 10">
            <a:extLst>
              <a:ext uri="{FF2B5EF4-FFF2-40B4-BE49-F238E27FC236}">
                <a16:creationId xmlns:a16="http://schemas.microsoft.com/office/drawing/2014/main" id="{F63D4088-F6D6-A848-80C4-2D57BEB31FFE}"/>
              </a:ext>
            </a:extLst>
          </p:cNvPr>
          <p:cNvSpPr>
            <a:spLocks noChangeArrowheads="1"/>
          </p:cNvSpPr>
          <p:nvPr/>
        </p:nvSpPr>
        <p:spPr bwMode="auto">
          <a:xfrm>
            <a:off x="6324600" y="4038600"/>
            <a:ext cx="1600200" cy="2057400"/>
          </a:xfrm>
          <a:prstGeom prst="ellipse">
            <a:avLst/>
          </a:prstGeom>
          <a:solidFill>
            <a:schemeClr val="accent1"/>
          </a:solidFill>
          <a:ln w="9525">
            <a:solidFill>
              <a:schemeClr val="tx1"/>
            </a:solidFill>
            <a:round/>
            <a:headEnd/>
            <a:tailEnd/>
          </a:ln>
        </p:spPr>
        <p:txBody>
          <a:bodyPr wrap="none"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endParaRPr lang="zh-CN" altLang="en-US"/>
          </a:p>
        </p:txBody>
      </p:sp>
      <p:sp>
        <p:nvSpPr>
          <p:cNvPr id="15" name="Text Box 11">
            <a:extLst>
              <a:ext uri="{FF2B5EF4-FFF2-40B4-BE49-F238E27FC236}">
                <a16:creationId xmlns:a16="http://schemas.microsoft.com/office/drawing/2014/main" id="{B286EF28-15D4-354A-A851-053BD8266BA3}"/>
              </a:ext>
            </a:extLst>
          </p:cNvPr>
          <p:cNvSpPr txBox="1">
            <a:spLocks noChangeArrowheads="1"/>
          </p:cNvSpPr>
          <p:nvPr/>
        </p:nvSpPr>
        <p:spPr bwMode="auto">
          <a:xfrm>
            <a:off x="6705600" y="4800600"/>
            <a:ext cx="938213" cy="369888"/>
          </a:xfrm>
          <a:prstGeom prst="rect">
            <a:avLst/>
          </a:prstGeom>
          <a:noFill/>
          <a:ln>
            <a:noFill/>
          </a:ln>
          <a:effectLst/>
        </p:spPr>
        <p:txBody>
          <a:bodyPr>
            <a:spAutoFit/>
          </a:bodyPr>
          <a:lstStyle/>
          <a:p>
            <a:pPr eaLnBrk="0" hangingPunct="0">
              <a:spcBef>
                <a:spcPct val="50000"/>
              </a:spcBef>
              <a:buFontTx/>
              <a:buNone/>
              <a:defRPr/>
            </a:pPr>
            <a:r>
              <a:rPr kumimoji="1" lang="en-US" altLang="zh-CN" noProof="1">
                <a:effectLst>
                  <a:outerShdw blurRad="38100" dist="38100" dir="2700000" algn="tl">
                    <a:srgbClr val="C0C0C0"/>
                  </a:outerShdw>
                </a:effectLst>
              </a:rPr>
              <a:t>SPMD</a:t>
            </a:r>
          </a:p>
        </p:txBody>
      </p:sp>
      <p:sp>
        <p:nvSpPr>
          <p:cNvPr id="35851" name="Rectangle 2">
            <a:extLst>
              <a:ext uri="{FF2B5EF4-FFF2-40B4-BE49-F238E27FC236}">
                <a16:creationId xmlns:a16="http://schemas.microsoft.com/office/drawing/2014/main" id="{FA4BF736-6BFF-3D4B-AC05-FD02A56C2A4B}"/>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三、</a:t>
            </a:r>
            <a:r>
              <a:rPr lang="en-US" altLang="zh-CN" sz="3200" b="1">
                <a:solidFill>
                  <a:srgbClr val="0000FF"/>
                </a:solidFill>
                <a:latin typeface="黑体" panose="02010609060101010101" pitchFamily="49" charset="-122"/>
                <a:ea typeface="黑体" panose="02010609060101010101" pitchFamily="49" charset="-122"/>
              </a:rPr>
              <a:t>MPI</a:t>
            </a:r>
            <a:r>
              <a:rPr lang="zh-CN" altLang="en-US" sz="3200" b="1">
                <a:solidFill>
                  <a:srgbClr val="0000FF"/>
                </a:solidFill>
                <a:latin typeface="黑体" panose="02010609060101010101" pitchFamily="49" charset="-122"/>
                <a:ea typeface="黑体" panose="02010609060101010101" pitchFamily="49" charset="-122"/>
              </a:rPr>
              <a:t>程序分析及编程入门</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15350"/>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3">
            <a:extLst>
              <a:ext uri="{FF2B5EF4-FFF2-40B4-BE49-F238E27FC236}">
                <a16:creationId xmlns:a16="http://schemas.microsoft.com/office/drawing/2014/main" id="{ED969804-CA5A-7746-A9ED-72C127AEB9B6}"/>
              </a:ext>
            </a:extLst>
          </p:cNvPr>
          <p:cNvSpPr>
            <a:spLocks noGrp="1" noChangeArrowheads="1"/>
          </p:cNvSpPr>
          <p:nvPr>
            <p:ph idx="1"/>
          </p:nvPr>
        </p:nvSpPr>
        <p:spPr>
          <a:xfrm>
            <a:off x="1077913" y="1857375"/>
            <a:ext cx="6424612" cy="2259013"/>
          </a:xfrm>
        </p:spPr>
        <p:txBody>
          <a:bodyPr/>
          <a:lstStyle/>
          <a:p>
            <a:pPr eaLnBrk="1" hangingPunct="1">
              <a:buClr>
                <a:srgbClr val="0000FF"/>
              </a:buClr>
              <a:buFont typeface="Wingdings" pitchFamily="2" charset="2"/>
              <a:buChar char="Ø"/>
            </a:pPr>
            <a:r>
              <a:rPr lang="en-US" altLang="zh-CN" sz="2400"/>
              <a:t>线程（Thread）</a:t>
            </a:r>
          </a:p>
          <a:p>
            <a:pPr eaLnBrk="1" hangingPunct="1">
              <a:buClr>
                <a:srgbClr val="0000FF"/>
              </a:buClr>
              <a:buFont typeface="Wingdings" pitchFamily="2" charset="2"/>
              <a:buChar char="Ø"/>
            </a:pPr>
            <a:r>
              <a:rPr lang="en-US" altLang="zh-CN" sz="2400">
                <a:sym typeface="宋体" panose="02010600030101010101" pitchFamily="2" charset="-122"/>
              </a:rPr>
              <a:t>进程 （Process）</a:t>
            </a:r>
          </a:p>
          <a:p>
            <a:pPr eaLnBrk="1" hangingPunct="1">
              <a:buClr>
                <a:srgbClr val="0000FF"/>
              </a:buClr>
              <a:buFont typeface="Wingdings" pitchFamily="2" charset="2"/>
              <a:buChar char="Ø"/>
            </a:pPr>
            <a:r>
              <a:rPr lang="en-US" altLang="zh-CN" sz="2400">
                <a:sym typeface="宋体" panose="02010600030101010101" pitchFamily="2" charset="-122"/>
              </a:rPr>
              <a:t>远程分布式主机 （Distributed Node）</a:t>
            </a:r>
          </a:p>
          <a:p>
            <a:pPr eaLnBrk="1" hangingPunct="1">
              <a:buClr>
                <a:srgbClr val="0000FF"/>
              </a:buClr>
              <a:buFont typeface="Wingdings" pitchFamily="2" charset="2"/>
              <a:buChar char="Ø"/>
            </a:pPr>
            <a:r>
              <a:rPr lang="en-US" altLang="zh-CN" sz="2400">
                <a:sym typeface="宋体" panose="02010600030101010101" pitchFamily="2" charset="-122"/>
              </a:rPr>
              <a:t>伪线程 （Pseudo－Thread）</a:t>
            </a:r>
            <a:endParaRPr lang="zh-CN" altLang="en-US" sz="2400"/>
          </a:p>
        </p:txBody>
      </p:sp>
      <p:sp>
        <p:nvSpPr>
          <p:cNvPr id="36866" name="Rectangle 2">
            <a:extLst>
              <a:ext uri="{FF2B5EF4-FFF2-40B4-BE49-F238E27FC236}">
                <a16:creationId xmlns:a16="http://schemas.microsoft.com/office/drawing/2014/main" id="{9DFD6F6F-B648-8944-AF55-6CF2B871696B}"/>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solidFill>
                  <a:srgbClr val="0000FF"/>
                </a:solidFill>
                <a:sym typeface="宋体" panose="02010600030101010101" pitchFamily="2" charset="-122"/>
              </a:rPr>
              <a:t>Py</a:t>
            </a:r>
            <a:r>
              <a:rPr lang="en-US" altLang="zh-CN" sz="2400">
                <a:solidFill>
                  <a:srgbClr val="0000FF"/>
                </a:solidFill>
                <a:sym typeface="宋体" panose="02010600030101010101" pitchFamily="2" charset="-122"/>
              </a:rPr>
              <a:t>thon</a:t>
            </a:r>
            <a:r>
              <a:rPr lang="zh-CN" altLang="en-US" sz="2400">
                <a:solidFill>
                  <a:srgbClr val="0000FF"/>
                </a:solidFill>
                <a:sym typeface="宋体" panose="02010600030101010101" pitchFamily="2" charset="-122"/>
              </a:rPr>
              <a:t>并发编程四种方式</a:t>
            </a:r>
            <a:endParaRPr lang="zh-CN" altLang="en-US" sz="2400">
              <a:solidFill>
                <a:srgbClr val="0000FF"/>
              </a:solidFill>
              <a:sym typeface="Webdings" pitchFamily="2" charset="2"/>
            </a:endParaRPr>
          </a:p>
        </p:txBody>
      </p:sp>
      <p:sp>
        <p:nvSpPr>
          <p:cNvPr id="36867" name="Rectangle 2">
            <a:extLst>
              <a:ext uri="{FF2B5EF4-FFF2-40B4-BE49-F238E27FC236}">
                <a16:creationId xmlns:a16="http://schemas.microsoft.com/office/drawing/2014/main" id="{E91ABABC-A76D-9E4C-B333-889E056370D6}"/>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四、</a:t>
            </a:r>
            <a:r>
              <a:rPr lang="zh-CN" altLang="en-US" sz="3200" b="1">
                <a:solidFill>
                  <a:srgbClr val="0000FF"/>
                </a:solidFill>
                <a:latin typeface="黑体" panose="02010609060101010101" pitchFamily="49" charset="-122"/>
                <a:ea typeface="黑体" panose="02010609060101010101" pitchFamily="49" charset="-122"/>
                <a:sym typeface="宋体" panose="02010600030101010101" pitchFamily="2" charset="-122"/>
              </a:rPr>
              <a:t>Pyhon并发编程方式</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21481"/>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3">
            <a:extLst>
              <a:ext uri="{FF2B5EF4-FFF2-40B4-BE49-F238E27FC236}">
                <a16:creationId xmlns:a16="http://schemas.microsoft.com/office/drawing/2014/main" id="{23A99C41-6280-5E4C-8953-AC5B923E7914}"/>
              </a:ext>
            </a:extLst>
          </p:cNvPr>
          <p:cNvSpPr>
            <a:spLocks noGrp="1" noChangeArrowheads="1"/>
          </p:cNvSpPr>
          <p:nvPr>
            <p:ph idx="1"/>
          </p:nvPr>
        </p:nvSpPr>
        <p:spPr>
          <a:xfrm>
            <a:off x="982663" y="1571625"/>
            <a:ext cx="7958137" cy="5073650"/>
          </a:xfrm>
        </p:spPr>
        <p:txBody>
          <a:bodyPr/>
          <a:lstStyle/>
          <a:p>
            <a:pPr eaLnBrk="1" hangingPunct="1">
              <a:buClr>
                <a:srgbClr val="0000FF"/>
              </a:buClr>
              <a:buFont typeface="Wingdings" pitchFamily="2" charset="2"/>
              <a:buChar char="Ø"/>
            </a:pPr>
            <a:r>
              <a:rPr lang="zh-CN" altLang="en-US" sz="2000">
                <a:solidFill>
                  <a:srgbClr val="0000FF"/>
                </a:solidFill>
              </a:rPr>
              <a:t>多线程</a:t>
            </a:r>
            <a:r>
              <a:rPr lang="zh-CN" altLang="en-US" sz="2000"/>
              <a:t>几乎是每一个程序猿在使用每一种语言时都会首先想到用于解决并发的工具（JS程序员请回避），使用多线程可以有效的利用CPU资源</a:t>
            </a:r>
            <a:r>
              <a:rPr lang="zh-CN" altLang="en-US" sz="2000">
                <a:solidFill>
                  <a:srgbClr val="FF0000"/>
                </a:solidFill>
              </a:rPr>
              <a:t>（Python例外）</a:t>
            </a:r>
            <a:r>
              <a:rPr lang="zh-CN" altLang="en-US" sz="2000"/>
              <a:t>。然而多线程所带来的程序的复杂度也不可避免，尤其是对竞争资源的同步问题。然而</a:t>
            </a:r>
            <a:r>
              <a:rPr lang="zh-CN" altLang="en-US" sz="2000">
                <a:solidFill>
                  <a:srgbClr val="FF0000"/>
                </a:solidFill>
              </a:rPr>
              <a:t>在python中由于使用了全局解释锁（GIL）的原因</a:t>
            </a:r>
            <a:r>
              <a:rPr lang="zh-CN" altLang="en-US" sz="2000"/>
              <a:t>，</a:t>
            </a:r>
            <a:r>
              <a:rPr lang="zh-CN" altLang="en-US" sz="2000">
                <a:solidFill>
                  <a:srgbClr val="FF0000"/>
                </a:solidFill>
              </a:rPr>
              <a:t>代码并不能同时在多核上并发的运行</a:t>
            </a:r>
            <a:r>
              <a:rPr lang="zh-CN" altLang="en-US" sz="2000"/>
              <a:t>，也就是说，Python的多线程不能并发，很多人会发现使用多线程来改进自己的Python代码后，程序的运行效率却下降了。</a:t>
            </a:r>
          </a:p>
          <a:p>
            <a:pPr eaLnBrk="1" hangingPunct="1">
              <a:buClr>
                <a:srgbClr val="0000FF"/>
              </a:buClr>
              <a:buFont typeface="Wingdings" pitchFamily="2" charset="2"/>
              <a:buChar char="Ø"/>
            </a:pPr>
            <a:r>
              <a:rPr lang="zh-CN" altLang="en-US" sz="2000"/>
              <a:t>实际上使用多线程的编程模型是很困难的，程序员很容易犯错，这并不是程序员的错误，因为我们</a:t>
            </a:r>
            <a:r>
              <a:rPr lang="zh-CN" altLang="en-US" sz="2000">
                <a:solidFill>
                  <a:srgbClr val="0000FF"/>
                </a:solidFill>
              </a:rPr>
              <a:t>大多数人的思维是串行</a:t>
            </a:r>
            <a:r>
              <a:rPr lang="zh-CN" altLang="en-US" sz="2000"/>
              <a:t>（精神分裂不讨论），且冯诺依曼设计的计算机架构也是以顺序执行为基础的。</a:t>
            </a:r>
          </a:p>
          <a:p>
            <a:pPr eaLnBrk="1" hangingPunct="1">
              <a:buClr>
                <a:srgbClr val="0000FF"/>
              </a:buClr>
              <a:buFont typeface="Wingdings" pitchFamily="2" charset="2"/>
              <a:buChar char="Ø"/>
            </a:pPr>
            <a:r>
              <a:rPr lang="zh-CN" altLang="en-US" sz="2000"/>
              <a:t>Python提供两组线程的接口，</a:t>
            </a:r>
            <a:r>
              <a:rPr lang="zh-CN" altLang="en-US" sz="2000">
                <a:solidFill>
                  <a:srgbClr val="0000FF"/>
                </a:solidFill>
              </a:rPr>
              <a:t>一组是</a:t>
            </a:r>
            <a:r>
              <a:rPr lang="zh-CN" altLang="en-US" sz="2000">
                <a:solidFill>
                  <a:srgbClr val="FF0000"/>
                </a:solidFill>
              </a:rPr>
              <a:t>thread模块</a:t>
            </a:r>
            <a:r>
              <a:rPr lang="zh-CN" altLang="en-US" sz="2000">
                <a:solidFill>
                  <a:srgbClr val="0000FF"/>
                </a:solidFill>
              </a:rPr>
              <a:t>，提供基础的，低等级（Low Level）接口</a:t>
            </a:r>
            <a:r>
              <a:rPr lang="zh-CN" altLang="en-US" sz="2000"/>
              <a:t>，使用Function作为线程的运行体。</a:t>
            </a:r>
            <a:r>
              <a:rPr lang="zh-CN" altLang="en-US" sz="2000">
                <a:solidFill>
                  <a:srgbClr val="0000FF"/>
                </a:solidFill>
              </a:rPr>
              <a:t>还有一组是</a:t>
            </a:r>
            <a:r>
              <a:rPr lang="zh-CN" altLang="en-US" sz="2000">
                <a:solidFill>
                  <a:srgbClr val="FF0000"/>
                </a:solidFill>
              </a:rPr>
              <a:t>threading模块</a:t>
            </a:r>
            <a:r>
              <a:rPr lang="zh-CN" altLang="en-US" sz="2000"/>
              <a:t>，提供更容易使用的基于对象的接口（类似于Java），可以继承Thread对象来实现线程，还提供了其它一些线程相关的对象，例如Timer，Lock。</a:t>
            </a:r>
          </a:p>
        </p:txBody>
      </p:sp>
      <p:sp>
        <p:nvSpPr>
          <p:cNvPr id="37890" name="Rectangle 2">
            <a:extLst>
              <a:ext uri="{FF2B5EF4-FFF2-40B4-BE49-F238E27FC236}">
                <a16:creationId xmlns:a16="http://schemas.microsoft.com/office/drawing/2014/main" id="{6259F413-CFB2-DD45-894D-BE27B6FB8E66}"/>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solidFill>
                  <a:srgbClr val="0000FF"/>
                </a:solidFill>
                <a:sym typeface="Webdings" pitchFamily="2" charset="2"/>
              </a:rPr>
              <a:t>线程</a:t>
            </a:r>
            <a:r>
              <a:rPr lang="en-US" altLang="zh-CN" sz="2400">
                <a:sym typeface="宋体" panose="02010600030101010101" pitchFamily="2" charset="-122"/>
              </a:rPr>
              <a:t>（Thread）</a:t>
            </a:r>
            <a:endParaRPr lang="zh-CN" altLang="en-US" sz="2400">
              <a:solidFill>
                <a:srgbClr val="0000FF"/>
              </a:solidFill>
              <a:sym typeface="Webdings" pitchFamily="2" charset="2"/>
            </a:endParaRPr>
          </a:p>
        </p:txBody>
      </p:sp>
      <p:sp>
        <p:nvSpPr>
          <p:cNvPr id="37891" name="Rectangle 2">
            <a:extLst>
              <a:ext uri="{FF2B5EF4-FFF2-40B4-BE49-F238E27FC236}">
                <a16:creationId xmlns:a16="http://schemas.microsoft.com/office/drawing/2014/main" id="{5CC065F5-E2F6-9041-9174-F04F20AAF988}"/>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四、</a:t>
            </a:r>
            <a:r>
              <a:rPr lang="zh-CN" altLang="en-US" sz="3200" b="1">
                <a:solidFill>
                  <a:srgbClr val="0000FF"/>
                </a:solidFill>
                <a:latin typeface="黑体" panose="02010609060101010101" pitchFamily="49" charset="-122"/>
                <a:ea typeface="黑体" panose="02010609060101010101" pitchFamily="49" charset="-122"/>
                <a:sym typeface="宋体" panose="02010600030101010101" pitchFamily="2" charset="-122"/>
              </a:rPr>
              <a:t>Pyhon并发编程方式</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79748"/>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3">
            <a:extLst>
              <a:ext uri="{FF2B5EF4-FFF2-40B4-BE49-F238E27FC236}">
                <a16:creationId xmlns:a16="http://schemas.microsoft.com/office/drawing/2014/main" id="{DA7BD12D-D452-1C47-A1F8-2E54D24A7592}"/>
              </a:ext>
            </a:extLst>
          </p:cNvPr>
          <p:cNvSpPr>
            <a:spLocks noGrp="1" noChangeArrowheads="1"/>
          </p:cNvSpPr>
          <p:nvPr>
            <p:ph idx="1"/>
          </p:nvPr>
        </p:nvSpPr>
        <p:spPr>
          <a:xfrm>
            <a:off x="982663" y="1571625"/>
            <a:ext cx="7958137" cy="5073650"/>
          </a:xfrm>
        </p:spPr>
        <p:txBody>
          <a:bodyPr/>
          <a:lstStyle/>
          <a:p>
            <a:pPr eaLnBrk="1" hangingPunct="1">
              <a:buClr>
                <a:srgbClr val="0000FF"/>
              </a:buClr>
              <a:buFont typeface="Wingdings" pitchFamily="2" charset="2"/>
              <a:buChar char="Ø"/>
            </a:pPr>
            <a:r>
              <a:rPr lang="zh-CN" altLang="en-US" sz="2000"/>
              <a:t>由于</a:t>
            </a:r>
            <a:r>
              <a:rPr lang="zh-CN" altLang="en-US" sz="2000">
                <a:solidFill>
                  <a:srgbClr val="FF0000"/>
                </a:solidFill>
              </a:rPr>
              <a:t>python的全局解释锁问题</a:t>
            </a:r>
            <a:r>
              <a:rPr lang="zh-CN" altLang="en-US" sz="2000"/>
              <a:t>，</a:t>
            </a:r>
            <a:r>
              <a:rPr lang="zh-CN" altLang="en-US" sz="2000">
                <a:solidFill>
                  <a:srgbClr val="0000FF"/>
                </a:solidFill>
              </a:rPr>
              <a:t>Python下比较好的并行方式是使用多进程</a:t>
            </a:r>
            <a:r>
              <a:rPr lang="zh-CN" altLang="en-US" sz="2000"/>
              <a:t>，这样可以非常有效的使用CPU资源，</a:t>
            </a:r>
            <a:r>
              <a:rPr lang="zh-CN" altLang="en-US" sz="2000">
                <a:solidFill>
                  <a:srgbClr val="0000FF"/>
                </a:solidFill>
              </a:rPr>
              <a:t>并实现真正意义上的并发。</a:t>
            </a:r>
            <a:r>
              <a:rPr lang="zh-CN" altLang="en-US" sz="2000"/>
              <a:t>当然，进程的开销比线程要大，也就是说如果你要创建数量惊人的并发进程的话，需要考虑一下你的机器是不是有一颗强大的心。</a:t>
            </a:r>
          </a:p>
          <a:p>
            <a:pPr eaLnBrk="1" hangingPunct="1">
              <a:buClr>
                <a:srgbClr val="0000FF"/>
              </a:buClr>
              <a:buFont typeface="Wingdings" pitchFamily="2" charset="2"/>
              <a:buChar char="Ø"/>
            </a:pPr>
            <a:r>
              <a:rPr lang="zh-CN" altLang="en-US" sz="2000"/>
              <a:t>由于线程共享相同的地址空间和内存，所以线程之间的通信是非常容易的，然而进程之间的通信就要复杂一些了。</a:t>
            </a:r>
            <a:r>
              <a:rPr lang="zh-CN" altLang="en-US" sz="2000">
                <a:solidFill>
                  <a:srgbClr val="0000FF"/>
                </a:solidFill>
              </a:rPr>
              <a:t>常见的进程间通信有：管道，消息队列，Socket接口（TCP/IP）</a:t>
            </a:r>
            <a:r>
              <a:rPr lang="zh-CN" altLang="en-US" sz="2000"/>
              <a:t>等等。</a:t>
            </a:r>
          </a:p>
          <a:p>
            <a:pPr eaLnBrk="1" hangingPunct="1">
              <a:buClr>
                <a:srgbClr val="0000FF"/>
              </a:buClr>
              <a:buFont typeface="Wingdings" pitchFamily="2" charset="2"/>
              <a:buChar char="Ø"/>
            </a:pPr>
            <a:r>
              <a:rPr lang="zh-CN" altLang="en-US" sz="2000"/>
              <a:t>Python的</a:t>
            </a:r>
            <a:r>
              <a:rPr lang="zh-CN" altLang="en-US" sz="2000">
                <a:solidFill>
                  <a:srgbClr val="0000FF"/>
                </a:solidFill>
              </a:rPr>
              <a:t>mutliprocess模块</a:t>
            </a:r>
            <a:r>
              <a:rPr lang="zh-CN" altLang="en-US" sz="2000"/>
              <a:t>提供了</a:t>
            </a:r>
            <a:r>
              <a:rPr lang="zh-CN" altLang="en-US" sz="2000">
                <a:solidFill>
                  <a:srgbClr val="0000FF"/>
                </a:solidFill>
              </a:rPr>
              <a:t>封装好的管道和队列</a:t>
            </a:r>
            <a:r>
              <a:rPr lang="zh-CN" altLang="en-US" sz="2000"/>
              <a:t>，可以方便的在进程间传递消息。</a:t>
            </a:r>
          </a:p>
          <a:p>
            <a:pPr eaLnBrk="1" hangingPunct="1">
              <a:buClr>
                <a:srgbClr val="0000FF"/>
              </a:buClr>
              <a:buFont typeface="Wingdings" pitchFamily="2" charset="2"/>
              <a:buChar char="Ø"/>
            </a:pPr>
            <a:r>
              <a:rPr lang="zh-CN" altLang="en-US" sz="2000"/>
              <a:t>Python</a:t>
            </a:r>
            <a:r>
              <a:rPr lang="zh-CN" altLang="en-US" sz="2000">
                <a:solidFill>
                  <a:srgbClr val="0000FF"/>
                </a:solidFill>
              </a:rPr>
              <a:t>进程间的同步使用锁</a:t>
            </a:r>
            <a:r>
              <a:rPr lang="zh-CN" altLang="en-US" sz="2000"/>
              <a:t>，这一点和线程是一样的。</a:t>
            </a:r>
          </a:p>
          <a:p>
            <a:pPr eaLnBrk="1" hangingPunct="1">
              <a:buClr>
                <a:srgbClr val="0000FF"/>
              </a:buClr>
              <a:buFont typeface="Wingdings" pitchFamily="2" charset="2"/>
              <a:buChar char="Ø"/>
            </a:pPr>
            <a:r>
              <a:rPr lang="zh-CN" altLang="en-US" sz="2000"/>
              <a:t>Python还提供了</a:t>
            </a:r>
            <a:r>
              <a:rPr lang="zh-CN" altLang="en-US" sz="2000">
                <a:solidFill>
                  <a:srgbClr val="0000FF"/>
                </a:solidFill>
              </a:rPr>
              <a:t>进程池Pool对象</a:t>
            </a:r>
            <a:r>
              <a:rPr lang="zh-CN" altLang="en-US" sz="2000"/>
              <a:t>，可以方便</a:t>
            </a:r>
            <a:r>
              <a:rPr lang="zh-CN" altLang="en-US" sz="2000">
                <a:solidFill>
                  <a:srgbClr val="0000FF"/>
                </a:solidFill>
              </a:rPr>
              <a:t>管理和控制线程</a:t>
            </a:r>
            <a:r>
              <a:rPr lang="zh-CN" altLang="en-US" sz="2000"/>
              <a:t>。</a:t>
            </a:r>
          </a:p>
          <a:p>
            <a:pPr eaLnBrk="1" hangingPunct="1">
              <a:buClr>
                <a:srgbClr val="0000FF"/>
              </a:buClr>
              <a:buFont typeface="Wingdings" pitchFamily="2" charset="2"/>
              <a:buChar char="Ø"/>
            </a:pPr>
            <a:r>
              <a:rPr lang="zh-CN" altLang="en-US" sz="2000"/>
              <a:t>python的</a:t>
            </a:r>
            <a:r>
              <a:rPr lang="zh-CN" altLang="en-US" sz="2000">
                <a:solidFill>
                  <a:srgbClr val="0000FF"/>
                </a:solidFill>
              </a:rPr>
              <a:t>mutliprocess模块和threading具有类似的接口</a:t>
            </a:r>
            <a:r>
              <a:rPr lang="zh-CN" altLang="en-US" sz="2000"/>
              <a:t>。</a:t>
            </a:r>
          </a:p>
        </p:txBody>
      </p:sp>
      <p:sp>
        <p:nvSpPr>
          <p:cNvPr id="38914" name="Rectangle 2">
            <a:extLst>
              <a:ext uri="{FF2B5EF4-FFF2-40B4-BE49-F238E27FC236}">
                <a16:creationId xmlns:a16="http://schemas.microsoft.com/office/drawing/2014/main" id="{283787ED-E026-7A4B-8979-FAF081F0E30E}"/>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solidFill>
                  <a:srgbClr val="0000FF"/>
                </a:solidFill>
                <a:sym typeface="Webdings" pitchFamily="2" charset="2"/>
              </a:rPr>
              <a:t>线程</a:t>
            </a:r>
            <a:r>
              <a:rPr lang="en-US" altLang="zh-CN" sz="2400">
                <a:sym typeface="宋体" panose="02010600030101010101" pitchFamily="2" charset="-122"/>
              </a:rPr>
              <a:t>（Thread）</a:t>
            </a:r>
            <a:endParaRPr lang="zh-CN" altLang="en-US" sz="2400">
              <a:solidFill>
                <a:srgbClr val="0000FF"/>
              </a:solidFill>
              <a:sym typeface="Webdings" pitchFamily="2" charset="2"/>
            </a:endParaRPr>
          </a:p>
        </p:txBody>
      </p:sp>
      <p:sp>
        <p:nvSpPr>
          <p:cNvPr id="38915" name="Rectangle 2">
            <a:extLst>
              <a:ext uri="{FF2B5EF4-FFF2-40B4-BE49-F238E27FC236}">
                <a16:creationId xmlns:a16="http://schemas.microsoft.com/office/drawing/2014/main" id="{21089550-DCD6-D74B-8962-47CAC4D31C42}"/>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四、</a:t>
            </a:r>
            <a:r>
              <a:rPr lang="zh-CN" altLang="en-US" sz="3200" b="1">
                <a:solidFill>
                  <a:srgbClr val="0000FF"/>
                </a:solidFill>
                <a:latin typeface="黑体" panose="02010609060101010101" pitchFamily="49" charset="-122"/>
                <a:ea typeface="黑体" panose="02010609060101010101" pitchFamily="49" charset="-122"/>
                <a:sym typeface="宋体" panose="02010600030101010101" pitchFamily="2" charset="-122"/>
              </a:rPr>
              <a:t>Pyhon并发编程方式</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67111"/>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0" name="Rectangle 3">
            <a:extLst>
              <a:ext uri="{FF2B5EF4-FFF2-40B4-BE49-F238E27FC236}">
                <a16:creationId xmlns:a16="http://schemas.microsoft.com/office/drawing/2014/main" id="{7AE523F3-9178-4D4F-87BC-7327DD9BC826}"/>
              </a:ext>
            </a:extLst>
          </p:cNvPr>
          <p:cNvSpPr>
            <a:spLocks noGrp="1" noChangeArrowheads="1"/>
          </p:cNvSpPr>
          <p:nvPr>
            <p:ph idx="1"/>
          </p:nvPr>
        </p:nvSpPr>
        <p:spPr>
          <a:xfrm>
            <a:off x="982663" y="1571625"/>
            <a:ext cx="7958137" cy="4495800"/>
          </a:xfrm>
        </p:spPr>
        <p:txBody>
          <a:bodyPr/>
          <a:lstStyle/>
          <a:p>
            <a:pPr eaLnBrk="1" hangingPunct="1">
              <a:buClr>
                <a:srgbClr val="0000FF"/>
              </a:buClr>
              <a:buFont typeface="Wingdings" pitchFamily="2" charset="2"/>
              <a:buChar char="Ø"/>
            </a:pPr>
            <a:r>
              <a:rPr lang="zh-CN" altLang="en-US" sz="2000"/>
              <a:t>随着大数据时代的到临，摩尔定理在单机上似乎已经失去了效果，数据的计算和处理需要分布式的计算机网络来运行，程序并行的运行在多个主机节点上，已经是现在的软件架构所必需考虑的问题。</a:t>
            </a:r>
          </a:p>
          <a:p>
            <a:pPr eaLnBrk="1" hangingPunct="1">
              <a:buClr>
                <a:srgbClr val="0000FF"/>
              </a:buClr>
              <a:buFont typeface="Wingdings" pitchFamily="2" charset="2"/>
              <a:buChar char="Ø"/>
            </a:pPr>
            <a:r>
              <a:rPr lang="zh-CN" altLang="en-US" sz="2000"/>
              <a:t>远程主机间的进程间通信有几种常见的方式</a:t>
            </a:r>
          </a:p>
          <a:p>
            <a:pPr eaLnBrk="1" hangingPunct="1">
              <a:buClr>
                <a:srgbClr val="0000FF"/>
              </a:buClr>
              <a:buFont typeface="Wingdings" pitchFamily="2" charset="2"/>
              <a:buNone/>
            </a:pPr>
            <a:r>
              <a:rPr lang="zh-CN" altLang="en-US" sz="2000"/>
              <a:t>（1）</a:t>
            </a:r>
            <a:r>
              <a:rPr lang="zh-CN" altLang="en-US" sz="2000">
                <a:solidFill>
                  <a:srgbClr val="0000FF"/>
                </a:solidFill>
              </a:rPr>
              <a:t>TCP／IP</a:t>
            </a:r>
            <a:r>
              <a:rPr lang="zh-CN" altLang="en-US" sz="2000"/>
              <a:t>：TCP／IP是所有远程通信的基础，然而API比较低级别，使用起来比较繁琐，所以一般不会考虑</a:t>
            </a:r>
          </a:p>
          <a:p>
            <a:pPr eaLnBrk="1" hangingPunct="1">
              <a:buClr>
                <a:srgbClr val="0000FF"/>
              </a:buClr>
              <a:buFont typeface="Wingdings" pitchFamily="2" charset="2"/>
              <a:buNone/>
            </a:pPr>
            <a:r>
              <a:rPr lang="zh-CN" altLang="en-US" sz="2000"/>
              <a:t>（2）</a:t>
            </a:r>
            <a:r>
              <a:rPr lang="zh-CN" altLang="en-US" sz="2000">
                <a:solidFill>
                  <a:srgbClr val="0000FF"/>
                </a:solidFill>
              </a:rPr>
              <a:t>远程方法调用</a:t>
            </a:r>
            <a:r>
              <a:rPr lang="zh-CN" altLang="en-US" sz="2000"/>
              <a:t> Remote Function Call：RPC是早期的远程进程间通信的手段。Python下有一个开源的实现RPyC</a:t>
            </a:r>
          </a:p>
          <a:p>
            <a:pPr eaLnBrk="1" hangingPunct="1">
              <a:buClr>
                <a:srgbClr val="0000FF"/>
              </a:buClr>
              <a:buFont typeface="Wingdings" pitchFamily="2" charset="2"/>
              <a:buNone/>
            </a:pPr>
            <a:r>
              <a:rPr lang="zh-CN" altLang="en-US" sz="2000"/>
              <a:t>（3）</a:t>
            </a:r>
            <a:r>
              <a:rPr lang="zh-CN" altLang="en-US" sz="2000">
                <a:solidFill>
                  <a:srgbClr val="0000FF"/>
                </a:solidFill>
              </a:rPr>
              <a:t>远程对象 Remote Object</a:t>
            </a:r>
            <a:r>
              <a:rPr lang="zh-CN" altLang="en-US" sz="2000"/>
              <a:t>：远程对象是更高级别的封装，程序可以想操作本地对象一样去操作一个远程对象在本地的代理。远程对象最广为使用的规范CORBA，</a:t>
            </a:r>
          </a:p>
          <a:p>
            <a:pPr eaLnBrk="1" hangingPunct="1">
              <a:buClr>
                <a:srgbClr val="0000FF"/>
              </a:buClr>
              <a:buFont typeface="Wingdings" pitchFamily="2" charset="2"/>
              <a:buNone/>
            </a:pPr>
            <a:r>
              <a:rPr lang="zh-CN" altLang="en-US" sz="2000"/>
              <a:t>（4）</a:t>
            </a:r>
            <a:r>
              <a:rPr lang="zh-CN" altLang="en-US" sz="2000">
                <a:solidFill>
                  <a:srgbClr val="0000FF"/>
                </a:solidFill>
              </a:rPr>
              <a:t>消息队列</a:t>
            </a:r>
            <a:r>
              <a:rPr lang="zh-CN" altLang="en-US" sz="2000"/>
              <a:t> Message Queue：比起RPC或者远程对象，消息是一种更为灵活的通信手段，常见的支持Python接口的消息机制有</a:t>
            </a:r>
          </a:p>
        </p:txBody>
      </p:sp>
      <p:sp>
        <p:nvSpPr>
          <p:cNvPr id="39938" name="Rectangle 2">
            <a:extLst>
              <a:ext uri="{FF2B5EF4-FFF2-40B4-BE49-F238E27FC236}">
                <a16:creationId xmlns:a16="http://schemas.microsoft.com/office/drawing/2014/main" id="{422E9632-14CC-5247-8C31-A25D6B96178F}"/>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solidFill>
                  <a:srgbClr val="0000FF"/>
                </a:solidFill>
                <a:sym typeface="Webdings" pitchFamily="2" charset="2"/>
              </a:rPr>
              <a:t>远程分布式主机</a:t>
            </a:r>
            <a:r>
              <a:rPr lang="zh-CN" altLang="en-US" sz="2400">
                <a:solidFill>
                  <a:srgbClr val="0000FF"/>
                </a:solidFill>
                <a:sym typeface="宋体" panose="02010600030101010101" pitchFamily="2" charset="-122"/>
              </a:rPr>
              <a:t>（Distributed Node）</a:t>
            </a:r>
            <a:endParaRPr lang="zh-CN" altLang="en-US" sz="2400">
              <a:solidFill>
                <a:srgbClr val="0000FF"/>
              </a:solidFill>
              <a:sym typeface="Webdings" pitchFamily="2" charset="2"/>
            </a:endParaRPr>
          </a:p>
        </p:txBody>
      </p:sp>
      <p:sp>
        <p:nvSpPr>
          <p:cNvPr id="39939" name="Rectangle 2">
            <a:extLst>
              <a:ext uri="{FF2B5EF4-FFF2-40B4-BE49-F238E27FC236}">
                <a16:creationId xmlns:a16="http://schemas.microsoft.com/office/drawing/2014/main" id="{94A8551A-7D3F-6B4B-91F2-D22A6E2B6C31}"/>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四、</a:t>
            </a:r>
            <a:r>
              <a:rPr lang="zh-CN" altLang="en-US" sz="3200" b="1">
                <a:solidFill>
                  <a:srgbClr val="0000FF"/>
                </a:solidFill>
                <a:latin typeface="黑体" panose="02010609060101010101" pitchFamily="49" charset="-122"/>
                <a:ea typeface="黑体" panose="02010609060101010101" pitchFamily="49" charset="-122"/>
                <a:sym typeface="宋体" panose="02010600030101010101" pitchFamily="2" charset="-122"/>
              </a:rPr>
              <a:t>Pyhon并发编程方式</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22979"/>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3">
            <a:extLst>
              <a:ext uri="{FF2B5EF4-FFF2-40B4-BE49-F238E27FC236}">
                <a16:creationId xmlns:a16="http://schemas.microsoft.com/office/drawing/2014/main" id="{AD5608B7-3448-6648-A982-4ED85C490471}"/>
              </a:ext>
            </a:extLst>
          </p:cNvPr>
          <p:cNvSpPr>
            <a:spLocks noGrp="1" noChangeArrowheads="1"/>
          </p:cNvSpPr>
          <p:nvPr>
            <p:ph idx="1"/>
          </p:nvPr>
        </p:nvSpPr>
        <p:spPr>
          <a:xfrm>
            <a:off x="865188" y="2070100"/>
            <a:ext cx="6916737" cy="1739900"/>
          </a:xfrm>
        </p:spPr>
        <p:txBody>
          <a:bodyPr/>
          <a:lstStyle/>
          <a:p>
            <a:pPr eaLnBrk="1" hangingPunct="1">
              <a:buClr>
                <a:srgbClr val="0000FF"/>
              </a:buClr>
              <a:buFont typeface="Wingdings" pitchFamily="2" charset="2"/>
              <a:buChar char="Ø"/>
            </a:pPr>
            <a:r>
              <a:rPr lang="zh-CN" altLang="en-US" sz="2000"/>
              <a:t>还有一种并发手段并不常见，我们可以称之为伪线程，就是看上去像是线程，</a:t>
            </a:r>
            <a:r>
              <a:rPr lang="zh-CN" altLang="en-US" sz="2000">
                <a:solidFill>
                  <a:srgbClr val="0000FF"/>
                </a:solidFill>
              </a:rPr>
              <a:t>使用的接口类似线程接口，但是实际使用非线程的方式，对应的线程开销也不存在的</a:t>
            </a:r>
            <a:r>
              <a:rPr lang="zh-CN" altLang="en-US" sz="2000"/>
              <a:t>。</a:t>
            </a:r>
          </a:p>
          <a:p>
            <a:pPr eaLnBrk="1" hangingPunct="1">
              <a:buClr>
                <a:srgbClr val="0000FF"/>
              </a:buClr>
              <a:buFont typeface="Wingdings" pitchFamily="2" charset="2"/>
              <a:buChar char="Ø"/>
            </a:pPr>
            <a:r>
              <a:rPr lang="zh-CN" altLang="en-US" sz="2000">
                <a:solidFill>
                  <a:srgbClr val="0000FF"/>
                </a:solidFill>
              </a:rPr>
              <a:t>greenlet</a:t>
            </a:r>
            <a:r>
              <a:rPr lang="zh-CN" altLang="en-US" sz="2000"/>
              <a:t>提供轻量级的coroutines来支持进程内的并发。</a:t>
            </a:r>
          </a:p>
        </p:txBody>
      </p:sp>
      <p:sp>
        <p:nvSpPr>
          <p:cNvPr id="40962" name="Rectangle 2">
            <a:extLst>
              <a:ext uri="{FF2B5EF4-FFF2-40B4-BE49-F238E27FC236}">
                <a16:creationId xmlns:a16="http://schemas.microsoft.com/office/drawing/2014/main" id="{72E50A38-EAE2-7943-B919-7367E953F95E}"/>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solidFill>
                  <a:srgbClr val="0000FF"/>
                </a:solidFill>
                <a:sym typeface="Webdings" pitchFamily="2" charset="2"/>
              </a:rPr>
              <a:t>伪线程</a:t>
            </a:r>
            <a:r>
              <a:rPr lang="zh-CN" altLang="en-US" sz="2400">
                <a:solidFill>
                  <a:srgbClr val="0000FF"/>
                </a:solidFill>
                <a:sym typeface="宋体" panose="02010600030101010101" pitchFamily="2" charset="-122"/>
              </a:rPr>
              <a:t>（Pseudo－Thread）</a:t>
            </a:r>
          </a:p>
        </p:txBody>
      </p:sp>
      <p:sp>
        <p:nvSpPr>
          <p:cNvPr id="40963" name="Rectangle 2">
            <a:extLst>
              <a:ext uri="{FF2B5EF4-FFF2-40B4-BE49-F238E27FC236}">
                <a16:creationId xmlns:a16="http://schemas.microsoft.com/office/drawing/2014/main" id="{4D908AFD-A3B1-764B-993B-AC537F3131CB}"/>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四、</a:t>
            </a:r>
            <a:r>
              <a:rPr lang="zh-CN" altLang="en-US" sz="3200" b="1">
                <a:solidFill>
                  <a:srgbClr val="0000FF"/>
                </a:solidFill>
                <a:latin typeface="黑体" panose="02010609060101010101" pitchFamily="49" charset="-122"/>
                <a:ea typeface="黑体" panose="02010609060101010101" pitchFamily="49" charset="-122"/>
                <a:sym typeface="宋体" panose="02010600030101010101" pitchFamily="2" charset="-122"/>
              </a:rPr>
              <a:t>Pyhon并发编程方式</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17363"/>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3">
            <a:extLst>
              <a:ext uri="{FF2B5EF4-FFF2-40B4-BE49-F238E27FC236}">
                <a16:creationId xmlns:a16="http://schemas.microsoft.com/office/drawing/2014/main" id="{E5FF9DDE-845E-0742-A36B-43FE92BFCAC4}"/>
              </a:ext>
            </a:extLst>
          </p:cNvPr>
          <p:cNvSpPr>
            <a:spLocks noGrp="1" noChangeArrowheads="1"/>
          </p:cNvSpPr>
          <p:nvPr>
            <p:ph idx="1"/>
          </p:nvPr>
        </p:nvSpPr>
        <p:spPr>
          <a:xfrm>
            <a:off x="1087438" y="1857375"/>
            <a:ext cx="7099300" cy="2644775"/>
          </a:xfrm>
        </p:spPr>
        <p:txBody>
          <a:bodyPr/>
          <a:lstStyle/>
          <a:p>
            <a:pPr eaLnBrk="1" hangingPunct="1">
              <a:buFont typeface="Wingdings" pitchFamily="2" charset="2"/>
              <a:buChar char="l"/>
            </a:pPr>
            <a:r>
              <a:rPr lang="en-US" altLang="zh-CN" sz="2400"/>
              <a:t>决定性能调优上限的两个定律：</a:t>
            </a:r>
            <a:r>
              <a:rPr lang="en-US" altLang="zh-CN" sz="2400">
                <a:solidFill>
                  <a:srgbClr val="FF0000"/>
                </a:solidFill>
              </a:rPr>
              <a:t>阿曼达定律和Gustafson定律</a:t>
            </a:r>
            <a:r>
              <a:rPr lang="en-US" altLang="zh-CN" sz="2400"/>
              <a:t>;</a:t>
            </a:r>
          </a:p>
          <a:p>
            <a:pPr eaLnBrk="1" hangingPunct="1">
              <a:buFont typeface="Wingdings" pitchFamily="2" charset="2"/>
              <a:buChar char="l"/>
            </a:pPr>
            <a:r>
              <a:rPr lang="en-US" altLang="zh-CN" sz="2400"/>
              <a:t>系统的性能遵循</a:t>
            </a:r>
            <a:r>
              <a:rPr lang="en-US" altLang="zh-CN" sz="2400">
                <a:solidFill>
                  <a:srgbClr val="FF0000"/>
                </a:solidFill>
              </a:rPr>
              <a:t>木桶原理</a:t>
            </a:r>
            <a:r>
              <a:rPr lang="en-US" altLang="zh-CN" sz="2400"/>
              <a:t>，也就是整体性能是由系统中最短的那块板决定;</a:t>
            </a:r>
          </a:p>
          <a:p>
            <a:pPr eaLnBrk="1" hangingPunct="1">
              <a:buFont typeface="Wingdings" pitchFamily="2" charset="2"/>
              <a:buChar char="l"/>
            </a:pPr>
            <a:r>
              <a:rPr lang="en-US" altLang="zh-CN" sz="2400"/>
              <a:t>整个</a:t>
            </a:r>
            <a:r>
              <a:rPr lang="en-US" altLang="zh-CN" sz="2400">
                <a:solidFill>
                  <a:srgbClr val="FF0000"/>
                </a:solidFill>
              </a:rPr>
              <a:t>优化应该采用自上而下的方法</a:t>
            </a:r>
            <a:r>
              <a:rPr lang="en-US" altLang="zh-CN" sz="2400"/>
              <a:t>，顺序一定不能乱</a:t>
            </a:r>
            <a:r>
              <a:rPr lang="zh-CN" altLang="zh-CN" sz="2400"/>
              <a:t>。</a:t>
            </a:r>
          </a:p>
        </p:txBody>
      </p:sp>
      <p:sp>
        <p:nvSpPr>
          <p:cNvPr id="41986" name="Rectangle 2">
            <a:extLst>
              <a:ext uri="{FF2B5EF4-FFF2-40B4-BE49-F238E27FC236}">
                <a16:creationId xmlns:a16="http://schemas.microsoft.com/office/drawing/2014/main" id="{62E59DAC-349B-3141-B5EF-45813E9616B3}"/>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solidFill>
                  <a:srgbClr val="0000FF"/>
                </a:solidFill>
                <a:sym typeface="Webdings" pitchFamily="2" charset="2"/>
              </a:rPr>
              <a:t>并行调优需要注意的方面</a:t>
            </a:r>
          </a:p>
        </p:txBody>
      </p:sp>
      <p:sp>
        <p:nvSpPr>
          <p:cNvPr id="41987" name="Rectangle 2">
            <a:extLst>
              <a:ext uri="{FF2B5EF4-FFF2-40B4-BE49-F238E27FC236}">
                <a16:creationId xmlns:a16="http://schemas.microsoft.com/office/drawing/2014/main" id="{CD43D44F-DE2C-864F-B42F-9BCA75B7A06A}"/>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五、并行计算优化</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104833"/>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3">
            <a:extLst>
              <a:ext uri="{FF2B5EF4-FFF2-40B4-BE49-F238E27FC236}">
                <a16:creationId xmlns:a16="http://schemas.microsoft.com/office/drawing/2014/main" id="{86511860-6090-B345-BF88-6D4177C08C0E}"/>
              </a:ext>
            </a:extLst>
          </p:cNvPr>
          <p:cNvSpPr>
            <a:spLocks noGrp="1" noChangeArrowheads="1"/>
          </p:cNvSpPr>
          <p:nvPr>
            <p:ph idx="1"/>
          </p:nvPr>
        </p:nvSpPr>
        <p:spPr>
          <a:xfrm>
            <a:off x="1079500" y="1622425"/>
            <a:ext cx="7754938" cy="4899025"/>
          </a:xfrm>
        </p:spPr>
        <p:txBody>
          <a:bodyPr/>
          <a:lstStyle/>
          <a:p>
            <a:pPr eaLnBrk="1" hangingPunct="1">
              <a:buFont typeface="Wingdings" pitchFamily="2" charset="2"/>
              <a:buChar char="l"/>
            </a:pPr>
            <a:r>
              <a:rPr lang="en-US" altLang="zh-CN" sz="2400"/>
              <a:t>首先通过标准性能基准测试程序确保系统的工作状态正常， 比如使用SpecInt， SpecFP，Linpack等得到处理器的性能，对比设计性能指标，可以得知CPU是否工作正常，BIOS或者操作系统中的相关设置是否正确。使用Stream测试程序测试内存系统的性能，Netperf测试网络性能，Fio或者iozone等测试文件系统性能是否正常。在所有调优开始之前，一定要先把基础做好，一定要了解你的系统性能极限；</a:t>
            </a:r>
          </a:p>
          <a:p>
            <a:pPr eaLnBrk="1" hangingPunct="1">
              <a:buFont typeface="Wingdings" pitchFamily="2" charset="2"/>
              <a:buChar char="l"/>
            </a:pPr>
            <a:r>
              <a:rPr lang="en-US" altLang="zh-CN" sz="2400"/>
              <a:t>再来是应用调优，可以调节运行环境，或者有代码的可以调整代码；</a:t>
            </a:r>
          </a:p>
          <a:p>
            <a:pPr eaLnBrk="1" hangingPunct="1">
              <a:buFont typeface="Wingdings" pitchFamily="2" charset="2"/>
              <a:buChar char="l"/>
            </a:pPr>
            <a:r>
              <a:rPr lang="en-US" altLang="zh-CN" sz="2400"/>
              <a:t>最后才会到处理器级别的调优，这里是榨干最后一滴性能的地方。</a:t>
            </a:r>
          </a:p>
        </p:txBody>
      </p:sp>
      <p:sp>
        <p:nvSpPr>
          <p:cNvPr id="43010" name="Rectangle 2">
            <a:extLst>
              <a:ext uri="{FF2B5EF4-FFF2-40B4-BE49-F238E27FC236}">
                <a16:creationId xmlns:a16="http://schemas.microsoft.com/office/drawing/2014/main" id="{7377AD0A-E2C3-BE46-B5D6-9BC36B737759}"/>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solidFill>
                  <a:srgbClr val="0000FF"/>
                </a:solidFill>
                <a:sym typeface="宋体" panose="02010600030101010101" pitchFamily="2" charset="-122"/>
              </a:rPr>
              <a:t>如何自上而下</a:t>
            </a:r>
            <a:r>
              <a:rPr lang="zh-CN" altLang="en-US" sz="2400">
                <a:solidFill>
                  <a:srgbClr val="0000FF"/>
                </a:solidFill>
                <a:sym typeface="Webdings" pitchFamily="2" charset="2"/>
              </a:rPr>
              <a:t>并行调优</a:t>
            </a:r>
          </a:p>
        </p:txBody>
      </p:sp>
      <p:sp>
        <p:nvSpPr>
          <p:cNvPr id="43011" name="Rectangle 2">
            <a:extLst>
              <a:ext uri="{FF2B5EF4-FFF2-40B4-BE49-F238E27FC236}">
                <a16:creationId xmlns:a16="http://schemas.microsoft.com/office/drawing/2014/main" id="{EE250712-FB09-CE42-B008-771B05ED4E73}"/>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sym typeface="宋体" panose="02010600030101010101" pitchFamily="2" charset="-122"/>
              </a:rPr>
              <a:t>五、并行计算优化</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24710"/>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灯片编号占位符 5">
            <a:extLst>
              <a:ext uri="{FF2B5EF4-FFF2-40B4-BE49-F238E27FC236}">
                <a16:creationId xmlns:a16="http://schemas.microsoft.com/office/drawing/2014/main" id="{0BA7BD95-103F-B346-9A7F-C0715AC2AB35}"/>
              </a:ext>
            </a:extLst>
          </p:cNvPr>
          <p:cNvSpPr>
            <a:spLocks noGrp="1"/>
          </p:cNvSpPr>
          <p:nvPr>
            <p:ph type="sldNum" sz="quarter" idx="12"/>
          </p:nvPr>
        </p:nvSpPr>
        <p:spPr>
          <a:ln>
            <a:round/>
          </a:ln>
        </p:spPr>
        <p:txBody>
          <a:bodyPr/>
          <a:lstStyle/>
          <a:p>
            <a:fld id="{E2D1EDE8-34F3-474F-8B46-C283814EC208}" type="slidenum">
              <a:rPr lang="zh-CN" altLang="en-US" noProof="1">
                <a:ea typeface="宋体" panose="02010600030101010101" pitchFamily="2" charset="-122"/>
                <a:cs typeface="Times New Roman" panose="02020603050405020304" pitchFamily="18" charset="0"/>
              </a:rPr>
              <a:pPr/>
              <a:t>117</a:t>
            </a:fld>
            <a:r>
              <a:rPr lang="en-US" altLang="zh-CN" noProof="1">
                <a:ea typeface="宋体" panose="02010600030101010101" pitchFamily="2" charset="-122"/>
                <a:cs typeface="Times New Roman" panose="02020603050405020304" pitchFamily="18" charset="0"/>
              </a:rPr>
              <a:t>/122</a:t>
            </a:r>
            <a:endParaRPr lang="en-US" altLang="zh-CN" noProof="1">
              <a:ea typeface="宋体" panose="02010600030101010101" pitchFamily="2" charset="-122"/>
            </a:endParaRPr>
          </a:p>
        </p:txBody>
      </p:sp>
      <p:sp>
        <p:nvSpPr>
          <p:cNvPr id="44034" name="Rectangle 3">
            <a:extLst>
              <a:ext uri="{FF2B5EF4-FFF2-40B4-BE49-F238E27FC236}">
                <a16:creationId xmlns:a16="http://schemas.microsoft.com/office/drawing/2014/main" id="{08049C71-1FFD-0542-A3DF-901A511A4983}"/>
              </a:ext>
            </a:extLst>
          </p:cNvPr>
          <p:cNvSpPr>
            <a:spLocks noGrp="1" noChangeArrowheads="1"/>
          </p:cNvSpPr>
          <p:nvPr>
            <p:ph idx="1"/>
          </p:nvPr>
        </p:nvSpPr>
        <p:spPr>
          <a:xfrm>
            <a:off x="892175" y="1622425"/>
            <a:ext cx="8139113" cy="4573588"/>
          </a:xfrm>
        </p:spPr>
        <p:txBody>
          <a:bodyPr/>
          <a:lstStyle/>
          <a:p>
            <a:pPr eaLnBrk="1" hangingPunct="1">
              <a:buFont typeface="Wingdings" pitchFamily="2" charset="2"/>
              <a:buChar char="l"/>
            </a:pPr>
            <a:r>
              <a:rPr lang="en-US" altLang="zh-CN" sz="2200">
                <a:solidFill>
                  <a:srgbClr val="0000FF"/>
                </a:solidFill>
              </a:rPr>
              <a:t>（一）硬件级</a:t>
            </a:r>
            <a:r>
              <a:rPr lang="zh-CN" altLang="en-US" sz="2200">
                <a:solidFill>
                  <a:srgbClr val="0000FF"/>
                </a:solidFill>
              </a:rPr>
              <a:t>：</a:t>
            </a:r>
            <a:r>
              <a:rPr lang="en-US" altLang="zh-CN" sz="2200"/>
              <a:t>性能优化的方法有很多种，第一个叫硬件级调优，就是简单粗暴直接换掉性能低</a:t>
            </a:r>
            <a:r>
              <a:rPr lang="zh-CN" altLang="en-US" sz="2200"/>
              <a:t>的</a:t>
            </a:r>
            <a:r>
              <a:rPr lang="en-US" altLang="zh-CN" sz="2200"/>
              <a:t>硬件，比如网卡千兆换到万兆，硬盘从机械的换成SSD等等。很多时候这也不失为一个好办法。</a:t>
            </a:r>
          </a:p>
          <a:p>
            <a:pPr eaLnBrk="1" hangingPunct="1">
              <a:buFont typeface="Wingdings" pitchFamily="2" charset="2"/>
              <a:buChar char="l"/>
            </a:pPr>
            <a:r>
              <a:rPr lang="en-US" altLang="zh-CN" sz="2200">
                <a:solidFill>
                  <a:srgbClr val="0000FF"/>
                </a:solidFill>
              </a:rPr>
              <a:t>（二）运行级：</a:t>
            </a:r>
            <a:r>
              <a:rPr lang="en-US" altLang="zh-CN" sz="2200"/>
              <a:t>所谓运行级调优，从运行环境上调整，通过监控整个系统的性能及各项指标看问题所在，然后看能不能通过一些运行参数的调整，比如说内存的使用率非常高，可以试试在操作系统中调整内存页的大小。如果是网络带宽压力特别大，可以试试将网络包的处理程序绑定在某一个核上面。对于网络小包特别多的情况，有一些网卡带包聚合功能，等很多小包会聚合到一定的程度，再统一处理，大量减少中断数量，降低系统消耗。这些调整的成本很低，难点在于对技术人员要求很高，需要对整个系统非常熟。</a:t>
            </a:r>
          </a:p>
        </p:txBody>
      </p:sp>
      <p:sp>
        <p:nvSpPr>
          <p:cNvPr id="44035" name="Rectangle 2">
            <a:extLst>
              <a:ext uri="{FF2B5EF4-FFF2-40B4-BE49-F238E27FC236}">
                <a16:creationId xmlns:a16="http://schemas.microsoft.com/office/drawing/2014/main" id="{F5E97316-FA09-B54B-BEAA-D5AAADB323C9}"/>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solidFill>
                  <a:srgbClr val="0000FF"/>
                </a:solidFill>
                <a:sym typeface="Webdings" pitchFamily="2" charset="2"/>
              </a:rPr>
              <a:t>并行计算系统性能调优方法分类</a:t>
            </a:r>
          </a:p>
        </p:txBody>
      </p:sp>
      <p:sp>
        <p:nvSpPr>
          <p:cNvPr id="44036" name="Rectangle 2">
            <a:extLst>
              <a:ext uri="{FF2B5EF4-FFF2-40B4-BE49-F238E27FC236}">
                <a16:creationId xmlns:a16="http://schemas.microsoft.com/office/drawing/2014/main" id="{1CB38F97-2271-104A-BE8A-967B0934106B}"/>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sym typeface="宋体" panose="02010600030101010101" pitchFamily="2" charset="-122"/>
              </a:rPr>
              <a:t>五、并行计算优化</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65802"/>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3">
            <a:extLst>
              <a:ext uri="{FF2B5EF4-FFF2-40B4-BE49-F238E27FC236}">
                <a16:creationId xmlns:a16="http://schemas.microsoft.com/office/drawing/2014/main" id="{76498E7B-5615-DF43-ADFA-C664B966A3B2}"/>
              </a:ext>
            </a:extLst>
          </p:cNvPr>
          <p:cNvSpPr>
            <a:spLocks noGrp="1" noChangeArrowheads="1"/>
          </p:cNvSpPr>
          <p:nvPr>
            <p:ph idx="1"/>
          </p:nvPr>
        </p:nvSpPr>
        <p:spPr>
          <a:xfrm>
            <a:off x="1079500" y="1622425"/>
            <a:ext cx="7754938" cy="4899025"/>
          </a:xfrm>
        </p:spPr>
        <p:txBody>
          <a:bodyPr/>
          <a:lstStyle/>
          <a:p>
            <a:pPr eaLnBrk="1" hangingPunct="1">
              <a:buFont typeface="Wingdings" pitchFamily="2" charset="2"/>
              <a:buChar char="l"/>
            </a:pPr>
            <a:r>
              <a:rPr lang="en-US" altLang="zh-CN" sz="2000">
                <a:solidFill>
                  <a:srgbClr val="0000FF"/>
                </a:solidFill>
              </a:rPr>
              <a:t>（三）编译器级</a:t>
            </a:r>
            <a:r>
              <a:rPr lang="zh-CN" altLang="en-US" sz="2000">
                <a:solidFill>
                  <a:srgbClr val="0000FF"/>
                </a:solidFill>
              </a:rPr>
              <a:t>：</a:t>
            </a:r>
            <a:r>
              <a:rPr lang="en-US" altLang="zh-CN" sz="2000"/>
              <a:t>编译器级调优，需要有代码，但是不修改代码，使用编译器的优化选项，有的时候也能够获得巨大的性能提高。比如引入自动向量化，深度优化，性能剖析指导的优化（PGO）等等。需要技术人员熟悉编译的使用，以及对优化过程的理解。</a:t>
            </a:r>
          </a:p>
          <a:p>
            <a:pPr eaLnBrk="1" hangingPunct="1">
              <a:buFont typeface="Wingdings" pitchFamily="2" charset="2"/>
              <a:buChar char="l"/>
            </a:pPr>
            <a:r>
              <a:rPr lang="en-US" altLang="zh-CN" sz="2000">
                <a:solidFill>
                  <a:srgbClr val="0000FF"/>
                </a:solidFill>
              </a:rPr>
              <a:t>（四）代码级</a:t>
            </a:r>
            <a:r>
              <a:rPr lang="zh-CN" altLang="en-US" sz="2000">
                <a:solidFill>
                  <a:srgbClr val="0000FF"/>
                </a:solidFill>
              </a:rPr>
              <a:t>：</a:t>
            </a:r>
            <a:r>
              <a:rPr lang="en-US" altLang="zh-CN" sz="2000"/>
              <a:t>代码级调优就是</a:t>
            </a:r>
            <a:r>
              <a:rPr lang="en-US" altLang="zh-CN" sz="2000">
                <a:solidFill>
                  <a:srgbClr val="0000FF"/>
                </a:solidFill>
              </a:rPr>
              <a:t>直接改动实现代码，</a:t>
            </a:r>
            <a:r>
              <a:rPr lang="en-US" altLang="zh-CN" sz="2000"/>
              <a:t>改代码收益或许非常大，比如换个算法，因为有的算法就是比别的算法快很多倍，甚至快几个数量级，但是修改的难度极其大，成本极高，代码改了以后正确性要重新验证，所有测试的步骤都要做。</a:t>
            </a:r>
          </a:p>
          <a:p>
            <a:pPr eaLnBrk="1" hangingPunct="1">
              <a:buFont typeface="Wingdings" pitchFamily="2" charset="2"/>
              <a:buChar char="Ø"/>
            </a:pPr>
            <a:r>
              <a:rPr lang="en-US" altLang="zh-CN" sz="2000"/>
              <a:t>在原有串行单线程程序中，如果有比较明显的计算密集型循环，可以引入OpenMPI进行并行化，结合编译器的自动向量化编译选项，可以只改极小一部分代码，获得比较大的性能收益。</a:t>
            </a:r>
          </a:p>
          <a:p>
            <a:pPr eaLnBrk="1" hangingPunct="1">
              <a:buFont typeface="Wingdings" pitchFamily="2" charset="2"/>
              <a:buChar char="Ø"/>
            </a:pPr>
            <a:r>
              <a:rPr lang="en-US" altLang="zh-CN" sz="2000"/>
              <a:t>在性能调优中常用的一些关键指标：系统性能指标包括CPU利用率、内存使用率，swap分区、带宽使用率；处理器性能指标包括CPI、浮点运算的峰值、向量化比例、cache miss、DTLB miss等。</a:t>
            </a:r>
          </a:p>
        </p:txBody>
      </p:sp>
      <p:sp>
        <p:nvSpPr>
          <p:cNvPr id="45058" name="Rectangle 2">
            <a:extLst>
              <a:ext uri="{FF2B5EF4-FFF2-40B4-BE49-F238E27FC236}">
                <a16:creationId xmlns:a16="http://schemas.microsoft.com/office/drawing/2014/main" id="{B1D735C6-F3CD-B443-B65F-AE46A0163B70}"/>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sym typeface="宋体" panose="02010600030101010101" pitchFamily="2" charset="-122"/>
              </a:rPr>
              <a:t>五、并行计算优化</a:t>
            </a:r>
            <a:endParaRPr lang="en-US" altLang="zh-CN" sz="3200" b="1">
              <a:solidFill>
                <a:srgbClr val="0000FF"/>
              </a:solidFill>
              <a:latin typeface="黑体" panose="02010609060101010101" pitchFamily="49" charset="-122"/>
              <a:ea typeface="黑体" panose="02010609060101010101" pitchFamily="49" charset="-122"/>
            </a:endParaRPr>
          </a:p>
        </p:txBody>
      </p:sp>
      <p:sp>
        <p:nvSpPr>
          <p:cNvPr id="45059" name="Rectangle 2">
            <a:extLst>
              <a:ext uri="{FF2B5EF4-FFF2-40B4-BE49-F238E27FC236}">
                <a16:creationId xmlns:a16="http://schemas.microsoft.com/office/drawing/2014/main" id="{4BF01FA9-92EC-C54E-BB77-9DB878E7139E}"/>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solidFill>
                  <a:srgbClr val="0000FF"/>
                </a:solidFill>
                <a:sym typeface="Webdings" pitchFamily="2" charset="2"/>
              </a:rPr>
              <a:t>并行计算系统性能调优方法分类</a:t>
            </a:r>
          </a:p>
        </p:txBody>
      </p:sp>
    </p:spTree>
  </p:cSld>
  <p:clrMapOvr>
    <a:masterClrMapping/>
  </p:clrMapOvr>
  <p:transition advTm="15397"/>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3">
            <a:extLst>
              <a:ext uri="{FF2B5EF4-FFF2-40B4-BE49-F238E27FC236}">
                <a16:creationId xmlns:a16="http://schemas.microsoft.com/office/drawing/2014/main" id="{6D21EED2-DB59-AF4C-A120-011424CB3577}"/>
              </a:ext>
            </a:extLst>
          </p:cNvPr>
          <p:cNvSpPr>
            <a:spLocks noGrp="1" noChangeArrowheads="1"/>
          </p:cNvSpPr>
          <p:nvPr>
            <p:ph idx="1"/>
          </p:nvPr>
        </p:nvSpPr>
        <p:spPr>
          <a:xfrm>
            <a:off x="1079500" y="1692275"/>
            <a:ext cx="7754938" cy="2908300"/>
          </a:xfrm>
        </p:spPr>
        <p:txBody>
          <a:bodyPr/>
          <a:lstStyle/>
          <a:p>
            <a:pPr eaLnBrk="1" hangingPunct="1">
              <a:buFont typeface="Wingdings" pitchFamily="2" charset="2"/>
              <a:buChar char="l"/>
            </a:pPr>
            <a:r>
              <a:rPr lang="en-US" altLang="zh-CN" sz="2000"/>
              <a:t>11.串行代码优化从以下几个角度分析：</a:t>
            </a:r>
          </a:p>
          <a:p>
            <a:pPr eaLnBrk="1" hangingPunct="1">
              <a:buFont typeface="Wingdings" pitchFamily="2" charset="2"/>
              <a:buChar char="Ø"/>
            </a:pPr>
            <a:r>
              <a:rPr lang="en-US" altLang="zh-CN" sz="2000">
                <a:solidFill>
                  <a:srgbClr val="0000FF"/>
                </a:solidFill>
              </a:rPr>
              <a:t>系统级</a:t>
            </a:r>
            <a:r>
              <a:rPr lang="zh-CN" altLang="en-US" sz="2000">
                <a:solidFill>
                  <a:srgbClr val="0000FF"/>
                </a:solidFill>
              </a:rPr>
              <a:t>：</a:t>
            </a:r>
            <a:r>
              <a:rPr lang="en-US" altLang="zh-CN" sz="2000"/>
              <a:t>需要分析出性能控制因素，例如网速，利用率，负载均衡。如果CPU使用率不高且很稳定，则需要优化内存带宽，若CPU使用率忽上忽下，则需要考虑其他进程占用CPU。当然，CPU大多时候空闲，说明没有很大程度上发挥硬件计算能力，或者，访问带宽太小，或者CPU在等待其他进程，线程释放资源等。</a:t>
            </a:r>
          </a:p>
          <a:p>
            <a:pPr eaLnBrk="1" hangingPunct="1">
              <a:buFont typeface="Wingdings" pitchFamily="2" charset="2"/>
              <a:buChar char="Ø"/>
            </a:pPr>
            <a:r>
              <a:rPr lang="en-US" altLang="zh-CN" sz="2000">
                <a:solidFill>
                  <a:srgbClr val="0000FF"/>
                </a:solidFill>
              </a:rPr>
              <a:t>应用级别</a:t>
            </a:r>
            <a:r>
              <a:rPr lang="zh-CN" altLang="en-US" sz="2000">
                <a:solidFill>
                  <a:srgbClr val="0000FF"/>
                </a:solidFill>
              </a:rPr>
              <a:t>：</a:t>
            </a:r>
            <a:r>
              <a:rPr lang="en-US" altLang="zh-CN" sz="2000"/>
              <a:t>通常有编译选项，调用高性能库，去掉全局变量等;</a:t>
            </a:r>
          </a:p>
          <a:p>
            <a:pPr eaLnBrk="1" hangingPunct="1">
              <a:buFont typeface="Wingdings" pitchFamily="2" charset="2"/>
              <a:buChar char="Ø"/>
            </a:pPr>
            <a:r>
              <a:rPr lang="en-US" altLang="zh-CN" sz="2000">
                <a:solidFill>
                  <a:srgbClr val="0000FF"/>
                </a:solidFill>
              </a:rPr>
              <a:t>算法级</a:t>
            </a:r>
            <a:r>
              <a:rPr lang="zh-CN" altLang="en-US" sz="2000">
                <a:solidFill>
                  <a:srgbClr val="0000FF"/>
                </a:solidFill>
              </a:rPr>
              <a:t>：</a:t>
            </a:r>
            <a:r>
              <a:rPr lang="en-US" altLang="zh-CN" sz="2000"/>
              <a:t>函数级，循环级，语句级，指令级</a:t>
            </a:r>
            <a:r>
              <a:rPr lang="zh-CN" altLang="en-US" sz="2000"/>
              <a:t>。</a:t>
            </a:r>
            <a:r>
              <a:rPr lang="en-US" altLang="zh-CN" sz="2000"/>
              <a:t>﻿﻿</a:t>
            </a:r>
          </a:p>
        </p:txBody>
      </p:sp>
      <p:sp>
        <p:nvSpPr>
          <p:cNvPr id="46082" name="Rectangle 2">
            <a:extLst>
              <a:ext uri="{FF2B5EF4-FFF2-40B4-BE49-F238E27FC236}">
                <a16:creationId xmlns:a16="http://schemas.microsoft.com/office/drawing/2014/main" id="{B05B34F7-47FC-6B4E-ACD7-488861C8B420}"/>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solidFill>
                  <a:srgbClr val="0000FF"/>
                </a:solidFill>
                <a:sym typeface="Webdings" pitchFamily="2" charset="2"/>
              </a:rPr>
              <a:t>代码级调优之串行代码优化</a:t>
            </a:r>
          </a:p>
        </p:txBody>
      </p:sp>
      <p:sp>
        <p:nvSpPr>
          <p:cNvPr id="46083" name="Rectangle 2">
            <a:extLst>
              <a:ext uri="{FF2B5EF4-FFF2-40B4-BE49-F238E27FC236}">
                <a16:creationId xmlns:a16="http://schemas.microsoft.com/office/drawing/2014/main" id="{A9538784-0FDD-C349-B1C6-8ED3724460D6}"/>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sym typeface="宋体" panose="02010600030101010101" pitchFamily="2" charset="-122"/>
              </a:rPr>
              <a:t>五、并行计算优化</a:t>
            </a:r>
            <a:endParaRPr lang="en-US" altLang="zh-CN" sz="3200" b="1">
              <a:solidFill>
                <a:srgbClr val="0000FF"/>
              </a:solidFill>
              <a:latin typeface="黑体" panose="02010609060101010101" pitchFamily="49" charset="-122"/>
              <a:ea typeface="黑体" panose="02010609060101010101" pitchFamily="49" charset="-122"/>
            </a:endParaRPr>
          </a:p>
        </p:txBody>
      </p:sp>
    </p:spTree>
  </p:cSld>
  <p:clrMapOvr>
    <a:masterClrMapping/>
  </p:clrMapOvr>
  <p:transition advTm="53026"/>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7EBB7B59-1911-BC4F-AD06-E60C1C73C412}"/>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a:solidFill>
                  <a:srgbClr val="0000FF"/>
                </a:solidFill>
                <a:sym typeface="Webdings" pitchFamily="2" charset="2"/>
              </a:rPr>
              <a:t>CPU</a:t>
            </a:r>
            <a:r>
              <a:rPr lang="zh-CN" altLang="zh-CN" sz="2400">
                <a:solidFill>
                  <a:srgbClr val="0000FF"/>
                </a:solidFill>
                <a:sym typeface="Webdings" pitchFamily="2" charset="2"/>
              </a:rPr>
              <a:t>、</a:t>
            </a:r>
            <a:r>
              <a:rPr lang="en-US" altLang="zh-CN" sz="2400">
                <a:solidFill>
                  <a:srgbClr val="0000FF"/>
                </a:solidFill>
                <a:sym typeface="Webdings" pitchFamily="2" charset="2"/>
              </a:rPr>
              <a:t>GPU</a:t>
            </a:r>
            <a:r>
              <a:rPr lang="zh-CN" altLang="en-US" sz="2400">
                <a:solidFill>
                  <a:srgbClr val="0000FF"/>
                </a:solidFill>
                <a:sym typeface="Webdings" pitchFamily="2" charset="2"/>
              </a:rPr>
              <a:t>、</a:t>
            </a:r>
            <a:r>
              <a:rPr lang="en-US" altLang="zh-CN" sz="2400">
                <a:solidFill>
                  <a:srgbClr val="0000FF"/>
                </a:solidFill>
                <a:sym typeface="Webdings" pitchFamily="2" charset="2"/>
              </a:rPr>
              <a:t>TPU</a:t>
            </a:r>
            <a:r>
              <a:rPr lang="zh-CN" altLang="en-US" sz="2400">
                <a:solidFill>
                  <a:srgbClr val="0000FF"/>
                </a:solidFill>
                <a:sym typeface="Webdings" pitchFamily="2" charset="2"/>
              </a:rPr>
              <a:t>的区别</a:t>
            </a:r>
          </a:p>
        </p:txBody>
      </p:sp>
      <p:sp>
        <p:nvSpPr>
          <p:cNvPr id="47106" name="Rectangle 2">
            <a:extLst>
              <a:ext uri="{FF2B5EF4-FFF2-40B4-BE49-F238E27FC236}">
                <a16:creationId xmlns:a16="http://schemas.microsoft.com/office/drawing/2014/main" id="{0C7D4F00-DE0A-8746-AD06-1A4567988754}"/>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rPr>
              <a:t>六、</a:t>
            </a:r>
            <a:r>
              <a:rPr lang="zh-CN" altLang="en-US" sz="3200" b="1">
                <a:solidFill>
                  <a:srgbClr val="0000FF"/>
                </a:solidFill>
                <a:latin typeface="黑体" panose="02010609060101010101" pitchFamily="49" charset="-122"/>
                <a:ea typeface="黑体" panose="02010609060101010101" pitchFamily="49" charset="-122"/>
                <a:sym typeface="宋体" panose="02010600030101010101" pitchFamily="2" charset="-122"/>
              </a:rPr>
              <a:t>CPU/GPU/TPU概述</a:t>
            </a:r>
            <a:endParaRPr lang="en-US" altLang="zh-CN" sz="3200" b="1">
              <a:solidFill>
                <a:srgbClr val="0000FF"/>
              </a:solidFill>
              <a:latin typeface="黑体" panose="02010609060101010101" pitchFamily="49" charset="-122"/>
              <a:ea typeface="黑体" panose="02010609060101010101" pitchFamily="49" charset="-122"/>
            </a:endParaRPr>
          </a:p>
        </p:txBody>
      </p:sp>
      <p:pic>
        <p:nvPicPr>
          <p:cNvPr id="47107" name="图片 2" descr="CPU-GPU-TPU">
            <a:extLst>
              <a:ext uri="{FF2B5EF4-FFF2-40B4-BE49-F238E27FC236}">
                <a16:creationId xmlns:a16="http://schemas.microsoft.com/office/drawing/2014/main" id="{D9F27421-5DE8-824E-B013-189DDBCCA4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812" t="20377" r="7576" b="19551"/>
          <a:stretch>
            <a:fillRect/>
          </a:stretch>
        </p:blipFill>
        <p:spPr bwMode="auto">
          <a:xfrm>
            <a:off x="977900" y="2814638"/>
            <a:ext cx="7188200" cy="31035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7108" name="文本框 4">
            <a:extLst>
              <a:ext uri="{FF2B5EF4-FFF2-40B4-BE49-F238E27FC236}">
                <a16:creationId xmlns:a16="http://schemas.microsoft.com/office/drawing/2014/main" id="{67A564DB-A7D5-CD44-94DD-A86AA66BA227}"/>
              </a:ext>
            </a:extLst>
          </p:cNvPr>
          <p:cNvSpPr txBox="1">
            <a:spLocks noChangeArrowheads="1"/>
          </p:cNvSpPr>
          <p:nvPr/>
        </p:nvSpPr>
        <p:spPr bwMode="auto">
          <a:xfrm>
            <a:off x="6232525" y="1882775"/>
            <a:ext cx="2532063"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700"/>
              <a:t>TPU</a:t>
            </a:r>
            <a:r>
              <a:rPr lang="en-US" altLang="zh-CN" sz="1700">
                <a:sym typeface="宋体" panose="02010600030101010101" pitchFamily="2" charset="-122"/>
              </a:rPr>
              <a:t>—</a:t>
            </a:r>
            <a:r>
              <a:rPr lang="zh-CN" altLang="en-US" sz="1700"/>
              <a:t>张量处理器</a:t>
            </a:r>
          </a:p>
          <a:p>
            <a:r>
              <a:rPr lang="zh-CN" altLang="en-US" sz="1700"/>
              <a:t>Tensor Processing Unit</a:t>
            </a:r>
          </a:p>
        </p:txBody>
      </p:sp>
      <p:sp>
        <p:nvSpPr>
          <p:cNvPr id="47109" name="文本框 5">
            <a:extLst>
              <a:ext uri="{FF2B5EF4-FFF2-40B4-BE49-F238E27FC236}">
                <a16:creationId xmlns:a16="http://schemas.microsoft.com/office/drawing/2014/main" id="{94C07A95-F721-7441-9EF3-52BE50C353A2}"/>
              </a:ext>
            </a:extLst>
          </p:cNvPr>
          <p:cNvSpPr txBox="1">
            <a:spLocks noChangeArrowheads="1"/>
          </p:cNvSpPr>
          <p:nvPr/>
        </p:nvSpPr>
        <p:spPr bwMode="auto">
          <a:xfrm>
            <a:off x="815975" y="1976438"/>
            <a:ext cx="2698750"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700"/>
              <a:t>CPU—</a:t>
            </a:r>
            <a:r>
              <a:rPr lang="zh-CN" altLang="en-US" sz="1700"/>
              <a:t>央处理器</a:t>
            </a:r>
          </a:p>
          <a:p>
            <a:r>
              <a:rPr lang="zh-CN" altLang="en-US" sz="1700"/>
              <a:t>Central Processing Unit</a:t>
            </a:r>
          </a:p>
        </p:txBody>
      </p:sp>
      <p:sp>
        <p:nvSpPr>
          <p:cNvPr id="47110" name="文本框 6">
            <a:extLst>
              <a:ext uri="{FF2B5EF4-FFF2-40B4-BE49-F238E27FC236}">
                <a16:creationId xmlns:a16="http://schemas.microsoft.com/office/drawing/2014/main" id="{6D3586CA-BD5B-F048-9DD0-E5F60240EE50}"/>
              </a:ext>
            </a:extLst>
          </p:cNvPr>
          <p:cNvSpPr txBox="1">
            <a:spLocks noChangeArrowheads="1"/>
          </p:cNvSpPr>
          <p:nvPr/>
        </p:nvSpPr>
        <p:spPr bwMode="auto">
          <a:xfrm>
            <a:off x="3409950" y="1976438"/>
            <a:ext cx="2754313" cy="614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1700">
                <a:sym typeface="宋体" panose="02010600030101010101" pitchFamily="2" charset="-122"/>
              </a:rPr>
              <a:t>GPU—</a:t>
            </a:r>
            <a:r>
              <a:rPr lang="zh-CN" altLang="en-US" sz="1700"/>
              <a:t>图形处理器Graphics Processing Unit</a:t>
            </a:r>
          </a:p>
        </p:txBody>
      </p:sp>
    </p:spTree>
  </p:cSld>
  <p:clrMapOvr>
    <a:masterClrMapping/>
  </p:clrMapOvr>
  <p:transition advTm="52416"/>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2">
            <a:extLst>
              <a:ext uri="{FF2B5EF4-FFF2-40B4-BE49-F238E27FC236}">
                <a16:creationId xmlns:a16="http://schemas.microsoft.com/office/drawing/2014/main" id="{487E4E22-7CE7-5B40-A930-C8805FCC3F06}"/>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en-US" altLang="zh-CN" sz="2400">
                <a:solidFill>
                  <a:srgbClr val="0000FF"/>
                </a:solidFill>
                <a:sym typeface="Webdings" pitchFamily="2" charset="2"/>
              </a:rPr>
              <a:t>CPU  vs  GPU</a:t>
            </a:r>
            <a:endParaRPr lang="zh-CN" altLang="en-US" sz="2400">
              <a:solidFill>
                <a:srgbClr val="0000FF"/>
              </a:solidFill>
              <a:sym typeface="Webdings" pitchFamily="2" charset="2"/>
            </a:endParaRPr>
          </a:p>
        </p:txBody>
      </p:sp>
      <p:sp>
        <p:nvSpPr>
          <p:cNvPr id="48130" name="Rectangle 2">
            <a:extLst>
              <a:ext uri="{FF2B5EF4-FFF2-40B4-BE49-F238E27FC236}">
                <a16:creationId xmlns:a16="http://schemas.microsoft.com/office/drawing/2014/main" id="{78AF2165-3A94-F146-87AA-0B596CC7B4A8}"/>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sym typeface="宋体" panose="02010600030101010101" pitchFamily="2" charset="-122"/>
              </a:rPr>
              <a:t>六、CPU/GPU/TPU概述</a:t>
            </a:r>
            <a:endParaRPr lang="en-US" altLang="zh-CN" sz="3200" b="1">
              <a:solidFill>
                <a:srgbClr val="0000FF"/>
              </a:solidFill>
              <a:latin typeface="黑体" panose="02010609060101010101" pitchFamily="49" charset="-122"/>
              <a:ea typeface="黑体" panose="02010609060101010101" pitchFamily="49" charset="-122"/>
            </a:endParaRPr>
          </a:p>
        </p:txBody>
      </p:sp>
      <p:pic>
        <p:nvPicPr>
          <p:cNvPr id="48131" name="图片 1" descr="CPU与GPU的区别">
            <a:extLst>
              <a:ext uri="{FF2B5EF4-FFF2-40B4-BE49-F238E27FC236}">
                <a16:creationId xmlns:a16="http://schemas.microsoft.com/office/drawing/2014/main" id="{92FE0157-3455-1245-B4CC-A60D35C307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8289" t="37856" r="24527" b="17082"/>
          <a:stretch>
            <a:fillRect/>
          </a:stretch>
        </p:blipFill>
        <p:spPr bwMode="auto">
          <a:xfrm>
            <a:off x="1609725" y="1711325"/>
            <a:ext cx="5751513" cy="2549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表格 -1">
            <a:extLst>
              <a:ext uri="{FF2B5EF4-FFF2-40B4-BE49-F238E27FC236}">
                <a16:creationId xmlns:a16="http://schemas.microsoft.com/office/drawing/2014/main" id="{E0B5EEE1-8CC5-2C40-9E75-6AD38C76973C}"/>
              </a:ext>
            </a:extLst>
          </p:cNvPr>
          <p:cNvGraphicFramePr/>
          <p:nvPr/>
        </p:nvGraphicFramePr>
        <p:xfrm>
          <a:off x="1063625" y="4457700"/>
          <a:ext cx="7439025" cy="1924050"/>
        </p:xfrm>
        <a:graphic>
          <a:graphicData uri="http://schemas.openxmlformats.org/drawingml/2006/table">
            <a:tbl>
              <a:tblPr firstRow="1" bandRow="1">
                <a:tableStyleId>{5C22544A-7EE6-4342-B048-85BDC9FD1C3A}</a:tableStyleId>
              </a:tblPr>
              <a:tblGrid>
                <a:gridCol w="1038225">
                  <a:extLst>
                    <a:ext uri="{9D8B030D-6E8A-4147-A177-3AD203B41FA5}">
                      <a16:colId xmlns:a16="http://schemas.microsoft.com/office/drawing/2014/main" val="20000"/>
                    </a:ext>
                  </a:extLst>
                </a:gridCol>
                <a:gridCol w="3705225">
                  <a:extLst>
                    <a:ext uri="{9D8B030D-6E8A-4147-A177-3AD203B41FA5}">
                      <a16:colId xmlns:a16="http://schemas.microsoft.com/office/drawing/2014/main" val="20001"/>
                    </a:ext>
                  </a:extLst>
                </a:gridCol>
                <a:gridCol w="2695575">
                  <a:extLst>
                    <a:ext uri="{9D8B030D-6E8A-4147-A177-3AD203B41FA5}">
                      <a16:colId xmlns:a16="http://schemas.microsoft.com/office/drawing/2014/main" val="20002"/>
                    </a:ext>
                  </a:extLst>
                </a:gridCol>
              </a:tblGrid>
              <a:tr h="254084">
                <a:tc>
                  <a:txBody>
                    <a:bodyPr/>
                    <a:lstStyle/>
                    <a:p>
                      <a:pPr indent="0" algn="ctr">
                        <a:buNone/>
                      </a:pPr>
                      <a:r>
                        <a:rPr lang="zh-CN" alt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区别</a:t>
                      </a:r>
                    </a:p>
                  </a:txBody>
                  <a:tcPr marL="0" marR="0" marT="0" marB="0"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524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zh-CN" sz="1600" b="1">
                          <a:solidFill>
                            <a:srgbClr val="000000"/>
                          </a:solidFill>
                          <a:latin typeface="宋体" panose="02010600030101010101" pitchFamily="2" charset="-122"/>
                          <a:ea typeface="宋体" panose="02010600030101010101" pitchFamily="2" charset="-122"/>
                          <a:cs typeface="宋体" panose="02010600030101010101" pitchFamily="2" charset="-122"/>
                        </a:rPr>
                        <a:t>CPU</a:t>
                      </a:r>
                    </a:p>
                  </a:txBody>
                  <a:tcPr marL="0" marR="0" marT="0" marB="0"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524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en-US" altLang="zh-CN" sz="1600" b="1">
                          <a:solidFill>
                            <a:srgbClr val="000000"/>
                          </a:solidFill>
                          <a:latin typeface="宋体" panose="02010600030101010101" pitchFamily="2" charset="-122"/>
                          <a:ea typeface="宋体" panose="02010600030101010101" pitchFamily="2" charset="-122"/>
                          <a:cs typeface="宋体" panose="02010600030101010101" pitchFamily="2" charset="-122"/>
                        </a:rPr>
                        <a:t>GPU</a:t>
                      </a:r>
                    </a:p>
                  </a:txBody>
                  <a:tcPr marL="0" marR="0" marT="0" marB="0"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1524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6952">
                <a:tc rowSpan="3">
                  <a:txBody>
                    <a:bodyPr/>
                    <a:lstStyle/>
                    <a:p>
                      <a:pPr indent="0" algn="ctr">
                        <a:buNone/>
                      </a:pPr>
                      <a:r>
                        <a:rPr lang="zh-CN" alt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架构</a:t>
                      </a:r>
                    </a:p>
                  </a:txBody>
                  <a:tcPr marL="0" marR="0" marT="0" marB="0"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en-US" altLang="zh-CN" sz="1600" b="0">
                          <a:solidFill>
                            <a:srgbClr val="000000"/>
                          </a:solidFill>
                          <a:latin typeface="宋体" panose="02010600030101010101" pitchFamily="2" charset="-122"/>
                          <a:ea typeface="宋体" panose="02010600030101010101" pitchFamily="2" charset="-122"/>
                          <a:cs typeface="宋体" panose="02010600030101010101" pitchFamily="2" charset="-122"/>
                        </a:rPr>
                        <a:t>70%</a:t>
                      </a:r>
                      <a:r>
                        <a:rPr lang="zh-CN" altLang="en-US" sz="1600" b="0">
                          <a:solidFill>
                            <a:srgbClr val="000000"/>
                          </a:solidFill>
                          <a:latin typeface="宋体" panose="02010600030101010101" pitchFamily="2" charset="-122"/>
                          <a:ea typeface="宋体" panose="02010600030101010101" pitchFamily="2" charset="-122"/>
                          <a:cs typeface="宋体" panose="02010600030101010101" pitchFamily="2" charset="-122"/>
                        </a:rPr>
                        <a:t>的晶体管用来构建</a:t>
                      </a:r>
                      <a:r>
                        <a:rPr lang="en-US" altLang="zh-CN" sz="1600" b="0">
                          <a:solidFill>
                            <a:srgbClr val="000000"/>
                          </a:solidFill>
                          <a:latin typeface="宋体" panose="02010600030101010101" pitchFamily="2" charset="-122"/>
                          <a:ea typeface="宋体" panose="02010600030101010101" pitchFamily="2" charset="-122"/>
                          <a:cs typeface="宋体" panose="02010600030101010101" pitchFamily="2" charset="-122"/>
                        </a:rPr>
                        <a:t>Cache</a:t>
                      </a:r>
                      <a:r>
                        <a:rPr lang="zh-CN" altLang="en-US" sz="1600" b="0">
                          <a:solidFill>
                            <a:srgbClr val="000000"/>
                          </a:solidFill>
                          <a:latin typeface="宋体" panose="02010600030101010101" pitchFamily="2" charset="-122"/>
                          <a:ea typeface="宋体" panose="02010600030101010101" pitchFamily="2" charset="-122"/>
                          <a:cs typeface="宋体" panose="02010600030101010101" pitchFamily="2" charset="-122"/>
                        </a:rPr>
                        <a:t>，还有一部分控制单元，负责逻辑算术部分的并不多</a:t>
                      </a:r>
                    </a:p>
                  </a:txBody>
                  <a:tcPr marL="0" marR="0" marT="0" marB="0"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buNone/>
                      </a:pPr>
                      <a:r>
                        <a:rPr lang="zh-CN" altLang="en-US" sz="1600" b="0">
                          <a:solidFill>
                            <a:srgbClr val="000000"/>
                          </a:solidFill>
                          <a:latin typeface="宋体" panose="02010600030101010101" pitchFamily="2" charset="-122"/>
                          <a:ea typeface="宋体" panose="02010600030101010101" pitchFamily="2" charset="-122"/>
                          <a:cs typeface="宋体" panose="02010600030101010101" pitchFamily="2" charset="-122"/>
                        </a:rPr>
                        <a:t>整个就是一个庞大的计算阵列</a:t>
                      </a:r>
                      <a:r>
                        <a:rPr lang="en-US" altLang="zh-CN" sz="1600" b="0">
                          <a:solidFill>
                            <a:srgbClr val="000000"/>
                          </a:solidFill>
                          <a:latin typeface="宋体" panose="02010600030101010101" pitchFamily="2" charset="-122"/>
                          <a:ea typeface="宋体" panose="02010600030101010101" pitchFamily="2" charset="-122"/>
                          <a:cs typeface="宋体" panose="02010600030101010101" pitchFamily="2" charset="-122"/>
                        </a:rPr>
                        <a:t>(</a:t>
                      </a:r>
                      <a:r>
                        <a:rPr lang="zh-CN" altLang="en-US" sz="1600" b="0">
                          <a:solidFill>
                            <a:srgbClr val="000000"/>
                          </a:solidFill>
                          <a:latin typeface="宋体" panose="02010600030101010101" pitchFamily="2" charset="-122"/>
                          <a:ea typeface="宋体" panose="02010600030101010101" pitchFamily="2" charset="-122"/>
                          <a:cs typeface="宋体" panose="02010600030101010101" pitchFamily="2" charset="-122"/>
                        </a:rPr>
                        <a:t>包括</a:t>
                      </a:r>
                      <a:r>
                        <a:rPr lang="en-US" altLang="zh-CN" sz="1600" b="0">
                          <a:solidFill>
                            <a:srgbClr val="000000"/>
                          </a:solidFill>
                          <a:latin typeface="宋体" panose="02010600030101010101" pitchFamily="2" charset="-122"/>
                          <a:ea typeface="宋体" panose="02010600030101010101" pitchFamily="2" charset="-122"/>
                          <a:cs typeface="宋体" panose="02010600030101010101" pitchFamily="2" charset="-122"/>
                        </a:rPr>
                        <a:t>alu</a:t>
                      </a:r>
                      <a:r>
                        <a:rPr lang="zh-CN" altLang="en-US" sz="1600" b="0">
                          <a:solidFill>
                            <a:srgbClr val="000000"/>
                          </a:solidFill>
                          <a:latin typeface="宋体" panose="02010600030101010101" pitchFamily="2" charset="-122"/>
                          <a:ea typeface="宋体" panose="02010600030101010101" pitchFamily="2" charset="-122"/>
                          <a:cs typeface="宋体" panose="02010600030101010101" pitchFamily="2" charset="-122"/>
                        </a:rPr>
                        <a:t>和</a:t>
                      </a:r>
                      <a:r>
                        <a:rPr lang="en-US" altLang="zh-CN" sz="1600" b="0">
                          <a:solidFill>
                            <a:srgbClr val="000000"/>
                          </a:solidFill>
                          <a:latin typeface="宋体" panose="02010600030101010101" pitchFamily="2" charset="-122"/>
                          <a:ea typeface="宋体" panose="02010600030101010101" pitchFamily="2" charset="-122"/>
                          <a:cs typeface="宋体" panose="02010600030101010101" pitchFamily="2" charset="-122"/>
                        </a:rPr>
                        <a:t>shader</a:t>
                      </a:r>
                      <a:r>
                        <a:rPr lang="zh-CN" altLang="en-US" sz="1600" b="0">
                          <a:solidFill>
                            <a:srgbClr val="000000"/>
                          </a:solidFill>
                          <a:latin typeface="宋体" panose="02010600030101010101" pitchFamily="2" charset="-122"/>
                          <a:ea typeface="宋体" panose="02010600030101010101" pitchFamily="2" charset="-122"/>
                          <a:cs typeface="宋体" panose="02010600030101010101" pitchFamily="2" charset="-122"/>
                        </a:rPr>
                        <a:t>填充）</a:t>
                      </a:r>
                    </a:p>
                  </a:txBody>
                  <a:tcPr marL="0" marR="0" marT="0" marB="0"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254084">
                <a:tc vMerge="1">
                  <a:txBody>
                    <a:bodyPr/>
                    <a:lstStyle/>
                    <a:p>
                      <a:endParaRPr lang="en-US"/>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tcPr>
                </a:tc>
                <a:tc>
                  <a:txBody>
                    <a:bodyPr/>
                    <a:lstStyle/>
                    <a:p>
                      <a:pPr indent="0" algn="ctr">
                        <a:buNone/>
                      </a:pPr>
                      <a:r>
                        <a:rPr lang="zh-CN" altLang="en-US" sz="1600" b="0">
                          <a:solidFill>
                            <a:srgbClr val="0000FF"/>
                          </a:solidFill>
                          <a:latin typeface="宋体" panose="02010600030101010101" pitchFamily="2" charset="-122"/>
                          <a:ea typeface="宋体" panose="02010600030101010101" pitchFamily="2" charset="-122"/>
                          <a:cs typeface="宋体" panose="02010600030101010101" pitchFamily="2" charset="-122"/>
                        </a:rPr>
                        <a:t>非常依赖</a:t>
                      </a:r>
                      <a:r>
                        <a:rPr lang="en-US" altLang="zh-CN" sz="1600" b="0">
                          <a:solidFill>
                            <a:srgbClr val="000000"/>
                          </a:solidFill>
                          <a:latin typeface="宋体" panose="02010600030101010101" pitchFamily="2" charset="-122"/>
                          <a:ea typeface="宋体" panose="02010600030101010101" pitchFamily="2" charset="-122"/>
                          <a:cs typeface="宋体" panose="02010600030101010101" pitchFamily="2" charset="-122"/>
                        </a:rPr>
                        <a:t>cache</a:t>
                      </a:r>
                      <a:endParaRPr lang="zh-CN" altLang="en-US" sz="16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600" b="0">
                          <a:solidFill>
                            <a:srgbClr val="0000FF"/>
                          </a:solidFill>
                          <a:latin typeface="宋体" panose="02010600030101010101" pitchFamily="2" charset="-122"/>
                          <a:ea typeface="宋体" panose="02010600030101010101" pitchFamily="2" charset="-122"/>
                          <a:cs typeface="宋体" panose="02010600030101010101" pitchFamily="2" charset="-122"/>
                        </a:rPr>
                        <a:t>不依赖</a:t>
                      </a:r>
                      <a:r>
                        <a:rPr lang="en-US" altLang="zh-CN" sz="1600" b="0">
                          <a:solidFill>
                            <a:srgbClr val="000000"/>
                          </a:solidFill>
                          <a:latin typeface="宋体" panose="02010600030101010101" pitchFamily="2" charset="-122"/>
                          <a:ea typeface="宋体" panose="02010600030101010101" pitchFamily="2" charset="-122"/>
                          <a:cs typeface="宋体" panose="02010600030101010101" pitchFamily="2" charset="-122"/>
                        </a:rPr>
                        <a:t>cache</a:t>
                      </a:r>
                      <a:endParaRPr lang="zh-CN" altLang="en-US" sz="1600" b="0">
                        <a:solidFill>
                          <a:srgbClr val="000000"/>
                        </a:solidFill>
                        <a:latin typeface="宋体" panose="02010600030101010101" pitchFamily="2" charset="-122"/>
                        <a:ea typeface="宋体" panose="02010600030101010101" pitchFamily="2" charset="-122"/>
                        <a:cs typeface="宋体" panose="02010600030101010101" pitchFamily="2" charset="-122"/>
                      </a:endParaRPr>
                    </a:p>
                  </a:txBody>
                  <a:tcPr marL="0" marR="0" marT="0" marB="0"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280127">
                <a:tc vMerge="1">
                  <a:txBody>
                    <a:bodyPr/>
                    <a:lstStyle/>
                    <a:p>
                      <a:endParaRPr lang="en-US"/>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lgn="ctr">
                        <a:buNone/>
                      </a:pPr>
                      <a:r>
                        <a:rPr lang="zh-CN" altLang="en-US" sz="1600" b="0">
                          <a:solidFill>
                            <a:srgbClr val="000000"/>
                          </a:solidFill>
                          <a:latin typeface="宋体" panose="02010600030101010101" pitchFamily="2" charset="-122"/>
                          <a:ea typeface="宋体" panose="02010600030101010101" pitchFamily="2" charset="-122"/>
                          <a:cs typeface="宋体" panose="02010600030101010101" pitchFamily="2" charset="-122"/>
                        </a:rPr>
                        <a:t>逻辑核心</a:t>
                      </a:r>
                      <a:r>
                        <a:rPr lang="zh-CN" altLang="en-US" sz="1600" b="0">
                          <a:solidFill>
                            <a:srgbClr val="0000FF"/>
                          </a:solidFill>
                          <a:latin typeface="宋体" panose="02010600030101010101" pitchFamily="2" charset="-122"/>
                          <a:ea typeface="宋体" panose="02010600030101010101" pitchFamily="2" charset="-122"/>
                          <a:cs typeface="宋体" panose="02010600030101010101" pitchFamily="2" charset="-122"/>
                        </a:rPr>
                        <a:t>复杂</a:t>
                      </a:r>
                    </a:p>
                  </a:txBody>
                  <a:tcPr marL="0" marR="0" marT="0" marB="0"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600" b="0">
                          <a:solidFill>
                            <a:srgbClr val="000000"/>
                          </a:solidFill>
                          <a:latin typeface="宋体" panose="02010600030101010101" pitchFamily="2" charset="-122"/>
                          <a:ea typeface="宋体" panose="02010600030101010101" pitchFamily="2" charset="-122"/>
                          <a:cs typeface="宋体" panose="02010600030101010101" pitchFamily="2" charset="-122"/>
                        </a:rPr>
                        <a:t>逻辑核心</a:t>
                      </a:r>
                      <a:r>
                        <a:rPr lang="zh-CN" altLang="en-US" sz="1600" b="0">
                          <a:solidFill>
                            <a:srgbClr val="0000FF"/>
                          </a:solidFill>
                          <a:latin typeface="宋体" panose="02010600030101010101" pitchFamily="2" charset="-122"/>
                          <a:ea typeface="宋体" panose="02010600030101010101" pitchFamily="2" charset="-122"/>
                          <a:cs typeface="宋体" panose="02010600030101010101" pitchFamily="2" charset="-122"/>
                        </a:rPr>
                        <a:t>简单</a:t>
                      </a:r>
                    </a:p>
                  </a:txBody>
                  <a:tcPr marL="0" marR="0" marT="0" marB="0"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254719">
                <a:tc rowSpan="2">
                  <a:txBody>
                    <a:bodyPr/>
                    <a:lstStyle/>
                    <a:p>
                      <a:pPr indent="0" algn="ctr">
                        <a:buNone/>
                      </a:pPr>
                      <a:r>
                        <a:rPr lang="zh-CN" altLang="en-US" sz="1600" b="1">
                          <a:solidFill>
                            <a:srgbClr val="000000"/>
                          </a:solidFill>
                          <a:latin typeface="宋体" panose="02010600030101010101" pitchFamily="2" charset="-122"/>
                          <a:ea typeface="宋体" panose="02010600030101010101" pitchFamily="2" charset="-122"/>
                          <a:cs typeface="宋体" panose="02010600030101010101" pitchFamily="2" charset="-122"/>
                        </a:rPr>
                        <a:t>计算目的</a:t>
                      </a:r>
                    </a:p>
                  </a:txBody>
                  <a:tcPr marL="0" marR="0" marT="0" marB="0"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600" b="0">
                          <a:solidFill>
                            <a:srgbClr val="000000"/>
                          </a:solidFill>
                          <a:latin typeface="宋体" panose="02010600030101010101" pitchFamily="2" charset="-122"/>
                          <a:ea typeface="宋体" panose="02010600030101010101" pitchFamily="2" charset="-122"/>
                          <a:cs typeface="宋体" panose="02010600030101010101" pitchFamily="2" charset="-122"/>
                        </a:rPr>
                        <a:t>适合</a:t>
                      </a:r>
                      <a:r>
                        <a:rPr lang="zh-CN" altLang="en-US" sz="1600" b="0">
                          <a:solidFill>
                            <a:srgbClr val="0000FF"/>
                          </a:solidFill>
                          <a:latin typeface="宋体" panose="02010600030101010101" pitchFamily="2" charset="-122"/>
                          <a:ea typeface="宋体" panose="02010600030101010101" pitchFamily="2" charset="-122"/>
                          <a:cs typeface="宋体" panose="02010600030101010101" pitchFamily="2" charset="-122"/>
                        </a:rPr>
                        <a:t>串行</a:t>
                      </a:r>
                    </a:p>
                  </a:txBody>
                  <a:tcPr marL="0" marR="0" marT="0" marB="0"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600" b="0">
                          <a:solidFill>
                            <a:srgbClr val="000000"/>
                          </a:solidFill>
                          <a:latin typeface="宋体" panose="02010600030101010101" pitchFamily="2" charset="-122"/>
                          <a:ea typeface="宋体" panose="02010600030101010101" pitchFamily="2" charset="-122"/>
                          <a:cs typeface="宋体" panose="02010600030101010101" pitchFamily="2" charset="-122"/>
                        </a:rPr>
                        <a:t>适合</a:t>
                      </a:r>
                      <a:r>
                        <a:rPr lang="zh-CN" altLang="en-US" sz="1600" b="0">
                          <a:solidFill>
                            <a:srgbClr val="0000FF"/>
                          </a:solidFill>
                          <a:latin typeface="宋体" panose="02010600030101010101" pitchFamily="2" charset="-122"/>
                          <a:ea typeface="宋体" panose="02010600030101010101" pitchFamily="2" charset="-122"/>
                          <a:cs typeface="宋体" panose="02010600030101010101" pitchFamily="2" charset="-122"/>
                        </a:rPr>
                        <a:t>并行</a:t>
                      </a:r>
                    </a:p>
                  </a:txBody>
                  <a:tcPr marL="0" marR="0" marT="0" marB="0"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254084">
                <a:tc vMerge="1">
                  <a:txBody>
                    <a:bodyPr/>
                    <a:lstStyle/>
                    <a:p>
                      <a:endParaRPr lang="en-US"/>
                    </a:p>
                  </a:txBody>
                  <a:tcP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B w="6350" cap="flat" cmpd="sng">
                      <a:solidFill>
                        <a:srgbClr val="000000"/>
                      </a:solidFill>
                      <a:prstDash val="solid"/>
                      <a:headEnd type="none" w="med" len="med"/>
                      <a:tailEnd type="none" w="med" len="med"/>
                    </a:lnB>
                  </a:tcPr>
                </a:tc>
                <a:tc>
                  <a:txBody>
                    <a:bodyPr/>
                    <a:lstStyle/>
                    <a:p>
                      <a:pPr indent="0" algn="ctr">
                        <a:buNone/>
                      </a:pPr>
                      <a:r>
                        <a:rPr lang="zh-CN" altLang="en-US" sz="1600" b="0">
                          <a:solidFill>
                            <a:srgbClr val="000000"/>
                          </a:solidFill>
                          <a:latin typeface="宋体" panose="02010600030101010101" pitchFamily="2" charset="-122"/>
                          <a:ea typeface="宋体" panose="02010600030101010101" pitchFamily="2" charset="-122"/>
                          <a:cs typeface="宋体" panose="02010600030101010101" pitchFamily="2" charset="-122"/>
                        </a:rPr>
                        <a:t>运算复杂度高</a:t>
                      </a:r>
                    </a:p>
                  </a:txBody>
                  <a:tcPr marL="0" marR="0" marT="0" marB="0"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tc>
                  <a:txBody>
                    <a:bodyPr/>
                    <a:lstStyle/>
                    <a:p>
                      <a:pPr indent="0" algn="ctr">
                        <a:buNone/>
                      </a:pPr>
                      <a:r>
                        <a:rPr lang="zh-CN" altLang="en-US" sz="1600" b="0">
                          <a:solidFill>
                            <a:srgbClr val="000000"/>
                          </a:solidFill>
                          <a:latin typeface="宋体" panose="02010600030101010101" pitchFamily="2" charset="-122"/>
                          <a:ea typeface="宋体" panose="02010600030101010101" pitchFamily="2" charset="-122"/>
                          <a:cs typeface="宋体" panose="02010600030101010101" pitchFamily="2" charset="-122"/>
                        </a:rPr>
                        <a:t>运算复杂度低</a:t>
                      </a:r>
                    </a:p>
                  </a:txBody>
                  <a:tcPr marL="0" marR="0" marT="0" marB="0" anchor="ctr">
                    <a:lnL w="9525" cap="flat" cmpd="sng">
                      <a:solidFill>
                        <a:srgbClr val="000000"/>
                      </a:solidFill>
                      <a:prstDash val="solid"/>
                      <a:headEnd type="none" w="med" len="med"/>
                      <a:tailEnd type="none" w="med" len="med"/>
                    </a:lnL>
                    <a:lnR w="9525" cap="flat" cmpd="sng">
                      <a:solidFill>
                        <a:srgbClr val="000000"/>
                      </a:solidFill>
                      <a:prstDash val="solid"/>
                      <a:headEnd type="none" w="med" len="med"/>
                      <a:tailEnd type="none" w="med" len="med"/>
                    </a:lnR>
                    <a:lnT w="6350" cap="flat" cmpd="sng">
                      <a:solidFill>
                        <a:srgbClr val="000000"/>
                      </a:solidFill>
                      <a:prstDash val="solid"/>
                      <a:headEnd type="none" w="med" len="med"/>
                      <a:tailEnd type="none" w="med" len="med"/>
                    </a:lnT>
                    <a:lnB w="6350" cap="flat" cmpd="sng">
                      <a:solidFill>
                        <a:srgbClr val="000000"/>
                      </a:solidFill>
                      <a:prstDash val="soli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spTree>
  </p:cSld>
  <p:clrMapOvr>
    <a:masterClrMapping/>
  </p:clrMapOvr>
  <p:transition advTm="94957"/>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2">
            <a:extLst>
              <a:ext uri="{FF2B5EF4-FFF2-40B4-BE49-F238E27FC236}">
                <a16:creationId xmlns:a16="http://schemas.microsoft.com/office/drawing/2014/main" id="{BDD8E155-D70D-6041-BB5B-44443C8A7FF5}"/>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solidFill>
                  <a:srgbClr val="0000FF"/>
                </a:solidFill>
                <a:sym typeface="宋体" panose="02010600030101010101" pitchFamily="2" charset="-122"/>
              </a:rPr>
              <a:t>什么类型的程序适合在GPU上运行？</a:t>
            </a:r>
            <a:endParaRPr lang="zh-CN" altLang="en-US" sz="2400">
              <a:solidFill>
                <a:srgbClr val="0000FF"/>
              </a:solidFill>
              <a:sym typeface="Webdings" pitchFamily="2" charset="2"/>
            </a:endParaRPr>
          </a:p>
        </p:txBody>
      </p:sp>
      <p:sp>
        <p:nvSpPr>
          <p:cNvPr id="49154" name="Rectangle 2">
            <a:extLst>
              <a:ext uri="{FF2B5EF4-FFF2-40B4-BE49-F238E27FC236}">
                <a16:creationId xmlns:a16="http://schemas.microsoft.com/office/drawing/2014/main" id="{35139639-3DE7-7E46-B249-C349D938072F}"/>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sym typeface="宋体" panose="02010600030101010101" pitchFamily="2" charset="-122"/>
              </a:rPr>
              <a:t>六、CPU/GPU/TPU概述</a:t>
            </a:r>
            <a:endParaRPr lang="en-US" altLang="zh-CN" sz="3200" b="1">
              <a:solidFill>
                <a:srgbClr val="0000FF"/>
              </a:solidFill>
              <a:latin typeface="黑体" panose="02010609060101010101" pitchFamily="49" charset="-122"/>
              <a:ea typeface="黑体" panose="02010609060101010101" pitchFamily="49" charset="-122"/>
            </a:endParaRPr>
          </a:p>
        </p:txBody>
      </p:sp>
      <p:sp>
        <p:nvSpPr>
          <p:cNvPr id="4" name="文本框 3">
            <a:extLst>
              <a:ext uri="{FF2B5EF4-FFF2-40B4-BE49-F238E27FC236}">
                <a16:creationId xmlns:a16="http://schemas.microsoft.com/office/drawing/2014/main" id="{9EE71FB9-39BC-8046-91FA-37BBC83216DD}"/>
              </a:ext>
            </a:extLst>
          </p:cNvPr>
          <p:cNvSpPr txBox="1"/>
          <p:nvPr/>
        </p:nvSpPr>
        <p:spPr>
          <a:xfrm>
            <a:off x="949325" y="1738313"/>
            <a:ext cx="7245350" cy="3138487"/>
          </a:xfrm>
          <a:prstGeom prst="rect">
            <a:avLst/>
          </a:prstGeom>
          <a:noFill/>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buClr>
                <a:srgbClr val="0000FF"/>
              </a:buClr>
              <a:buFont typeface="Wingdings" pitchFamily="2" charset="2"/>
              <a:buChar char="Ø"/>
            </a:pPr>
            <a:r>
              <a:rPr lang="zh-CN" altLang="en-US">
                <a:solidFill>
                  <a:srgbClr val="0000FF"/>
                </a:solidFill>
              </a:rPr>
              <a:t>计算密集型的程序。</a:t>
            </a:r>
            <a:r>
              <a:rPr lang="zh-CN" altLang="en-US"/>
              <a:t>所谓计算密集型(Compute-intensive)的程序，就是其大部分运行时间花在了寄存器运算上，寄存器的速度和处理器的速度相当，从寄存器读写数据几乎没有延时。可以做一下对比，读内存的延迟大概是几百个时钟周期；读硬盘的速度就不说了，即便是SSD, 也实在是太慢了。</a:t>
            </a:r>
          </a:p>
          <a:p>
            <a:pPr>
              <a:buClr>
                <a:srgbClr val="0000FF"/>
              </a:buClr>
              <a:buFont typeface="Wingdings" pitchFamily="2" charset="2"/>
              <a:buChar char="Ø"/>
            </a:pPr>
            <a:r>
              <a:rPr lang="zh-CN" altLang="en-US">
                <a:solidFill>
                  <a:srgbClr val="0000FF"/>
                </a:solidFill>
              </a:rPr>
              <a:t>易于并行的程序。</a:t>
            </a:r>
            <a:r>
              <a:rPr lang="zh-CN" altLang="en-US"/>
              <a:t>GPU其实是一种SIMD(Single Instruction Multiple Data)架构， 他有成百上千个核，每一个核在同一时间最好能做同样的事情。</a:t>
            </a:r>
          </a:p>
          <a:p>
            <a:r>
              <a:rPr lang="zh-CN" altLang="en-US"/>
              <a:t>　</a:t>
            </a:r>
            <a:r>
              <a:rPr lang="zh-CN" altLang="en-US">
                <a:solidFill>
                  <a:srgbClr val="0000FF"/>
                </a:solidFill>
              </a:rPr>
              <a:t>　满足以上两点，可以考虑采用GPU做运算。 不过需要</a:t>
            </a:r>
            <a:r>
              <a:rPr lang="zh-CN" altLang="en-US"/>
              <a:t>先用</a:t>
            </a:r>
            <a:r>
              <a:rPr lang="zh-CN" altLang="en-US">
                <a:solidFill>
                  <a:srgbClr val="0000FF"/>
                </a:solidFill>
              </a:rPr>
              <a:t>CUDA或者Open CL </a:t>
            </a:r>
            <a:r>
              <a:rPr lang="zh-CN" altLang="en-US"/>
              <a:t>在GPU上进行编程， 较为麻烦。 而且GPU的架构比较特殊，要想写出高效率的程序，需要进一步深入研究。</a:t>
            </a:r>
          </a:p>
        </p:txBody>
      </p:sp>
    </p:spTree>
  </p:cSld>
  <p:clrMapOvr>
    <a:masterClrMapping/>
  </p:clrMapOvr>
  <p:transition advTm="54850"/>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2">
            <a:extLst>
              <a:ext uri="{FF2B5EF4-FFF2-40B4-BE49-F238E27FC236}">
                <a16:creationId xmlns:a16="http://schemas.microsoft.com/office/drawing/2014/main" id="{3C429C26-1624-D646-A2E6-7BB1F2B4F2BA}"/>
              </a:ext>
            </a:extLst>
          </p:cNvPr>
          <p:cNvSpPr txBox="1">
            <a:spLocks noChangeArrowheads="1"/>
          </p:cNvSpPr>
          <p:nvPr/>
        </p:nvSpPr>
        <p:spPr bwMode="auto">
          <a:xfrm>
            <a:off x="1285875" y="1000125"/>
            <a:ext cx="6215063" cy="571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r>
              <a:rPr lang="zh-CN" altLang="en-US" sz="2400">
                <a:solidFill>
                  <a:srgbClr val="0000FF"/>
                </a:solidFill>
                <a:sym typeface="Webdings" pitchFamily="2" charset="2"/>
              </a:rPr>
              <a:t>有关并行编程的部分参考书目</a:t>
            </a:r>
          </a:p>
        </p:txBody>
      </p:sp>
      <p:sp>
        <p:nvSpPr>
          <p:cNvPr id="50178" name="Rectangle 2">
            <a:extLst>
              <a:ext uri="{FF2B5EF4-FFF2-40B4-BE49-F238E27FC236}">
                <a16:creationId xmlns:a16="http://schemas.microsoft.com/office/drawing/2014/main" id="{CF680372-225D-2C42-B489-3E8FBE187A9C}"/>
              </a:ext>
            </a:extLst>
          </p:cNvPr>
          <p:cNvSpPr txBox="1">
            <a:spLocks noChangeArrowheads="1"/>
          </p:cNvSpPr>
          <p:nvPr/>
        </p:nvSpPr>
        <p:spPr bwMode="auto">
          <a:xfrm>
            <a:off x="1428750" y="168275"/>
            <a:ext cx="7258050" cy="725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0" hangingPunct="0"/>
            <a:r>
              <a:rPr lang="zh-CN" altLang="en-US" sz="3200" b="1">
                <a:solidFill>
                  <a:srgbClr val="0000FF"/>
                </a:solidFill>
                <a:latin typeface="黑体" panose="02010609060101010101" pitchFamily="49" charset="-122"/>
                <a:ea typeface="黑体" panose="02010609060101010101" pitchFamily="49" charset="-122"/>
                <a:sym typeface="宋体" panose="02010600030101010101" pitchFamily="2" charset="-122"/>
              </a:rPr>
              <a:t>六、CPU/GPU/TPU概述</a:t>
            </a:r>
            <a:endParaRPr lang="en-US" altLang="zh-CN" sz="3200" b="1">
              <a:solidFill>
                <a:srgbClr val="0000FF"/>
              </a:solidFill>
              <a:latin typeface="黑体" panose="02010609060101010101" pitchFamily="49" charset="-122"/>
              <a:ea typeface="黑体" panose="02010609060101010101" pitchFamily="49" charset="-122"/>
            </a:endParaRPr>
          </a:p>
        </p:txBody>
      </p:sp>
      <p:sp>
        <p:nvSpPr>
          <p:cNvPr id="50179" name="文本框 3">
            <a:extLst>
              <a:ext uri="{FF2B5EF4-FFF2-40B4-BE49-F238E27FC236}">
                <a16:creationId xmlns:a16="http://schemas.microsoft.com/office/drawing/2014/main" id="{2C149D3E-4C03-4940-BAF2-F0E1240902AB}"/>
              </a:ext>
            </a:extLst>
          </p:cNvPr>
          <p:cNvSpPr txBox="1">
            <a:spLocks noChangeArrowheads="1"/>
          </p:cNvSpPr>
          <p:nvPr/>
        </p:nvSpPr>
        <p:spPr bwMode="auto">
          <a:xfrm>
            <a:off x="958850" y="1878013"/>
            <a:ext cx="8047038" cy="361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a:defRPr>
                <a:solidFill>
                  <a:schemeClr val="tx1"/>
                </a:solidFill>
                <a:latin typeface="Arial" panose="020B0604020202020204" pitchFamily="34" charset="0"/>
                <a:ea typeface="宋体" panose="02010600030101010101" pitchFamily="2" charset="-122"/>
              </a:defRPr>
            </a:lvl2pPr>
            <a:lvl3pPr>
              <a:defRPr>
                <a:solidFill>
                  <a:schemeClr val="tx1"/>
                </a:solidFill>
                <a:latin typeface="Arial" panose="020B0604020202020204" pitchFamily="34" charset="0"/>
                <a:ea typeface="宋体" panose="02010600030101010101" pitchFamily="2" charset="-122"/>
              </a:defRPr>
            </a:lvl3pPr>
            <a:lvl4pPr>
              <a:defRPr>
                <a:solidFill>
                  <a:schemeClr val="tx1"/>
                </a:solidFill>
                <a:latin typeface="Arial" panose="020B0604020202020204" pitchFamily="34" charset="0"/>
                <a:ea typeface="宋体" panose="02010600030101010101" pitchFamily="2" charset="-122"/>
              </a:defRPr>
            </a:lvl4pPr>
            <a:lvl5pPr>
              <a:defRPr>
                <a:solidFill>
                  <a:schemeClr val="tx1"/>
                </a:solidFill>
                <a:latin typeface="Arial" panose="020B0604020202020204" pitchFamily="34" charset="0"/>
                <a:ea typeface="宋体" panose="02010600030101010101" pitchFamily="2" charset="-122"/>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nSpc>
                <a:spcPts val="2500"/>
              </a:lnSpc>
              <a:buClr>
                <a:srgbClr val="0000FF"/>
              </a:buClr>
              <a:buFont typeface="Wingdings" pitchFamily="2" charset="2"/>
              <a:buChar char="Ø"/>
            </a:pPr>
            <a:r>
              <a:rPr lang="zh-CN" altLang="en-US">
                <a:sym typeface="宋体" panose="02010600030101010101" pitchFamily="2" charset="-122"/>
              </a:rPr>
              <a:t>黄铠,徐志伟著,陆鑫达等译. 可扩展并行计算技术,结构与编程. 北京:机械工业出版社, P.33~56,P.227~237, 2000.</a:t>
            </a:r>
          </a:p>
          <a:p>
            <a:pPr>
              <a:lnSpc>
                <a:spcPts val="2500"/>
              </a:lnSpc>
              <a:buClr>
                <a:srgbClr val="0000FF"/>
              </a:buClr>
              <a:buFont typeface="Wingdings" pitchFamily="2" charset="2"/>
              <a:buChar char="Ø"/>
            </a:pPr>
            <a:r>
              <a:rPr lang="zh-CN" altLang="en-US">
                <a:sym typeface="宋体" panose="02010600030101010101" pitchFamily="2" charset="-122"/>
              </a:rPr>
              <a:t>陈国良著.并行计算—结构、算法、编程. 北京:高等教育出版社,1999.</a:t>
            </a:r>
          </a:p>
          <a:p>
            <a:pPr>
              <a:lnSpc>
                <a:spcPts val="2500"/>
              </a:lnSpc>
              <a:buClr>
                <a:srgbClr val="0000FF"/>
              </a:buClr>
              <a:buFont typeface="Wingdings" pitchFamily="2" charset="2"/>
              <a:buChar char="Ø"/>
            </a:pPr>
            <a:r>
              <a:rPr lang="zh-CN" altLang="en-US">
                <a:sym typeface="宋体" panose="02010600030101010101" pitchFamily="2" charset="-122"/>
              </a:rPr>
              <a:t>Barry Wilkinson and Michael Allen. Parallel Programming(Techniques and Applications using Networked Workstations and Parallel Computers). Prentice Hall, 1999.</a:t>
            </a:r>
          </a:p>
          <a:p>
            <a:pPr>
              <a:lnSpc>
                <a:spcPts val="2500"/>
              </a:lnSpc>
              <a:buClr>
                <a:srgbClr val="0000FF"/>
              </a:buClr>
              <a:buFont typeface="Wingdings" pitchFamily="2" charset="2"/>
              <a:buChar char="Ø"/>
            </a:pPr>
            <a:r>
              <a:rPr lang="zh-CN" altLang="en-US">
                <a:sym typeface="宋体" panose="02010600030101010101" pitchFamily="2" charset="-122"/>
              </a:rPr>
              <a:t>李晓梅,莫则尧等著. 可扩展并行算法的设计与分析. 北京:国防工业出版社,2000.</a:t>
            </a:r>
          </a:p>
          <a:p>
            <a:pPr>
              <a:lnSpc>
                <a:spcPts val="2500"/>
              </a:lnSpc>
              <a:buClr>
                <a:srgbClr val="0000FF"/>
              </a:buClr>
              <a:buFont typeface="Wingdings" pitchFamily="2" charset="2"/>
              <a:buChar char="Ø"/>
            </a:pPr>
            <a:r>
              <a:rPr lang="zh-CN" altLang="en-US">
                <a:sym typeface="宋体" panose="02010600030101010101" pitchFamily="2" charset="-122"/>
              </a:rPr>
              <a:t>张宝琳,谷同祥等著. 数值并行计算原理与方法. 北京:国防工业出版社,1999.</a:t>
            </a:r>
          </a:p>
          <a:p>
            <a:pPr>
              <a:lnSpc>
                <a:spcPts val="2500"/>
              </a:lnSpc>
              <a:buClr>
                <a:srgbClr val="0000FF"/>
              </a:buClr>
              <a:buFont typeface="Wingdings" pitchFamily="2" charset="2"/>
              <a:buChar char="Ø"/>
            </a:pPr>
            <a:r>
              <a:rPr lang="zh-CN" altLang="en-US">
                <a:sym typeface="宋体" panose="02010600030101010101" pitchFamily="2" charset="-122"/>
              </a:rPr>
              <a:t>都志辉著. 高性能计算之并行编程技术—MPI并行程序设计. 北京:清华大学出版社, 2001. </a:t>
            </a:r>
            <a:endParaRPr lang="zh-CN" altLang="en-US"/>
          </a:p>
        </p:txBody>
      </p:sp>
    </p:spTree>
  </p:cSld>
  <p:clrMapOvr>
    <a:masterClrMapping/>
  </p:clrMapOvr>
  <p:transition advTm="9126"/>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 name="KSO_WM_UNIT_PLACING_PICTURE_USER_VIEWPORT" val="{&quot;height&quot;:5460,&quot;width&quot;:8155}"/>
</p:tagLst>
</file>

<file path=ppt/theme/theme1.xml><?xml version="1.0" encoding="utf-8"?>
<a:theme xmlns:a="http://schemas.openxmlformats.org/drawingml/2006/main" name="1_Office 主题">
  <a:themeElements>
    <a:clrScheme name="1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1_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36</TotalTime>
  <Pages>0</Pages>
  <Words>8491</Words>
  <Characters>0</Characters>
  <Application>Microsoft Macintosh PowerPoint</Application>
  <DocSecurity>0</DocSecurity>
  <PresentationFormat>On-screen Show (4:3)</PresentationFormat>
  <Lines>0</Lines>
  <Paragraphs>1032</Paragraphs>
  <Slides>123</Slides>
  <Notes>2</Notes>
  <HiddenSlides>0</HiddenSlides>
  <MMClips>0</MMClips>
  <ScaleCrop>false</ScaleCrop>
  <HeadingPairs>
    <vt:vector size="8" baseType="variant">
      <vt:variant>
        <vt:lpstr>Fonts Used</vt:lpstr>
      </vt:variant>
      <vt:variant>
        <vt:i4>15</vt:i4>
      </vt:variant>
      <vt:variant>
        <vt:lpstr>Theme</vt:lpstr>
      </vt:variant>
      <vt:variant>
        <vt:i4>1</vt:i4>
      </vt:variant>
      <vt:variant>
        <vt:lpstr>Embedded OLE Servers</vt:lpstr>
      </vt:variant>
      <vt:variant>
        <vt:i4>1</vt:i4>
      </vt:variant>
      <vt:variant>
        <vt:lpstr>Slide Titles</vt:lpstr>
      </vt:variant>
      <vt:variant>
        <vt:i4>123</vt:i4>
      </vt:variant>
    </vt:vector>
  </HeadingPairs>
  <TitlesOfParts>
    <vt:vector size="140" baseType="lpstr">
      <vt:lpstr>Arial</vt:lpstr>
      <vt:lpstr>宋体</vt:lpstr>
      <vt:lpstr>Wingdings</vt:lpstr>
      <vt:lpstr>Times New Roman</vt:lpstr>
      <vt:lpstr>黑体</vt:lpstr>
      <vt:lpstr>Calibri</vt:lpstr>
      <vt:lpstr>微软雅黑</vt:lpstr>
      <vt:lpstr>Wingdings</vt:lpstr>
      <vt:lpstr>幼圆</vt:lpstr>
      <vt:lpstr>Monotype Sorts</vt:lpstr>
      <vt:lpstr>Courier New</vt:lpstr>
      <vt:lpstr>Arial Narrow</vt:lpstr>
      <vt:lpstr>Webdings</vt:lpstr>
      <vt:lpstr>Tahoma</vt:lpstr>
      <vt:lpstr>Garamond</vt:lpstr>
      <vt:lpstr>1_Office 主题</vt:lpstr>
      <vt:lpstr>Visio.Drawing.6</vt:lpstr>
      <vt:lpstr>第六章 并行编程技术</vt:lpstr>
      <vt:lpstr>PowerPoint Presentation</vt:lpstr>
      <vt:lpstr>一、并行编程基础知识</vt:lpstr>
      <vt:lpstr>一、并行编程基础知识</vt:lpstr>
      <vt:lpstr>顺序程序设计</vt:lpstr>
      <vt:lpstr>顺序程序设计特点</vt:lpstr>
      <vt:lpstr>PowerPoint Presentation</vt:lpstr>
      <vt:lpstr>进程的并发性</vt:lpstr>
      <vt:lpstr>进程的并发性（举例） 程序并发 执行 </vt:lpstr>
      <vt:lpstr>进程的并发性（举例） 观察程序并发 执行现象</vt:lpstr>
      <vt:lpstr>PowerPoint Presentation</vt:lpstr>
      <vt:lpstr>采用并发程序设计的目的</vt:lpstr>
      <vt:lpstr>并发程序设计的优点</vt:lpstr>
      <vt:lpstr>PowerPoint Presentation</vt:lpstr>
      <vt:lpstr>Bernstein条件             </vt:lpstr>
      <vt:lpstr>Bernstein条件举例</vt:lpstr>
      <vt:lpstr>与时间有关的错误：交互进程</vt:lpstr>
      <vt:lpstr> （结果不唯一）飞机票售票问题</vt:lpstr>
      <vt:lpstr>（永远等待）内存资源管理问题</vt:lpstr>
      <vt:lpstr>互斥与临界区</vt:lpstr>
      <vt:lpstr>PowerPoint Presentation</vt:lpstr>
      <vt:lpstr>PowerPoint Presentation</vt:lpstr>
      <vt:lpstr>临界区调度的原则</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实现临界区管理的硬件设施</vt:lpstr>
      <vt:lpstr>关中断</vt:lpstr>
      <vt:lpstr>测试并建立指令</vt:lpstr>
      <vt:lpstr>PowerPoint Presentation</vt:lpstr>
      <vt:lpstr>PowerPoint Presentation</vt:lpstr>
      <vt:lpstr>PowerPoint Presentation</vt:lpstr>
      <vt:lpstr>同步机制</vt:lpstr>
      <vt:lpstr>信号量（1/3）</vt:lpstr>
      <vt:lpstr>信号量（2/3）</vt:lpstr>
      <vt:lpstr>信号量（3/3）</vt:lpstr>
      <vt:lpstr>P/V机制（1/6）</vt:lpstr>
      <vt:lpstr>P/V机制（2/6）</vt:lpstr>
      <vt:lpstr>P/V机制（3/6）</vt:lpstr>
      <vt:lpstr>P/V机制（4/6）</vt:lpstr>
      <vt:lpstr>P/V机制（5/6）</vt:lpstr>
      <vt:lpstr>P/V机制（6/6）</vt:lpstr>
      <vt:lpstr>7.4 典型同步问题</vt:lpstr>
      <vt:lpstr>生产者-消费者问题（1/2）</vt:lpstr>
      <vt:lpstr>生产者-消费者问题（2/2）</vt:lpstr>
      <vt:lpstr>读者写者问题（1/8）</vt:lpstr>
      <vt:lpstr>读者写者问题（2/8）</vt:lpstr>
      <vt:lpstr>读者写者问题（3/8）</vt:lpstr>
      <vt:lpstr>读者写者问题（4/8）</vt:lpstr>
      <vt:lpstr>读者写者问题（5/8）</vt:lpstr>
      <vt:lpstr>读者写者问题（6/8）</vt:lpstr>
      <vt:lpstr>读者写者问题（7/8）</vt:lpstr>
      <vt:lpstr>读者写者问题（8/8）</vt:lpstr>
      <vt:lpstr>哲学家就餐问题（1/2）</vt:lpstr>
      <vt:lpstr>哲学家就餐问题（2/2）</vt:lpstr>
      <vt:lpstr>死锁问题 （1/3）</vt:lpstr>
      <vt:lpstr>死锁问题 （2/3）</vt:lpstr>
      <vt:lpstr>死锁问题 （3/3）</vt:lpstr>
      <vt:lpstr>死锁模型</vt:lpstr>
      <vt:lpstr>死锁特征（1/2）</vt:lpstr>
      <vt:lpstr>死锁特征（2/2）</vt:lpstr>
      <vt:lpstr>资源分配图 （1/4）</vt:lpstr>
      <vt:lpstr>PowerPoint Presentation</vt:lpstr>
      <vt:lpstr>PowerPoint Presentation</vt:lpstr>
      <vt:lpstr>PowerPoint Presentation</vt:lpstr>
      <vt:lpstr>死锁处理方法（1/10）</vt:lpstr>
      <vt:lpstr>死锁处理方法（2/10）</vt:lpstr>
      <vt:lpstr>死锁处理方法（3/10）</vt:lpstr>
      <vt:lpstr>死锁处理方法（4/10）</vt:lpstr>
      <vt:lpstr>死锁处理方法（5/10）</vt:lpstr>
      <vt:lpstr>死锁处理方法（6/10）</vt:lpstr>
      <vt:lpstr>死锁处理方法（7/10）</vt:lpstr>
      <vt:lpstr>死锁处理方法（8/10）</vt:lpstr>
      <vt:lpstr>死锁处理方法（9/10）</vt:lpstr>
      <vt:lpstr>死锁处理方法（10/10）</vt:lpstr>
      <vt:lpstr>课堂练习</vt:lpstr>
      <vt:lpstr>课堂练习</vt:lpstr>
      <vt:lpstr>课堂练习</vt:lpstr>
      <vt:lpstr>课堂练习</vt:lpstr>
      <vt:lpstr>一、并行编程基础知识</vt:lpstr>
      <vt:lpstr>一、并行编程基础知识</vt:lpstr>
      <vt:lpstr>一、并行编程基础知识</vt:lpstr>
      <vt:lpstr>一、并行编程基础知识</vt:lpstr>
      <vt:lpstr>一、并行编程基础知识</vt:lpstr>
      <vt:lpstr>一、并行编程基础知识</vt:lpstr>
      <vt:lpstr>PowerPoint Presentation</vt:lpstr>
      <vt:lpstr>Hello world (C)</vt:lpstr>
      <vt:lpstr>Hello world (Fortran)</vt:lpstr>
      <vt:lpstr>MPI程序的的编译与运行</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cie</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subject/>
  <dc:creator>david</dc:creator>
  <cp:keywords/>
  <dc:description/>
  <cp:lastModifiedBy>Microsoft Office User</cp:lastModifiedBy>
  <cp:revision>1274</cp:revision>
  <cp:lastPrinted>2411-12-30T00:00:00Z</cp:lastPrinted>
  <dcterms:created xsi:type="dcterms:W3CDTF">2009-07-20T08:01:00Z</dcterms:created>
  <dcterms:modified xsi:type="dcterms:W3CDTF">2025-10-28T12:26:21Z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2052-10.1.0.6490</vt:lpwstr>
  </property>
</Properties>
</file>